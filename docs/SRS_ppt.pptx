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Helvetica World" panose="020B0604020202020204" charset="-128"/>
      <p:regular r:id="rId13"/>
    </p:embeddedFont>
    <p:embeddedFont>
      <p:font typeface="Helvetica World Bold" panose="020B0604020202020204" charset="-128"/>
      <p:regular r:id="rId14"/>
    </p:embeddedFont>
    <p:embeddedFont>
      <p:font typeface="Georgia Pro Condense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morning/afternoon. I'm Lokesh Magare, roll number B292, batch A2. Today I'm presenting the Software Requirements Specification for my Software Engineering lab project, AgilePulse — an Agile Project Management tool built on the MERN stack, under the guidance of Dr. Naziya Hussain. I'll walk through the problem we're solving, the requirements we defined, the technology choices behind them, and where this project could go next.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start with the problem. Most student teams and small startups don't actually run Scrum the way it's taught — they run it through a patchwork of Google Sheets for the backlog, WhatsApp or Slack for standups, and maybe a shared Trello board nobody updates consistently. None of these tools are connected, so information goes stale fast. </a:t>
            </a:r>
            <a:r>
              <a:rPr lang="en-US" dirty="0" err="1"/>
              <a:t>AgilePulse's</a:t>
            </a:r>
            <a:r>
              <a:rPr lang="en-US" dirty="0"/>
              <a:t> core idea is simple: put the backlog, the sprint plan, and the Kanban board inside one application, so there's exactly one source of truth. In scope for this version: backlog management with Fibonacci story points, sprint planning with a hard velocity cap so teams can't overcommit, a real-time Kanban board, and role-based access. We deliberately kept some things out of scope for version one — like syncing with Jira or GitHub, payment processing, or a native mobile app — because the goal of this SRS is to nail the core Scrum workflow first, not compete with every feature Jira has.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twenty-five functional requirements, grouped into six areas. Authentication and authorization — FR-01 to FR-06 — cover secure signup, login, and role checks using JWT tokens, so a Developer physically cannot access Scrum Master-only actions like closing a sprint. Product backlog management, FR-07 to FR-11, lets the Product Owner create, prioritize and size backlog items using Fibonacci story points — 1, 2, 3, 5, 8, 13 — the standard Scrum estimation technique because it forces relative sizing instead of false precision. Sprint management, FR-12 to FR-15, is built around a velocity cap: the Scrum Master can't add more story points to a sprint than the team has historically completed, preventing overcommitment. FR-16 to FR-20 is the Kanban board itself — drag and drop across To-Do, In Progress, Review and Done, synced instantly through Socket.IO. Comments and collaboration, FR-21 to FR-23, keeps discussion attached to the task instead of scattered across chat apps. Finally, auditing and logging, FR-24 and FR-25, timestamps every action so we always know who did what and when — this matters later when I talk about accountability.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Non-functional requirements define the quality bar. Performance-wise, we target sub-1.5-second sync on the Kanban board and sub-300ms API responses. Security is layered: bcryptjs for password hashing means we never store plaintext passwords, JWT gives stateless sessions, </a:t>
            </a:r>
            <a:r>
              <a:rPr lang="en-US" dirty="0" err="1"/>
              <a:t>HttpOnly</a:t>
            </a:r>
            <a:r>
              <a:rPr lang="en-US" dirty="0"/>
              <a:t> cookies stop JavaScript from reading the token, and TLS 1.3 protects data in transit. Reliability targets 99.9% uptime with automatic retry, so a dropped WebSocket connection doesn't lose a task update. Usability is measured concretely — a new user should be productive within two minutes, and the interface is keyboard-navigable for accessibility. On maintainability and scalability, we set a hard target of 80% automated test coverage using Jest and </a:t>
            </a:r>
            <a:r>
              <a:rPr lang="en-US" dirty="0" err="1"/>
              <a:t>Supertest</a:t>
            </a:r>
            <a:r>
              <a:rPr lang="en-US" dirty="0"/>
              <a:t>, and the schema comfortably holds over 100,000 task records across 50 concurrent team workspaces.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covers how the pieces fit together technically. SR-01 is the REST API layer built on Express.js. SR-02 is MongoDB Atlas — a document database, chosen because tasks, sprints, and comments naturally nest into flexible JSON-like documents rather than rigid relational tables, with Mongoose giving us schema validation on top. SR-03 is Socket.IO, which is what makes the 1.5-second sync requirement possible — when one developer drags a card, Socket.IO broadcasts that change to every other connected client instantly instead of everyone polling the server. SR-04 is JWT authentication applied as middleware on every protected route. SR-05 is our testing setup — Jest for unit tests, Supertest for integration testing the API endpoints. SR-06 through SR-08 cover supporting infrastructure: structured logging, environment-based configuration so secrets never get hardcoded, and centralized error-handling middleware so every error returns a consistent response format.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User requirements come directly from thinking through each role's day-to-day. The Product Owner cares about the big picture — prioritizing what matters most in the backlog and tracking whether the release is on track. The Scrum Master is focused on sprint mechanics — keeping the team within velocity so commitments are realistic, and catching blockers early. The Developer just wants friction removed — pick up a task, drag it across the board, comment if something's unclear, and get back to coding. Regardless of role, everyone expects the board to update in real time — nobody wants to hit refresh. These requirements map directly to the functional requirements slide, and to the sequence diagram in my SRS where a Developer moves a task card and the update broadcasts to every connected user through Socket.IO.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hardware, the requirements are deliberately light because this is a web application, not something needing specialized hardware. For development, any laptop with 8GB RAM and a dual-core processor runs the React dev server, the Express backend, and an editor at once. For deployment, there's no dedicated hardware at all — everything runs on managed cloud infrastructure that scales automatically. For software, we picked the MERN stack specifically: React with TailwindCSS and Vite for a fast frontend; Node with Express for a lightweight backend; MongoDB Atlas because our data — tasks, comments, activity logs — is naturally document-shaped. For deployment, Vercel or Netlify host the frontend as static assets, Render or Heroku host the Node backend — both free tiers, which matters for a student project with no budget.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Feasibility has three angles I want to be ready to defend. Technically, it's feasible because every technology in the stack — React, Node, Express, MongoDB — is mature, well-documented, and realistic to implement within a semester. Economically, it's feasible because the entire stack is open-source and free — MongoDB Atlas, Vercel, Render, and Netlify all offer free tiers that comfortably cover a student project's traffic. Operationally, the tool is simple enough that a small team adopts it in minutes without training. Looking ahead: a native mobile app for on-the-go updates, two-way sync with tools teams already use, AI-assisted story point suggestions based on historical velocity, and a proper analytics dashboard with burndown and velocity charts. Long-term, the vision is for AgilePulse to be a lightweight on-ramp into Scrum for teams who find Jira overwhelming or expensive.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wrap up — AgilePulse takes the theory of Scrum we studied in class and turns it into a working system. The value isn't just the code; every functional and non-functional requirement in this SRS is specific and testable — for example, 'sync within 1.5 seconds' isn't a vague promise, it's something I can measure with a performance test. Working through this project, from the use case diagram to the sequence diagram of a developer moving a task card, taught me that most hard decisions in software engineering happen before you write code — deciding what's in scope, what a Scrum Master needs versus what a Developer needs, and how to translate a user story into a database schema. That's what this SRS demonstrates.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for your time. I'm happy to take any questions — whether that's about a specific requirement, a design decision like why I chose MongoDB over a relational database, or how a particular diagram like the sequence diagram for moving a task card was constructed.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ECF0F1"/>
            </a:solidFill>
          </p:spPr>
          <p:txBody>
            <a:bodyPr/>
            <a:lstStyle/>
            <a:p>
              <a:endParaRPr lang="en-US"/>
            </a:p>
          </p:txBody>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3"/>
              <a:stretch>
                <a:fillRect t="-199" b="-199"/>
              </a:stretch>
            </a:blipFill>
          </p:spPr>
          <p:txBody>
            <a:bodyPr/>
            <a:lstStyle/>
            <a:p>
              <a:endParaRPr lang="en-US"/>
            </a:p>
          </p:txBody>
        </p:sp>
      </p:grpSp>
      <p:sp>
        <p:nvSpPr>
          <p:cNvPr id="6" name="TextBox 6"/>
          <p:cNvSpPr txBox="1"/>
          <p:nvPr/>
        </p:nvSpPr>
        <p:spPr>
          <a:xfrm>
            <a:off x="76200" y="8264771"/>
            <a:ext cx="8544803" cy="1222129"/>
          </a:xfrm>
          <a:prstGeom prst="rect">
            <a:avLst/>
          </a:prstGeom>
        </p:spPr>
        <p:txBody>
          <a:bodyPr wrap="square" lIns="0" tIns="0" rIns="0" bIns="0" rtlCol="0" anchor="t">
            <a:spAutoFit/>
          </a:bodyPr>
          <a:lstStyle/>
          <a:p>
            <a:pPr marL="0" lvl="0" indent="0" algn="l">
              <a:lnSpc>
                <a:spcPts val="4940"/>
              </a:lnSpc>
              <a:spcBef>
                <a:spcPct val="0"/>
              </a:spcBef>
            </a:pPr>
            <a:r>
              <a:rPr lang="en-US" sz="3800" u="none" strike="noStrike" spc="-57" dirty="0">
                <a:solidFill>
                  <a:srgbClr val="2980B9"/>
                </a:solidFill>
                <a:latin typeface="Helvetica World"/>
                <a:ea typeface="Helvetica World"/>
                <a:cs typeface="Helvetica World"/>
                <a:sym typeface="Helvetica World"/>
              </a:rPr>
              <a:t>Presented by: Lokesh Magare (B292, A2) </a:t>
            </a:r>
            <a:br>
              <a:rPr lang="en-US" sz="3800" u="none" strike="noStrike" spc="-57" dirty="0">
                <a:solidFill>
                  <a:srgbClr val="2980B9"/>
                </a:solidFill>
                <a:latin typeface="Helvetica World"/>
                <a:ea typeface="Helvetica World"/>
                <a:cs typeface="Helvetica World"/>
                <a:sym typeface="Helvetica World"/>
              </a:rPr>
            </a:br>
            <a:r>
              <a:rPr lang="en-US" sz="3800" u="none" strike="noStrike" spc="-57" dirty="0">
                <a:solidFill>
                  <a:srgbClr val="2980B9"/>
                </a:solidFill>
                <a:latin typeface="Helvetica World"/>
                <a:ea typeface="Helvetica World"/>
                <a:cs typeface="Helvetica World"/>
                <a:sym typeface="Helvetica World"/>
              </a:rPr>
              <a:t>Guided by Dr. Naziya Hussain</a:t>
            </a:r>
          </a:p>
        </p:txBody>
      </p:sp>
      <p:sp>
        <p:nvSpPr>
          <p:cNvPr id="7" name="TextBox 7"/>
          <p:cNvSpPr txBox="1"/>
          <p:nvPr/>
        </p:nvSpPr>
        <p:spPr>
          <a:xfrm>
            <a:off x="675380" y="703536"/>
            <a:ext cx="9754495" cy="7335564"/>
          </a:xfrm>
          <a:prstGeom prst="rect">
            <a:avLst/>
          </a:prstGeom>
        </p:spPr>
        <p:txBody>
          <a:bodyPr lIns="0" tIns="0" rIns="0" bIns="0" rtlCol="0" anchor="t">
            <a:spAutoFit/>
          </a:bodyPr>
          <a:lstStyle/>
          <a:p>
            <a:pPr marL="0" lvl="0" indent="0" algn="l">
              <a:lnSpc>
                <a:spcPts val="14301"/>
              </a:lnSpc>
            </a:pPr>
            <a:r>
              <a:rPr lang="en-US" sz="14301" u="none" strike="noStrike" spc="-500" dirty="0">
                <a:solidFill>
                  <a:srgbClr val="2980B9"/>
                </a:solidFill>
                <a:latin typeface="Georgia Pro Condensed"/>
                <a:ea typeface="Georgia Pro Condensed"/>
                <a:cs typeface="Georgia Pro Condensed"/>
                <a:sym typeface="Georgia Pro Condensed"/>
              </a:rPr>
              <a:t>AgilePulse: Software Requirements Specification</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ECF0F1"/>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62839"/>
            </a:solidFill>
            <a:ln cap="rnd">
              <a:noFill/>
              <a:prstDash val="solid"/>
              <a:round/>
            </a:ln>
          </p:spPr>
          <p:txBody>
            <a:bodyPr/>
            <a:lstStyle/>
            <a:p>
              <a:endParaRPr lang="en-US"/>
            </a:p>
          </p:txBody>
        </p:sp>
        <p:sp>
          <p:nvSpPr>
            <p:cNvPr id="5" name="TextBox 5"/>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497806"/>
            <a:ext cx="12944475" cy="5836444"/>
            <a:chOff x="0" y="-85725"/>
            <a:chExt cx="17259300" cy="7781925"/>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dirty="0">
                  <a:solidFill>
                    <a:srgbClr val="ECF0F1"/>
                  </a:solidFill>
                  <a:latin typeface="Georgia Pro Condensed"/>
                  <a:ea typeface="Georgia Pro Condensed"/>
                  <a:cs typeface="Georgia Pro Condensed"/>
                  <a:sym typeface="Georgia Pro Condensed"/>
                </a:rPr>
                <a:t>Introduction &amp; Project Scope</a:t>
              </a:r>
            </a:p>
          </p:txBody>
        </p:sp>
        <p:sp>
          <p:nvSpPr>
            <p:cNvPr id="8" name="TextBox 8"/>
            <p:cNvSpPr txBox="1"/>
            <p:nvPr/>
          </p:nvSpPr>
          <p:spPr>
            <a:xfrm>
              <a:off x="0" y="2197212"/>
              <a:ext cx="17259300" cy="512961"/>
            </a:xfrm>
            <a:prstGeom prst="rect">
              <a:avLst/>
            </a:prstGeom>
          </p:spPr>
          <p:txBody>
            <a:bodyPr lIns="0" tIns="0" rIns="0" bIns="0" rtlCol="0" anchor="t">
              <a:spAutoFit/>
            </a:bodyPr>
            <a:lstStyle/>
            <a:p>
              <a:pPr marL="0" lvl="0" indent="0" algn="l">
                <a:lnSpc>
                  <a:spcPts val="3000"/>
                </a:lnSpc>
                <a:spcBef>
                  <a:spcPct val="0"/>
                </a:spcBef>
              </a:pPr>
              <a:r>
                <a:rPr lang="en-US" sz="2500" b="1" u="sng" spc="-37" dirty="0">
                  <a:solidFill>
                    <a:srgbClr val="ECF0F1"/>
                  </a:solidFill>
                  <a:latin typeface="Helvetica World Bold"/>
                  <a:ea typeface="Helvetica World Bold"/>
                  <a:cs typeface="Helvetica World Bold"/>
                  <a:sym typeface="Helvetica World Bold"/>
                </a:rPr>
                <a:t>The Challenge and Our Solution</a:t>
              </a:r>
            </a:p>
          </p:txBody>
        </p:sp>
        <p:sp>
          <p:nvSpPr>
            <p:cNvPr id="9" name="TextBox 9"/>
            <p:cNvSpPr txBox="1"/>
            <p:nvPr/>
          </p:nvSpPr>
          <p:spPr>
            <a:xfrm>
              <a:off x="0" y="3069166"/>
              <a:ext cx="13512134" cy="4627034"/>
            </a:xfrm>
            <a:prstGeom prst="rect">
              <a:avLst/>
            </a:prstGeom>
          </p:spPr>
          <p:txBody>
            <a:bodyPr lIns="0" tIns="0" rIns="0" bIns="0" rtlCol="0" anchor="t">
              <a:spAutoFit/>
            </a:bodyPr>
            <a:lstStyle/>
            <a:p>
              <a:pPr marL="0" lvl="0" indent="0" algn="l">
                <a:lnSpc>
                  <a:spcPts val="3499"/>
                </a:lnSpc>
                <a:spcBef>
                  <a:spcPct val="0"/>
                </a:spcBef>
              </a:pPr>
              <a:r>
                <a:rPr lang="en-US" sz="2499" u="none" strike="noStrike" spc="-37">
                  <a:solidFill>
                    <a:srgbClr val="ECF0F1"/>
                  </a:solidFill>
                  <a:latin typeface="Helvetica World"/>
                  <a:ea typeface="Helvetica World"/>
                  <a:cs typeface="Helvetica World"/>
                  <a:sym typeface="Helvetica World"/>
                </a:rPr>
                <a:t>Student and small dev teams juggle spreadsheets, chat apps, and sticky notes to run Scrum sprints, and none of these tools talk to each other — status goes stale within hours. AgilePulse unifies backlog management, sprint planning with velocity caps, and a live Kanban board into one connected MERN application. In scope: story-point estimation, real-time sync, and role-based access for Product Owner, Scrum Master, and Developer. Out of scope for v1: Jira/GitHub sync, payments, and native mobile apps.</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ECF0F1"/>
            </a:solidFill>
            <a:ln cap="rnd">
              <a:noFill/>
              <a:prstDash val="solid"/>
              <a:round/>
            </a:ln>
          </p:spPr>
          <p:txBody>
            <a:bodyPr/>
            <a:lstStyle/>
            <a:p>
              <a:endParaRPr lang="en-US"/>
            </a:p>
          </p:txBody>
        </p:sp>
        <p:sp>
          <p:nvSpPr>
            <p:cNvPr id="4" name="TextBox 4"/>
            <p:cNvSpPr txBox="1"/>
            <p:nvPr/>
          </p:nvSpPr>
          <p:spPr>
            <a:xfrm>
              <a:off x="0" y="-38100"/>
              <a:ext cx="4465383" cy="239622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2105025" y="1562100"/>
            <a:ext cx="14506575" cy="6989805"/>
            <a:chOff x="0" y="0"/>
            <a:chExt cx="13017500" cy="10184458"/>
          </a:xfrm>
        </p:grpSpPr>
        <p:sp>
          <p:nvSpPr>
            <p:cNvPr id="6" name="TextBox 6"/>
            <p:cNvSpPr txBox="1"/>
            <p:nvPr/>
          </p:nvSpPr>
          <p:spPr>
            <a:xfrm>
              <a:off x="0" y="1090849"/>
              <a:ext cx="13017500" cy="9093609"/>
            </a:xfrm>
            <a:prstGeom prst="rect">
              <a:avLst/>
            </a:prstGeom>
          </p:spPr>
          <p:txBody>
            <a:bodyPr lIns="0" tIns="0" rIns="0" bIns="0" rtlCol="0" anchor="t">
              <a:spAutoFit/>
            </a:bodyPr>
            <a:lstStyle/>
            <a:p>
              <a:pPr marL="0" lvl="0" indent="0" algn="l">
                <a:lnSpc>
                  <a:spcPts val="3499"/>
                </a:lnSpc>
              </a:pPr>
              <a:r>
                <a:rPr lang="en-US" sz="2499" spc="-37" dirty="0">
                  <a:solidFill>
                    <a:srgbClr val="2980B9"/>
                  </a:solidFill>
                  <a:latin typeface="Helvetica World"/>
                  <a:ea typeface="Helvetica World"/>
                  <a:cs typeface="Helvetica World"/>
                  <a:sym typeface="Helvetica World"/>
                </a:rPr>
                <a:t>AgilePulse includes a comprehensive set of </a:t>
              </a:r>
              <a:r>
                <a:rPr lang="en-US" sz="2499" b="1" spc="-37" dirty="0">
                  <a:solidFill>
                    <a:srgbClr val="2980B9"/>
                  </a:solidFill>
                  <a:latin typeface="Helvetica World Bold"/>
                  <a:ea typeface="Helvetica World Bold"/>
                  <a:cs typeface="Helvetica World Bold"/>
                  <a:sym typeface="Helvetica World Bold"/>
                </a:rPr>
                <a:t>functional requirements</a:t>
              </a:r>
              <a:r>
                <a:rPr lang="en-US" sz="2499" spc="-37" dirty="0">
                  <a:solidFill>
                    <a:srgbClr val="2980B9"/>
                  </a:solidFill>
                  <a:latin typeface="Helvetica World"/>
                  <a:ea typeface="Helvetica World"/>
                  <a:cs typeface="Helvetica World"/>
                  <a:sym typeface="Helvetica World"/>
                </a:rPr>
                <a:t> designed to enhance user experience and streamline project management:</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Authentication &amp; Authorization: </a:t>
              </a:r>
              <a:r>
                <a:rPr lang="en-US" sz="2499" b="1" spc="-37" dirty="0">
                  <a:latin typeface="Helvetica World Bold"/>
                  <a:ea typeface="Helvetica World Bold"/>
                  <a:cs typeface="Helvetica World Bold"/>
                  <a:sym typeface="Helvetica World Bold"/>
                </a:rPr>
                <a:t>Secure signup and login protected by JWT tokens and bcryptjs password hashing (FR-01 to FR-06)</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Product Backlog Management: </a:t>
              </a:r>
              <a:r>
                <a:rPr lang="en-US" sz="2499" b="1" spc="-37" dirty="0">
                  <a:latin typeface="Helvetica World Bold"/>
                  <a:ea typeface="Helvetica World Bold"/>
                  <a:cs typeface="Helvetica World Bold"/>
                  <a:sym typeface="Helvetica World Bold"/>
                </a:rPr>
                <a:t>Create, prioritize, and estimate backlog items using Fibonacci story points (FR-07 to FR-11)</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Sprint Management: </a:t>
              </a:r>
              <a:r>
                <a:rPr lang="en-US" sz="2499" b="1" spc="-37" dirty="0">
                  <a:latin typeface="Helvetica World Bold"/>
                  <a:ea typeface="Helvetica World Bold"/>
                  <a:cs typeface="Helvetica World Bold"/>
                  <a:sym typeface="Helvetica World Bold"/>
                </a:rPr>
                <a:t>Plan sprints within a fixed velocity cap and track burndown live (FR-12 to FR-15)</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Kanban Board &amp; Tasks: </a:t>
              </a:r>
              <a:r>
                <a:rPr lang="en-US" sz="2499" b="1" spc="-37" dirty="0">
                  <a:latin typeface="Helvetica World Bold"/>
                  <a:ea typeface="Helvetica World Bold"/>
                  <a:cs typeface="Helvetica World Bold"/>
                  <a:sym typeface="Helvetica World Bold"/>
                </a:rPr>
                <a:t>Drag-and-drop cards across To-Do, In Progress, Review, and Done with instant sync (FR-16 to FR-20)</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Comments &amp; Collaboration: </a:t>
              </a:r>
              <a:r>
                <a:rPr lang="en-US" sz="2499" b="1" spc="-37" dirty="0">
                  <a:latin typeface="Helvetica World Bold"/>
                  <a:ea typeface="Helvetica World Bold"/>
                  <a:cs typeface="Helvetica World Bold"/>
                  <a:sym typeface="Helvetica World Bold"/>
                </a:rPr>
                <a:t>Threaded discussions kept directly on each task card (FR-21 to FR-23)</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Auditing &amp; Logging: </a:t>
              </a:r>
              <a:r>
                <a:rPr lang="en-US" sz="2499" b="1" spc="-37" dirty="0">
                  <a:latin typeface="Helvetica World Bold"/>
                  <a:ea typeface="Helvetica World Bold"/>
                  <a:cs typeface="Helvetica World Bold"/>
                  <a:sym typeface="Helvetica World Bold"/>
                </a:rPr>
                <a:t>Every action is timestamped and attributed for full accountability (FR-24, FR-25)</a:t>
              </a:r>
            </a:p>
          </p:txBody>
        </p:sp>
        <p:sp>
          <p:nvSpPr>
            <p:cNvPr id="7" name="TextBox 7"/>
            <p:cNvSpPr txBox="1"/>
            <p:nvPr/>
          </p:nvSpPr>
          <p:spPr>
            <a:xfrm>
              <a:off x="0" y="0"/>
              <a:ext cx="13017500" cy="672667"/>
            </a:xfrm>
            <a:prstGeom prst="rect">
              <a:avLst/>
            </a:prstGeom>
          </p:spPr>
          <p:txBody>
            <a:bodyPr lIns="0" tIns="0" rIns="0" bIns="0" rtlCol="0" anchor="t">
              <a:spAutoFit/>
            </a:bodyPr>
            <a:lstStyle/>
            <a:p>
              <a:pPr marL="0" lvl="0" indent="0" algn="l">
                <a:lnSpc>
                  <a:spcPts val="3600"/>
                </a:lnSpc>
                <a:spcBef>
                  <a:spcPct val="0"/>
                </a:spcBef>
              </a:pPr>
              <a:r>
                <a:rPr lang="en-US" sz="3000" b="1" u="sng" spc="-44" dirty="0">
                  <a:solidFill>
                    <a:srgbClr val="2980B9"/>
                  </a:solidFill>
                  <a:latin typeface="Helvetica World Bold"/>
                  <a:ea typeface="Helvetica World Bold"/>
                  <a:cs typeface="Helvetica World Bold"/>
                  <a:sym typeface="Helvetica World Bold"/>
                </a:rPr>
                <a:t>Key Functional Requirements for AgilePulse</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ECF0F1"/>
            </a:solidFill>
            <a:ln cap="rnd">
              <a:noFill/>
              <a:prstDash val="solid"/>
              <a:round/>
            </a:ln>
          </p:spPr>
          <p:txBody>
            <a:bodyPr/>
            <a:lstStyle/>
            <a:p>
              <a:endParaRPr lang="en-US"/>
            </a:p>
          </p:txBody>
        </p:sp>
        <p:sp>
          <p:nvSpPr>
            <p:cNvPr id="4" name="TextBox 4"/>
            <p:cNvSpPr txBox="1"/>
            <p:nvPr/>
          </p:nvSpPr>
          <p:spPr>
            <a:xfrm>
              <a:off x="0" y="-38100"/>
              <a:ext cx="4465383" cy="239622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2105025" y="1562100"/>
            <a:ext cx="14735175" cy="5653436"/>
            <a:chOff x="0" y="0"/>
            <a:chExt cx="13017500" cy="7537914"/>
          </a:xfrm>
        </p:grpSpPr>
        <p:sp>
          <p:nvSpPr>
            <p:cNvPr id="6" name="TextBox 6"/>
            <p:cNvSpPr txBox="1"/>
            <p:nvPr/>
          </p:nvSpPr>
          <p:spPr>
            <a:xfrm>
              <a:off x="0" y="1011767"/>
              <a:ext cx="13017500" cy="6526147"/>
            </a:xfrm>
            <a:prstGeom prst="rect">
              <a:avLst/>
            </a:prstGeom>
          </p:spPr>
          <p:txBody>
            <a:bodyPr lIns="0" tIns="0" rIns="0" bIns="0" rtlCol="0" anchor="t">
              <a:spAutoFit/>
            </a:bodyPr>
            <a:lstStyle/>
            <a:p>
              <a:pPr marL="0" lvl="0" indent="0" algn="l">
                <a:lnSpc>
                  <a:spcPts val="3499"/>
                </a:lnSpc>
              </a:pPr>
              <a:r>
                <a:rPr lang="en-US" sz="2499" spc="-37" dirty="0">
                  <a:solidFill>
                    <a:srgbClr val="2980B9"/>
                  </a:solidFill>
                  <a:latin typeface="Helvetica World"/>
                  <a:ea typeface="Helvetica World"/>
                  <a:cs typeface="Helvetica World"/>
                  <a:sym typeface="Helvetica World"/>
                </a:rPr>
                <a:t>The non-functional requirements ensure that AgilePulse is reliable, secure, and user-friendly:</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Performance: </a:t>
              </a:r>
              <a:r>
                <a:rPr lang="en-US" sz="2499" b="1" spc="-37" dirty="0">
                  <a:latin typeface="Helvetica World Bold"/>
                  <a:ea typeface="Helvetica World Bold"/>
                  <a:cs typeface="Helvetica World Bold"/>
                  <a:sym typeface="Helvetica World Bold"/>
                </a:rPr>
                <a:t>Board updates sync across every connected user within 1.5 seconds; API responses stay under 300ms (NFR-01 to NFR-04).</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Security: </a:t>
              </a:r>
              <a:r>
                <a:rPr lang="en-US" sz="2499" b="1" spc="-37" dirty="0">
                  <a:latin typeface="Helvetica World Bold"/>
                  <a:ea typeface="Helvetica World Bold"/>
                  <a:cs typeface="Helvetica World Bold"/>
                  <a:sym typeface="Helvetica World Bold"/>
                </a:rPr>
                <a:t>bcryptjs password hashing, JWT sessions, </a:t>
              </a:r>
              <a:r>
                <a:rPr lang="en-US" sz="2499" b="1" spc="-37" dirty="0" err="1">
                  <a:latin typeface="Helvetica World Bold"/>
                  <a:ea typeface="Helvetica World Bold"/>
                  <a:cs typeface="Helvetica World Bold"/>
                  <a:sym typeface="Helvetica World Bold"/>
                </a:rPr>
                <a:t>HttpOnly</a:t>
              </a:r>
              <a:r>
                <a:rPr lang="en-US" sz="2499" b="1" spc="-37" dirty="0">
                  <a:latin typeface="Helvetica World Bold"/>
                  <a:ea typeface="Helvetica World Bold"/>
                  <a:cs typeface="Helvetica World Bold"/>
                  <a:sym typeface="Helvetica World Bold"/>
                </a:rPr>
                <a:t> cookies, and TLS 1.3 encryption in transit (NFR-05 to NFR-08).</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Reliability: </a:t>
              </a:r>
              <a:r>
                <a:rPr lang="en-US" sz="2499" b="1" spc="-37" dirty="0">
                  <a:latin typeface="Helvetica World Bold"/>
                  <a:ea typeface="Helvetica World Bold"/>
                  <a:cs typeface="Helvetica World Bold"/>
                  <a:sym typeface="Helvetica World Bold"/>
                </a:rPr>
                <a:t>Targets 99.9% uptime with automatic retry logic when a sync call fails (NFR-09 to NFR-11).</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Usability: </a:t>
              </a:r>
              <a:r>
                <a:rPr lang="en-US" sz="2499" b="1" spc="-37" dirty="0">
                  <a:latin typeface="Helvetica World Bold"/>
                  <a:ea typeface="Helvetica World Bold"/>
                  <a:cs typeface="Helvetica World Bold"/>
                  <a:sym typeface="Helvetica World Bold"/>
                </a:rPr>
                <a:t>New users complete onboarding in under 2 minutes, with full keyboard navigation support (NFR-12 to NFR-15).</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Maintainability: </a:t>
              </a:r>
              <a:r>
                <a:rPr lang="en-US" sz="2499" b="1" spc="-37" dirty="0">
                  <a:latin typeface="Helvetica World Bold"/>
                  <a:ea typeface="Helvetica World Bold"/>
                  <a:cs typeface="Helvetica World Bold"/>
                  <a:sym typeface="Helvetica World Bold"/>
                </a:rPr>
                <a:t>Supports 100K+ records across 50 concurrent workspaces, backed by 80%+ automated test coverage (NFR-16 to NFR-20).</a:t>
              </a:r>
            </a:p>
          </p:txBody>
        </p:sp>
        <p:sp>
          <p:nvSpPr>
            <p:cNvPr id="7" name="TextBox 7"/>
            <p:cNvSpPr txBox="1"/>
            <p:nvPr/>
          </p:nvSpPr>
          <p:spPr>
            <a:xfrm>
              <a:off x="0" y="0"/>
              <a:ext cx="13017500" cy="615553"/>
            </a:xfrm>
            <a:prstGeom prst="rect">
              <a:avLst/>
            </a:prstGeom>
          </p:spPr>
          <p:txBody>
            <a:bodyPr lIns="0" tIns="0" rIns="0" bIns="0" rtlCol="0" anchor="t">
              <a:spAutoFit/>
            </a:bodyPr>
            <a:lstStyle/>
            <a:p>
              <a:pPr marL="0" lvl="0" indent="0" algn="l">
                <a:lnSpc>
                  <a:spcPts val="3600"/>
                </a:lnSpc>
                <a:spcBef>
                  <a:spcPct val="0"/>
                </a:spcBef>
              </a:pPr>
              <a:r>
                <a:rPr lang="en-US" sz="3000" b="1" u="sng" spc="-44" dirty="0">
                  <a:solidFill>
                    <a:srgbClr val="2980B9"/>
                  </a:solidFill>
                  <a:latin typeface="Helvetica World Bold"/>
                  <a:ea typeface="Helvetica World Bold"/>
                  <a:cs typeface="Helvetica World Bold"/>
                  <a:sym typeface="Helvetica World Bold"/>
                </a:rPr>
                <a:t>Key Non-Functional Requirements of AgilePulse</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ECF0F1"/>
            </a:solidFill>
            <a:ln cap="rnd">
              <a:noFill/>
              <a:prstDash val="solid"/>
              <a:round/>
            </a:ln>
          </p:spPr>
          <p:txBody>
            <a:bodyPr/>
            <a:lstStyle/>
            <a:p>
              <a:endParaRPr lang="en-US"/>
            </a:p>
          </p:txBody>
        </p:sp>
        <p:sp>
          <p:nvSpPr>
            <p:cNvPr id="4" name="TextBox 4"/>
            <p:cNvSpPr txBox="1"/>
            <p:nvPr/>
          </p:nvSpPr>
          <p:spPr>
            <a:xfrm>
              <a:off x="0" y="-38100"/>
              <a:ext cx="4465383" cy="239622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2105025" y="1562100"/>
            <a:ext cx="14887575" cy="5672485"/>
            <a:chOff x="0" y="0"/>
            <a:chExt cx="13017500" cy="8489434"/>
          </a:xfrm>
        </p:grpSpPr>
        <p:sp>
          <p:nvSpPr>
            <p:cNvPr id="6" name="TextBox 6"/>
            <p:cNvSpPr txBox="1"/>
            <p:nvPr/>
          </p:nvSpPr>
          <p:spPr>
            <a:xfrm>
              <a:off x="0" y="1164167"/>
              <a:ext cx="13017500" cy="7325267"/>
            </a:xfrm>
            <a:prstGeom prst="rect">
              <a:avLst/>
            </a:prstGeom>
          </p:spPr>
          <p:txBody>
            <a:bodyPr lIns="0" tIns="0" rIns="0" bIns="0" rtlCol="0" anchor="t">
              <a:spAutoFit/>
            </a:bodyPr>
            <a:lstStyle/>
            <a:p>
              <a:pPr marL="0" lvl="0" indent="0" algn="l">
                <a:lnSpc>
                  <a:spcPts val="3499"/>
                </a:lnSpc>
              </a:pPr>
              <a:r>
                <a:rPr lang="en-US" sz="2499" spc="-37" dirty="0">
                  <a:solidFill>
                    <a:srgbClr val="2980B9"/>
                  </a:solidFill>
                  <a:latin typeface="Helvetica World"/>
                  <a:ea typeface="Helvetica World"/>
                  <a:cs typeface="Helvetica World"/>
                  <a:sym typeface="Helvetica World"/>
                </a:rPr>
                <a:t>AgilePulse is built on a robust technology stack that ensures performance and scalability:</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SR-01: </a:t>
              </a:r>
              <a:r>
                <a:rPr lang="en-US" sz="2499" b="1" spc="-37" dirty="0">
                  <a:latin typeface="Helvetica World Bold"/>
                  <a:ea typeface="Helvetica World Bold"/>
                  <a:cs typeface="Helvetica World Bold"/>
                  <a:sym typeface="Helvetica World Bold"/>
                </a:rPr>
                <a:t>A RESTful API built with Express.js handles every client-server request and response</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SR-02: </a:t>
              </a:r>
              <a:r>
                <a:rPr lang="en-US" sz="2499" b="1" spc="-37" dirty="0">
                  <a:latin typeface="Helvetica World Bold"/>
                  <a:ea typeface="Helvetica World Bold"/>
                  <a:cs typeface="Helvetica World Bold"/>
                  <a:sym typeface="Helvetica World Bold"/>
                </a:rPr>
                <a:t>MongoDB Atlas is the cloud-hosted database, with Mongoose providing schema validation as the ODM layer</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SR-03: </a:t>
              </a:r>
              <a:r>
                <a:rPr lang="en-US" sz="2499" b="1" spc="-37" dirty="0">
                  <a:latin typeface="Helvetica World Bold"/>
                  <a:ea typeface="Helvetica World Bold"/>
                  <a:cs typeface="Helvetica World Bold"/>
                  <a:sym typeface="Helvetica World Bold"/>
                </a:rPr>
                <a:t>Socket.IO powers real-time, bi-directional board synchronization the moment any user moves a card</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SR-04: </a:t>
              </a:r>
              <a:r>
                <a:rPr lang="en-US" sz="2499" b="1" spc="-37" dirty="0">
                  <a:latin typeface="Helvetica World Bold"/>
                  <a:ea typeface="Helvetica World Bold"/>
                  <a:cs typeface="Helvetica World Bold"/>
                  <a:sym typeface="Helvetica World Bold"/>
                </a:rPr>
                <a:t>Stateless JWT-based authentication protects every route, verified by middleware before any controller runs</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SR-05: </a:t>
              </a:r>
              <a:r>
                <a:rPr lang="en-US" sz="2499" b="1" spc="-37" dirty="0">
                  <a:latin typeface="Helvetica World Bold"/>
                  <a:ea typeface="Helvetica World Bold"/>
                  <a:cs typeface="Helvetica World Bold"/>
                  <a:sym typeface="Helvetica World Bold"/>
                </a:rPr>
                <a:t>Jest and </a:t>
              </a:r>
              <a:r>
                <a:rPr lang="en-US" sz="2499" b="1" spc="-37" dirty="0" err="1">
                  <a:latin typeface="Helvetica World Bold"/>
                  <a:ea typeface="Helvetica World Bold"/>
                  <a:cs typeface="Helvetica World Bold"/>
                  <a:sym typeface="Helvetica World Bold"/>
                </a:rPr>
                <a:t>Supertest</a:t>
              </a:r>
              <a:r>
                <a:rPr lang="en-US" sz="2499" b="1" spc="-37" dirty="0">
                  <a:latin typeface="Helvetica World Bold"/>
                  <a:ea typeface="Helvetica World Bold"/>
                  <a:cs typeface="Helvetica World Bold"/>
                  <a:sym typeface="Helvetica World Bold"/>
                </a:rPr>
                <a:t> drive an automated backend test suite targeting 80%+ coverage</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SR-06 to SR-08: </a:t>
              </a:r>
              <a:r>
                <a:rPr lang="en-US" sz="2499" b="1" spc="-37" dirty="0">
                  <a:latin typeface="Helvetica World Bold"/>
                  <a:ea typeface="Helvetica World Bold"/>
                  <a:cs typeface="Helvetica World Bold"/>
                  <a:sym typeface="Helvetica World Bold"/>
                </a:rPr>
                <a:t>Structured logging, environment-based configuration via </a:t>
              </a:r>
              <a:r>
                <a:rPr lang="en-US" sz="2499" b="1" spc="-37" dirty="0" err="1">
                  <a:latin typeface="Helvetica World Bold"/>
                  <a:ea typeface="Helvetica World Bold"/>
                  <a:cs typeface="Helvetica World Bold"/>
                  <a:sym typeface="Helvetica World Bold"/>
                </a:rPr>
                <a:t>dotenv</a:t>
              </a:r>
              <a:r>
                <a:rPr lang="en-US" sz="2499" b="1" spc="-37" dirty="0">
                  <a:latin typeface="Helvetica World Bold"/>
                  <a:ea typeface="Helvetica World Bold"/>
                  <a:cs typeface="Helvetica World Bold"/>
                  <a:sym typeface="Helvetica World Bold"/>
                </a:rPr>
                <a:t>, and centralized error-handling middleware keep the application maintainable and easy to debug in production.</a:t>
              </a:r>
            </a:p>
          </p:txBody>
        </p:sp>
        <p:sp>
          <p:nvSpPr>
            <p:cNvPr id="7" name="TextBox 7"/>
            <p:cNvSpPr txBox="1"/>
            <p:nvPr/>
          </p:nvSpPr>
          <p:spPr>
            <a:xfrm>
              <a:off x="0" y="0"/>
              <a:ext cx="13017500" cy="690927"/>
            </a:xfrm>
            <a:prstGeom prst="rect">
              <a:avLst/>
            </a:prstGeom>
          </p:spPr>
          <p:txBody>
            <a:bodyPr lIns="0" tIns="0" rIns="0" bIns="0" rtlCol="0" anchor="t">
              <a:spAutoFit/>
            </a:bodyPr>
            <a:lstStyle/>
            <a:p>
              <a:pPr marL="0" lvl="0" indent="0" algn="l">
                <a:lnSpc>
                  <a:spcPts val="3600"/>
                </a:lnSpc>
                <a:spcBef>
                  <a:spcPct val="0"/>
                </a:spcBef>
              </a:pPr>
              <a:r>
                <a:rPr lang="en-US" sz="3000" b="1" u="sng" spc="-44" dirty="0">
                  <a:solidFill>
                    <a:srgbClr val="2980B9"/>
                  </a:solidFill>
                  <a:latin typeface="Helvetica World Bold"/>
                  <a:ea typeface="Helvetica World Bold"/>
                  <a:cs typeface="Helvetica World Bold"/>
                  <a:sym typeface="Helvetica World Bold"/>
                </a:rPr>
                <a:t>Core Technologies and System Architecture (System Requirements)</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ECF0F1"/>
            </a:solidFill>
            <a:ln cap="rnd">
              <a:noFill/>
              <a:prstDash val="solid"/>
              <a:round/>
            </a:ln>
          </p:spPr>
          <p:txBody>
            <a:bodyPr/>
            <a:lstStyle/>
            <a:p>
              <a:endParaRPr lang="en-US" dirty="0"/>
            </a:p>
          </p:txBody>
        </p:sp>
        <p:sp>
          <p:nvSpPr>
            <p:cNvPr id="4" name="TextBox 4"/>
            <p:cNvSpPr txBox="1"/>
            <p:nvPr/>
          </p:nvSpPr>
          <p:spPr>
            <a:xfrm>
              <a:off x="0" y="-38100"/>
              <a:ext cx="4465383" cy="239622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2105025" y="1562100"/>
            <a:ext cx="14430375" cy="4535513"/>
            <a:chOff x="0" y="0"/>
            <a:chExt cx="13017500" cy="6047350"/>
          </a:xfrm>
        </p:grpSpPr>
        <p:sp>
          <p:nvSpPr>
            <p:cNvPr id="6" name="TextBox 6"/>
            <p:cNvSpPr txBox="1"/>
            <p:nvPr/>
          </p:nvSpPr>
          <p:spPr>
            <a:xfrm>
              <a:off x="0" y="1316567"/>
              <a:ext cx="13017500" cy="4730783"/>
            </a:xfrm>
            <a:prstGeom prst="rect">
              <a:avLst/>
            </a:prstGeom>
          </p:spPr>
          <p:txBody>
            <a:bodyPr lIns="0" tIns="0" rIns="0" bIns="0" rtlCol="0" anchor="t">
              <a:spAutoFit/>
            </a:bodyPr>
            <a:lstStyle/>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Product Owner: </a:t>
              </a:r>
              <a:r>
                <a:rPr lang="en-US" sz="2499" b="1" spc="-37" dirty="0">
                  <a:latin typeface="Helvetica World Bold"/>
                  <a:ea typeface="Helvetica World Bold"/>
                  <a:cs typeface="Helvetica World Bold"/>
                  <a:sym typeface="Helvetica World Bold"/>
                </a:rPr>
                <a:t>Needs to create and reprioritize the backlog, define clear sprint goals, and track release progress at a glance.</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Scrum Master: </a:t>
              </a:r>
              <a:r>
                <a:rPr lang="en-US" sz="2499" b="1" spc="-37" dirty="0">
                  <a:latin typeface="Helvetica World Bold"/>
                  <a:ea typeface="Helvetica World Bold"/>
                  <a:cs typeface="Helvetica World Bold"/>
                  <a:sym typeface="Helvetica World Bold"/>
                </a:rPr>
                <a:t>Needs to plan sprints within the team's proven velocity, spot blockers early, and keep task flow smooth.</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Developer: </a:t>
              </a:r>
              <a:r>
                <a:rPr lang="en-US" sz="2499" b="1" spc="-37" dirty="0">
                  <a:latin typeface="Helvetica World Bold"/>
                  <a:ea typeface="Helvetica World Bold"/>
                  <a:cs typeface="Helvetica World Bold"/>
                  <a:sym typeface="Helvetica World Bold"/>
                </a:rPr>
                <a:t>Needs a fast way to pick up tasks, update status with a card drag, and log comments without leaving the board.</a:t>
              </a:r>
            </a:p>
            <a:p>
              <a:pPr marL="539749" lvl="1" indent="-269875" algn="l">
                <a:lnSpc>
                  <a:spcPts val="3499"/>
                </a:lnSpc>
                <a:buFont typeface="Arial"/>
                <a:buChar char="•"/>
              </a:pPr>
              <a:r>
                <a:rPr lang="en-US" sz="2499" b="1" spc="-37" dirty="0">
                  <a:solidFill>
                    <a:srgbClr val="2980B9"/>
                  </a:solidFill>
                  <a:latin typeface="Helvetica World Bold"/>
                  <a:ea typeface="Helvetica World Bold"/>
                  <a:cs typeface="Helvetica World Bold"/>
                  <a:sym typeface="Helvetica World Bold"/>
                </a:rPr>
                <a:t>All Roles: </a:t>
              </a:r>
              <a:r>
                <a:rPr lang="en-US" sz="2499" b="1" spc="-37" dirty="0">
                  <a:latin typeface="Helvetica World Bold"/>
                  <a:ea typeface="Helvetica World Bold"/>
                  <a:cs typeface="Helvetica World Bold"/>
                  <a:sym typeface="Helvetica World Bold"/>
                </a:rPr>
                <a:t>Expect instant updates the moment a teammate moves a card, comments, or closes a sprint — zero manual refreshing.</a:t>
              </a:r>
            </a:p>
          </p:txBody>
        </p:sp>
        <p:sp>
          <p:nvSpPr>
            <p:cNvPr id="7" name="TextBox 7"/>
            <p:cNvSpPr txBox="1"/>
            <p:nvPr/>
          </p:nvSpPr>
          <p:spPr>
            <a:xfrm>
              <a:off x="0" y="0"/>
              <a:ext cx="13017500" cy="615553"/>
            </a:xfrm>
            <a:prstGeom prst="rect">
              <a:avLst/>
            </a:prstGeom>
          </p:spPr>
          <p:txBody>
            <a:bodyPr lIns="0" tIns="0" rIns="0" bIns="0" rtlCol="0" anchor="t">
              <a:spAutoFit/>
            </a:bodyPr>
            <a:lstStyle/>
            <a:p>
              <a:pPr marL="0" lvl="0" indent="0" algn="l">
                <a:lnSpc>
                  <a:spcPts val="3600"/>
                </a:lnSpc>
                <a:spcBef>
                  <a:spcPct val="0"/>
                </a:spcBef>
              </a:pPr>
              <a:r>
                <a:rPr lang="en-US" sz="3000" b="1" u="sng" spc="-44" dirty="0">
                  <a:solidFill>
                    <a:srgbClr val="2980B9"/>
                  </a:solidFill>
                  <a:latin typeface="Helvetica World Bold"/>
                  <a:ea typeface="Helvetica World Bold"/>
                  <a:cs typeface="Helvetica World Bold"/>
                  <a:sym typeface="Helvetica World Bold"/>
                </a:rPr>
                <a:t>Defining roles and their specific needs (User Requirements)</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ECF0F1"/>
            </a:solidFill>
            <a:ln cap="rnd">
              <a:noFill/>
              <a:prstDash val="solid"/>
              <a:round/>
            </a:ln>
          </p:spPr>
          <p:txBody>
            <a:bodyPr/>
            <a:lstStyle/>
            <a:p>
              <a:endParaRPr lang="en-US"/>
            </a:p>
          </p:txBody>
        </p:sp>
        <p:sp>
          <p:nvSpPr>
            <p:cNvPr id="4" name="TextBox 4"/>
            <p:cNvSpPr txBox="1"/>
            <p:nvPr/>
          </p:nvSpPr>
          <p:spPr>
            <a:xfrm>
              <a:off x="0" y="-38100"/>
              <a:ext cx="4465383" cy="239622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2105025" y="1562100"/>
            <a:ext cx="14049375" cy="7488899"/>
            <a:chOff x="0" y="0"/>
            <a:chExt cx="13017500" cy="9985198"/>
          </a:xfrm>
        </p:grpSpPr>
        <p:sp>
          <p:nvSpPr>
            <p:cNvPr id="6" name="TextBox 6"/>
            <p:cNvSpPr txBox="1"/>
            <p:nvPr/>
          </p:nvSpPr>
          <p:spPr>
            <a:xfrm>
              <a:off x="0" y="1051983"/>
              <a:ext cx="13017500" cy="8933215"/>
            </a:xfrm>
            <a:prstGeom prst="rect">
              <a:avLst/>
            </a:prstGeom>
          </p:spPr>
          <p:txBody>
            <a:bodyPr lIns="0" tIns="0" rIns="0" bIns="0" rtlCol="0" anchor="t">
              <a:spAutoFit/>
            </a:bodyPr>
            <a:lstStyle/>
            <a:p>
              <a:pPr marL="0" lvl="0" indent="0" algn="l">
                <a:lnSpc>
                  <a:spcPts val="3456"/>
                </a:lnSpc>
              </a:pPr>
              <a:r>
                <a:rPr lang="en-US" sz="2468" b="1" spc="-37" dirty="0">
                  <a:solidFill>
                    <a:srgbClr val="2980B9"/>
                  </a:solidFill>
                  <a:latin typeface="Helvetica World Bold"/>
                  <a:ea typeface="Helvetica World Bold"/>
                  <a:cs typeface="Helvetica World Bold"/>
                  <a:sym typeface="Helvetica World Bold"/>
                </a:rPr>
                <a:t>Hardware Requirements:</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Development: </a:t>
              </a:r>
              <a:r>
                <a:rPr lang="en-US" sz="2468" spc="-37" dirty="0">
                  <a:latin typeface="Helvetica World"/>
                  <a:ea typeface="Helvetica World"/>
                  <a:cs typeface="Helvetica World"/>
                  <a:sym typeface="Helvetica World"/>
                </a:rPr>
                <a:t>Minimum 8GB RAM, dual-core processor, 10GB free storage, stable internet for MongoDB Atlas</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Deployment: </a:t>
              </a:r>
              <a:r>
                <a:rPr lang="en-US" sz="2468" spc="-37" dirty="0">
                  <a:latin typeface="Helvetica World"/>
                  <a:ea typeface="Helvetica World"/>
                  <a:cs typeface="Helvetica World"/>
                  <a:sym typeface="Helvetica World"/>
                </a:rPr>
                <a:t>Fully cloud-hosted — no dedicated server hardware, scales with the hosting provider</a:t>
              </a:r>
            </a:p>
            <a:p>
              <a:pPr marL="0" lvl="0" indent="0" algn="l">
                <a:lnSpc>
                  <a:spcPts val="3456"/>
                </a:lnSpc>
              </a:pPr>
              <a:r>
                <a:rPr lang="en-US" sz="2468" b="1" spc="-37" dirty="0">
                  <a:solidFill>
                    <a:srgbClr val="2980B9"/>
                  </a:solidFill>
                  <a:latin typeface="Helvetica World Bold"/>
                  <a:ea typeface="Helvetica World Bold"/>
                  <a:cs typeface="Helvetica World Bold"/>
                  <a:sym typeface="Helvetica World Bold"/>
                </a:rPr>
                <a:t>Software Stack:</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Frontend: </a:t>
              </a:r>
              <a:r>
                <a:rPr lang="en-US" sz="2468" spc="-37" dirty="0">
                  <a:latin typeface="Helvetica World"/>
                  <a:ea typeface="Helvetica World"/>
                  <a:cs typeface="Helvetica World"/>
                  <a:sym typeface="Helvetica World"/>
                </a:rPr>
                <a:t>React.js with </a:t>
              </a:r>
              <a:r>
                <a:rPr lang="en-US" sz="2468" spc="-37" dirty="0" err="1">
                  <a:latin typeface="Helvetica World"/>
                  <a:ea typeface="Helvetica World"/>
                  <a:cs typeface="Helvetica World"/>
                  <a:sym typeface="Helvetica World"/>
                </a:rPr>
                <a:t>TailwindCSS</a:t>
              </a:r>
              <a:r>
                <a:rPr lang="en-US" sz="2468" spc="-37" dirty="0">
                  <a:latin typeface="Helvetica World"/>
                  <a:ea typeface="Helvetica World"/>
                  <a:cs typeface="Helvetica World"/>
                  <a:sym typeface="Helvetica World"/>
                </a:rPr>
                <a:t> and Vite</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Backend</a:t>
              </a:r>
              <a:r>
                <a:rPr lang="en-US" sz="2468" spc="-37" dirty="0">
                  <a:latin typeface="Helvetica World"/>
                  <a:ea typeface="Helvetica World"/>
                  <a:cs typeface="Helvetica World"/>
                  <a:sym typeface="Helvetica World"/>
                </a:rPr>
                <a:t>: Node.js (v18+) with Express.js</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Database: </a:t>
              </a:r>
              <a:r>
                <a:rPr lang="en-US" sz="2468" spc="-37" dirty="0">
                  <a:latin typeface="Helvetica World"/>
                  <a:ea typeface="Helvetica World"/>
                  <a:cs typeface="Helvetica World"/>
                  <a:sym typeface="Helvetica World"/>
                </a:rPr>
                <a:t>MongoDB Atlas (cloud-hosted)</a:t>
              </a:r>
            </a:p>
            <a:p>
              <a:pPr marL="0" lvl="0" indent="0" algn="l">
                <a:lnSpc>
                  <a:spcPts val="3456"/>
                </a:lnSpc>
              </a:pPr>
              <a:r>
                <a:rPr lang="en-US" sz="2468" b="1" spc="-37" dirty="0">
                  <a:solidFill>
                    <a:srgbClr val="2980B9"/>
                  </a:solidFill>
                  <a:latin typeface="Helvetica World Bold"/>
                  <a:ea typeface="Helvetica World Bold"/>
                  <a:cs typeface="Helvetica World Bold"/>
                  <a:sym typeface="Helvetica World Bold"/>
                </a:rPr>
                <a:t>Supporting Tools:</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Version Control: </a:t>
              </a:r>
              <a:r>
                <a:rPr lang="en-US" sz="2468" spc="-37" dirty="0">
                  <a:latin typeface="Helvetica World"/>
                  <a:ea typeface="Helvetica World"/>
                  <a:cs typeface="Helvetica World"/>
                  <a:sym typeface="Helvetica World"/>
                </a:rPr>
                <a:t>Git and GitHub</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API Testing: </a:t>
              </a:r>
              <a:r>
                <a:rPr lang="en-US" sz="2468" spc="-37" dirty="0">
                  <a:latin typeface="Helvetica World"/>
                  <a:ea typeface="Helvetica World"/>
                  <a:cs typeface="Helvetica World"/>
                  <a:sym typeface="Helvetica World"/>
                </a:rPr>
                <a:t>Postman</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IDE: </a:t>
              </a:r>
              <a:r>
                <a:rPr lang="en-US" sz="2468" spc="-37" dirty="0">
                  <a:latin typeface="Helvetica World"/>
                  <a:ea typeface="Helvetica World"/>
                  <a:cs typeface="Helvetica World"/>
                  <a:sym typeface="Helvetica World"/>
                </a:rPr>
                <a:t>VS Code with </a:t>
              </a:r>
              <a:r>
                <a:rPr lang="en-US" sz="2468" spc="-37" dirty="0" err="1">
                  <a:latin typeface="Helvetica World"/>
                  <a:ea typeface="Helvetica World"/>
                  <a:cs typeface="Helvetica World"/>
                  <a:sym typeface="Helvetica World"/>
                </a:rPr>
                <a:t>ESLint</a:t>
              </a:r>
              <a:endParaRPr lang="en-US" sz="2468" spc="-37" dirty="0">
                <a:latin typeface="Helvetica World"/>
                <a:ea typeface="Helvetica World"/>
                <a:cs typeface="Helvetica World"/>
                <a:sym typeface="Helvetica World"/>
              </a:endParaRPr>
            </a:p>
            <a:p>
              <a:pPr marL="0" lvl="0" indent="0" algn="l">
                <a:lnSpc>
                  <a:spcPts val="3456"/>
                </a:lnSpc>
              </a:pPr>
              <a:r>
                <a:rPr lang="en-US" sz="2468" b="1" spc="-37" dirty="0">
                  <a:solidFill>
                    <a:srgbClr val="2980B9"/>
                  </a:solidFill>
                  <a:latin typeface="Helvetica World Bold"/>
                  <a:ea typeface="Helvetica World Bold"/>
                  <a:cs typeface="Helvetica World Bold"/>
                  <a:sym typeface="Helvetica World Bold"/>
                </a:rPr>
                <a:t>Deployment Targets:</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Frontend: </a:t>
              </a:r>
              <a:r>
                <a:rPr lang="en-US" sz="2468" spc="-37" dirty="0" err="1">
                  <a:latin typeface="Helvetica World"/>
                  <a:ea typeface="Helvetica World"/>
                  <a:cs typeface="Helvetica World"/>
                  <a:sym typeface="Helvetica World"/>
                </a:rPr>
                <a:t>Vercel</a:t>
              </a:r>
              <a:r>
                <a:rPr lang="en-US" sz="2468" spc="-37" dirty="0">
                  <a:latin typeface="Helvetica World"/>
                  <a:ea typeface="Helvetica World"/>
                  <a:cs typeface="Helvetica World"/>
                  <a:sym typeface="Helvetica World"/>
                </a:rPr>
                <a:t> or Netlify (free tier)</a:t>
              </a:r>
            </a:p>
            <a:p>
              <a:pPr marL="533002" lvl="1" indent="-266501" algn="l">
                <a:lnSpc>
                  <a:spcPts val="3456"/>
                </a:lnSpc>
                <a:buFont typeface="Arial"/>
                <a:buChar char="•"/>
              </a:pPr>
              <a:r>
                <a:rPr lang="en-US" sz="2468" spc="-37" dirty="0">
                  <a:solidFill>
                    <a:srgbClr val="2980B9"/>
                  </a:solidFill>
                  <a:latin typeface="Helvetica World"/>
                  <a:ea typeface="Helvetica World"/>
                  <a:cs typeface="Helvetica World"/>
                  <a:sym typeface="Helvetica World"/>
                </a:rPr>
                <a:t>Backend: </a:t>
              </a:r>
              <a:r>
                <a:rPr lang="en-US" sz="2468" spc="-37" dirty="0">
                  <a:latin typeface="Helvetica World"/>
                  <a:ea typeface="Helvetica World"/>
                  <a:cs typeface="Helvetica World"/>
                  <a:sym typeface="Helvetica World"/>
                </a:rPr>
                <a:t>Render or Heroku (free/hobby tier)</a:t>
              </a:r>
            </a:p>
          </p:txBody>
        </p:sp>
        <p:sp>
          <p:nvSpPr>
            <p:cNvPr id="7" name="TextBox 7"/>
            <p:cNvSpPr txBox="1"/>
            <p:nvPr/>
          </p:nvSpPr>
          <p:spPr>
            <a:xfrm>
              <a:off x="0" y="0"/>
              <a:ext cx="13017500" cy="615553"/>
            </a:xfrm>
            <a:prstGeom prst="rect">
              <a:avLst/>
            </a:prstGeom>
          </p:spPr>
          <p:txBody>
            <a:bodyPr lIns="0" tIns="0" rIns="0" bIns="0" rtlCol="0" anchor="t">
              <a:spAutoFit/>
            </a:bodyPr>
            <a:lstStyle/>
            <a:p>
              <a:pPr marL="0" lvl="0" indent="0" algn="l">
                <a:lnSpc>
                  <a:spcPts val="3600"/>
                </a:lnSpc>
                <a:spcBef>
                  <a:spcPct val="0"/>
                </a:spcBef>
              </a:pPr>
              <a:r>
                <a:rPr lang="en-US" sz="3000" b="1" u="sng" spc="-44" dirty="0">
                  <a:solidFill>
                    <a:srgbClr val="2980B9"/>
                  </a:solidFill>
                  <a:latin typeface="Helvetica World Bold"/>
                  <a:ea typeface="Helvetica World Bold"/>
                  <a:cs typeface="Helvetica World Bold"/>
                  <a:sym typeface="Helvetica World Bold"/>
                </a:rPr>
                <a:t>Hardware and Software Specifications Overview</a:t>
              </a: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ECF0F1"/>
                </a:solidFill>
                <a:latin typeface="Helvetica World"/>
                <a:ea typeface="Helvetica World"/>
                <a:cs typeface="Helvetica World"/>
                <a:sym typeface="Helvetica World"/>
              </a:rPr>
              <a:t>8</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62839"/>
            </a:solidFill>
            <a:ln cap="rnd">
              <a:noFill/>
              <a:prstDash val="solid"/>
              <a:round/>
            </a:ln>
          </p:spPr>
          <p:txBody>
            <a:bodyPr/>
            <a:lstStyle/>
            <a:p>
              <a:endParaRPr lang="en-US"/>
            </a:p>
          </p:txBody>
        </p:sp>
        <p:sp>
          <p:nvSpPr>
            <p:cNvPr id="5" name="TextBox 5"/>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497806"/>
            <a:ext cx="12944475" cy="6141244"/>
            <a:chOff x="0" y="-85725"/>
            <a:chExt cx="17259300" cy="8188325"/>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dirty="0">
                  <a:solidFill>
                    <a:srgbClr val="ECF0F1"/>
                  </a:solidFill>
                  <a:latin typeface="Georgia Pro Condensed"/>
                  <a:ea typeface="Georgia Pro Condensed"/>
                  <a:cs typeface="Georgia Pro Condensed"/>
                  <a:sym typeface="Georgia Pro Condensed"/>
                </a:rPr>
                <a:t>Future Impact &amp; Feasibility</a:t>
              </a:r>
            </a:p>
          </p:txBody>
        </p:sp>
        <p:sp>
          <p:nvSpPr>
            <p:cNvPr id="8" name="TextBox 8"/>
            <p:cNvSpPr txBox="1"/>
            <p:nvPr/>
          </p:nvSpPr>
          <p:spPr>
            <a:xfrm>
              <a:off x="0" y="2197212"/>
              <a:ext cx="17259300" cy="512961"/>
            </a:xfrm>
            <a:prstGeom prst="rect">
              <a:avLst/>
            </a:prstGeom>
          </p:spPr>
          <p:txBody>
            <a:bodyPr lIns="0" tIns="0" rIns="0" bIns="0" rtlCol="0" anchor="t">
              <a:spAutoFit/>
            </a:bodyPr>
            <a:lstStyle/>
            <a:p>
              <a:pPr marL="0" lvl="0" indent="0" algn="l">
                <a:lnSpc>
                  <a:spcPts val="3000"/>
                </a:lnSpc>
                <a:spcBef>
                  <a:spcPct val="0"/>
                </a:spcBef>
              </a:pPr>
              <a:r>
                <a:rPr lang="en-US" sz="2500" b="1" u="sng" spc="-37" dirty="0">
                  <a:solidFill>
                    <a:srgbClr val="ECF0F1"/>
                  </a:solidFill>
                  <a:latin typeface="Helvetica World Bold"/>
                  <a:ea typeface="Helvetica World Bold"/>
                  <a:cs typeface="Helvetica World Bold"/>
                  <a:sym typeface="Helvetica World Bold"/>
                </a:rPr>
                <a:t>Technical and Economic Viability</a:t>
              </a:r>
            </a:p>
          </p:txBody>
        </p:sp>
        <p:sp>
          <p:nvSpPr>
            <p:cNvPr id="9" name="TextBox 9"/>
            <p:cNvSpPr txBox="1"/>
            <p:nvPr/>
          </p:nvSpPr>
          <p:spPr>
            <a:xfrm>
              <a:off x="0" y="3069166"/>
              <a:ext cx="13512134" cy="5033434"/>
            </a:xfrm>
            <a:prstGeom prst="rect">
              <a:avLst/>
            </a:prstGeom>
          </p:spPr>
          <p:txBody>
            <a:bodyPr lIns="0" tIns="0" rIns="0" bIns="0" rtlCol="0" anchor="t">
              <a:spAutoFit/>
            </a:bodyPr>
            <a:lstStyle/>
            <a:p>
              <a:pPr marL="0" lvl="0" indent="0" algn="l">
                <a:lnSpc>
                  <a:spcPts val="3499"/>
                </a:lnSpc>
              </a:pPr>
              <a:r>
                <a:rPr lang="en-US" sz="2499" spc="-37" dirty="0">
                  <a:solidFill>
                    <a:srgbClr val="ECF0F1"/>
                  </a:solidFill>
                  <a:latin typeface="Helvetica World"/>
                  <a:ea typeface="Helvetica World"/>
                  <a:cs typeface="Helvetica World"/>
                  <a:sym typeface="Helvetica World"/>
                </a:rPr>
                <a:t>AgilePulse offers a </a:t>
              </a:r>
              <a:r>
                <a:rPr lang="en-US" sz="2499" b="1" spc="-37" dirty="0">
                  <a:solidFill>
                    <a:srgbClr val="ECF0F1"/>
                  </a:solidFill>
                  <a:latin typeface="Helvetica World Bold"/>
                  <a:ea typeface="Helvetica World Bold"/>
                  <a:cs typeface="Helvetica World Bold"/>
                  <a:sym typeface="Helvetica World Bold"/>
                </a:rPr>
                <a:t>cost-effective solution, built entirely on free, open-source technology within cloud free-tier limits. It's technically feasible because every piece of the stack is mature and well-documented; economically feasible because it costs nothing to run; and the roadmap ahead includes a native mobile app, two-way Jira/GitHub sync, AI-assisted sprint estimation, and a burndown analytics dashboard — positioning AgilePulse as a lightweight, learning-friendly alternative to Jira or Trello.</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ECF0F1"/>
                </a:solidFill>
                <a:latin typeface="Helvetica World"/>
                <a:ea typeface="Helvetica World"/>
                <a:cs typeface="Helvetica World"/>
                <a:sym typeface="Helvetica World"/>
              </a:rPr>
              <a:t>9</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62839"/>
            </a:solidFill>
            <a:ln cap="rnd">
              <a:noFill/>
              <a:prstDash val="solid"/>
              <a:round/>
            </a:ln>
          </p:spPr>
          <p:txBody>
            <a:bodyPr/>
            <a:lstStyle/>
            <a:p>
              <a:endParaRPr lang="en-US"/>
            </a:p>
          </p:txBody>
        </p:sp>
        <p:sp>
          <p:nvSpPr>
            <p:cNvPr id="5" name="TextBox 5"/>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497806"/>
            <a:ext cx="12944475" cy="5664994"/>
            <a:chOff x="0" y="-85725"/>
            <a:chExt cx="17259300" cy="7553325"/>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ECF0F1"/>
                  </a:solidFill>
                  <a:latin typeface="Georgia Pro Condensed"/>
                  <a:ea typeface="Georgia Pro Condensed"/>
                  <a:cs typeface="Georgia Pro Condensed"/>
                  <a:sym typeface="Georgia Pro Condensed"/>
                </a:rPr>
                <a:t>Conclusion and Significance</a:t>
              </a:r>
            </a:p>
          </p:txBody>
        </p:sp>
        <p:sp>
          <p:nvSpPr>
            <p:cNvPr id="8" name="TextBox 8"/>
            <p:cNvSpPr txBox="1"/>
            <p:nvPr/>
          </p:nvSpPr>
          <p:spPr>
            <a:xfrm>
              <a:off x="0" y="2197212"/>
              <a:ext cx="17259300" cy="512961"/>
            </a:xfrm>
            <a:prstGeom prst="rect">
              <a:avLst/>
            </a:prstGeom>
          </p:spPr>
          <p:txBody>
            <a:bodyPr lIns="0" tIns="0" rIns="0" bIns="0" rtlCol="0" anchor="t">
              <a:spAutoFit/>
            </a:bodyPr>
            <a:lstStyle/>
            <a:p>
              <a:pPr marL="0" lvl="0" indent="0" algn="l">
                <a:lnSpc>
                  <a:spcPts val="3000"/>
                </a:lnSpc>
                <a:spcBef>
                  <a:spcPct val="0"/>
                </a:spcBef>
              </a:pPr>
              <a:r>
                <a:rPr lang="en-US" sz="2500" b="1" u="sng" spc="-37" dirty="0">
                  <a:solidFill>
                    <a:srgbClr val="ECF0F1"/>
                  </a:solidFill>
                  <a:latin typeface="Helvetica World Bold"/>
                  <a:ea typeface="Helvetica World Bold"/>
                  <a:cs typeface="Helvetica World Bold"/>
                  <a:sym typeface="Helvetica World Bold"/>
                </a:rPr>
                <a:t>AgilePulse</a:t>
              </a:r>
              <a:r>
                <a:rPr lang="en-US" sz="2500" b="1" spc="-37" dirty="0">
                  <a:solidFill>
                    <a:srgbClr val="ECF0F1"/>
                  </a:solidFill>
                  <a:latin typeface="Helvetica World Bold"/>
                  <a:ea typeface="Helvetica World Bold"/>
                  <a:cs typeface="Helvetica World Bold"/>
                  <a:sym typeface="Helvetica World Bold"/>
                </a:rPr>
                <a:t>: A Comprehensive Solution</a:t>
              </a:r>
            </a:p>
          </p:txBody>
        </p:sp>
        <p:sp>
          <p:nvSpPr>
            <p:cNvPr id="9" name="TextBox 9"/>
            <p:cNvSpPr txBox="1"/>
            <p:nvPr/>
          </p:nvSpPr>
          <p:spPr>
            <a:xfrm>
              <a:off x="0" y="3069166"/>
              <a:ext cx="13512134" cy="4398434"/>
            </a:xfrm>
            <a:prstGeom prst="rect">
              <a:avLst/>
            </a:prstGeom>
          </p:spPr>
          <p:txBody>
            <a:bodyPr lIns="0" tIns="0" rIns="0" bIns="0" rtlCol="0" anchor="t">
              <a:spAutoFit/>
            </a:bodyPr>
            <a:lstStyle/>
            <a:p>
              <a:pPr marL="0" lvl="0" indent="0" algn="l">
                <a:lnSpc>
                  <a:spcPts val="3499"/>
                </a:lnSpc>
              </a:pPr>
              <a:r>
                <a:rPr lang="en-US" sz="2499" spc="-37">
                  <a:solidFill>
                    <a:srgbClr val="ECF0F1"/>
                  </a:solidFill>
                  <a:latin typeface="Helvetica World"/>
                  <a:ea typeface="Helvetica World"/>
                  <a:cs typeface="Helvetica World"/>
                  <a:sym typeface="Helvetica World"/>
                </a:rPr>
                <a:t>AgilePulse transforms </a:t>
              </a:r>
              <a:r>
                <a:rPr lang="en-US" sz="2499" b="1" spc="-37">
                  <a:solidFill>
                    <a:srgbClr val="ECF0F1"/>
                  </a:solidFill>
                  <a:latin typeface="Helvetica World Bold"/>
                  <a:ea typeface="Helvetica World Bold"/>
                  <a:cs typeface="Helvetica World Bold"/>
                  <a:sym typeface="Helvetica World Bold"/>
                </a:rPr>
                <a:t>Scrum theory into practice: the backlog, sprint planning, and Kanban board that used to live in separate spreadsheets now live in one connected system. This SRS defines 25 functional and 22 non-functional requirements, giving development a clear, testable foundation, and it reinforced how requirements engineering and UML modeling connect to real engineering trade-offs before a single line of code is written.</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ECF0F1"/>
            </a:solidFill>
          </p:spPr>
          <p:txBody>
            <a:bodyPr/>
            <a:lstStyle/>
            <a:p>
              <a:endParaRPr lang="en-US"/>
            </a:p>
          </p:txBody>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3"/>
              <a:stretch>
                <a:fillRect t="-199" b="-199"/>
              </a:stretch>
            </a:blipFill>
          </p:spPr>
          <p:txBody>
            <a:bodyPr/>
            <a:lstStyle/>
            <a:p>
              <a:endParaRPr lang="en-US"/>
            </a:p>
          </p:txBody>
        </p:sp>
      </p:grpSp>
      <p:sp>
        <p:nvSpPr>
          <p:cNvPr id="7" name="TextBox 7"/>
          <p:cNvSpPr txBox="1"/>
          <p:nvPr/>
        </p:nvSpPr>
        <p:spPr>
          <a:xfrm>
            <a:off x="9303759" y="942975"/>
            <a:ext cx="8317491" cy="1999134"/>
          </a:xfrm>
          <a:prstGeom prst="rect">
            <a:avLst/>
          </a:prstGeom>
        </p:spPr>
        <p:txBody>
          <a:bodyPr lIns="0" tIns="0" rIns="0" bIns="0" rtlCol="0" anchor="t">
            <a:spAutoFit/>
          </a:bodyPr>
          <a:lstStyle/>
          <a:p>
            <a:pPr marL="0" lvl="0" indent="0" algn="l">
              <a:lnSpc>
                <a:spcPts val="14956"/>
              </a:lnSpc>
            </a:pPr>
            <a:r>
              <a:rPr lang="en-US" sz="14956" spc="-523">
                <a:solidFill>
                  <a:srgbClr val="ECF0F1"/>
                </a:solidFill>
                <a:latin typeface="Georgia Pro Condensed"/>
                <a:ea typeface="Georgia Pro Condensed"/>
                <a:cs typeface="Georgia Pro Condensed"/>
                <a:sym typeface="Georgia Pro Condensed"/>
              </a:rPr>
              <a:t>Thank You</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2362</Words>
  <Application>Microsoft Office PowerPoint</Application>
  <PresentationFormat>Custom</PresentationFormat>
  <Paragraphs>88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Georgia Pro Condensed</vt:lpstr>
      <vt:lpstr>Helvetica World Bold</vt:lpstr>
      <vt:lpstr>Helvetica World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AgilePulse: Software Requirements Specification</dc:title>
  <dc:creator>Lokesh Magare</dc:creator>
  <dc:description>Presentation - AgilePulse: Software Requirements Specification</dc:description>
  <cp:lastModifiedBy>Lokesh Magare</cp:lastModifiedBy>
  <cp:revision>12</cp:revision>
  <dcterms:created xsi:type="dcterms:W3CDTF">2006-08-16T00:00:00Z</dcterms:created>
  <dcterms:modified xsi:type="dcterms:W3CDTF">2026-09-18T05:36:23Z</dcterms:modified>
  <dc:identifier>DAHVeR598tw</dc:identifier>
</cp:coreProperties>
</file>