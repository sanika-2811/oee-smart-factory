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8" r:id="rId2"/>
    <p:sldId id="392" r:id="rId3"/>
    <p:sldId id="393" r:id="rId14"/>
    <p:sldId id="394" r:id="rId15"/>
    <p:sldId id="395" r:id="rId16"/>
    <p:sldId id="396" r:id="rId17"/>
    <p:sldId id="397" r:id="rId18"/>
    <p:sldId id="398" r:id="rId19"/>
    <p:sldId id="399" r:id="rId20"/>
    <p:sldId id="400" r:id="rId21"/>
    <p:sldId id="401" r:id="rId22"/>
    <p:sldId id="402" r:id="rId23"/>
    <p:sldId id="403" r:id="rId24"/>
    <p:sldId id="404" r:id="rId25"/>
    <p:sldId id="405" r:id="rId26"/>
    <p:sldId id="30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60000"/>
    <a:srgbClr val="66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94E37-74BD-725C-630D-F4B1C7B84340}" v="31" dt="2026-01-29T09:13:41.566"/>
    <p1510:client id="{7EB43320-B940-95BE-46D5-A88D6CD6EA47}" v="4" dt="2026-01-28T12:50:25.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customXml" Target="../customXml/item1.xml"/><Relationship Id="rId12" Type="http://schemas.openxmlformats.org/officeDocument/2006/relationships/customXml" Target="../customXml/item2.xml"/><Relationship Id="rId13" Type="http://schemas.openxmlformats.org/officeDocument/2006/relationships/customXml" Target="../customXml/item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D5C3C-9762-47FC-8162-DB9387D82497}"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58062-A31C-4F74-AAC8-1017D63BF7F0}" type="slidenum">
              <a:rPr lang="en-IN" smtClean="0"/>
              <a:t>‹#›</a:t>
            </a:fld>
            <a:endParaRPr lang="en-IN"/>
          </a:p>
        </p:txBody>
      </p:sp>
    </p:spTree>
    <p:extLst>
      <p:ext uri="{BB962C8B-B14F-4D97-AF65-F5344CB8AC3E}">
        <p14:creationId xmlns:p14="http://schemas.microsoft.com/office/powerpoint/2010/main" val="283440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t>Quick roadmap. The talk is about 10 minutes plus a live demo; screenshots are real captures of the running app.</a:t>
            </a: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One sentence: a software-only smart-factory monitor that shows OEE live and warns operators three different ways - rules, a machine-learning model and a trend projection - before a machine fails.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OEE is the standard productivity KPI: Availability x Performance x Quality. Today it is often computed after the shift, and alarms fire only at fixed limits. Operators need one live view that warns early. State the four needs on the right and the numeric targets from the SRS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six objectives; each maps to a requirement in the SRS (FR-01 to FR-12). Emphasise that everything is verified by tests, not just claimed.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today OEE is retrospective and alarms are fixed thresholds. Our system is live, layered and explainable, and it runs with no hardware.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simulator publishes JSON over MQTT (WebSockets) to Mosquitto; the FastAPI backend validates, computes OEE, runs the three detectors, stores data and pushes a snapshot every 500 ms to the React dashboard. Storage is a switch: memory by default, InfluxDB + PostgreSQL when configured.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tools; each was chosen from the SRS. Highlight that the frontend and backend are fully typed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system. Red is certain and immediate. Orange uses a regression line to predict a crossing within 60 seconds. Yellow comes from the Isolation Forest when the score passes 85 percent. Higher levels suppress lower ones. Every colour also has an icon and a label for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factors with the formula; then show the live plant numbers from the test run. Rolling windows are O(1) running sums so it scales to 20 machines.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 Isolation Forest for all machines using per-machine normalised features, calibrated to a 0-100 percent score. We validated it on injected faults: six of six detected, 100 percent precision, no false alarms. Right: a least squares line over three minutes predicts when the limit will be hit.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screenshots from the running application at 1440 pixels. Top left overview, top right machine grid with red orange and green, bottom left the machine detail with the regression line, bottom right the alert centre after operator actions.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Follow the numbered steps; the whole demo takes three minutes. Before presenting: start with scripts/dev.ps1 or docker compose up, sign in as manager.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are from real runs of the final code. 28 backend tests, 7 frontend tests, a 13 check end to end smoke test and a MQTT broker kill test. Every performance target from the SRS was met. Be honest that the database layer was verified without live servers.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balanced. Advantages: layered detection, explainable alerts, runs without infrastructure. Limitations: simulated data, one-off training, basic auth. Applications: monitoring, teaching, model test-bench.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the system meets the SRS targets with measured evidence. Future: real equipment via OPC UA, use feedback to retrain, roles and notifications, non-linear RUL. References are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Likely ones: Why Isolation Forest? (unsupervised, no fault labels, cheap inference). How is the 85 percent calibrated? (normal tail 70 percent, median anomaly 95 percent). What happens if the broker or ML fails? (auto-reconnect; last score held). What was not verified? (live InfluxDB/PostgreSQL and Docker were not available on the build machine).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7395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181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2568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2326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5429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5642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7309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43560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3035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870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9264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 name="Title Placeholder 1"/>
          <p:cNvSpPr>
            <a:spLocks noGrp="1"/>
          </p:cNvSpPr>
          <p:nvPr>
            <p:ph type="title"/>
          </p:nvPr>
        </p:nvSpPr>
        <p:spPr>
          <a:xfrm>
            <a:off x="609600" y="1855079"/>
            <a:ext cx="10972800" cy="1143000"/>
          </a:xfrm>
          <a:prstGeom prst="rect">
            <a:avLst/>
          </a:prstGeom>
        </p:spPr>
        <p:txBody>
          <a:bodyPr vert="horz" lIns="91440" tIns="45720" rIns="91440" bIns="45720" rtlCol="0" anchor="ctr">
            <a:normAutofit/>
          </a:bodyPr>
          <a:lstStyle>
            <a:lvl1pPr>
              <a:defRPr b="1"/>
            </a:lvl1pPr>
          </a:lstStyle>
          <a:p>
            <a:r>
              <a:rPr lang="en-US"/>
              <a:t>PRESENTATON TITLE</a:t>
            </a:r>
          </a:p>
        </p:txBody>
      </p:sp>
      <p:sp>
        <p:nvSpPr>
          <p:cNvPr id="23" name="Date Placeholder 3"/>
          <p:cNvSpPr>
            <a:spLocks noGrp="1"/>
          </p:cNvSpPr>
          <p:nvPr>
            <p:ph type="dt" sz="half" idx="2"/>
          </p:nvPr>
        </p:nvSpPr>
        <p:spPr>
          <a:xfrm>
            <a:off x="11582400" y="6301259"/>
            <a:ext cx="508000" cy="365125"/>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400" b="1">
                <a:solidFill>
                  <a:schemeClr val="tx1"/>
                </a:solidFill>
                <a:latin typeface="Aller"/>
                <a:cs typeface="Aller"/>
              </a:defRPr>
            </a:lvl1pPr>
          </a:lstStyle>
          <a:p>
            <a:r>
              <a:rPr lang="en-US"/>
              <a:t>‹#›</a:t>
            </a:r>
          </a:p>
        </p:txBody>
      </p:sp>
    </p:spTree>
    <p:extLst>
      <p:ext uri="{BB962C8B-B14F-4D97-AF65-F5344CB8AC3E}">
        <p14:creationId xmlns:p14="http://schemas.microsoft.com/office/powerpoint/2010/main" val="4244089601"/>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14"/>
          <p:cNvSpPr/>
          <p:nvPr/>
        </p:nvSpPr>
        <p:spPr>
          <a:xfrm>
            <a:off x="1788" y="604228"/>
            <a:ext cx="12192000" cy="10789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B769C-FC6A-4715-A5DC-297479AEC45A}" type="datetimeFigureOut">
              <a:rPr lang="en-US" smtClean="0">
                <a:solidFill>
                  <a:prstClr val="black">
                    <a:tint val="75000"/>
                  </a:prstClr>
                </a:solidFill>
              </a:rPr>
              <a:pPr/>
              <a:t>10/8/2026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
        <p:nvSpPr>
          <p:cNvPr id="7" name="Rectangle 6"/>
          <p:cNvSpPr/>
          <p:nvPr/>
        </p:nvSpPr>
        <p:spPr>
          <a:xfrm>
            <a:off x="0" y="0"/>
            <a:ext cx="12192000" cy="62394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9" name="Round Same Side Corner Rectangle 8"/>
          <p:cNvSpPr/>
          <p:nvPr/>
        </p:nvSpPr>
        <p:spPr>
          <a:xfrm rot="10800000">
            <a:off x="311972" y="2"/>
            <a:ext cx="1258645" cy="1065007"/>
          </a:xfrm>
          <a:prstGeom prst="round2SameRect">
            <a:avLst/>
          </a:prstGeom>
          <a:solidFill>
            <a:schemeClr val="bg1"/>
          </a:solidFill>
          <a:effectLst>
            <a:outerShdw blurRad="50800" dist="38100" dir="5400000" algn="t"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endParaRPr lang="en-IN" sz="1800">
              <a:solidFill>
                <a:prstClr val="white"/>
              </a:solidFill>
            </a:endParaRPr>
          </a:p>
        </p:txBody>
      </p:sp>
      <p:pic>
        <p:nvPicPr>
          <p:cNvPr id="10" name="Picture 9"/>
          <p:cNvPicPr>
            <a:picLocks noChangeAspect="1"/>
          </p:cNvPicPr>
          <p:nvPr/>
        </p:nvPicPr>
        <p:blipFill>
          <a:blip r:embed="rId14"/>
          <a:stretch>
            <a:fillRect/>
          </a:stretch>
        </p:blipFill>
        <p:spPr>
          <a:xfrm>
            <a:off x="429947" y="0"/>
            <a:ext cx="1039847" cy="1039846"/>
          </a:xfrm>
          <a:prstGeom prst="rect">
            <a:avLst/>
          </a:prstGeom>
        </p:spPr>
      </p:pic>
      <p:sp>
        <p:nvSpPr>
          <p:cNvPr id="11" name="Rectangle 10"/>
          <p:cNvSpPr/>
          <p:nvPr/>
        </p:nvSpPr>
        <p:spPr>
          <a:xfrm>
            <a:off x="0" y="6712771"/>
            <a:ext cx="12192000" cy="10789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12" name="Rectangle 11"/>
          <p:cNvSpPr/>
          <p:nvPr/>
        </p:nvSpPr>
        <p:spPr>
          <a:xfrm>
            <a:off x="0" y="6777634"/>
            <a:ext cx="12192000" cy="10789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Tree>
    <p:extLst>
      <p:ext uri="{BB962C8B-B14F-4D97-AF65-F5344CB8AC3E}">
        <p14:creationId xmlns:p14="http://schemas.microsoft.com/office/powerpoint/2010/main" val="4183882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480797"/>
            <a:ext cx="7696200" cy="810228"/>
          </a:xfrm>
        </p:spPr>
        <p:txBody>
          <a:bodyPr>
            <a:noAutofit/>
          </a:bodyPr>
          <a:lstStyle/>
          <a:p>
            <a:pPr algn="ct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r>
              <a:rPr b="1" sz="2200">
                <a:solidFill>
                  <a:srgbClr val="111827"/>
                </a:solidFill>
                <a:latin typeface="Times New Roman"/>
              </a:rPr>
              <a:t>A Presentation on</a:t>
            </a:r>
            <a:endParaRPr lang="en-IN" sz="2000" b="1" dirty="0">
              <a:latin typeface="Times New Roman" pitchFamily="18" charset="0"/>
              <a:cs typeface="Times New Roman" pitchFamily="18" charset="0"/>
            </a:endParaRPr>
          </a:p>
          <a:p>
            <a:pPr algn="ctr"/>
            <a:r>
              <a:rPr b="1" sz="2600">
                <a:solidFill>
                  <a:srgbClr val="111827"/>
                </a:solidFill>
                <a:latin typeface="Times New Roman"/>
              </a:rPr>
              <a:t>“AI-Enhanced Real-Time OEE and Anomaly Dashboard</a:t>
            </a:r>
          </a:p>
          <a:p>
            <a:pPr algn="ctr"/>
            <a:r>
              <a:rPr b="1" sz="2600">
                <a:solidFill>
                  <a:srgbClr val="111827"/>
                </a:solidFill>
                <a:latin typeface="Times New Roman"/>
              </a:rPr>
              <a:t>for a Smart Factory System”</a:t>
            </a:r>
          </a:p>
          <a:p>
            <a:pPr algn="ctr"/>
            <a:r>
              <a:rPr b="1" sz="2200">
                <a:solidFill>
                  <a:srgbClr val="111827"/>
                </a:solidFill>
                <a:latin typeface="Times New Roman"/>
              </a:rPr>
              <a:t/>
            </a:r>
          </a:p>
          <a:p>
            <a:pPr algn="ctr"/>
            <a:r>
              <a:rPr b="1" sz="2200">
                <a:solidFill>
                  <a:srgbClr val="111827"/>
                </a:solidFill>
                <a:latin typeface="Times New Roman"/>
              </a:rPr>
              <a:t>By</a:t>
            </a:r>
          </a:p>
          <a:p>
            <a:pPr algn="ctr"/>
            <a:r>
              <a:rPr b="1" sz="2200">
                <a:solidFill>
                  <a:srgbClr val="111827"/>
                </a:solidFill>
                <a:latin typeface="Times New Roman"/>
              </a:rPr>
              <a:t>Sanika Jamadar  (Roll No. B291, Batch A2)</a:t>
            </a:r>
          </a:p>
          <a:p>
            <a:pPr algn="ctr"/>
            <a:r>
              <a:rPr b="1" sz="2200">
                <a:solidFill>
                  <a:srgbClr val="111827"/>
                </a:solidFill>
                <a:latin typeface="Times New Roman"/>
              </a:rPr>
              <a:t/>
            </a:r>
          </a:p>
          <a:p>
            <a:pPr algn="ctr"/>
            <a:r>
              <a:rPr b="1" sz="2200">
                <a:solidFill>
                  <a:srgbClr val="111827"/>
                </a:solidFill>
                <a:latin typeface="Times New Roman"/>
              </a:rPr>
              <a:t>Under the Guidance of</a:t>
            </a:r>
          </a:p>
          <a:p>
            <a:pPr algn="ctr"/>
            <a:r>
              <a:rPr b="1" sz="2200">
                <a:solidFill>
                  <a:srgbClr val="111827"/>
                </a:solidFill>
                <a:latin typeface="Times New Roman"/>
              </a:rPr>
              <a:t>Dr. Naziya Hussain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5605463" y="4435637"/>
            <a:ext cx="1057275" cy="1209675"/>
          </a:xfrm>
          <a:prstGeom prst="rect">
            <a:avLst/>
          </a:prstGeom>
          <a:noFill/>
        </p:spPr>
      </p:pic>
      <p:sp>
        <p:nvSpPr>
          <p:cNvPr id="6" name="TextBox 5"/>
          <p:cNvSpPr txBox="1"/>
          <p:nvPr/>
        </p:nvSpPr>
        <p:spPr>
          <a:xfrm>
            <a:off x="3048000" y="5380673"/>
            <a:ext cx="6248400" cy="1200329"/>
          </a:xfrm>
          <a:prstGeom prst="rect">
            <a:avLst/>
          </a:prstGeom>
          <a:noFill/>
        </p:spPr>
        <p:txBody>
          <a:bodyPr wrap="square" lIns="91440" tIns="45720" rIns="91440" bIns="45720" rtlCol="0" anchor="t">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AIML</a:t>
            </a:r>
          </a:p>
          <a:p>
            <a:pPr algn="ctr"/>
            <a:r>
              <a:rPr lang="en-IN" b="1" dirty="0">
                <a:latin typeface="Times New Roman" pitchFamily="18" charset="0"/>
                <a:cs typeface="Times New Roman" pitchFamily="18" charset="0"/>
              </a:rPr>
              <a:t>MPSTME, Shirpur Campus</a:t>
            </a:r>
          </a:p>
          <a:p>
            <a:pPr algn="ctr"/>
            <a:r>
              <a:rPr lang="en-IN" b="1" dirty="0">
                <a:latin typeface="Times New Roman"/>
                <a:cs typeface="Times New Roman"/>
              </a:rPr>
              <a:t>2026-27</a:t>
            </a:r>
            <a:endParaRPr lang="en-IN"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2"/>
          <p:cNvSpPr txBox="1">
            <a:spLocks noGrp="1"/>
          </p:cNvSpPr>
          <p:nvPr>
            <p:ph type="body" idx="1"/>
          </p:nvPr>
        </p:nvSpPr>
        <p:spPr>
          <a:xfrm>
            <a:off x="1783080" y="1097281"/>
            <a:ext cx="9281160" cy="4886538"/>
          </a:xfrm>
          <a:prstGeom prst="rect">
            <a:avLst/>
          </a:prstGeom>
          <a:noFill/>
          <a:ln>
            <a:noFill/>
          </a:ln>
        </p:spPr>
        <p:txBody>
          <a:bodyPr spcFirstLastPara="1" vert="horz" wrap="square" lIns="91425" tIns="45700" rIns="91425" bIns="45700" rtlCol="0" anchor="t" anchorCtr="0">
            <a:normAutofit fontScale="40000" lnSpcReduction="20000"/>
          </a:bodyPr>
          <a:lstStyle/>
          <a:p>
            <a:pPr lvl="0"/>
            <a:r>
              <a:rPr lang="en-IN" sz="4500" dirty="0">
                <a:latin typeface="Times New Roman" panose="02020603050405020304" pitchFamily="18" charset="0"/>
                <a:cs typeface="Times New Roman" panose="02020603050405020304" pitchFamily="18" charset="0"/>
              </a:rPr>
              <a:t>Introduction</a:t>
            </a:r>
          </a:p>
          <a:p>
            <a:pPr lvl="0"/>
            <a:r>
              <a:rPr lang="en-IN" sz="4500" dirty="0">
                <a:latin typeface="Times New Roman" panose="02020603050405020304" pitchFamily="18" charset="0"/>
                <a:cs typeface="Times New Roman" panose="02020603050405020304" pitchFamily="18" charset="0"/>
              </a:rPr>
              <a:t>Problem Statement</a:t>
            </a:r>
          </a:p>
          <a:p>
            <a:pPr lvl="0"/>
            <a:r>
              <a:rPr lang="en-IN" sz="4500" dirty="0">
                <a:latin typeface="Times New Roman" panose="02020603050405020304" pitchFamily="18" charset="0"/>
                <a:cs typeface="Times New Roman" panose="02020603050405020304" pitchFamily="18" charset="0"/>
              </a:rPr>
              <a:t>Objectives</a:t>
            </a:r>
          </a:p>
          <a:p>
            <a:pPr lvl="0"/>
            <a:r>
              <a:rPr lang="en-IN" sz="4500" dirty="0">
                <a:latin typeface="Times New Roman" panose="02020603050405020304" pitchFamily="18" charset="0"/>
                <a:cs typeface="Times New Roman" panose="02020603050405020304" pitchFamily="18" charset="0"/>
              </a:rPr>
              <a:t>Existing vs. Proposed System</a:t>
            </a:r>
          </a:p>
          <a:p>
            <a:pPr lvl="0"/>
            <a:r>
              <a:rPr lang="en-IN" sz="4500" dirty="0">
                <a:latin typeface="Times New Roman" panose="02020603050405020304" pitchFamily="18" charset="0"/>
                <a:cs typeface="Times New Roman" panose="02020603050405020304" pitchFamily="18" charset="0"/>
              </a:rPr>
              <a:t>System Architecture</a:t>
            </a:r>
          </a:p>
          <a:p>
            <a:r>
              <a:rPr lang="en-IN" sz="4500" dirty="0">
                <a:latin typeface="Times New Roman" panose="02020603050405020304" pitchFamily="18" charset="0"/>
                <a:cs typeface="Times New Roman" panose="02020603050405020304" pitchFamily="18" charset="0"/>
              </a:rPr>
              <a:t>Methodology</a:t>
            </a:r>
          </a:p>
          <a:p>
            <a:pPr lvl="0"/>
            <a:r>
              <a:rPr lang="en-IN" sz="4500" dirty="0">
                <a:latin typeface="Times New Roman" panose="02020603050405020304" pitchFamily="18" charset="0"/>
                <a:cs typeface="Times New Roman" panose="02020603050405020304" pitchFamily="18" charset="0"/>
              </a:rPr>
              <a:t>Modules</a:t>
            </a:r>
          </a:p>
          <a:p>
            <a:pPr lvl="0"/>
            <a:r>
              <a:rPr lang="en-IN" sz="4500" dirty="0">
                <a:latin typeface="Times New Roman" panose="02020603050405020304" pitchFamily="18" charset="0"/>
                <a:cs typeface="Times New Roman" panose="02020603050405020304" pitchFamily="18" charset="0"/>
              </a:rPr>
              <a:t>Technologies Used</a:t>
            </a:r>
          </a:p>
          <a:p>
            <a:pPr lvl="0"/>
            <a:r>
              <a:rPr lang="en-IN" sz="4500" dirty="0">
                <a:latin typeface="Times New Roman" panose="02020603050405020304" pitchFamily="18" charset="0"/>
                <a:cs typeface="Times New Roman" panose="02020603050405020304" pitchFamily="18" charset="0"/>
              </a:rPr>
              <a:t>Implementation / Screenshots</a:t>
            </a:r>
          </a:p>
          <a:p>
            <a:pPr lvl="0"/>
            <a:r>
              <a:rPr lang="en-IN" sz="4500" dirty="0">
                <a:latin typeface="Times New Roman" panose="02020603050405020304" pitchFamily="18" charset="0"/>
                <a:cs typeface="Times New Roman" panose="02020603050405020304" pitchFamily="18" charset="0"/>
              </a:rPr>
              <a:t>Results &amp; Testing</a:t>
            </a:r>
          </a:p>
          <a:p>
            <a:pPr lvl="0"/>
            <a:r>
              <a:rPr lang="en-IN" sz="4500" dirty="0">
                <a:latin typeface="Times New Roman" panose="02020603050405020304" pitchFamily="18" charset="0"/>
                <a:cs typeface="Times New Roman" panose="02020603050405020304" pitchFamily="18" charset="0"/>
              </a:rPr>
              <a:t>Advantages &amp; Applications</a:t>
            </a:r>
          </a:p>
          <a:p>
            <a:pPr lvl="0"/>
            <a:r>
              <a:rPr lang="en-IN" sz="4500" dirty="0">
                <a:latin typeface="Times New Roman" panose="02020603050405020304" pitchFamily="18" charset="0"/>
                <a:cs typeface="Times New Roman" panose="02020603050405020304" pitchFamily="18" charset="0"/>
              </a:rPr>
              <a:t>Future Scope</a:t>
            </a:r>
          </a:p>
          <a:p>
            <a:pPr lvl="0"/>
            <a:r>
              <a:rPr lang="en-IN" sz="4500" dirty="0">
                <a:latin typeface="Times New Roman" panose="02020603050405020304" pitchFamily="18" charset="0"/>
                <a:cs typeface="Times New Roman" panose="02020603050405020304" pitchFamily="18" charset="0"/>
              </a:rPr>
              <a:t>Conclusion</a:t>
            </a:r>
          </a:p>
          <a:p>
            <a:pPr lvl="0"/>
            <a:r>
              <a:rPr lang="en-IN" sz="4500" dirty="0">
                <a:latin typeface="Times New Roman" panose="02020603050405020304" pitchFamily="18" charset="0"/>
                <a:cs typeface="Times New Roman" panose="02020603050405020304" pitchFamily="18" charset="0"/>
              </a:rPr>
              <a:t>References</a:t>
            </a:r>
          </a:p>
          <a:p>
            <a:pPr marL="342900" indent="0">
              <a:spcBef>
                <a:spcPts val="0"/>
              </a:spcBef>
              <a:buNone/>
            </a:pPr>
            <a:endParaRPr sz="2200" dirty="0"/>
          </a:p>
        </p:txBody>
      </p:sp>
      <p:sp>
        <p:nvSpPr>
          <p:cNvPr id="102" name="Google Shape;102;p2"/>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IN"/>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0325" y="774785"/>
            <a:ext cx="6932101" cy="1061829"/>
          </a:xfrm>
          <a:noFill/>
        </p:spPr>
        <p:txBody>
          <a:bodyPr wrap="square" rtlCol="0">
            <a:spAutoFit/>
          </a:bodyPr>
          <a:lstStyle/>
          <a:p>
            <a:pPr algn="ctr"/>
            <a:r>
              <a:rPr lang="en-US" sz="7000">
                <a:latin typeface="Book Antiqua" panose="02040602050305030304" pitchFamily="18" charset="0"/>
                <a:ea typeface="+mn-ea"/>
                <a:cs typeface="+mn-cs"/>
              </a:rPr>
              <a:t>Thank You !!!  Questions?</a:t>
            </a:r>
          </a:p>
        </p:txBody>
      </p:sp>
      <p:pic>
        <p:nvPicPr>
          <p:cNvPr id="3" name="Picture 2"/>
          <p:cNvPicPr>
            <a:picLocks noChangeAspect="1"/>
          </p:cNvPicPr>
          <p:nvPr/>
        </p:nvPicPr>
        <p:blipFill>
          <a:blip r:embed="rId2"/>
          <a:stretch>
            <a:fillRect/>
          </a:stretch>
        </p:blipFill>
        <p:spPr>
          <a:xfrm>
            <a:off x="3331224" y="1"/>
            <a:ext cx="5355575" cy="502920"/>
          </a:xfrm>
          <a:prstGeom prst="rect">
            <a:avLst/>
          </a:prstGeom>
        </p:spPr>
      </p:pic>
      <p:pic>
        <p:nvPicPr>
          <p:cNvPr id="5" name="Picture 4"/>
          <p:cNvPicPr>
            <a:picLocks noChangeAspect="1"/>
          </p:cNvPicPr>
          <p:nvPr/>
        </p:nvPicPr>
        <p:blipFill>
          <a:blip r:embed="rId3"/>
          <a:stretch>
            <a:fillRect/>
          </a:stretch>
        </p:blipFill>
        <p:spPr>
          <a:xfrm>
            <a:off x="442452" y="1836614"/>
            <a:ext cx="11366243" cy="4570002"/>
          </a:xfrm>
          <a:prstGeom prst="rect">
            <a:avLst/>
          </a:prstGeom>
        </p:spPr>
      </p:pic>
    </p:spTree>
    <p:extLst>
      <p:ext uri="{BB962C8B-B14F-4D97-AF65-F5344CB8AC3E}">
        <p14:creationId xmlns:p14="http://schemas.microsoft.com/office/powerpoint/2010/main" val="645505984"/>
      </p:ext>
    </p:extLst>
  </p:cSld>
  <p:clrMapOvr>
    <a:masterClrMapping/>
  </p:clrMapOvr>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Introduction &amp; Problem Statement</a:t>
            </a:r>
          </a:p>
        </p:txBody>
      </p:sp>
      <p:sp>
        <p:nvSpPr>
          <p:cNvPr id="3" name="Rounded Rectangle 2"/>
          <p:cNvSpPr/>
          <p:nvPr/>
        </p:nvSpPr>
        <p:spPr>
          <a:xfrm>
            <a:off x="1783080" y="1097280"/>
            <a:ext cx="4846320" cy="393192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600" b="1">
                <a:solidFill>
                  <a:srgbClr val="111827"/>
                </a:solidFill>
                <a:latin typeface="Times New Roman"/>
              </a:rPr>
              <a:t>Background</a:t>
            </a:r>
          </a:p>
          <a:p>
            <a:pPr>
              <a:spcBef>
                <a:spcPts val="200"/>
              </a:spcBef>
            </a:pPr>
            <a:r>
              <a:rPr sz="1600" b="0">
                <a:solidFill>
                  <a:srgbClr val="111827"/>
                </a:solidFill>
                <a:latin typeface="Times New Roman"/>
              </a:rPr>
              <a:t>• Industry 4.0: machines are instrumented and connected</a:t>
            </a:r>
          </a:p>
          <a:p>
            <a:pPr>
              <a:spcBef>
                <a:spcPts val="200"/>
              </a:spcBef>
            </a:pPr>
            <a:r>
              <a:rPr sz="1600" b="0">
                <a:solidFill>
                  <a:srgbClr val="111827"/>
                </a:solidFill>
                <a:latin typeface="Times New Roman"/>
              </a:rPr>
              <a:t>• </a:t>
            </a:r>
            <a:r>
              <a:rPr sz="1600" b="1">
                <a:solidFill>
                  <a:srgbClr val="111827"/>
                </a:solidFill>
                <a:latin typeface="Times New Roman"/>
              </a:rPr>
              <a:t>OEE = Availability × Performance × Quality</a:t>
            </a:r>
            <a:r>
              <a:rPr sz="1600" b="0">
                <a:solidFill>
                  <a:srgbClr val="111827"/>
                </a:solidFill>
                <a:latin typeface="Times New Roman"/>
              </a:rPr>
              <a:t> is the standard productivity KPI (ISO 22400)</a:t>
            </a:r>
          </a:p>
          <a:p>
            <a:pPr>
              <a:spcBef>
                <a:spcPts val="200"/>
              </a:spcBef>
            </a:pPr>
            <a:r>
              <a:rPr sz="1600" b="0">
                <a:solidFill>
                  <a:srgbClr val="111827"/>
                </a:solidFill>
                <a:latin typeface="Times New Roman"/>
              </a:rPr>
              <a:t>• Fixed alarm limits fire late; predictive maintenance needs earlier warning</a:t>
            </a:r>
          </a:p>
          <a:p>
            <a:pPr>
              <a:spcBef>
                <a:spcPts val="200"/>
              </a:spcBef>
            </a:pPr>
            <a:r>
              <a:rPr sz="1600" b="0">
                <a:solidFill>
                  <a:srgbClr val="111827"/>
                </a:solidFill>
                <a:latin typeface="Times New Roman"/>
              </a:rPr>
              <a:t>• Real plants are rarely available to students → a </a:t>
            </a:r>
            <a:r>
              <a:rPr sz="1600" b="1">
                <a:solidFill>
                  <a:srgbClr val="111827"/>
                </a:solidFill>
                <a:latin typeface="Times New Roman"/>
              </a:rPr>
              <a:t>virtual factory</a:t>
            </a:r>
            <a:r>
              <a:rPr sz="1600" b="0">
                <a:solidFill>
                  <a:srgbClr val="111827"/>
                </a:solidFill>
                <a:latin typeface="Times New Roman"/>
              </a:rPr>
              <a:t> makes everything demonstrable</a:t>
            </a:r>
          </a:p>
        </p:txBody>
      </p:sp>
      <p:sp>
        <p:nvSpPr>
          <p:cNvPr id="4" name="Rounded Rectangle 3"/>
          <p:cNvSpPr/>
          <p:nvPr/>
        </p:nvSpPr>
        <p:spPr>
          <a:xfrm>
            <a:off x="6812280" y="1097280"/>
            <a:ext cx="4983480" cy="3931920"/>
          </a:xfrm>
          <a:prstGeom prst="roundRect">
            <a:avLst>
              <a:gd name="adj" fmla="val 8000"/>
            </a:avLst>
          </a:prstGeom>
          <a:solidFill>
            <a:srgbClr val="FFEDD5"/>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600" b="1">
                <a:solidFill>
                  <a:srgbClr val="111827"/>
                </a:solidFill>
                <a:latin typeface="Times New Roman"/>
              </a:rPr>
              <a:t>Problem statement</a:t>
            </a:r>
          </a:p>
          <a:p>
            <a:pPr>
              <a:spcBef>
                <a:spcPts val="200"/>
              </a:spcBef>
            </a:pPr>
            <a:r>
              <a:rPr sz="1600" b="0">
                <a:solidFill>
                  <a:srgbClr val="111827"/>
                </a:solidFill>
                <a:latin typeface="Times New Roman"/>
              </a:rPr>
              <a:t>Managers and engineers lack one live view that:</a:t>
            </a:r>
          </a:p>
          <a:p>
            <a:pPr>
              <a:spcBef>
                <a:spcPts val="200"/>
              </a:spcBef>
            </a:pPr>
            <a:r>
              <a:rPr sz="1600" b="0">
                <a:solidFill>
                  <a:srgbClr val="111827"/>
                </a:solidFill>
                <a:latin typeface="Times New Roman"/>
              </a:rPr>
              <a:t>1. shows </a:t>
            </a:r>
            <a:r>
              <a:rPr sz="1600" b="1">
                <a:solidFill>
                  <a:srgbClr val="111827"/>
                </a:solidFill>
                <a:latin typeface="Times New Roman"/>
              </a:rPr>
              <a:t>OEE</a:t>
            </a:r>
            <a:r>
              <a:rPr sz="1600" b="0">
                <a:solidFill>
                  <a:srgbClr val="111827"/>
                </a:solidFill>
                <a:latin typeface="Times New Roman"/>
              </a:rPr>
              <a:t> per machine and plant-wide</a:t>
            </a:r>
          </a:p>
          <a:p>
            <a:pPr>
              <a:spcBef>
                <a:spcPts val="200"/>
              </a:spcBef>
            </a:pPr>
            <a:r>
              <a:rPr sz="1600" b="0">
                <a:solidFill>
                  <a:srgbClr val="111827"/>
                </a:solidFill>
                <a:latin typeface="Times New Roman"/>
              </a:rPr>
              <a:t>2. flags </a:t>
            </a:r>
            <a:r>
              <a:rPr sz="1600" b="1">
                <a:solidFill>
                  <a:srgbClr val="111827"/>
                </a:solidFill>
                <a:latin typeface="Times New Roman"/>
              </a:rPr>
              <a:t>hard faults</a:t>
            </a:r>
            <a:r>
              <a:rPr sz="1600" b="0">
                <a:solidFill>
                  <a:srgbClr val="111827"/>
                </a:solidFill>
                <a:latin typeface="Times New Roman"/>
              </a:rPr>
              <a:t> instantly</a:t>
            </a:r>
          </a:p>
          <a:p>
            <a:pPr>
              <a:spcBef>
                <a:spcPts val="200"/>
              </a:spcBef>
            </a:pPr>
            <a:r>
              <a:rPr sz="1600" b="0">
                <a:solidFill>
                  <a:srgbClr val="111827"/>
                </a:solidFill>
                <a:latin typeface="Times New Roman"/>
              </a:rPr>
              <a:t>3. detects </a:t>
            </a:r>
            <a:r>
              <a:rPr sz="1600" b="1">
                <a:solidFill>
                  <a:srgbClr val="111827"/>
                </a:solidFill>
                <a:latin typeface="Times New Roman"/>
              </a:rPr>
              <a:t>subtle anomalies</a:t>
            </a:r>
            <a:r>
              <a:rPr sz="1600" b="0">
                <a:solidFill>
                  <a:srgbClr val="111827"/>
                </a:solidFill>
                <a:latin typeface="Times New Roman"/>
              </a:rPr>
              <a:t> limits miss</a:t>
            </a:r>
          </a:p>
          <a:p>
            <a:pPr>
              <a:spcBef>
                <a:spcPts val="200"/>
              </a:spcBef>
            </a:pPr>
            <a:r>
              <a:rPr sz="1600" b="0">
                <a:solidFill>
                  <a:srgbClr val="111827"/>
                </a:solidFill>
                <a:latin typeface="Times New Roman"/>
              </a:rPr>
              <a:t>4. </a:t>
            </a:r>
            <a:r>
              <a:rPr sz="1600" b="1">
                <a:solidFill>
                  <a:srgbClr val="111827"/>
                </a:solidFill>
                <a:latin typeface="Times New Roman"/>
              </a:rPr>
              <a:t>predicts</a:t>
            </a:r>
            <a:r>
              <a:rPr sz="1600" b="0">
                <a:solidFill>
                  <a:srgbClr val="111827"/>
                </a:solidFill>
                <a:latin typeface="Times New Roman"/>
              </a:rPr>
              <a:t> a breach early enough to act</a:t>
            </a:r>
          </a:p>
        </p:txBody>
      </p:sp>
      <p:sp>
        <p:nvSpPr>
          <p:cNvPr id="5" name="TextBox 4"/>
          <p:cNvSpPr txBox="1"/>
          <p:nvPr/>
        </p:nvSpPr>
        <p:spPr>
          <a:xfrm>
            <a:off x="1783080" y="5257800"/>
            <a:ext cx="9966960" cy="914400"/>
          </a:xfrm>
          <a:prstGeom prst="rect">
            <a:avLst/>
          </a:prstGeom>
          <a:noFill/>
        </p:spPr>
        <p:txBody>
          <a:bodyPr wrap="square" anchor="t" lIns="45720" rIns="45720">
            <a:spAutoFit/>
          </a:bodyPr>
          <a:lstStyle/>
          <a:p>
            <a:pPr algn="l"/>
            <a:r>
              <a:rPr sz="1600" b="1" i="0">
                <a:solidFill>
                  <a:srgbClr val="375623"/>
                </a:solidFill>
                <a:latin typeface="Times New Roman"/>
              </a:rPr>
              <a:t>SRS targets: updates ≤ 1 s · ML inference ≤ 200 ms · MQTT reconnect ≤ 5 s · 50 concurrent clients · 5 → 20 machines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Objectives</a:t>
            </a:r>
          </a:p>
        </p:txBody>
      </p:sp>
      <p:sp>
        <p:nvSpPr>
          <p:cNvPr id="3" name="Rounded Rectangle 2"/>
          <p:cNvSpPr/>
          <p:nvPr/>
        </p:nvSpPr>
        <p:spPr>
          <a:xfrm>
            <a:off x="1783080" y="114300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1.  Simulate</a:t>
            </a:r>
          </a:p>
          <a:p>
            <a:pPr>
              <a:spcBef>
                <a:spcPts val="200"/>
              </a:spcBef>
            </a:pPr>
            <a:r>
              <a:rPr sz="1500" b="0">
                <a:solidFill>
                  <a:srgbClr val="111827"/>
                </a:solidFill>
                <a:latin typeface="Times New Roman"/>
              </a:rPr>
              <a:t>5–20 virtual machines, 500 ms telemetry, injectable faults</a:t>
            </a:r>
          </a:p>
        </p:txBody>
      </p:sp>
      <p:sp>
        <p:nvSpPr>
          <p:cNvPr id="4" name="Rounded Rectangle 3"/>
          <p:cNvSpPr/>
          <p:nvPr/>
        </p:nvSpPr>
        <p:spPr>
          <a:xfrm>
            <a:off x="6812280" y="114300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2.  Measure</a:t>
            </a:r>
          </a:p>
          <a:p>
            <a:pPr>
              <a:spcBef>
                <a:spcPts val="200"/>
              </a:spcBef>
            </a:pPr>
            <a:r>
              <a:rPr sz="1500" b="0">
                <a:solidFill>
                  <a:srgbClr val="111827"/>
                </a:solidFill>
                <a:latin typeface="Times New Roman"/>
              </a:rPr>
              <a:t>Rolling 1 h / 8 h OEE per machine and plant</a:t>
            </a:r>
          </a:p>
        </p:txBody>
      </p:sp>
      <p:sp>
        <p:nvSpPr>
          <p:cNvPr id="5" name="Rounded Rectangle 4"/>
          <p:cNvSpPr/>
          <p:nvPr/>
        </p:nvSpPr>
        <p:spPr>
          <a:xfrm>
            <a:off x="1783080" y="278892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3.  Detect</a:t>
            </a:r>
          </a:p>
          <a:p>
            <a:pPr>
              <a:spcBef>
                <a:spcPts val="200"/>
              </a:spcBef>
            </a:pPr>
            <a:r>
              <a:rPr sz="1500" b="0">
                <a:solidFill>
                  <a:srgbClr val="111827"/>
                </a:solidFill>
                <a:latin typeface="Times New Roman"/>
              </a:rPr>
              <a:t>Rule (Red), ML Isolation Forest (Yellow), What-If trend (Orange)</a:t>
            </a:r>
          </a:p>
        </p:txBody>
      </p:sp>
      <p:sp>
        <p:nvSpPr>
          <p:cNvPr id="6" name="Rounded Rectangle 5"/>
          <p:cNvSpPr/>
          <p:nvPr/>
        </p:nvSpPr>
        <p:spPr>
          <a:xfrm>
            <a:off x="6812280" y="278892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4.  Act</a:t>
            </a:r>
          </a:p>
          <a:p>
            <a:pPr>
              <a:spcBef>
                <a:spcPts val="200"/>
              </a:spcBef>
            </a:pPr>
            <a:r>
              <a:rPr sz="1500" b="0">
                <a:solidFill>
                  <a:srgbClr val="111827"/>
                </a:solidFill>
                <a:latin typeface="Times New Roman"/>
              </a:rPr>
              <a:t>Acknowledge, assign, resolve, feedback, maintenance log</a:t>
            </a:r>
          </a:p>
        </p:txBody>
      </p:sp>
      <p:sp>
        <p:nvSpPr>
          <p:cNvPr id="7" name="Rounded Rectangle 6"/>
          <p:cNvSpPr/>
          <p:nvPr/>
        </p:nvSpPr>
        <p:spPr>
          <a:xfrm>
            <a:off x="1783080" y="443484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5.  Report</a:t>
            </a:r>
          </a:p>
          <a:p>
            <a:pPr>
              <a:spcBef>
                <a:spcPts val="200"/>
              </a:spcBef>
            </a:pPr>
            <a:r>
              <a:rPr sz="1500" b="0">
                <a:solidFill>
                  <a:srgbClr val="111827"/>
                </a:solidFill>
                <a:latin typeface="Times New Roman"/>
              </a:rPr>
              <a:t>7-day OEE trend, downtime per shift, ML accuracy</a:t>
            </a:r>
          </a:p>
        </p:txBody>
      </p:sp>
      <p:sp>
        <p:nvSpPr>
          <p:cNvPr id="8" name="Rounded Rectangle 7"/>
          <p:cNvSpPr/>
          <p:nvPr/>
        </p:nvSpPr>
        <p:spPr>
          <a:xfrm>
            <a:off x="6812280" y="4434840"/>
            <a:ext cx="4846320" cy="146304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6.  Run anywhere</a:t>
            </a:r>
          </a:p>
          <a:p>
            <a:pPr>
              <a:spcBef>
                <a:spcPts val="200"/>
              </a:spcBef>
            </a:pPr>
            <a:r>
              <a:rPr sz="1500" b="0">
                <a:solidFill>
                  <a:srgbClr val="111827"/>
                </a:solidFill>
                <a:latin typeface="Times New Roman"/>
              </a:rPr>
              <a:t>One command; works with or without Docker and databases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Existing vs. Proposed System</a:t>
            </a:r>
          </a:p>
        </p:txBody>
      </p:sp>
      <p:graphicFrame>
        <p:nvGraphicFramePr>
          <p:cNvPr id="3" name="Table 2"/>
          <p:cNvGraphicFramePr>
            <a:graphicFrameLocks noGrp="1"/>
          </p:cNvGraphicFramePr>
          <p:nvPr/>
        </p:nvGraphicFramePr>
        <p:xfrm>
          <a:off x="1783080" y="1188720"/>
          <a:ext cx="9966960" cy="4023360"/>
        </p:xfrm>
        <a:graphic>
          <a:graphicData uri="http://schemas.openxmlformats.org/drawingml/2006/table">
            <a:tbl>
              <a:tblPr firstRow="1" bandRow="1">
                <a:tableStyleId>{5C22544A-7EE6-4342-B048-85BDC9FD1C3A}</a:tableStyleId>
              </a:tblPr>
              <a:tblGrid>
                <a:gridCol w="2194560"/>
                <a:gridCol w="3566160"/>
                <a:gridCol w="4206240"/>
              </a:tblGrid>
              <a:tr h="670560">
                <a:tc>
                  <a:txBody>
                    <a:bodyPr/>
                    <a:lstStyle/>
                    <a:p>
                      <a:r>
                        <a:rPr sz="1600" b="1">
                          <a:solidFill>
                            <a:srgbClr val="FFFFFF"/>
                          </a:solidFill>
                          <a:latin typeface="Times New Roman"/>
                        </a:rPr>
                        <a:t/>
                      </a:r>
                    </a:p>
                  </a:txBody>
                  <a:tcPr>
                    <a:solidFill>
                      <a:srgbClr val="C00000"/>
                    </a:solidFill>
                  </a:tcPr>
                </a:tc>
                <a:tc>
                  <a:txBody>
                    <a:bodyPr/>
                    <a:lstStyle/>
                    <a:p>
                      <a:r>
                        <a:rPr sz="1600" b="1">
                          <a:solidFill>
                            <a:srgbClr val="FFFFFF"/>
                          </a:solidFill>
                          <a:latin typeface="Times New Roman"/>
                        </a:rPr>
                        <a:t>Existing practice</a:t>
                      </a:r>
                    </a:p>
                  </a:txBody>
                  <a:tcPr>
                    <a:solidFill>
                      <a:srgbClr val="C00000"/>
                    </a:solidFill>
                  </a:tcPr>
                </a:tc>
                <a:tc>
                  <a:txBody>
                    <a:bodyPr/>
                    <a:lstStyle/>
                    <a:p>
                      <a:r>
                        <a:rPr sz="1600" b="1">
                          <a:solidFill>
                            <a:srgbClr val="FFFFFF"/>
                          </a:solidFill>
                          <a:latin typeface="Times New Roman"/>
                        </a:rPr>
                        <a:t>Proposed system</a:t>
                      </a:r>
                    </a:p>
                  </a:txBody>
                  <a:tcPr>
                    <a:solidFill>
                      <a:srgbClr val="C00000"/>
                    </a:solidFill>
                  </a:tcPr>
                </a:tc>
              </a:tr>
              <a:tr h="670560">
                <a:tc>
                  <a:txBody>
                    <a:bodyPr/>
                    <a:lstStyle/>
                    <a:p>
                      <a:r>
                        <a:rPr sz="1600" b="1">
                          <a:solidFill>
                            <a:srgbClr val="111827"/>
                          </a:solidFill>
                          <a:latin typeface="Times New Roman"/>
                        </a:rPr>
                        <a:t>OEE</a:t>
                      </a:r>
                    </a:p>
                  </a:txBody>
                  <a:tcPr>
                    <a:solidFill>
                      <a:srgbClr val="F1F5F9"/>
                    </a:solidFill>
                  </a:tcPr>
                </a:tc>
                <a:tc>
                  <a:txBody>
                    <a:bodyPr/>
                    <a:lstStyle/>
                    <a:p>
                      <a:r>
                        <a:rPr sz="1600" b="0">
                          <a:solidFill>
                            <a:srgbClr val="111827"/>
                          </a:solidFill>
                          <a:latin typeface="Times New Roman"/>
                        </a:rPr>
                        <a:t>Spreadsheets after the shift</a:t>
                      </a:r>
                    </a:p>
                  </a:txBody>
                  <a:tcPr>
                    <a:solidFill>
                      <a:srgbClr val="F1F5F9"/>
                    </a:solidFill>
                  </a:tcPr>
                </a:tc>
                <a:tc>
                  <a:txBody>
                    <a:bodyPr/>
                    <a:lstStyle/>
                    <a:p>
                      <a:r>
                        <a:rPr sz="1600" b="0">
                          <a:solidFill>
                            <a:srgbClr val="111827"/>
                          </a:solidFill>
                          <a:latin typeface="Times New Roman"/>
                        </a:rPr>
                        <a:t>Live 1 h / 8 h, A × P × Q shown separately</a:t>
                      </a:r>
                    </a:p>
                  </a:txBody>
                  <a:tcPr>
                    <a:solidFill>
                      <a:srgbClr val="DCFCE7"/>
                    </a:solidFill>
                  </a:tcPr>
                </a:tc>
              </a:tr>
              <a:tr h="670560">
                <a:tc>
                  <a:txBody>
                    <a:bodyPr/>
                    <a:lstStyle/>
                    <a:p>
                      <a:r>
                        <a:rPr sz="1600" b="1">
                          <a:solidFill>
                            <a:srgbClr val="111827"/>
                          </a:solidFill>
                          <a:latin typeface="Times New Roman"/>
                        </a:rPr>
                        <a:t>Fault detection</a:t>
                      </a:r>
                    </a:p>
                  </a:txBody>
                  <a:tcPr>
                    <a:solidFill>
                      <a:srgbClr val="F1F5F9"/>
                    </a:solidFill>
                  </a:tcPr>
                </a:tc>
                <a:tc>
                  <a:txBody>
                    <a:bodyPr/>
                    <a:lstStyle/>
                    <a:p>
                      <a:r>
                        <a:rPr sz="1600" b="0">
                          <a:solidFill>
                            <a:srgbClr val="111827"/>
                          </a:solidFill>
                          <a:latin typeface="Times New Roman"/>
                        </a:rPr>
                        <a:t>Fixed alarm limits only</a:t>
                      </a:r>
                    </a:p>
                  </a:txBody>
                  <a:tcPr>
                    <a:solidFill>
                      <a:srgbClr val="F1F5F9"/>
                    </a:solidFill>
                  </a:tcPr>
                </a:tc>
                <a:tc>
                  <a:txBody>
                    <a:bodyPr/>
                    <a:lstStyle/>
                    <a:p>
                      <a:r>
                        <a:rPr sz="1600" b="0">
                          <a:solidFill>
                            <a:srgbClr val="111827"/>
                          </a:solidFill>
                          <a:latin typeface="Times New Roman"/>
                        </a:rPr>
                        <a:t>Rules + Isolation Forest + What-If projection</a:t>
                      </a:r>
                    </a:p>
                  </a:txBody>
                  <a:tcPr>
                    <a:solidFill>
                      <a:srgbClr val="DCFCE7"/>
                    </a:solidFill>
                  </a:tcPr>
                </a:tc>
              </a:tr>
              <a:tr h="670560">
                <a:tc>
                  <a:txBody>
                    <a:bodyPr/>
                    <a:lstStyle/>
                    <a:p>
                      <a:r>
                        <a:rPr sz="1600" b="1">
                          <a:solidFill>
                            <a:srgbClr val="111827"/>
                          </a:solidFill>
                          <a:latin typeface="Times New Roman"/>
                        </a:rPr>
                        <a:t>Warning time</a:t>
                      </a:r>
                    </a:p>
                  </a:txBody>
                  <a:tcPr>
                    <a:solidFill>
                      <a:srgbClr val="F1F5F9"/>
                    </a:solidFill>
                  </a:tcPr>
                </a:tc>
                <a:tc>
                  <a:txBody>
                    <a:bodyPr/>
                    <a:lstStyle/>
                    <a:p>
                      <a:r>
                        <a:rPr sz="1600" b="0">
                          <a:solidFill>
                            <a:srgbClr val="111827"/>
                          </a:solidFill>
                          <a:latin typeface="Times New Roman"/>
                        </a:rPr>
                        <a:t>None – alarm at breach</a:t>
                      </a:r>
                    </a:p>
                  </a:txBody>
                  <a:tcPr>
                    <a:solidFill>
                      <a:srgbClr val="F1F5F9"/>
                    </a:solidFill>
                  </a:tcPr>
                </a:tc>
                <a:tc>
                  <a:txBody>
                    <a:bodyPr/>
                    <a:lstStyle/>
                    <a:p>
                      <a:r>
                        <a:rPr sz="1600" b="0">
                          <a:solidFill>
                            <a:srgbClr val="111827"/>
                          </a:solidFill>
                          <a:latin typeface="Times New Roman"/>
                        </a:rPr>
                        <a:t>Orange up to 60 s ahead with ETA</a:t>
                      </a:r>
                    </a:p>
                  </a:txBody>
                  <a:tcPr>
                    <a:solidFill>
                      <a:srgbClr val="DCFCE7"/>
                    </a:solidFill>
                  </a:tcPr>
                </a:tc>
              </a:tr>
              <a:tr h="670560">
                <a:tc>
                  <a:txBody>
                    <a:bodyPr/>
                    <a:lstStyle/>
                    <a:p>
                      <a:r>
                        <a:rPr sz="1600" b="1">
                          <a:solidFill>
                            <a:srgbClr val="111827"/>
                          </a:solidFill>
                          <a:latin typeface="Times New Roman"/>
                        </a:rPr>
                        <a:t>Operator workflow</a:t>
                      </a:r>
                    </a:p>
                  </a:txBody>
                  <a:tcPr>
                    <a:solidFill>
                      <a:srgbClr val="F1F5F9"/>
                    </a:solidFill>
                  </a:tcPr>
                </a:tc>
                <a:tc>
                  <a:txBody>
                    <a:bodyPr/>
                    <a:lstStyle/>
                    <a:p>
                      <a:r>
                        <a:rPr sz="1600" b="0">
                          <a:solidFill>
                            <a:srgbClr val="111827"/>
                          </a:solidFill>
                          <a:latin typeface="Times New Roman"/>
                        </a:rPr>
                        <a:t>Paper / chat</a:t>
                      </a:r>
                    </a:p>
                  </a:txBody>
                  <a:tcPr>
                    <a:solidFill>
                      <a:srgbClr val="F1F5F9"/>
                    </a:solidFill>
                  </a:tcPr>
                </a:tc>
                <a:tc>
                  <a:txBody>
                    <a:bodyPr/>
                    <a:lstStyle/>
                    <a:p>
                      <a:r>
                        <a:rPr sz="1600" b="0">
                          <a:solidFill>
                            <a:srgbClr val="111827"/>
                          </a:solidFill>
                          <a:latin typeface="Times New Roman"/>
                        </a:rPr>
                        <a:t>Ack, assign, resolve, feedback, maintenance log</a:t>
                      </a:r>
                    </a:p>
                  </a:txBody>
                  <a:tcPr>
                    <a:solidFill>
                      <a:srgbClr val="DCFCE7"/>
                    </a:solidFill>
                  </a:tcPr>
                </a:tc>
              </a:tr>
              <a:tr h="670560">
                <a:tc>
                  <a:txBody>
                    <a:bodyPr/>
                    <a:lstStyle/>
                    <a:p>
                      <a:r>
                        <a:rPr sz="1600" b="1">
                          <a:solidFill>
                            <a:srgbClr val="111827"/>
                          </a:solidFill>
                          <a:latin typeface="Times New Roman"/>
                        </a:rPr>
                        <a:t>Deployment</a:t>
                      </a:r>
                    </a:p>
                  </a:txBody>
                  <a:tcPr>
                    <a:solidFill>
                      <a:srgbClr val="F1F5F9"/>
                    </a:solidFill>
                  </a:tcPr>
                </a:tc>
                <a:tc>
                  <a:txBody>
                    <a:bodyPr/>
                    <a:lstStyle/>
                    <a:p>
                      <a:r>
                        <a:rPr sz="1600" b="0">
                          <a:solidFill>
                            <a:srgbClr val="111827"/>
                          </a:solidFill>
                          <a:latin typeface="Times New Roman"/>
                        </a:rPr>
                        <a:t>Vendor systems, hardware needed</a:t>
                      </a:r>
                    </a:p>
                  </a:txBody>
                  <a:tcPr>
                    <a:solidFill>
                      <a:srgbClr val="F1F5F9"/>
                    </a:solidFill>
                  </a:tcPr>
                </a:tc>
                <a:tc>
                  <a:txBody>
                    <a:bodyPr/>
                    <a:lstStyle/>
                    <a:p>
                      <a:r>
                        <a:rPr sz="1600" b="0">
                          <a:solidFill>
                            <a:srgbClr val="111827"/>
                          </a:solidFill>
                          <a:latin typeface="Times New Roman"/>
                        </a:rPr>
                        <a:t>Open software, one command, no hardware</a:t>
                      </a:r>
                    </a:p>
                  </a:txBody>
                  <a:tcPr>
                    <a:solidFill>
                      <a:srgbClr val="DCFCE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System Architecture</a:t>
            </a:r>
          </a:p>
        </p:txBody>
      </p:sp>
      <p:pic>
        <p:nvPicPr>
          <p:cNvPr id="3" name="Picture 2" descr="architecture.png"/>
          <p:cNvPicPr>
            <a:picLocks noChangeAspect="1"/>
          </p:cNvPicPr>
          <p:nvPr/>
        </p:nvPicPr>
        <p:blipFill>
          <a:blip r:embed="rId3"/>
          <a:stretch>
            <a:fillRect/>
          </a:stretch>
        </p:blipFill>
        <p:spPr>
          <a:xfrm>
            <a:off x="2097845" y="914400"/>
            <a:ext cx="9337430" cy="5394960"/>
          </a:xfrm>
          <a:prstGeom prst="rect">
            <a:avLst/>
          </a:prstGeom>
          <a:ln w="12700">
            <a:solidFill>
              <a:srgbClr val="CBD5E1"/>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Technology Stack</a:t>
            </a:r>
          </a:p>
        </p:txBody>
      </p:sp>
      <p:sp>
        <p:nvSpPr>
          <p:cNvPr id="3" name="Rounded Rectangle 2"/>
          <p:cNvSpPr/>
          <p:nvPr/>
        </p:nvSpPr>
        <p:spPr>
          <a:xfrm>
            <a:off x="1783080" y="1188720"/>
            <a:ext cx="3200400" cy="155448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Simulator</a:t>
            </a:r>
          </a:p>
          <a:p>
            <a:pPr>
              <a:spcBef>
                <a:spcPts val="200"/>
              </a:spcBef>
            </a:pPr>
            <a:r>
              <a:rPr sz="1500" b="0">
                <a:solidFill>
                  <a:srgbClr val="111827"/>
                </a:solidFill>
                <a:latin typeface="Times New Roman"/>
              </a:rPr>
              <a:t>Python 3 · paho-mqtt</a:t>
            </a:r>
          </a:p>
        </p:txBody>
      </p:sp>
      <p:sp>
        <p:nvSpPr>
          <p:cNvPr id="4" name="Rounded Rectangle 3"/>
          <p:cNvSpPr/>
          <p:nvPr/>
        </p:nvSpPr>
        <p:spPr>
          <a:xfrm>
            <a:off x="5148072" y="1188720"/>
            <a:ext cx="3200400" cy="1554480"/>
          </a:xfrm>
          <a:prstGeom prst="roundRect">
            <a:avLst>
              <a:gd name="adj" fmla="val 8000"/>
            </a:avLst>
          </a:prstGeom>
          <a:solidFill>
            <a:srgbClr val="FFEDD5"/>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Messaging</a:t>
            </a:r>
          </a:p>
          <a:p>
            <a:pPr>
              <a:spcBef>
                <a:spcPts val="200"/>
              </a:spcBef>
            </a:pPr>
            <a:r>
              <a:rPr sz="1500" b="0">
                <a:solidFill>
                  <a:srgbClr val="111827"/>
                </a:solidFill>
                <a:latin typeface="Times New Roman"/>
              </a:rPr>
              <a:t>Eclipse Mosquitto · MQTT over WebSockets</a:t>
            </a:r>
          </a:p>
        </p:txBody>
      </p:sp>
      <p:sp>
        <p:nvSpPr>
          <p:cNvPr id="5" name="Rounded Rectangle 4"/>
          <p:cNvSpPr/>
          <p:nvPr/>
        </p:nvSpPr>
        <p:spPr>
          <a:xfrm>
            <a:off x="8513064" y="1188720"/>
            <a:ext cx="3200400" cy="155448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Backend</a:t>
            </a:r>
          </a:p>
          <a:p>
            <a:pPr>
              <a:spcBef>
                <a:spcPts val="200"/>
              </a:spcBef>
            </a:pPr>
            <a:r>
              <a:rPr sz="1500" b="0">
                <a:solidFill>
                  <a:srgbClr val="111827"/>
                </a:solidFill>
                <a:latin typeface="Times New Roman"/>
              </a:rPr>
              <a:t>FastAPI · Pydantic v2 · asyncio</a:t>
            </a:r>
          </a:p>
        </p:txBody>
      </p:sp>
      <p:sp>
        <p:nvSpPr>
          <p:cNvPr id="6" name="Rounded Rectangle 5"/>
          <p:cNvSpPr/>
          <p:nvPr/>
        </p:nvSpPr>
        <p:spPr>
          <a:xfrm>
            <a:off x="1783080" y="2926080"/>
            <a:ext cx="3200400" cy="1554480"/>
          </a:xfrm>
          <a:prstGeom prst="roundRect">
            <a:avLst>
              <a:gd name="adj" fmla="val 8000"/>
            </a:avLst>
          </a:prstGeom>
          <a:solidFill>
            <a:srgbClr val="FEF9C3"/>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Machine learning</a:t>
            </a:r>
          </a:p>
          <a:p>
            <a:pPr>
              <a:spcBef>
                <a:spcPts val="200"/>
              </a:spcBef>
            </a:pPr>
            <a:r>
              <a:rPr sz="1500" b="0">
                <a:solidFill>
                  <a:srgbClr val="111827"/>
                </a:solidFill>
                <a:latin typeface="Times New Roman"/>
              </a:rPr>
              <a:t>scikit-learn Isolation Forest · NumPy</a:t>
            </a:r>
          </a:p>
        </p:txBody>
      </p:sp>
      <p:sp>
        <p:nvSpPr>
          <p:cNvPr id="7" name="Rounded Rectangle 6"/>
          <p:cNvSpPr/>
          <p:nvPr/>
        </p:nvSpPr>
        <p:spPr>
          <a:xfrm>
            <a:off x="5148072" y="2926080"/>
            <a:ext cx="3200400" cy="155448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Time series</a:t>
            </a:r>
          </a:p>
          <a:p>
            <a:pPr>
              <a:spcBef>
                <a:spcPts val="200"/>
              </a:spcBef>
            </a:pPr>
            <a:r>
              <a:rPr sz="1500" b="0">
                <a:solidFill>
                  <a:srgbClr val="111827"/>
                </a:solidFill>
                <a:latin typeface="Times New Roman"/>
              </a:rPr>
              <a:t>InfluxDB v2 (30 d raw / 1 y aggregated)</a:t>
            </a:r>
          </a:p>
        </p:txBody>
      </p:sp>
      <p:sp>
        <p:nvSpPr>
          <p:cNvPr id="8" name="Rounded Rectangle 7"/>
          <p:cNvSpPr/>
          <p:nvPr/>
        </p:nvSpPr>
        <p:spPr>
          <a:xfrm>
            <a:off x="8513064" y="2926080"/>
            <a:ext cx="3200400" cy="1554480"/>
          </a:xfrm>
          <a:prstGeom prst="roundRect">
            <a:avLst>
              <a:gd name="adj" fmla="val 8000"/>
            </a:avLst>
          </a:prstGeom>
          <a:solidFill>
            <a:srgbClr val="EDE9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Relational</a:t>
            </a:r>
          </a:p>
          <a:p>
            <a:pPr>
              <a:spcBef>
                <a:spcPts val="200"/>
              </a:spcBef>
            </a:pPr>
            <a:r>
              <a:rPr sz="1500" b="0">
                <a:solidFill>
                  <a:srgbClr val="111827"/>
                </a:solidFill>
                <a:latin typeface="Times New Roman"/>
              </a:rPr>
              <a:t>PostgreSQL 14 · SQLAlchemy</a:t>
            </a:r>
          </a:p>
        </p:txBody>
      </p:sp>
      <p:sp>
        <p:nvSpPr>
          <p:cNvPr id="9" name="Rounded Rectangle 8"/>
          <p:cNvSpPr/>
          <p:nvPr/>
        </p:nvSpPr>
        <p:spPr>
          <a:xfrm>
            <a:off x="1783080" y="4663440"/>
            <a:ext cx="3200400" cy="155448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Frontend</a:t>
            </a:r>
          </a:p>
          <a:p>
            <a:pPr>
              <a:spcBef>
                <a:spcPts val="200"/>
              </a:spcBef>
            </a:pPr>
            <a:r>
              <a:rPr sz="1500" b="0">
                <a:solidFill>
                  <a:srgbClr val="111827"/>
                </a:solidFill>
                <a:latin typeface="Times New Roman"/>
              </a:rPr>
              <a:t>React 18 · TypeScript · Vite · Chart.js</a:t>
            </a:r>
          </a:p>
        </p:txBody>
      </p:sp>
      <p:sp>
        <p:nvSpPr>
          <p:cNvPr id="10" name="Rounded Rectangle 9"/>
          <p:cNvSpPr/>
          <p:nvPr/>
        </p:nvSpPr>
        <p:spPr>
          <a:xfrm>
            <a:off x="5148072" y="4663440"/>
            <a:ext cx="3200400" cy="1554480"/>
          </a:xfrm>
          <a:prstGeom prst="roundRect">
            <a:avLst>
              <a:gd name="adj" fmla="val 8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Deployment</a:t>
            </a:r>
          </a:p>
          <a:p>
            <a:pPr>
              <a:spcBef>
                <a:spcPts val="200"/>
              </a:spcBef>
            </a:pPr>
            <a:r>
              <a:rPr sz="1500" b="0">
                <a:solidFill>
                  <a:srgbClr val="111827"/>
                </a:solidFill>
                <a:latin typeface="Times New Roman"/>
              </a:rPr>
              <a:t>Docker Compose · nginx</a:t>
            </a:r>
          </a:p>
        </p:txBody>
      </p:sp>
      <p:sp>
        <p:nvSpPr>
          <p:cNvPr id="11" name="Rounded Rectangle 10"/>
          <p:cNvSpPr/>
          <p:nvPr/>
        </p:nvSpPr>
        <p:spPr>
          <a:xfrm>
            <a:off x="8513064" y="4663440"/>
            <a:ext cx="3200400" cy="1554480"/>
          </a:xfrm>
          <a:prstGeom prst="roundRect">
            <a:avLst>
              <a:gd name="adj" fmla="val 8000"/>
            </a:avLst>
          </a:prstGeom>
          <a:solidFill>
            <a:srgbClr val="FEE2E2"/>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Quality</a:t>
            </a:r>
          </a:p>
          <a:p>
            <a:pPr>
              <a:spcBef>
                <a:spcPts val="200"/>
              </a:spcBef>
            </a:pPr>
            <a:r>
              <a:rPr sz="1500" b="0">
                <a:solidFill>
                  <a:srgbClr val="111827"/>
                </a:solidFill>
                <a:latin typeface="Times New Roman"/>
              </a:rPr>
              <a:t>pytest · Vitest · Playwright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Alert Logic – Four Colours</a:t>
            </a:r>
          </a:p>
        </p:txBody>
      </p:sp>
      <p:sp>
        <p:nvSpPr>
          <p:cNvPr id="3" name="Rounded Rectangle 2"/>
          <p:cNvSpPr/>
          <p:nvPr/>
        </p:nvSpPr>
        <p:spPr>
          <a:xfrm>
            <a:off x="1783080" y="1143000"/>
            <a:ext cx="4846320" cy="2057400"/>
          </a:xfrm>
          <a:prstGeom prst="roundRect">
            <a:avLst>
              <a:gd name="adj" fmla="val 8000"/>
            </a:avLst>
          </a:prstGeom>
          <a:solidFill>
            <a:srgbClr val="DCFCE7"/>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400" b="1">
                <a:solidFill>
                  <a:srgbClr val="111827"/>
                </a:solidFill>
                <a:latin typeface="Times New Roman"/>
              </a:rPr>
              <a:t>GREEN  ✓  Normal</a:t>
            </a:r>
          </a:p>
          <a:p>
            <a:pPr>
              <a:spcBef>
                <a:spcPts val="200"/>
              </a:spcBef>
            </a:pPr>
            <a:r>
              <a:rPr sz="2000" b="0">
                <a:solidFill>
                  <a:srgbClr val="111827"/>
                </a:solidFill>
                <a:latin typeface="Times New Roman"/>
              </a:rPr>
              <a:t>Operating normally</a:t>
            </a:r>
          </a:p>
          <a:p>
            <a:pPr>
              <a:spcBef>
                <a:spcPts val="200"/>
              </a:spcBef>
            </a:pPr>
            <a:r>
              <a:rPr sz="2000" b="0">
                <a:solidFill>
                  <a:srgbClr val="111827"/>
                </a:solidFill>
                <a:latin typeface="Times New Roman"/>
              </a:rPr>
              <a:t>No active condition</a:t>
            </a:r>
          </a:p>
        </p:txBody>
      </p:sp>
      <p:sp>
        <p:nvSpPr>
          <p:cNvPr id="4" name="Rounded Rectangle 3"/>
          <p:cNvSpPr/>
          <p:nvPr/>
        </p:nvSpPr>
        <p:spPr>
          <a:xfrm>
            <a:off x="6812280" y="1143000"/>
            <a:ext cx="4846320" cy="2057400"/>
          </a:xfrm>
          <a:prstGeom prst="roundRect">
            <a:avLst>
              <a:gd name="adj" fmla="val 8000"/>
            </a:avLst>
          </a:prstGeom>
          <a:solidFill>
            <a:srgbClr val="FEF9C3"/>
          </a:solidFill>
          <a:ln w="19050">
            <a:solidFill>
              <a:srgbClr val="FACC15"/>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400" b="1">
                <a:solidFill>
                  <a:srgbClr val="111827"/>
                </a:solidFill>
                <a:latin typeface="Times New Roman"/>
              </a:rPr>
              <a:t>YELLOW  ▲  ML caution</a:t>
            </a:r>
          </a:p>
          <a:p>
            <a:pPr>
              <a:spcBef>
                <a:spcPts val="200"/>
              </a:spcBef>
            </a:pPr>
            <a:r>
              <a:rPr sz="2000" b="0">
                <a:solidFill>
                  <a:srgbClr val="111827"/>
                </a:solidFill>
                <a:latin typeface="Times New Roman"/>
              </a:rPr>
              <a:t>Isolation Forest anomaly score </a:t>
            </a:r>
            <a:r>
              <a:rPr sz="2000" b="1">
                <a:solidFill>
                  <a:srgbClr val="111827"/>
                </a:solidFill>
                <a:latin typeface="Times New Roman"/>
              </a:rPr>
              <a:t>&gt; 85 %</a:t>
            </a:r>
          </a:p>
          <a:p>
            <a:pPr>
              <a:spcBef>
                <a:spcPts val="200"/>
              </a:spcBef>
            </a:pPr>
            <a:r>
              <a:rPr sz="2000" b="0">
                <a:solidFill>
                  <a:srgbClr val="111827"/>
                </a:solidFill>
                <a:latin typeface="Times New Roman"/>
              </a:rPr>
              <a:t>2 consecutive ticks; below every hard limit</a:t>
            </a:r>
          </a:p>
        </p:txBody>
      </p:sp>
      <p:sp>
        <p:nvSpPr>
          <p:cNvPr id="5" name="Rounded Rectangle 4"/>
          <p:cNvSpPr/>
          <p:nvPr/>
        </p:nvSpPr>
        <p:spPr>
          <a:xfrm>
            <a:off x="1783080" y="3383280"/>
            <a:ext cx="4846320" cy="2057400"/>
          </a:xfrm>
          <a:prstGeom prst="roundRect">
            <a:avLst>
              <a:gd name="adj" fmla="val 8000"/>
            </a:avLst>
          </a:prstGeom>
          <a:solidFill>
            <a:srgbClr val="FFEDD5"/>
          </a:solidFill>
          <a:ln w="190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400" b="1">
                <a:solidFill>
                  <a:srgbClr val="111827"/>
                </a:solidFill>
                <a:latin typeface="Times New Roman"/>
              </a:rPr>
              <a:t>ORANGE  ↗  Projected fault</a:t>
            </a:r>
          </a:p>
          <a:p>
            <a:pPr>
              <a:spcBef>
                <a:spcPts val="200"/>
              </a:spcBef>
            </a:pPr>
            <a:r>
              <a:rPr sz="2000" b="0">
                <a:solidFill>
                  <a:srgbClr val="111827"/>
                </a:solidFill>
                <a:latin typeface="Times New Roman"/>
              </a:rPr>
              <a:t>Line </a:t>
            </a:r>
            <a:r>
              <a:rPr sz="2000" b="1">
                <a:solidFill>
                  <a:srgbClr val="111827"/>
                </a:solidFill>
                <a:latin typeface="Times New Roman"/>
              </a:rPr>
              <a:t>y = m·x + c</a:t>
            </a:r>
            <a:r>
              <a:rPr sz="2000" b="0">
                <a:solidFill>
                  <a:srgbClr val="111827"/>
                </a:solidFill>
                <a:latin typeface="Times New Roman"/>
              </a:rPr>
              <a:t> through last 3 min</a:t>
            </a:r>
          </a:p>
          <a:p>
            <a:pPr>
              <a:spcBef>
                <a:spcPts val="200"/>
              </a:spcBef>
            </a:pPr>
            <a:r>
              <a:rPr sz="2000" b="0">
                <a:solidFill>
                  <a:srgbClr val="111827"/>
                </a:solidFill>
                <a:latin typeface="Times New Roman"/>
              </a:rPr>
              <a:t>Crossing within </a:t>
            </a:r>
            <a:r>
              <a:rPr sz="2000" b="1">
                <a:solidFill>
                  <a:srgbClr val="111827"/>
                </a:solidFill>
                <a:latin typeface="Times New Roman"/>
              </a:rPr>
              <a:t>60 s</a:t>
            </a:r>
            <a:r>
              <a:rPr sz="2000" b="0">
                <a:solidFill>
                  <a:srgbClr val="111827"/>
                </a:solidFill>
                <a:latin typeface="Times New Roman"/>
              </a:rPr>
              <a:t> → ETA countdown</a:t>
            </a:r>
          </a:p>
        </p:txBody>
      </p:sp>
      <p:sp>
        <p:nvSpPr>
          <p:cNvPr id="6" name="Rounded Rectangle 5"/>
          <p:cNvSpPr/>
          <p:nvPr/>
        </p:nvSpPr>
        <p:spPr>
          <a:xfrm>
            <a:off x="6812280" y="3383280"/>
            <a:ext cx="4846320" cy="2057400"/>
          </a:xfrm>
          <a:prstGeom prst="roundRect">
            <a:avLst>
              <a:gd name="adj" fmla="val 8000"/>
            </a:avLst>
          </a:prstGeom>
          <a:solidFill>
            <a:srgbClr val="FEE2E2"/>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400" b="1">
                <a:solidFill>
                  <a:srgbClr val="111827"/>
                </a:solidFill>
                <a:latin typeface="Times New Roman"/>
              </a:rPr>
              <a:t>RED  ✕  Hard fault</a:t>
            </a:r>
          </a:p>
          <a:p>
            <a:pPr>
              <a:spcBef>
                <a:spcPts val="200"/>
              </a:spcBef>
            </a:pPr>
            <a:r>
              <a:rPr sz="2000" b="0">
                <a:solidFill>
                  <a:srgbClr val="111827"/>
                </a:solidFill>
                <a:latin typeface="Times New Roman"/>
              </a:rPr>
              <a:t>Temperature or vibration </a:t>
            </a:r>
            <a:r>
              <a:rPr sz="2000" b="1">
                <a:solidFill>
                  <a:srgbClr val="111827"/>
                </a:solidFill>
                <a:latin typeface="Times New Roman"/>
              </a:rPr>
              <a:t>&gt; limit</a:t>
            </a:r>
          </a:p>
          <a:p>
            <a:pPr>
              <a:spcBef>
                <a:spcPts val="200"/>
              </a:spcBef>
            </a:pPr>
            <a:r>
              <a:rPr sz="2000" b="0">
                <a:solidFill>
                  <a:srgbClr val="111827"/>
                </a:solidFill>
                <a:latin typeface="Times New Roman"/>
              </a:rPr>
              <a:t>or machine STOPPED – immediate</a:t>
            </a:r>
          </a:p>
        </p:txBody>
      </p:sp>
      <p:sp>
        <p:nvSpPr>
          <p:cNvPr id="7" name="TextBox 6"/>
          <p:cNvSpPr txBox="1"/>
          <p:nvPr/>
        </p:nvSpPr>
        <p:spPr>
          <a:xfrm>
            <a:off x="1783080" y="5760720"/>
            <a:ext cx="9966960" cy="457200"/>
          </a:xfrm>
          <a:prstGeom prst="rect">
            <a:avLst/>
          </a:prstGeom>
          <a:noFill/>
        </p:spPr>
        <p:txBody>
          <a:bodyPr wrap="square" anchor="t" lIns="45720" rIns="45720">
            <a:spAutoFit/>
          </a:bodyPr>
          <a:lstStyle/>
          <a:p>
            <a:pPr algn="l"/>
            <a:r>
              <a:rPr sz="1400" b="0" i="1">
                <a:solidFill>
                  <a:srgbClr val="475569"/>
                </a:solidFill>
                <a:latin typeface="Times New Roman"/>
              </a:rPr>
              <a:t>Priority: Red &gt; Orange &gt; Yellow &gt; Green · open after 1–2 ticks · clear after 3–4 s · operator can acknowledge, assign, resolve, give feedback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OEE – Availability × Performance × Quality</a:t>
            </a:r>
          </a:p>
        </p:txBody>
      </p:sp>
      <p:sp>
        <p:nvSpPr>
          <p:cNvPr id="3" name="Rounded Rectangle 2"/>
          <p:cNvSpPr/>
          <p:nvPr/>
        </p:nvSpPr>
        <p:spPr>
          <a:xfrm>
            <a:off x="1783080" y="1143000"/>
            <a:ext cx="4937760" cy="365760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Definition</a:t>
            </a:r>
          </a:p>
          <a:p>
            <a:pPr>
              <a:spcBef>
                <a:spcPts val="200"/>
              </a:spcBef>
            </a:pPr>
            <a:r>
              <a:rPr sz="1600" b="1">
                <a:solidFill>
                  <a:srgbClr val="111827"/>
                </a:solidFill>
                <a:latin typeface="Times New Roman"/>
              </a:rPr>
              <a:t>Availability</a:t>
            </a:r>
            <a:r>
              <a:rPr sz="1600" b="0">
                <a:solidFill>
                  <a:srgbClr val="111827"/>
                </a:solidFill>
                <a:latin typeface="Times New Roman"/>
              </a:rPr>
              <a:t> = run time ÷ planned time</a:t>
            </a:r>
          </a:p>
          <a:p>
            <a:pPr>
              <a:spcBef>
                <a:spcPts val="200"/>
              </a:spcBef>
            </a:pPr>
            <a:r>
              <a:rPr sz="1600" b="1">
                <a:solidFill>
                  <a:srgbClr val="111827"/>
                </a:solidFill>
                <a:latin typeface="Times New Roman"/>
              </a:rPr>
              <a:t>Performance</a:t>
            </a:r>
            <a:r>
              <a:rPr sz="1600" b="0">
                <a:solidFill>
                  <a:srgbClr val="111827"/>
                </a:solidFill>
                <a:latin typeface="Times New Roman"/>
              </a:rPr>
              <a:t> = (cycles × ideal cycle time) ÷ run time</a:t>
            </a:r>
          </a:p>
          <a:p>
            <a:pPr>
              <a:spcBef>
                <a:spcPts val="200"/>
              </a:spcBef>
            </a:pPr>
            <a:r>
              <a:rPr sz="1600" b="1">
                <a:solidFill>
                  <a:srgbClr val="111827"/>
                </a:solidFill>
                <a:latin typeface="Times New Roman"/>
              </a:rPr>
              <a:t>Quality</a:t>
            </a:r>
            <a:r>
              <a:rPr sz="1600" b="0">
                <a:solidFill>
                  <a:srgbClr val="111827"/>
                </a:solidFill>
                <a:latin typeface="Times New Roman"/>
              </a:rPr>
              <a:t> = good cycles ÷ total cycles</a:t>
            </a:r>
          </a:p>
          <a:p>
            <a:pPr>
              <a:spcBef>
                <a:spcPts val="200"/>
              </a:spcBef>
            </a:pPr>
            <a:r>
              <a:rPr sz="1600" b="1">
                <a:solidFill>
                  <a:srgbClr val="111827"/>
                </a:solidFill>
                <a:latin typeface="Times New Roman"/>
              </a:rPr>
              <a:t>OEE = A × P × Q</a:t>
            </a:r>
          </a:p>
          <a:p>
            <a:pPr>
              <a:spcBef>
                <a:spcPts val="200"/>
              </a:spcBef>
            </a:pPr>
          </a:p>
          <a:p>
            <a:pPr>
              <a:spcBef>
                <a:spcPts val="200"/>
              </a:spcBef>
            </a:pPr>
            <a:r>
              <a:rPr sz="1600" b="0">
                <a:solidFill>
                  <a:srgbClr val="111827"/>
                </a:solidFill>
                <a:latin typeface="Times New Roman"/>
              </a:rPr>
              <a:t>Rolling </a:t>
            </a:r>
            <a:r>
              <a:rPr sz="1600" b="1">
                <a:solidFill>
                  <a:srgbClr val="111827"/>
                </a:solidFill>
                <a:latin typeface="Times New Roman"/>
              </a:rPr>
              <a:t>1 h</a:t>
            </a:r>
            <a:r>
              <a:rPr sz="1600" b="0">
                <a:solidFill>
                  <a:srgbClr val="111827"/>
                </a:solidFill>
                <a:latin typeface="Times New Roman"/>
              </a:rPr>
              <a:t> and </a:t>
            </a:r>
            <a:r>
              <a:rPr sz="1600" b="1">
                <a:solidFill>
                  <a:srgbClr val="111827"/>
                </a:solidFill>
                <a:latin typeface="Times New Roman"/>
              </a:rPr>
              <a:t>8 h</a:t>
            </a:r>
            <a:r>
              <a:rPr sz="1600" b="0">
                <a:solidFill>
                  <a:srgbClr val="111827"/>
                </a:solidFill>
                <a:latin typeface="Times New Roman"/>
              </a:rPr>
              <a:t> windows (5-second buckets, O(1) reads); plant OEE from summed components</a:t>
            </a:r>
          </a:p>
        </p:txBody>
      </p:sp>
      <p:sp>
        <p:nvSpPr>
          <p:cNvPr id="4" name="Rounded Rectangle 3"/>
          <p:cNvSpPr/>
          <p:nvPr/>
        </p:nvSpPr>
        <p:spPr>
          <a:xfrm>
            <a:off x="6903720" y="1143000"/>
            <a:ext cx="4892040" cy="365760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900" b="1">
                <a:solidFill>
                  <a:srgbClr val="111827"/>
                </a:solidFill>
                <a:latin typeface="Times New Roman"/>
              </a:rPr>
              <a:t>Measured in the end-to-end test (1 h)</a:t>
            </a:r>
          </a:p>
          <a:p>
            <a:pPr>
              <a:spcBef>
                <a:spcPts val="200"/>
              </a:spcBef>
            </a:pPr>
            <a:r>
              <a:rPr sz="1700" b="0">
                <a:solidFill>
                  <a:srgbClr val="111827"/>
                </a:solidFill>
                <a:latin typeface="Times New Roman"/>
              </a:rPr>
              <a:t>Availability  </a:t>
            </a:r>
            <a:r>
              <a:rPr sz="1700" b="1">
                <a:solidFill>
                  <a:srgbClr val="111827"/>
                </a:solidFill>
                <a:latin typeface="Times New Roman"/>
              </a:rPr>
              <a:t>97.4 %</a:t>
            </a:r>
          </a:p>
          <a:p>
            <a:pPr>
              <a:spcBef>
                <a:spcPts val="200"/>
              </a:spcBef>
            </a:pPr>
            <a:r>
              <a:rPr sz="1700" b="0">
                <a:solidFill>
                  <a:srgbClr val="111827"/>
                </a:solidFill>
                <a:latin typeface="Times New Roman"/>
              </a:rPr>
              <a:t>Performance  </a:t>
            </a:r>
            <a:r>
              <a:rPr sz="1700" b="1">
                <a:solidFill>
                  <a:srgbClr val="111827"/>
                </a:solidFill>
                <a:latin typeface="Times New Roman"/>
              </a:rPr>
              <a:t>88.1 %</a:t>
            </a:r>
          </a:p>
          <a:p>
            <a:pPr>
              <a:spcBef>
                <a:spcPts val="200"/>
              </a:spcBef>
            </a:pPr>
            <a:r>
              <a:rPr sz="1700" b="0">
                <a:solidFill>
                  <a:srgbClr val="111827"/>
                </a:solidFill>
                <a:latin typeface="Times New Roman"/>
              </a:rPr>
              <a:t>Quality  </a:t>
            </a:r>
            <a:r>
              <a:rPr sz="1700" b="1">
                <a:solidFill>
                  <a:srgbClr val="111827"/>
                </a:solidFill>
                <a:latin typeface="Times New Roman"/>
              </a:rPr>
              <a:t>98.1 %</a:t>
            </a:r>
          </a:p>
          <a:p>
            <a:pPr>
              <a:spcBef>
                <a:spcPts val="200"/>
              </a:spcBef>
            </a:pPr>
            <a:r>
              <a:rPr sz="1700" b="1">
                <a:solidFill>
                  <a:srgbClr val="111827"/>
                </a:solidFill>
                <a:latin typeface="Times New Roman"/>
              </a:rPr>
              <a:t>OEE  84.2 %</a:t>
            </a:r>
            <a:r>
              <a:rPr sz="1700" b="0">
                <a:solidFill>
                  <a:srgbClr val="111827"/>
                </a:solidFill>
                <a:latin typeface="Times New Roman"/>
              </a:rPr>
              <a:t>   (8 h window: 83.7 %)</a:t>
            </a:r>
          </a:p>
          <a:p>
            <a:pPr>
              <a:spcBef>
                <a:spcPts val="200"/>
              </a:spcBef>
            </a:pPr>
          </a:p>
          <a:p>
            <a:pPr>
              <a:spcBef>
                <a:spcPts val="200"/>
              </a:spcBef>
            </a:pPr>
            <a:r>
              <a:rPr sz="1700" b="0">
                <a:solidFill>
                  <a:srgbClr val="111827"/>
                </a:solidFill>
                <a:latin typeface="Times New Roman"/>
              </a:rPr>
              <a:t>5 machines · 7 days of simulated history back-fill</a:t>
            </a:r>
          </a:p>
        </p:txBody>
      </p:sp>
      <p:sp>
        <p:nvSpPr>
          <p:cNvPr id="5" name="TextBox 4"/>
          <p:cNvSpPr txBox="1"/>
          <p:nvPr/>
        </p:nvSpPr>
        <p:spPr>
          <a:xfrm>
            <a:off x="1783080" y="5120640"/>
            <a:ext cx="9966960" cy="822960"/>
          </a:xfrm>
          <a:prstGeom prst="rect">
            <a:avLst/>
          </a:prstGeom>
          <a:noFill/>
        </p:spPr>
        <p:txBody>
          <a:bodyPr wrap="square" anchor="t" lIns="45720" rIns="45720">
            <a:spAutoFit/>
          </a:bodyPr>
          <a:lstStyle/>
          <a:p>
            <a:pPr algn="l"/>
            <a:r>
              <a:rPr sz="1600" b="0" i="1">
                <a:solidFill>
                  <a:srgbClr val="475569"/>
                </a:solidFill>
                <a:latin typeface="Times New Roman"/>
              </a:rPr>
              <a:t>Dashboard shows the three rings next to the final figure so the cause of a loss is visible at a glance.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ML Anomaly Scoring &amp; What-If Projection</a:t>
            </a:r>
          </a:p>
        </p:txBody>
      </p:sp>
      <p:sp>
        <p:nvSpPr>
          <p:cNvPr id="3" name="Rounded Rectangle 2"/>
          <p:cNvSpPr/>
          <p:nvPr/>
        </p:nvSpPr>
        <p:spPr>
          <a:xfrm>
            <a:off x="1783080" y="1097280"/>
            <a:ext cx="4937760" cy="4754880"/>
          </a:xfrm>
          <a:prstGeom prst="roundRect">
            <a:avLst>
              <a:gd name="adj" fmla="val 8000"/>
            </a:avLst>
          </a:prstGeom>
          <a:solidFill>
            <a:srgbClr val="FEF9C3"/>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200" b="1">
                <a:solidFill>
                  <a:srgbClr val="111827"/>
                </a:solidFill>
                <a:latin typeface="Times New Roman"/>
              </a:rPr>
              <a:t>Isolation Forest (pre-trained)</a:t>
            </a:r>
          </a:p>
          <a:p>
            <a:pPr>
              <a:spcBef>
                <a:spcPts val="200"/>
              </a:spcBef>
            </a:pPr>
            <a:r>
              <a:rPr sz="1800" b="0">
                <a:solidFill>
                  <a:srgbClr val="111827"/>
                </a:solidFill>
                <a:latin typeface="Times New Roman"/>
              </a:rPr>
              <a:t>• Trained on </a:t>
            </a:r>
            <a:r>
              <a:rPr sz="1800" b="1">
                <a:solidFill>
                  <a:srgbClr val="111827"/>
                </a:solidFill>
                <a:latin typeface="Times New Roman"/>
              </a:rPr>
              <a:t>synthetic normal</a:t>
            </a:r>
            <a:r>
              <a:rPr sz="1800" b="0">
                <a:solidFill>
                  <a:srgbClr val="111827"/>
                </a:solidFill>
                <a:latin typeface="Times New Roman"/>
              </a:rPr>
              <a:t> data (68 687 rows, 20 machine profiles); trimmed tail</a:t>
            </a:r>
          </a:p>
          <a:p>
            <a:pPr>
              <a:spcBef>
                <a:spcPts val="200"/>
              </a:spcBef>
            </a:pPr>
            <a:r>
              <a:rPr sz="1800" b="0">
                <a:solidFill>
                  <a:srgbClr val="111827"/>
                </a:solidFill>
                <a:latin typeface="Times New Roman"/>
              </a:rPr>
              <a:t>• 6 normalised features: level, dynamics, joint magnitudes</a:t>
            </a:r>
          </a:p>
          <a:p>
            <a:pPr>
              <a:spcBef>
                <a:spcPts val="200"/>
              </a:spcBef>
            </a:pPr>
            <a:r>
              <a:rPr sz="1800" b="0">
                <a:solidFill>
                  <a:srgbClr val="111827"/>
                </a:solidFill>
                <a:latin typeface="Times New Roman"/>
              </a:rPr>
              <a:t>• Score calibrated to </a:t>
            </a:r>
            <a:r>
              <a:rPr sz="1800" b="1">
                <a:solidFill>
                  <a:srgbClr val="111827"/>
                </a:solidFill>
                <a:latin typeface="Times New Roman"/>
              </a:rPr>
              <a:t>0–100 %</a:t>
            </a:r>
            <a:r>
              <a:rPr sz="1800" b="0">
                <a:solidFill>
                  <a:srgbClr val="111827"/>
                </a:solidFill>
                <a:latin typeface="Times New Roman"/>
              </a:rPr>
              <a:t>; threshold 85 %</a:t>
            </a:r>
          </a:p>
          <a:p>
            <a:pPr>
              <a:spcBef>
                <a:spcPts val="200"/>
              </a:spcBef>
            </a:pPr>
            <a:r>
              <a:rPr sz="1800" b="0">
                <a:solidFill>
                  <a:srgbClr val="111827"/>
                </a:solidFill>
                <a:latin typeface="Times New Roman"/>
              </a:rPr>
              <a:t>• Inference </a:t>
            </a:r>
            <a:r>
              <a:rPr sz="1800" b="1">
                <a:solidFill>
                  <a:srgbClr val="111827"/>
                </a:solidFill>
                <a:latin typeface="Times New Roman"/>
              </a:rPr>
              <a:t>≤ 36 ms</a:t>
            </a:r>
            <a:r>
              <a:rPr sz="1800" b="0">
                <a:solidFill>
                  <a:srgbClr val="111827"/>
                </a:solidFill>
                <a:latin typeface="Times New Roman"/>
              </a:rPr>
              <a:t> (target 200 ms)</a:t>
            </a:r>
          </a:p>
          <a:p>
            <a:pPr>
              <a:spcBef>
                <a:spcPts val="200"/>
              </a:spcBef>
            </a:pPr>
            <a:r>
              <a:rPr sz="1800" b="0">
                <a:solidFill>
                  <a:srgbClr val="111827"/>
                </a:solidFill>
                <a:latin typeface="Times New Roman"/>
              </a:rPr>
              <a:t>• Validation on injected faults: </a:t>
            </a:r>
            <a:r>
              <a:rPr sz="1800" b="1">
                <a:solidFill>
                  <a:srgbClr val="111827"/>
                </a:solidFill>
                <a:latin typeface="Times New Roman"/>
              </a:rPr>
              <a:t>6/6 detected, precision 100 %, 0 false alarms/h</a:t>
            </a:r>
          </a:p>
          <a:p>
            <a:pPr>
              <a:spcBef>
                <a:spcPts val="200"/>
              </a:spcBef>
            </a:pPr>
            <a:r>
              <a:rPr sz="1800" b="0">
                <a:solidFill>
                  <a:srgbClr val="111827"/>
                </a:solidFill>
                <a:latin typeface="Times New Roman"/>
              </a:rPr>
              <a:t>• ML outage → last score held, Red rules keep working</a:t>
            </a:r>
          </a:p>
        </p:txBody>
      </p:sp>
      <p:sp>
        <p:nvSpPr>
          <p:cNvPr id="4" name="Rounded Rectangle 3"/>
          <p:cNvSpPr/>
          <p:nvPr/>
        </p:nvSpPr>
        <p:spPr>
          <a:xfrm>
            <a:off x="6903720" y="1097280"/>
            <a:ext cx="4892040" cy="4754880"/>
          </a:xfrm>
          <a:prstGeom prst="roundRect">
            <a:avLst>
              <a:gd name="adj" fmla="val 8000"/>
            </a:avLst>
          </a:prstGeom>
          <a:solidFill>
            <a:srgbClr val="FFEDD5"/>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200" b="1">
                <a:solidFill>
                  <a:srgbClr val="111827"/>
                </a:solidFill>
                <a:latin typeface="Times New Roman"/>
              </a:rPr>
              <a:t>What-If projection  y = m·x + c</a:t>
            </a:r>
          </a:p>
          <a:p>
            <a:pPr>
              <a:spcBef>
                <a:spcPts val="200"/>
              </a:spcBef>
            </a:pPr>
            <a:r>
              <a:rPr sz="1800" b="0">
                <a:solidFill>
                  <a:srgbClr val="111827"/>
                </a:solidFill>
                <a:latin typeface="Times New Roman"/>
              </a:rPr>
              <a:t>• Least-squares line through the last </a:t>
            </a:r>
            <a:r>
              <a:rPr sz="1800" b="1">
                <a:solidFill>
                  <a:srgbClr val="111827"/>
                </a:solidFill>
                <a:latin typeface="Times New Roman"/>
              </a:rPr>
              <a:t>3 min</a:t>
            </a:r>
            <a:r>
              <a:rPr sz="1800" b="0">
                <a:solidFill>
                  <a:srgbClr val="111827"/>
                </a:solidFill>
                <a:latin typeface="Times New Roman"/>
              </a:rPr>
              <a:t> of temperature</a:t>
            </a:r>
          </a:p>
          <a:p>
            <a:pPr>
              <a:spcBef>
                <a:spcPts val="200"/>
              </a:spcBef>
            </a:pPr>
            <a:r>
              <a:rPr sz="1800" b="0">
                <a:solidFill>
                  <a:srgbClr val="111827"/>
                </a:solidFill>
                <a:latin typeface="Times New Roman"/>
              </a:rPr>
              <a:t>• ETA = (limit − fit_now) ÷ m</a:t>
            </a:r>
          </a:p>
          <a:p>
            <a:pPr>
              <a:spcBef>
                <a:spcPts val="200"/>
              </a:spcBef>
            </a:pPr>
            <a:r>
              <a:rPr sz="1800" b="0">
                <a:solidFill>
                  <a:srgbClr val="111827"/>
                </a:solidFill>
                <a:latin typeface="Times New Roman"/>
              </a:rPr>
              <a:t>• </a:t>
            </a:r>
            <a:r>
              <a:rPr sz="1800" b="1">
                <a:solidFill>
                  <a:srgbClr val="111827"/>
                </a:solidFill>
                <a:latin typeface="Times New Roman"/>
              </a:rPr>
              <a:t>Orange</a:t>
            </a:r>
            <a:r>
              <a:rPr sz="1800" b="0">
                <a:solidFill>
                  <a:srgbClr val="111827"/>
                </a:solidFill>
                <a:latin typeface="Times New Roman"/>
              </a:rPr>
              <a:t> when ETA ≤ </a:t>
            </a:r>
            <a:r>
              <a:rPr sz="1800" b="1">
                <a:solidFill>
                  <a:srgbClr val="111827"/>
                </a:solidFill>
                <a:latin typeface="Times New Roman"/>
              </a:rPr>
              <a:t>60 s</a:t>
            </a:r>
            <a:r>
              <a:rPr sz="1800" b="0">
                <a:solidFill>
                  <a:srgbClr val="111827"/>
                </a:solidFill>
                <a:latin typeface="Times New Roman"/>
              </a:rPr>
              <a:t> (R² ≥ 0.6, slope ≥ 0.03 °C/s)</a:t>
            </a:r>
          </a:p>
          <a:p>
            <a:pPr>
              <a:spcBef>
                <a:spcPts val="200"/>
              </a:spcBef>
            </a:pPr>
            <a:r>
              <a:rPr sz="1800" b="0">
                <a:solidFill>
                  <a:srgbClr val="111827"/>
                </a:solidFill>
                <a:latin typeface="Times New Roman"/>
              </a:rPr>
              <a:t>• Dashboard draws points, fitted line, limit and countdown</a:t>
            </a:r>
          </a:p>
          <a:p>
            <a:pPr>
              <a:spcBef>
                <a:spcPts val="200"/>
              </a:spcBef>
            </a:pPr>
            <a:r>
              <a:rPr sz="1800" b="0">
                <a:solidFill>
                  <a:srgbClr val="111827"/>
                </a:solidFill>
                <a:latin typeface="Times New Roman"/>
              </a:rPr>
              <a:t>• Manual scenario: controlled 3-minute temperature rise (demo speed up to ×6)</a:t>
            </a:r>
          </a:p>
          <a:p>
            <a:pPr>
              <a:spcBef>
                <a:spcPts val="200"/>
              </a:spcBef>
            </a:pPr>
            <a:r>
              <a:rPr sz="1800" b="0">
                <a:solidFill>
                  <a:srgbClr val="111827"/>
                </a:solidFill>
                <a:latin typeface="Times New Roman"/>
              </a:rPr>
              <a:t>• Measured: Orange raised with ETA 25 s, then Red at 85.1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Implementation – Dashboard Screens</a:t>
            </a:r>
          </a:p>
        </p:txBody>
      </p:sp>
      <p:pic>
        <p:nvPicPr>
          <p:cNvPr id="3" name="Picture 2" descr="ov.png"/>
          <p:cNvPicPr>
            <a:picLocks noChangeAspect="1"/>
          </p:cNvPicPr>
          <p:nvPr/>
        </p:nvPicPr>
        <p:blipFill>
          <a:blip r:embed="rId3"/>
          <a:stretch>
            <a:fillRect/>
          </a:stretch>
        </p:blipFill>
        <p:spPr>
          <a:xfrm>
            <a:off x="2377440" y="960120"/>
            <a:ext cx="3657600" cy="2286000"/>
          </a:xfrm>
          <a:prstGeom prst="rect">
            <a:avLst/>
          </a:prstGeom>
          <a:ln w="12700">
            <a:solidFill>
              <a:srgbClr val="CBD5E1"/>
            </a:solidFill>
          </a:ln>
        </p:spPr>
      </p:pic>
      <p:sp>
        <p:nvSpPr>
          <p:cNvPr id="4" name="TextBox 3"/>
          <p:cNvSpPr txBox="1"/>
          <p:nvPr/>
        </p:nvSpPr>
        <p:spPr>
          <a:xfrm>
            <a:off x="1783080" y="3246120"/>
            <a:ext cx="4846320" cy="365760"/>
          </a:xfrm>
          <a:prstGeom prst="rect">
            <a:avLst/>
          </a:prstGeom>
          <a:noFill/>
        </p:spPr>
        <p:txBody>
          <a:bodyPr wrap="square" anchor="t" lIns="45720" rIns="45720">
            <a:spAutoFit/>
          </a:bodyPr>
          <a:lstStyle/>
          <a:p>
            <a:pPr algn="ctr"/>
            <a:r>
              <a:rPr sz="1300" b="0" i="1">
                <a:solidFill>
                  <a:srgbClr val="475569"/>
                </a:solidFill>
                <a:latin typeface="Times New Roman"/>
              </a:rPr>
              <a:t>Plant overview: OEE gauge, A/P/Q, KPIs</a:t>
            </a:r>
          </a:p>
        </p:txBody>
      </p:sp>
      <p:pic>
        <p:nvPicPr>
          <p:cNvPr id="5" name="Picture 4" descr="desktop_04_machines_alerts.png"/>
          <p:cNvPicPr>
            <a:picLocks noChangeAspect="1"/>
          </p:cNvPicPr>
          <p:nvPr/>
        </p:nvPicPr>
        <p:blipFill>
          <a:blip r:embed="rId4"/>
          <a:stretch>
            <a:fillRect/>
          </a:stretch>
        </p:blipFill>
        <p:spPr>
          <a:xfrm>
            <a:off x="7406640" y="960120"/>
            <a:ext cx="3657600" cy="2286000"/>
          </a:xfrm>
          <a:prstGeom prst="rect">
            <a:avLst/>
          </a:prstGeom>
          <a:ln w="12700">
            <a:solidFill>
              <a:srgbClr val="CBD5E1"/>
            </a:solidFill>
          </a:ln>
        </p:spPr>
      </p:pic>
      <p:sp>
        <p:nvSpPr>
          <p:cNvPr id="6" name="TextBox 5"/>
          <p:cNvSpPr txBox="1"/>
          <p:nvPr/>
        </p:nvSpPr>
        <p:spPr>
          <a:xfrm>
            <a:off x="6812280" y="3246120"/>
            <a:ext cx="4846320" cy="365760"/>
          </a:xfrm>
          <a:prstGeom prst="rect">
            <a:avLst/>
          </a:prstGeom>
          <a:noFill/>
        </p:spPr>
        <p:txBody>
          <a:bodyPr wrap="square" anchor="t" lIns="45720" rIns="45720">
            <a:spAutoFit/>
          </a:bodyPr>
          <a:lstStyle/>
          <a:p>
            <a:pPr algn="ctr"/>
            <a:r>
              <a:rPr sz="1300" b="0" i="1">
                <a:solidFill>
                  <a:srgbClr val="475569"/>
                </a:solidFill>
                <a:latin typeface="Times New Roman"/>
              </a:rPr>
              <a:t>Machine grid: Red · Orange (ETA) · Green</a:t>
            </a:r>
          </a:p>
        </p:txBody>
      </p:sp>
      <p:pic>
        <p:nvPicPr>
          <p:cNvPr id="7" name="Picture 6" descr="det.png"/>
          <p:cNvPicPr>
            <a:picLocks noChangeAspect="1"/>
          </p:cNvPicPr>
          <p:nvPr/>
        </p:nvPicPr>
        <p:blipFill>
          <a:blip r:embed="rId5"/>
          <a:stretch>
            <a:fillRect/>
          </a:stretch>
        </p:blipFill>
        <p:spPr>
          <a:xfrm>
            <a:off x="2787343" y="3657600"/>
            <a:ext cx="2837793" cy="2286000"/>
          </a:xfrm>
          <a:prstGeom prst="rect">
            <a:avLst/>
          </a:prstGeom>
          <a:ln w="12700">
            <a:solidFill>
              <a:srgbClr val="CBD5E1"/>
            </a:solidFill>
          </a:ln>
        </p:spPr>
      </p:pic>
      <p:sp>
        <p:nvSpPr>
          <p:cNvPr id="8" name="TextBox 7"/>
          <p:cNvSpPr txBox="1"/>
          <p:nvPr/>
        </p:nvSpPr>
        <p:spPr>
          <a:xfrm>
            <a:off x="1783080" y="5943600"/>
            <a:ext cx="4846320" cy="365760"/>
          </a:xfrm>
          <a:prstGeom prst="rect">
            <a:avLst/>
          </a:prstGeom>
          <a:noFill/>
        </p:spPr>
        <p:txBody>
          <a:bodyPr wrap="square" anchor="t" lIns="45720" rIns="45720">
            <a:spAutoFit/>
          </a:bodyPr>
          <a:lstStyle/>
          <a:p>
            <a:pPr algn="ctr"/>
            <a:r>
              <a:rPr sz="1300" b="0" i="1">
                <a:solidFill>
                  <a:srgbClr val="475569"/>
                </a:solidFill>
                <a:latin typeface="Times New Roman"/>
              </a:rPr>
              <a:t>Machine detail + What-If regression</a:t>
            </a:r>
          </a:p>
        </p:txBody>
      </p:sp>
      <p:pic>
        <p:nvPicPr>
          <p:cNvPr id="9" name="Picture 8" descr="al.png"/>
          <p:cNvPicPr>
            <a:picLocks noChangeAspect="1"/>
          </p:cNvPicPr>
          <p:nvPr/>
        </p:nvPicPr>
        <p:blipFill>
          <a:blip r:embed="rId6"/>
          <a:stretch>
            <a:fillRect/>
          </a:stretch>
        </p:blipFill>
        <p:spPr>
          <a:xfrm>
            <a:off x="7406640" y="3657600"/>
            <a:ext cx="3657600" cy="2286000"/>
          </a:xfrm>
          <a:prstGeom prst="rect">
            <a:avLst/>
          </a:prstGeom>
          <a:ln w="12700">
            <a:solidFill>
              <a:srgbClr val="CBD5E1"/>
            </a:solidFill>
          </a:ln>
        </p:spPr>
      </p:pic>
      <p:sp>
        <p:nvSpPr>
          <p:cNvPr id="10" name="TextBox 9"/>
          <p:cNvSpPr txBox="1"/>
          <p:nvPr/>
        </p:nvSpPr>
        <p:spPr>
          <a:xfrm>
            <a:off x="6812280" y="5943600"/>
            <a:ext cx="4846320" cy="365760"/>
          </a:xfrm>
          <a:prstGeom prst="rect">
            <a:avLst/>
          </a:prstGeom>
          <a:noFill/>
        </p:spPr>
        <p:txBody>
          <a:bodyPr wrap="square" anchor="t" lIns="45720" rIns="45720">
            <a:spAutoFit/>
          </a:bodyPr>
          <a:lstStyle/>
          <a:p>
            <a:pPr algn="ctr"/>
            <a:r>
              <a:rPr sz="1300" b="0" i="1">
                <a:solidFill>
                  <a:srgbClr val="475569"/>
                </a:solidFill>
                <a:latin typeface="Times New Roman"/>
              </a:rPr>
              <a:t>Alert centre: ack · assign · feedback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Live Demo</a:t>
            </a:r>
          </a:p>
        </p:txBody>
      </p:sp>
      <p:sp>
        <p:nvSpPr>
          <p:cNvPr id="3" name="Oval 2"/>
          <p:cNvSpPr/>
          <p:nvPr/>
        </p:nvSpPr>
        <p:spPr>
          <a:xfrm>
            <a:off x="1783080" y="1133856"/>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1</a:t>
            </a:r>
          </a:p>
        </p:txBody>
      </p:sp>
      <p:sp>
        <p:nvSpPr>
          <p:cNvPr id="4" name="TextBox 3"/>
          <p:cNvSpPr txBox="1"/>
          <p:nvPr/>
        </p:nvSpPr>
        <p:spPr>
          <a:xfrm>
            <a:off x="2377440" y="1097280"/>
            <a:ext cx="9326880" cy="548640"/>
          </a:xfrm>
          <a:prstGeom prst="rect">
            <a:avLst/>
          </a:prstGeom>
          <a:noFill/>
        </p:spPr>
        <p:txBody>
          <a:bodyPr wrap="square" anchor="ctr" lIns="45720" rIns="45720">
            <a:spAutoFit/>
          </a:bodyPr>
          <a:lstStyle/>
          <a:p>
            <a:pPr algn="l"/>
            <a:r>
              <a:rPr sz="1900" b="0" i="0">
                <a:solidFill>
                  <a:srgbClr val="111827"/>
                </a:solidFill>
                <a:latin typeface="Times New Roman"/>
              </a:rPr>
              <a:t>Open </a:t>
            </a:r>
            <a:r>
              <a:rPr sz="1900" b="1" i="0">
                <a:solidFill>
                  <a:srgbClr val="111827"/>
                </a:solidFill>
                <a:latin typeface="Times New Roman"/>
              </a:rPr>
              <a:t>Control</a:t>
            </a:r>
            <a:r>
              <a:rPr sz="1900" b="0" i="0">
                <a:solidFill>
                  <a:srgbClr val="111827"/>
                </a:solidFill>
                <a:latin typeface="Times New Roman"/>
              </a:rPr>
              <a:t> → sign in (manager)</a:t>
            </a:r>
          </a:p>
        </p:txBody>
      </p:sp>
      <p:sp>
        <p:nvSpPr>
          <p:cNvPr id="5" name="Oval 4"/>
          <p:cNvSpPr/>
          <p:nvPr/>
        </p:nvSpPr>
        <p:spPr>
          <a:xfrm>
            <a:off x="1783080" y="182880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2</a:t>
            </a:r>
          </a:p>
        </p:txBody>
      </p:sp>
      <p:sp>
        <p:nvSpPr>
          <p:cNvPr id="6" name="TextBox 5"/>
          <p:cNvSpPr txBox="1"/>
          <p:nvPr/>
        </p:nvSpPr>
        <p:spPr>
          <a:xfrm>
            <a:off x="2377440" y="1792224"/>
            <a:ext cx="9326880" cy="548640"/>
          </a:xfrm>
          <a:prstGeom prst="rect">
            <a:avLst/>
          </a:prstGeom>
          <a:noFill/>
        </p:spPr>
        <p:txBody>
          <a:bodyPr wrap="square" anchor="ctr" lIns="45720" rIns="45720">
            <a:spAutoFit/>
          </a:bodyPr>
          <a:lstStyle/>
          <a:p>
            <a:pPr algn="l"/>
            <a:r>
              <a:rPr sz="1900" b="1" i="0">
                <a:solidFill>
                  <a:srgbClr val="111827"/>
                </a:solidFill>
                <a:latin typeface="Times New Roman"/>
              </a:rPr>
              <a:t>ML anomaly</a:t>
            </a:r>
            <a:r>
              <a:rPr sz="1900" b="0" i="0">
                <a:solidFill>
                  <a:srgbClr val="111827"/>
                </a:solidFill>
                <a:latin typeface="Times New Roman"/>
              </a:rPr>
              <a:t> on Welder-04 → tile turns </a:t>
            </a:r>
            <a:r>
              <a:rPr sz="1900" b="1" i="0">
                <a:solidFill>
                  <a:srgbClr val="111827"/>
                </a:solidFill>
                <a:latin typeface="Times New Roman"/>
              </a:rPr>
              <a:t>Yellow</a:t>
            </a:r>
          </a:p>
        </p:txBody>
      </p:sp>
      <p:sp>
        <p:nvSpPr>
          <p:cNvPr id="7" name="Oval 6"/>
          <p:cNvSpPr/>
          <p:nvPr/>
        </p:nvSpPr>
        <p:spPr>
          <a:xfrm>
            <a:off x="1783080" y="2523744"/>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3</a:t>
            </a:r>
          </a:p>
        </p:txBody>
      </p:sp>
      <p:sp>
        <p:nvSpPr>
          <p:cNvPr id="8" name="TextBox 7"/>
          <p:cNvSpPr txBox="1"/>
          <p:nvPr/>
        </p:nvSpPr>
        <p:spPr>
          <a:xfrm>
            <a:off x="2377440" y="2487168"/>
            <a:ext cx="9326880" cy="548640"/>
          </a:xfrm>
          <a:prstGeom prst="rect">
            <a:avLst/>
          </a:prstGeom>
          <a:noFill/>
        </p:spPr>
        <p:txBody>
          <a:bodyPr wrap="square" anchor="ctr" lIns="45720" rIns="45720">
            <a:spAutoFit/>
          </a:bodyPr>
          <a:lstStyle/>
          <a:p>
            <a:pPr algn="l"/>
            <a:r>
              <a:rPr sz="1900" b="0" i="0">
                <a:solidFill>
                  <a:srgbClr val="111827"/>
                </a:solidFill>
                <a:latin typeface="Times New Roman"/>
              </a:rPr>
              <a:t>Demo speed ×6 → </a:t>
            </a:r>
            <a:r>
              <a:rPr sz="1900" b="1" i="0">
                <a:solidFill>
                  <a:srgbClr val="111827"/>
                </a:solidFill>
                <a:latin typeface="Times New Roman"/>
              </a:rPr>
              <a:t>Temperature ramp</a:t>
            </a:r>
            <a:r>
              <a:rPr sz="1900" b="0" i="0">
                <a:solidFill>
                  <a:srgbClr val="111827"/>
                </a:solidFill>
                <a:latin typeface="Times New Roman"/>
              </a:rPr>
              <a:t> on CNC-01 → </a:t>
            </a:r>
            <a:r>
              <a:rPr sz="1900" b="1" i="0">
                <a:solidFill>
                  <a:srgbClr val="111827"/>
                </a:solidFill>
                <a:latin typeface="Times New Roman"/>
              </a:rPr>
              <a:t>Orange</a:t>
            </a:r>
            <a:r>
              <a:rPr sz="1900" b="0" i="0">
                <a:solidFill>
                  <a:srgbClr val="111827"/>
                </a:solidFill>
                <a:latin typeface="Times New Roman"/>
              </a:rPr>
              <a:t> with ETA, then </a:t>
            </a:r>
            <a:r>
              <a:rPr sz="1900" b="1" i="0">
                <a:solidFill>
                  <a:srgbClr val="111827"/>
                </a:solidFill>
                <a:latin typeface="Times New Roman"/>
              </a:rPr>
              <a:t>Red</a:t>
            </a:r>
          </a:p>
        </p:txBody>
      </p:sp>
      <p:sp>
        <p:nvSpPr>
          <p:cNvPr id="9" name="Oval 8"/>
          <p:cNvSpPr/>
          <p:nvPr/>
        </p:nvSpPr>
        <p:spPr>
          <a:xfrm>
            <a:off x="1783080" y="3218688"/>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4</a:t>
            </a:r>
          </a:p>
        </p:txBody>
      </p:sp>
      <p:sp>
        <p:nvSpPr>
          <p:cNvPr id="10" name="TextBox 9"/>
          <p:cNvSpPr txBox="1"/>
          <p:nvPr/>
        </p:nvSpPr>
        <p:spPr>
          <a:xfrm>
            <a:off x="2377440" y="3182112"/>
            <a:ext cx="9326880" cy="548640"/>
          </a:xfrm>
          <a:prstGeom prst="rect">
            <a:avLst/>
          </a:prstGeom>
          <a:noFill/>
        </p:spPr>
        <p:txBody>
          <a:bodyPr wrap="square" anchor="ctr" lIns="45720" rIns="45720">
            <a:spAutoFit/>
          </a:bodyPr>
          <a:lstStyle/>
          <a:p>
            <a:pPr algn="l"/>
            <a:r>
              <a:rPr sz="1900" b="1" i="0">
                <a:solidFill>
                  <a:srgbClr val="111827"/>
                </a:solidFill>
                <a:latin typeface="Times New Roman"/>
              </a:rPr>
              <a:t>Vibration spike</a:t>
            </a:r>
            <a:r>
              <a:rPr sz="1900" b="0" i="0">
                <a:solidFill>
                  <a:srgbClr val="111827"/>
                </a:solidFill>
                <a:latin typeface="Times New Roman"/>
              </a:rPr>
              <a:t> on Press-02 → instant </a:t>
            </a:r>
            <a:r>
              <a:rPr sz="1900" b="1" i="0">
                <a:solidFill>
                  <a:srgbClr val="111827"/>
                </a:solidFill>
                <a:latin typeface="Times New Roman"/>
              </a:rPr>
              <a:t>Red</a:t>
            </a:r>
          </a:p>
        </p:txBody>
      </p:sp>
      <p:sp>
        <p:nvSpPr>
          <p:cNvPr id="11" name="Oval 10"/>
          <p:cNvSpPr/>
          <p:nvPr/>
        </p:nvSpPr>
        <p:spPr>
          <a:xfrm>
            <a:off x="1783080" y="3913632"/>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5</a:t>
            </a:r>
          </a:p>
        </p:txBody>
      </p:sp>
      <p:sp>
        <p:nvSpPr>
          <p:cNvPr id="12" name="TextBox 11"/>
          <p:cNvSpPr txBox="1"/>
          <p:nvPr/>
        </p:nvSpPr>
        <p:spPr>
          <a:xfrm>
            <a:off x="2377440" y="3877056"/>
            <a:ext cx="9326880" cy="548640"/>
          </a:xfrm>
          <a:prstGeom prst="rect">
            <a:avLst/>
          </a:prstGeom>
          <a:noFill/>
        </p:spPr>
        <p:txBody>
          <a:bodyPr wrap="square" anchor="ctr" lIns="45720" rIns="45720">
            <a:spAutoFit/>
          </a:bodyPr>
          <a:lstStyle/>
          <a:p>
            <a:pPr algn="l"/>
            <a:r>
              <a:rPr sz="1900" b="1" i="0">
                <a:solidFill>
                  <a:srgbClr val="111827"/>
                </a:solidFill>
                <a:latin typeface="Times New Roman"/>
              </a:rPr>
              <a:t>Alerts</a:t>
            </a:r>
            <a:r>
              <a:rPr sz="1900" b="0" i="0">
                <a:solidFill>
                  <a:srgbClr val="111827"/>
                </a:solidFill>
                <a:latin typeface="Times New Roman"/>
              </a:rPr>
              <a:t>: acknowledge · assign technician · resolve · 👍/👎 feedback</a:t>
            </a:r>
          </a:p>
        </p:txBody>
      </p:sp>
      <p:sp>
        <p:nvSpPr>
          <p:cNvPr id="13" name="Oval 12"/>
          <p:cNvSpPr/>
          <p:nvPr/>
        </p:nvSpPr>
        <p:spPr>
          <a:xfrm>
            <a:off x="1783080" y="4608576"/>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6</a:t>
            </a:r>
          </a:p>
        </p:txBody>
      </p:sp>
      <p:sp>
        <p:nvSpPr>
          <p:cNvPr id="14" name="TextBox 13"/>
          <p:cNvSpPr txBox="1"/>
          <p:nvPr/>
        </p:nvSpPr>
        <p:spPr>
          <a:xfrm>
            <a:off x="2377440" y="4572000"/>
            <a:ext cx="9326880" cy="548640"/>
          </a:xfrm>
          <a:prstGeom prst="rect">
            <a:avLst/>
          </a:prstGeom>
          <a:noFill/>
        </p:spPr>
        <p:txBody>
          <a:bodyPr wrap="square" anchor="ctr" lIns="45720" rIns="45720">
            <a:spAutoFit/>
          </a:bodyPr>
          <a:lstStyle/>
          <a:p>
            <a:pPr algn="l"/>
            <a:r>
              <a:rPr sz="1900" b="1" i="0">
                <a:solidFill>
                  <a:srgbClr val="111827"/>
                </a:solidFill>
                <a:latin typeface="Times New Roman"/>
              </a:rPr>
              <a:t>Maintenance</a:t>
            </a:r>
            <a:r>
              <a:rPr sz="1900" b="0" i="0">
                <a:solidFill>
                  <a:srgbClr val="111827"/>
                </a:solidFill>
                <a:latin typeface="Times New Roman"/>
              </a:rPr>
              <a:t> log linked to the alert; </a:t>
            </a:r>
            <a:r>
              <a:rPr sz="1900" b="1" i="0">
                <a:solidFill>
                  <a:srgbClr val="111827"/>
                </a:solidFill>
                <a:latin typeface="Times New Roman"/>
              </a:rPr>
              <a:t>Reports</a:t>
            </a:r>
            <a:r>
              <a:rPr sz="1900" b="0" i="0">
                <a:solidFill>
                  <a:srgbClr val="111827"/>
                </a:solidFill>
                <a:latin typeface="Times New Roman"/>
              </a:rPr>
              <a:t> page</a:t>
            </a:r>
          </a:p>
        </p:txBody>
      </p:sp>
      <p:sp>
        <p:nvSpPr>
          <p:cNvPr id="15" name="Oval 14"/>
          <p:cNvSpPr/>
          <p:nvPr/>
        </p:nvSpPr>
        <p:spPr>
          <a:xfrm>
            <a:off x="1783080" y="530352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Times New Roman"/>
              </a:rPr>
              <a:t>7</a:t>
            </a:r>
          </a:p>
        </p:txBody>
      </p:sp>
      <p:sp>
        <p:nvSpPr>
          <p:cNvPr id="16" name="TextBox 15"/>
          <p:cNvSpPr txBox="1"/>
          <p:nvPr/>
        </p:nvSpPr>
        <p:spPr>
          <a:xfrm>
            <a:off x="2377440" y="5266944"/>
            <a:ext cx="9326880" cy="548640"/>
          </a:xfrm>
          <a:prstGeom prst="rect">
            <a:avLst/>
          </a:prstGeom>
          <a:noFill/>
        </p:spPr>
        <p:txBody>
          <a:bodyPr wrap="square" anchor="ctr" lIns="45720" rIns="45720">
            <a:spAutoFit/>
          </a:bodyPr>
          <a:lstStyle/>
          <a:p>
            <a:pPr algn="l"/>
            <a:r>
              <a:rPr sz="1900" b="1" i="0">
                <a:solidFill>
                  <a:srgbClr val="111827"/>
                </a:solidFill>
                <a:latin typeface="Times New Roman"/>
              </a:rPr>
              <a:t>Simulate ML outage</a:t>
            </a:r>
            <a:r>
              <a:rPr sz="1900" b="0" i="0">
                <a:solidFill>
                  <a:srgbClr val="111827"/>
                </a:solidFill>
                <a:latin typeface="Times New Roman"/>
              </a:rPr>
              <a:t> → scores held, rules still alert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Testing &amp; Results</a:t>
            </a:r>
          </a:p>
        </p:txBody>
      </p:sp>
      <p:sp>
        <p:nvSpPr>
          <p:cNvPr id="3" name="Rounded Rectangle 2"/>
          <p:cNvSpPr/>
          <p:nvPr/>
        </p:nvSpPr>
        <p:spPr>
          <a:xfrm>
            <a:off x="1783080" y="1143000"/>
            <a:ext cx="3200400" cy="205740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4" name="TextBox 3"/>
          <p:cNvSpPr txBox="1"/>
          <p:nvPr/>
        </p:nvSpPr>
        <p:spPr>
          <a:xfrm>
            <a:off x="1783080" y="132588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28 + 7</a:t>
            </a:r>
          </a:p>
        </p:txBody>
      </p:sp>
      <p:sp>
        <p:nvSpPr>
          <p:cNvPr id="5" name="TextBox 4"/>
          <p:cNvSpPr txBox="1"/>
          <p:nvPr/>
        </p:nvSpPr>
        <p:spPr>
          <a:xfrm>
            <a:off x="1783080" y="224028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automated tests passed</a:t>
            </a:r>
          </a:p>
          <a:p>
            <a:pPr algn="ctr"/>
            <a:r>
              <a:rPr sz="1500" b="0" i="0">
                <a:solidFill>
                  <a:srgbClr val="111827"/>
                </a:solidFill>
                <a:latin typeface="Times New Roman"/>
              </a:rPr>
              <a:t>(pytest + Vitest)</a:t>
            </a:r>
          </a:p>
        </p:txBody>
      </p:sp>
      <p:sp>
        <p:nvSpPr>
          <p:cNvPr id="6" name="Rounded Rectangle 5"/>
          <p:cNvSpPr/>
          <p:nvPr/>
        </p:nvSpPr>
        <p:spPr>
          <a:xfrm>
            <a:off x="5148072" y="1143000"/>
            <a:ext cx="3200400" cy="205740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7" name="TextBox 6"/>
          <p:cNvSpPr txBox="1"/>
          <p:nvPr/>
        </p:nvSpPr>
        <p:spPr>
          <a:xfrm>
            <a:off x="5148072" y="132588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13 / 13</a:t>
            </a:r>
          </a:p>
        </p:txBody>
      </p:sp>
      <p:sp>
        <p:nvSpPr>
          <p:cNvPr id="8" name="TextBox 7"/>
          <p:cNvSpPr txBox="1"/>
          <p:nvPr/>
        </p:nvSpPr>
        <p:spPr>
          <a:xfrm>
            <a:off x="5148072" y="224028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end-to-end smoke checks</a:t>
            </a:r>
          </a:p>
          <a:p>
            <a:pPr algn="ctr"/>
            <a:r>
              <a:rPr sz="1500" b="0" i="0">
                <a:solidFill>
                  <a:srgbClr val="111827"/>
                </a:solidFill>
                <a:latin typeface="Times New Roman"/>
              </a:rPr>
              <a:t>(5 machines, 50 WS clients)</a:t>
            </a:r>
          </a:p>
        </p:txBody>
      </p:sp>
      <p:sp>
        <p:nvSpPr>
          <p:cNvPr id="9" name="Rounded Rectangle 8"/>
          <p:cNvSpPr/>
          <p:nvPr/>
        </p:nvSpPr>
        <p:spPr>
          <a:xfrm>
            <a:off x="8513064" y="1143000"/>
            <a:ext cx="3200400" cy="205740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10" name="TextBox 9"/>
          <p:cNvSpPr txBox="1"/>
          <p:nvPr/>
        </p:nvSpPr>
        <p:spPr>
          <a:xfrm>
            <a:off x="8513064" y="132588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0.5 s</a:t>
            </a:r>
          </a:p>
        </p:txBody>
      </p:sp>
      <p:sp>
        <p:nvSpPr>
          <p:cNvPr id="11" name="TextBox 10"/>
          <p:cNvSpPr txBox="1"/>
          <p:nvPr/>
        </p:nvSpPr>
        <p:spPr>
          <a:xfrm>
            <a:off x="8513064" y="224028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dashboard update latency</a:t>
            </a:r>
          </a:p>
          <a:p>
            <a:pPr algn="ctr"/>
            <a:r>
              <a:rPr sz="1500" b="0" i="0">
                <a:solidFill>
                  <a:srgbClr val="111827"/>
                </a:solidFill>
                <a:latin typeface="Times New Roman"/>
              </a:rPr>
              <a:t>(p95, target ≤ 1 s)</a:t>
            </a:r>
          </a:p>
        </p:txBody>
      </p:sp>
      <p:sp>
        <p:nvSpPr>
          <p:cNvPr id="12" name="Rounded Rectangle 11"/>
          <p:cNvSpPr/>
          <p:nvPr/>
        </p:nvSpPr>
        <p:spPr>
          <a:xfrm>
            <a:off x="1783080" y="3383280"/>
            <a:ext cx="3200400" cy="205740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13" name="TextBox 12"/>
          <p:cNvSpPr txBox="1"/>
          <p:nvPr/>
        </p:nvSpPr>
        <p:spPr>
          <a:xfrm>
            <a:off x="1783080" y="356616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36 ms</a:t>
            </a:r>
          </a:p>
        </p:txBody>
      </p:sp>
      <p:sp>
        <p:nvSpPr>
          <p:cNvPr id="14" name="TextBox 13"/>
          <p:cNvSpPr txBox="1"/>
          <p:nvPr/>
        </p:nvSpPr>
        <p:spPr>
          <a:xfrm>
            <a:off x="1783080" y="448056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worst-case ML inference</a:t>
            </a:r>
          </a:p>
          <a:p>
            <a:pPr algn="ctr"/>
            <a:r>
              <a:rPr sz="1500" b="0" i="0">
                <a:solidFill>
                  <a:srgbClr val="111827"/>
                </a:solidFill>
                <a:latin typeface="Times New Roman"/>
              </a:rPr>
              <a:t>(target ≤ 200 ms)</a:t>
            </a:r>
          </a:p>
        </p:txBody>
      </p:sp>
      <p:sp>
        <p:nvSpPr>
          <p:cNvPr id="15" name="Rounded Rectangle 14"/>
          <p:cNvSpPr/>
          <p:nvPr/>
        </p:nvSpPr>
        <p:spPr>
          <a:xfrm>
            <a:off x="5148072" y="3383280"/>
            <a:ext cx="3200400" cy="205740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16" name="TextBox 15"/>
          <p:cNvSpPr txBox="1"/>
          <p:nvPr/>
        </p:nvSpPr>
        <p:spPr>
          <a:xfrm>
            <a:off x="5148072" y="356616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2.3 s</a:t>
            </a:r>
          </a:p>
        </p:txBody>
      </p:sp>
      <p:sp>
        <p:nvSpPr>
          <p:cNvPr id="17" name="TextBox 16"/>
          <p:cNvSpPr txBox="1"/>
          <p:nvPr/>
        </p:nvSpPr>
        <p:spPr>
          <a:xfrm>
            <a:off x="5148072" y="448056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MQTT recovery after broker</a:t>
            </a:r>
          </a:p>
          <a:p>
            <a:pPr algn="ctr"/>
            <a:r>
              <a:rPr sz="1500" b="0" i="0">
                <a:solidFill>
                  <a:srgbClr val="111827"/>
                </a:solidFill>
                <a:latin typeface="Times New Roman"/>
              </a:rPr>
              <a:t>restart (target ≤ 5 s)</a:t>
            </a:r>
          </a:p>
        </p:txBody>
      </p:sp>
      <p:sp>
        <p:nvSpPr>
          <p:cNvPr id="18" name="Rounded Rectangle 17"/>
          <p:cNvSpPr/>
          <p:nvPr/>
        </p:nvSpPr>
        <p:spPr>
          <a:xfrm>
            <a:off x="8513064" y="3383280"/>
            <a:ext cx="3200400" cy="205740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p>
        </p:txBody>
      </p:sp>
      <p:sp>
        <p:nvSpPr>
          <p:cNvPr id="19" name="TextBox 18"/>
          <p:cNvSpPr txBox="1"/>
          <p:nvPr/>
        </p:nvSpPr>
        <p:spPr>
          <a:xfrm>
            <a:off x="8513064" y="3566160"/>
            <a:ext cx="3200400" cy="914400"/>
          </a:xfrm>
          <a:prstGeom prst="rect">
            <a:avLst/>
          </a:prstGeom>
          <a:noFill/>
        </p:spPr>
        <p:txBody>
          <a:bodyPr wrap="square" anchor="t" lIns="45720" rIns="45720">
            <a:spAutoFit/>
          </a:bodyPr>
          <a:lstStyle/>
          <a:p>
            <a:pPr algn="ctr"/>
            <a:r>
              <a:rPr sz="4000" b="1" i="0">
                <a:solidFill>
                  <a:srgbClr val="375623"/>
                </a:solidFill>
                <a:latin typeface="Times New Roman"/>
              </a:rPr>
              <a:t>6 / 6</a:t>
            </a:r>
          </a:p>
        </p:txBody>
      </p:sp>
      <p:sp>
        <p:nvSpPr>
          <p:cNvPr id="20" name="TextBox 19"/>
          <p:cNvSpPr txBox="1"/>
          <p:nvPr/>
        </p:nvSpPr>
        <p:spPr>
          <a:xfrm>
            <a:off x="8513064" y="4480560"/>
            <a:ext cx="3200400" cy="914400"/>
          </a:xfrm>
          <a:prstGeom prst="rect">
            <a:avLst/>
          </a:prstGeom>
          <a:noFill/>
        </p:spPr>
        <p:txBody>
          <a:bodyPr wrap="square" anchor="t" lIns="45720" rIns="45720">
            <a:spAutoFit/>
          </a:bodyPr>
          <a:lstStyle/>
          <a:p>
            <a:pPr algn="ctr"/>
            <a:r>
              <a:rPr sz="1500" b="0" i="0">
                <a:solidFill>
                  <a:srgbClr val="111827"/>
                </a:solidFill>
                <a:latin typeface="Times New Roman"/>
              </a:rPr>
              <a:t>injected anomalies detected</a:t>
            </a:r>
          </a:p>
          <a:p>
            <a:pPr algn="ctr"/>
            <a:r>
              <a:rPr sz="1500" b="0" i="0">
                <a:solidFill>
                  <a:srgbClr val="111827"/>
                </a:solidFill>
                <a:latin typeface="Times New Roman"/>
              </a:rPr>
              <a:t>0 false alarms on healthy</a:t>
            </a:r>
          </a:p>
        </p:txBody>
      </p:sp>
      <p:sp>
        <p:nvSpPr>
          <p:cNvPr id="21" name="TextBox 20"/>
          <p:cNvSpPr txBox="1"/>
          <p:nvPr/>
        </p:nvSpPr>
        <p:spPr>
          <a:xfrm>
            <a:off x="1783080" y="5715000"/>
            <a:ext cx="9966960" cy="548640"/>
          </a:xfrm>
          <a:prstGeom prst="rect">
            <a:avLst/>
          </a:prstGeom>
          <a:noFill/>
        </p:spPr>
        <p:txBody>
          <a:bodyPr wrap="square" anchor="t" lIns="45720" rIns="45720">
            <a:spAutoFit/>
          </a:bodyPr>
          <a:lstStyle/>
          <a:p>
            <a:pPr algn="l"/>
            <a:r>
              <a:rPr sz="1400" b="0" i="1">
                <a:solidFill>
                  <a:srgbClr val="475569"/>
                </a:solidFill>
                <a:latin typeface="Times New Roman"/>
              </a:rPr>
              <a:t>Orange alert raised with 25 s ETA before Red · Yellow score 97.7 % · fault injection returns HTTP 401 without login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Advantages, Limitations &amp; Applications</a:t>
            </a:r>
          </a:p>
        </p:txBody>
      </p:sp>
      <p:sp>
        <p:nvSpPr>
          <p:cNvPr id="3" name="Rounded Rectangle 2"/>
          <p:cNvSpPr/>
          <p:nvPr/>
        </p:nvSpPr>
        <p:spPr>
          <a:xfrm>
            <a:off x="1783080" y="1097280"/>
            <a:ext cx="3200400" cy="484632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200" b="1">
                <a:solidFill>
                  <a:srgbClr val="111827"/>
                </a:solidFill>
                <a:latin typeface="Times New Roman"/>
              </a:rPr>
              <a:t>Advantages</a:t>
            </a:r>
          </a:p>
          <a:p>
            <a:pPr>
              <a:spcBef>
                <a:spcPts val="200"/>
              </a:spcBef>
            </a:pPr>
            <a:r>
              <a:rPr sz="1900" b="0">
                <a:solidFill>
                  <a:srgbClr val="111827"/>
                </a:solidFill>
                <a:latin typeface="Times New Roman"/>
              </a:rPr>
              <a:t>• 3 detection layers</a:t>
            </a:r>
          </a:p>
          <a:p>
            <a:pPr>
              <a:spcBef>
                <a:spcPts val="200"/>
              </a:spcBef>
            </a:pPr>
            <a:r>
              <a:rPr sz="1900" b="0">
                <a:solidFill>
                  <a:srgbClr val="111827"/>
                </a:solidFill>
                <a:latin typeface="Times New Roman"/>
              </a:rPr>
              <a:t>• Explainable alerts</a:t>
            </a:r>
          </a:p>
          <a:p>
            <a:pPr>
              <a:spcBef>
                <a:spcPts val="200"/>
              </a:spcBef>
            </a:pPr>
            <a:r>
              <a:rPr sz="1900" b="0">
                <a:solidFill>
                  <a:srgbClr val="111827"/>
                </a:solidFill>
                <a:latin typeface="Times New Roman"/>
              </a:rPr>
              <a:t>• Works with no DB / Docker</a:t>
            </a:r>
          </a:p>
          <a:p>
            <a:pPr>
              <a:spcBef>
                <a:spcPts val="200"/>
              </a:spcBef>
            </a:pPr>
            <a:r>
              <a:rPr sz="1900" b="0">
                <a:solidFill>
                  <a:srgbClr val="111827"/>
                </a:solidFill>
                <a:latin typeface="Times New Roman"/>
              </a:rPr>
              <a:t>• Operator workflow + audit</a:t>
            </a:r>
          </a:p>
          <a:p>
            <a:pPr>
              <a:spcBef>
                <a:spcPts val="200"/>
              </a:spcBef>
            </a:pPr>
            <a:r>
              <a:rPr sz="1900" b="0">
                <a:solidFill>
                  <a:srgbClr val="111827"/>
                </a:solidFill>
                <a:latin typeface="Times New Roman"/>
              </a:rPr>
              <a:t>• Tested and documented API</a:t>
            </a:r>
          </a:p>
        </p:txBody>
      </p:sp>
      <p:sp>
        <p:nvSpPr>
          <p:cNvPr id="4" name="Rounded Rectangle 3"/>
          <p:cNvSpPr/>
          <p:nvPr/>
        </p:nvSpPr>
        <p:spPr>
          <a:xfrm>
            <a:off x="5074920" y="1097280"/>
            <a:ext cx="3246120" cy="4846320"/>
          </a:xfrm>
          <a:prstGeom prst="roundRect">
            <a:avLst>
              <a:gd name="adj" fmla="val 8000"/>
            </a:avLst>
          </a:prstGeom>
          <a:solidFill>
            <a:srgbClr val="FFEDD5"/>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200" b="1">
                <a:solidFill>
                  <a:srgbClr val="111827"/>
                </a:solidFill>
                <a:latin typeface="Times New Roman"/>
              </a:rPr>
              <a:t>Limitations</a:t>
            </a:r>
          </a:p>
          <a:p>
            <a:pPr>
              <a:spcBef>
                <a:spcPts val="200"/>
              </a:spcBef>
            </a:pPr>
            <a:r>
              <a:rPr sz="1900" b="0">
                <a:solidFill>
                  <a:srgbClr val="111827"/>
                </a:solidFill>
                <a:latin typeface="Times New Roman"/>
              </a:rPr>
              <a:t>• Simulated telemetry</a:t>
            </a:r>
          </a:p>
          <a:p>
            <a:pPr>
              <a:spcBef>
                <a:spcPts val="200"/>
              </a:spcBef>
            </a:pPr>
            <a:r>
              <a:rPr sz="1900" b="0">
                <a:solidFill>
                  <a:srgbClr val="111827"/>
                </a:solidFill>
                <a:latin typeface="Times New Roman"/>
              </a:rPr>
              <a:t>• Model trained once (C-04)</a:t>
            </a:r>
          </a:p>
          <a:p>
            <a:pPr>
              <a:spcBef>
                <a:spcPts val="200"/>
              </a:spcBef>
            </a:pPr>
            <a:r>
              <a:rPr sz="1900" b="0">
                <a:solidFill>
                  <a:srgbClr val="111827"/>
                </a:solidFill>
                <a:latin typeface="Times New Roman"/>
              </a:rPr>
              <a:t>• Single-tenant Basic auth</a:t>
            </a:r>
          </a:p>
          <a:p>
            <a:pPr>
              <a:spcBef>
                <a:spcPts val="200"/>
              </a:spcBef>
            </a:pPr>
            <a:r>
              <a:rPr sz="1900" b="0">
                <a:solidFill>
                  <a:srgbClr val="111827"/>
                </a:solidFill>
                <a:latin typeface="Times New Roman"/>
              </a:rPr>
              <a:t>• Linear What-If assumption</a:t>
            </a:r>
          </a:p>
          <a:p>
            <a:pPr>
              <a:spcBef>
                <a:spcPts val="200"/>
              </a:spcBef>
            </a:pPr>
            <a:r>
              <a:rPr sz="1900" b="0">
                <a:solidFill>
                  <a:srgbClr val="111827"/>
                </a:solidFill>
                <a:latin typeface="Times New Roman"/>
              </a:rPr>
              <a:t>• 2D, desktop-responsive web app</a:t>
            </a:r>
          </a:p>
        </p:txBody>
      </p:sp>
      <p:sp>
        <p:nvSpPr>
          <p:cNvPr id="5" name="Rounded Rectangle 4"/>
          <p:cNvSpPr/>
          <p:nvPr/>
        </p:nvSpPr>
        <p:spPr>
          <a:xfrm>
            <a:off x="8458200" y="1097280"/>
            <a:ext cx="3337560" cy="484632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2200" b="1">
                <a:solidFill>
                  <a:srgbClr val="111827"/>
                </a:solidFill>
                <a:latin typeface="Times New Roman"/>
              </a:rPr>
              <a:t>Applications</a:t>
            </a:r>
          </a:p>
          <a:p>
            <a:pPr>
              <a:spcBef>
                <a:spcPts val="200"/>
              </a:spcBef>
            </a:pPr>
            <a:r>
              <a:rPr sz="1900" b="0">
                <a:solidFill>
                  <a:srgbClr val="111827"/>
                </a:solidFill>
                <a:latin typeface="Times New Roman"/>
              </a:rPr>
              <a:t>• OEE &amp; condition monitoring</a:t>
            </a:r>
          </a:p>
          <a:p>
            <a:pPr>
              <a:spcBef>
                <a:spcPts val="200"/>
              </a:spcBef>
            </a:pPr>
            <a:r>
              <a:rPr sz="1900" b="0">
                <a:solidFill>
                  <a:srgbClr val="111827"/>
                </a:solidFill>
                <a:latin typeface="Times New Roman"/>
              </a:rPr>
              <a:t>• Industry 4.0 teaching lab</a:t>
            </a:r>
          </a:p>
          <a:p>
            <a:pPr>
              <a:spcBef>
                <a:spcPts val="200"/>
              </a:spcBef>
            </a:pPr>
            <a:r>
              <a:rPr sz="1900" b="0">
                <a:solidFill>
                  <a:srgbClr val="111827"/>
                </a:solidFill>
                <a:latin typeface="Times New Roman"/>
              </a:rPr>
              <a:t>• Anomaly-model test bench</a:t>
            </a:r>
          </a:p>
          <a:p>
            <a:pPr>
              <a:spcBef>
                <a:spcPts val="200"/>
              </a:spcBef>
            </a:pPr>
            <a:r>
              <a:rPr sz="1900" b="0">
                <a:solidFill>
                  <a:srgbClr val="111827"/>
                </a:solidFill>
                <a:latin typeface="Times New Roman"/>
              </a:rPr>
              <a:t>• Pilot for real PLC gateways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783080" y="91440"/>
            <a:ext cx="9875520" cy="502920"/>
          </a:xfrm>
          <a:prstGeom prst="rect">
            <a:avLst/>
          </a:prstGeom>
          <a:noFill/>
        </p:spPr>
        <p:txBody>
          <a:bodyPr wrap="square" anchor="ctr" lIns="45720" rIns="45720">
            <a:spAutoFit/>
          </a:bodyPr>
          <a:lstStyle/>
          <a:p>
            <a:pPr algn="l"/>
            <a:r>
              <a:rPr sz="2800" b="1" i="0">
                <a:solidFill>
                  <a:srgbClr val="FFFFFF"/>
                </a:solidFill>
                <a:latin typeface="Times New Roman"/>
              </a:rPr>
              <a:t>Conclusion, Future Scope &amp; References</a:t>
            </a:r>
          </a:p>
        </p:txBody>
      </p:sp>
      <p:sp>
        <p:nvSpPr>
          <p:cNvPr id="3" name="Rounded Rectangle 2"/>
          <p:cNvSpPr/>
          <p:nvPr/>
        </p:nvSpPr>
        <p:spPr>
          <a:xfrm>
            <a:off x="1783080" y="1097280"/>
            <a:ext cx="4846320" cy="3017520"/>
          </a:xfrm>
          <a:prstGeom prst="roundRect">
            <a:avLst>
              <a:gd name="adj" fmla="val 8000"/>
            </a:avLst>
          </a:prstGeom>
          <a:solidFill>
            <a:srgbClr val="DCFCE7"/>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800" b="1">
                <a:solidFill>
                  <a:srgbClr val="111827"/>
                </a:solidFill>
                <a:latin typeface="Times New Roman"/>
              </a:rPr>
              <a:t>Conclusion</a:t>
            </a:r>
          </a:p>
          <a:p>
            <a:pPr>
              <a:spcBef>
                <a:spcPts val="200"/>
              </a:spcBef>
            </a:pPr>
            <a:r>
              <a:rPr sz="1500" b="0">
                <a:solidFill>
                  <a:srgbClr val="111827"/>
                </a:solidFill>
                <a:latin typeface="Times New Roman"/>
              </a:rPr>
              <a:t>Live OEE + Red / Orange / Yellow alerts in ≈ 0.5 s</a:t>
            </a:r>
          </a:p>
          <a:p>
            <a:pPr>
              <a:spcBef>
                <a:spcPts val="200"/>
              </a:spcBef>
            </a:pPr>
            <a:r>
              <a:rPr sz="1500" b="0">
                <a:solidFill>
                  <a:srgbClr val="111827"/>
                </a:solidFill>
                <a:latin typeface="Times New Roman"/>
              </a:rPr>
              <a:t>All numeric targets met; ML validated on injected faults</a:t>
            </a:r>
          </a:p>
          <a:p>
            <a:pPr>
              <a:spcBef>
                <a:spcPts val="200"/>
              </a:spcBef>
            </a:pPr>
            <a:r>
              <a:rPr sz="1500" b="0">
                <a:solidFill>
                  <a:srgbClr val="111827"/>
                </a:solidFill>
                <a:latin typeface="Times New Roman"/>
              </a:rPr>
              <a:t>Complete, reproducible, one-command platform</a:t>
            </a:r>
          </a:p>
        </p:txBody>
      </p:sp>
      <p:sp>
        <p:nvSpPr>
          <p:cNvPr id="4" name="Rounded Rectangle 3"/>
          <p:cNvSpPr/>
          <p:nvPr/>
        </p:nvSpPr>
        <p:spPr>
          <a:xfrm>
            <a:off x="6812280" y="1097280"/>
            <a:ext cx="4983480" cy="3017520"/>
          </a:xfrm>
          <a:prstGeom prst="roundRect">
            <a:avLst>
              <a:gd name="adj" fmla="val 8000"/>
            </a:avLst>
          </a:prstGeom>
          <a:solidFill>
            <a:srgbClr val="DBEAFE"/>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ctr"/>
            <a:r>
              <a:rPr sz="1800" b="1">
                <a:solidFill>
                  <a:srgbClr val="111827"/>
                </a:solidFill>
                <a:latin typeface="Times New Roman"/>
              </a:rPr>
              <a:t>Future scope</a:t>
            </a:r>
          </a:p>
          <a:p>
            <a:pPr>
              <a:spcBef>
                <a:spcPts val="200"/>
              </a:spcBef>
            </a:pPr>
            <a:r>
              <a:rPr sz="1500" b="0">
                <a:solidFill>
                  <a:srgbClr val="111827"/>
                </a:solidFill>
                <a:latin typeface="Times New Roman"/>
              </a:rPr>
              <a:t>• Real machines via OPC UA / Modbus → MQTT</a:t>
            </a:r>
          </a:p>
          <a:p>
            <a:pPr>
              <a:spcBef>
                <a:spcPts val="200"/>
              </a:spcBef>
            </a:pPr>
            <a:r>
              <a:rPr sz="1500" b="0">
                <a:solidFill>
                  <a:srgbClr val="111827"/>
                </a:solidFill>
                <a:latin typeface="Times New Roman"/>
              </a:rPr>
              <a:t>• Retrain from operator feedback</a:t>
            </a:r>
          </a:p>
          <a:p>
            <a:pPr>
              <a:spcBef>
                <a:spcPts val="200"/>
              </a:spcBef>
            </a:pPr>
            <a:r>
              <a:rPr sz="1500" b="0">
                <a:solidFill>
                  <a:srgbClr val="111827"/>
                </a:solidFill>
                <a:latin typeface="Times New Roman"/>
              </a:rPr>
              <a:t>• Roles, notifications, audit export</a:t>
            </a:r>
          </a:p>
          <a:p>
            <a:pPr>
              <a:spcBef>
                <a:spcPts val="200"/>
              </a:spcBef>
            </a:pPr>
            <a:r>
              <a:rPr sz="1500" b="0">
                <a:solidFill>
                  <a:srgbClr val="111827"/>
                </a:solidFill>
                <a:latin typeface="Times New Roman"/>
              </a:rPr>
              <a:t>• Remaining-useful-life with non-linear models</a:t>
            </a:r>
          </a:p>
          <a:p>
            <a:pPr>
              <a:spcBef>
                <a:spcPts val="200"/>
              </a:spcBef>
            </a:pPr>
            <a:r>
              <a:rPr sz="1500" b="0">
                <a:solidFill>
                  <a:srgbClr val="111827"/>
                </a:solidFill>
                <a:latin typeface="Times New Roman"/>
              </a:rPr>
              <a:t>• Multi-site deployment, Grafana</a:t>
            </a:r>
          </a:p>
        </p:txBody>
      </p:sp>
      <p:sp>
        <p:nvSpPr>
          <p:cNvPr id="5" name="TextBox 4"/>
          <p:cNvSpPr txBox="1"/>
          <p:nvPr/>
        </p:nvSpPr>
        <p:spPr>
          <a:xfrm>
            <a:off x="1783080" y="4297680"/>
            <a:ext cx="9966960" cy="1920240"/>
          </a:xfrm>
          <a:prstGeom prst="rect">
            <a:avLst/>
          </a:prstGeom>
          <a:noFill/>
        </p:spPr>
        <p:txBody>
          <a:bodyPr wrap="square" anchor="t" lIns="45720" rIns="45720">
            <a:spAutoFit/>
          </a:bodyPr>
          <a:lstStyle/>
          <a:p>
            <a:pPr algn="l"/>
            <a:r>
              <a:rPr sz="1300" b="1" i="0">
                <a:solidFill>
                  <a:srgbClr val="475569"/>
                </a:solidFill>
                <a:latin typeface="Times New Roman"/>
              </a:rPr>
              <a:t>References</a:t>
            </a:r>
          </a:p>
          <a:p>
            <a:pPr algn="l"/>
            <a:r>
              <a:rPr sz="1300" b="0" i="0">
                <a:solidFill>
                  <a:srgbClr val="475569"/>
                </a:solidFill>
                <a:latin typeface="Times New Roman"/>
              </a:rPr>
              <a:t>[1] Nakajima, Introduction to TPM (1988)   [2] ISO 22400-2:2014   [3] Muchiri &amp; Pintelon, IJPR 46(13), 2008</a:t>
            </a:r>
          </a:p>
          <a:p>
            <a:pPr algn="l"/>
            <a:r>
              <a:rPr sz="1300" b="0" i="0">
                <a:solidFill>
                  <a:srgbClr val="475569"/>
                </a:solidFill>
                <a:latin typeface="Times New Roman"/>
              </a:rPr>
              <a:t>[4] Liu, Ting, Zhou, “Isolation Forest”, IEEE ICDM 2008   [5] Chandola et al., “Anomaly detection: a survey”, ACM CSUR 2009</a:t>
            </a:r>
          </a:p>
          <a:p>
            <a:pPr algn="l"/>
            <a:r>
              <a:rPr sz="1300" b="0" i="0">
                <a:solidFill>
                  <a:srgbClr val="475569"/>
                </a:solidFill>
                <a:latin typeface="Times New Roman"/>
              </a:rPr>
              <a:t>[6] Pedregosa et al., scikit-learn, JMLR 2011   [7] OASIS MQTT 3.1.1   [8] Lee et al., Manufacturing Letters 3, 2015</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6812894AF27C4B9BEA242A5F6FBAEB" ma:contentTypeVersion="9" ma:contentTypeDescription="Create a new document." ma:contentTypeScope="" ma:versionID="fe7e8ca8f5bc98bc55ce144b2ab84caa">
  <xsd:schema xmlns:xsd="http://www.w3.org/2001/XMLSchema" xmlns:xs="http://www.w3.org/2001/XMLSchema" xmlns:p="http://schemas.microsoft.com/office/2006/metadata/properties" xmlns:ns2="7bca1dba-6ac6-41dc-89fe-ef4b674b2d91" xmlns:ns3="0e4db8ff-121a-41d3-920b-5da9b93e742e" targetNamespace="http://schemas.microsoft.com/office/2006/metadata/properties" ma:root="true" ma:fieldsID="b61c7a6b43afd4f1849f52e764489931" ns2:_="" ns3:_="">
    <xsd:import namespace="7bca1dba-6ac6-41dc-89fe-ef4b674b2d91"/>
    <xsd:import namespace="0e4db8ff-121a-41d3-920b-5da9b93e74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ca1dba-6ac6-41dc-89fe-ef4b674b2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4db8ff-121a-41d3-920b-5da9b93e742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0f7a2de-0acc-4c5a-996d-a92c6eb64016}" ma:internalName="TaxCatchAll" ma:showField="CatchAllData" ma:web="0e4db8ff-121a-41d3-920b-5da9b93e74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e4db8ff-121a-41d3-920b-5da9b93e742e" xsi:nil="true"/>
    <lcf76f155ced4ddcb4097134ff3c332f xmlns="7bca1dba-6ac6-41dc-89fe-ef4b674b2d9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5D7223F-B7D1-484C-BF79-EE510B738CEA}"/>
</file>

<file path=customXml/itemProps2.xml><?xml version="1.0" encoding="utf-8"?>
<ds:datastoreItem xmlns:ds="http://schemas.openxmlformats.org/officeDocument/2006/customXml" ds:itemID="{8B5E7A0C-C3D8-4E3D-B722-6AC077FBB61B}"/>
</file>

<file path=customXml/itemProps3.xml><?xml version="1.0" encoding="utf-8"?>
<ds:datastoreItem xmlns:ds="http://schemas.openxmlformats.org/officeDocument/2006/customXml" ds:itemID="{A7A88748-F08C-44FE-836C-B5AED848663B}"/>
</file>

<file path=docProps/app.xml><?xml version="1.0" encoding="utf-8"?>
<Properties xmlns="http://schemas.openxmlformats.org/officeDocument/2006/extended-properties" xmlns:vt="http://schemas.openxmlformats.org/officeDocument/2006/docPropsVTypes">
  <Template>Office Theme</Template>
  <TotalTime>0</TotalTime>
  <Words>73</Words>
  <Application>Microsoft Office PowerPoint</Application>
  <PresentationFormat>Widescreen</PresentationFormat>
  <Paragraphs>23</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Aller</vt:lpstr>
      <vt:lpstr>Arial</vt:lpstr>
      <vt:lpstr>Book Antiqua</vt:lpstr>
      <vt:lpstr>Calibri</vt:lpstr>
      <vt:lpstr>Calibri Light</vt:lpstr>
      <vt:lpstr>Times New Roman</vt:lpstr>
      <vt:lpstr>Theme1</vt:lpstr>
      <vt:lpstr>A  Presentation on “TITLE OF PROJECT”  By Name of Students    Under the Guidance of Name of Guide </vt:lpstr>
      <vt:lpstr>PowerPoint Presentation</vt:lpstr>
      <vt:lpstr>Thank You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Discipline in the School</dc:title>
  <dc:creator>Amit Page</dc:creator>
  <cp:lastModifiedBy>Naziya Hussain</cp:lastModifiedBy>
  <cp:revision>3</cp:revision>
  <dcterms:created xsi:type="dcterms:W3CDTF">2018-06-30T10:51:01Z</dcterms:created>
  <dcterms:modified xsi:type="dcterms:W3CDTF">2026-10-08T08:05:44Z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0x010100896812894AF27C4B9BEA242A5F6FBAEB</vt:lpwstr>
  </property>
</Properties>
</file>