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58" r:id="rId2"/>
    <p:sldId id="392" r:id="rId3"/>
    <p:sldId id="393" r:id="rId14"/>
    <p:sldId id="394" r:id="rId15"/>
    <p:sldId id="395" r:id="rId16"/>
    <p:sldId id="396" r:id="rId17"/>
    <p:sldId id="407" r:id="rId28"/>
    <p:sldId id="397" r:id="rId18"/>
    <p:sldId id="398" r:id="rId19"/>
    <p:sldId id="408" r:id="rId29"/>
    <p:sldId id="410" r:id="rId31"/>
    <p:sldId id="405" r:id="rId26"/>
    <p:sldId id="399" r:id="rId20"/>
    <p:sldId id="400" r:id="rId21"/>
    <p:sldId id="409" r:id="rId30"/>
    <p:sldId id="402" r:id="rId23"/>
    <p:sldId id="403" r:id="rId24"/>
    <p:sldId id="404" r:id="rId25"/>
    <p:sldId id="401" r:id="rId22"/>
    <p:sldId id="406" r:id="rId27"/>
    <p:sldId id="411" r:id="rId32"/>
    <p:sldId id="412" r:id="rId33"/>
    <p:sldId id="413" r:id="rId34"/>
    <p:sldId id="414" r:id="rId35"/>
    <p:sldId id="415" r:id="rId36"/>
    <p:sldId id="416" r:id="rId37"/>
    <p:sldId id="417" r:id="rId38"/>
    <p:sldId id="418" r:id="rId39"/>
    <p:sldId id="300"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D60000"/>
    <a:srgbClr val="660066"/>
    <a:srgbClr val="0000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C94E37-74BD-725C-630D-F4B1C7B84340}" v="31" dt="2026-01-29T09:13:41.566"/>
    <p1510:client id="{7EB43320-B940-95BE-46D5-A88D6CD6EA47}" v="4" dt="2026-01-28T12:50:25.91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6" d="100"/>
          <a:sy n="56" d="100"/>
        </p:scale>
        <p:origin x="976" y="4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5/10/relationships/revisionInfo" Target="revisionInfo.xml"/><Relationship Id="rId11" Type="http://schemas.openxmlformats.org/officeDocument/2006/relationships/customXml" Target="../customXml/item1.xml"/><Relationship Id="rId12" Type="http://schemas.openxmlformats.org/officeDocument/2006/relationships/customXml" Target="../customXml/item2.xml"/><Relationship Id="rId13" Type="http://schemas.openxmlformats.org/officeDocument/2006/relationships/customXml" Target="../customXml/item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Temperature readings</c:v>
                </c:pt>
              </c:strCache>
            </c:strRef>
          </c:tx>
          <c:spPr>
            <a:ln>
              <a:noFill/>
            </a:ln>
          </c:spPr>
          <c:marker>
            <c:symbol val="circle"/>
            <c:size val="7"/>
            <c:spPr>
              <a:solidFill>
                <a:srgbClr val="2563EB"/>
              </a:solidFill>
              <a:ln>
                <a:noFill/>
              </a:ln>
            </c:spPr>
          </c:marker>
          <c:xVal>
            <c:numRef>
              <c:f>Sheet1!$A$2:$A$20</c:f>
              <c:numCache>
                <c:formatCode>General</c:formatCode>
                <c:ptCount val="19"/>
                <c:pt idx="0">
                  <c:v>-180</c:v>
                </c:pt>
                <c:pt idx="1">
                  <c:v>-170</c:v>
                </c:pt>
                <c:pt idx="2">
                  <c:v>-160</c:v>
                </c:pt>
                <c:pt idx="3">
                  <c:v>-150</c:v>
                </c:pt>
                <c:pt idx="4">
                  <c:v>-140</c:v>
                </c:pt>
                <c:pt idx="5">
                  <c:v>-130</c:v>
                </c:pt>
                <c:pt idx="6">
                  <c:v>-120</c:v>
                </c:pt>
                <c:pt idx="7">
                  <c:v>-110</c:v>
                </c:pt>
                <c:pt idx="8">
                  <c:v>-100</c:v>
                </c:pt>
                <c:pt idx="9">
                  <c:v>-90</c:v>
                </c:pt>
                <c:pt idx="10">
                  <c:v>-80</c:v>
                </c:pt>
                <c:pt idx="11">
                  <c:v>-70</c:v>
                </c:pt>
                <c:pt idx="12">
                  <c:v>-60</c:v>
                </c:pt>
                <c:pt idx="13">
                  <c:v>-50</c:v>
                </c:pt>
                <c:pt idx="14">
                  <c:v>-40</c:v>
                </c:pt>
                <c:pt idx="15">
                  <c:v>-30</c:v>
                </c:pt>
                <c:pt idx="16">
                  <c:v>-20</c:v>
                </c:pt>
                <c:pt idx="17">
                  <c:v>-10</c:v>
                </c:pt>
                <c:pt idx="18">
                  <c:v>0</c:v>
                </c:pt>
              </c:numCache>
            </c:numRef>
          </c:xVal>
          <c:yVal>
            <c:numRef>
              <c:f>Sheet1!$B$2:$B$20</c:f>
              <c:numCache>
                <c:formatCode>General</c:formatCode>
                <c:ptCount val="19"/>
                <c:pt idx="0">
                  <c:v>62.69</c:v>
                </c:pt>
                <c:pt idx="1">
                  <c:v>63.04</c:v>
                </c:pt>
                <c:pt idx="2">
                  <c:v>63.3</c:v>
                </c:pt>
                <c:pt idx="3">
                  <c:v>65.09</c:v>
                </c:pt>
                <c:pt idx="4">
                  <c:v>66.68</c:v>
                </c:pt>
                <c:pt idx="5">
                  <c:v>66.78</c:v>
                </c:pt>
                <c:pt idx="6">
                  <c:v>67.36</c:v>
                </c:pt>
                <c:pt idx="7">
                  <c:v>69.35</c:v>
                </c:pt>
                <c:pt idx="8">
                  <c:v>70.57</c:v>
                </c:pt>
                <c:pt idx="9">
                  <c:v>70.54</c:v>
                </c:pt>
                <c:pt idx="10">
                  <c:v>71.51</c:v>
                </c:pt>
                <c:pt idx="11">
                  <c:v>73.55</c:v>
                </c:pt>
                <c:pt idx="12">
                  <c:v>74.38</c:v>
                </c:pt>
                <c:pt idx="13">
                  <c:v>74.38</c:v>
                </c:pt>
                <c:pt idx="14">
                  <c:v>75.74</c:v>
                </c:pt>
                <c:pt idx="15">
                  <c:v>77.67</c:v>
                </c:pt>
                <c:pt idx="16">
                  <c:v>78.13</c:v>
                </c:pt>
                <c:pt idx="17">
                  <c:v>78.3</c:v>
                </c:pt>
                <c:pt idx="18">
                  <c:v>80.0</c:v>
                </c:pt>
              </c:numCache>
            </c:numRef>
          </c:yVal>
          <c:smooth val="0"/>
        </c:ser>
        <c:ser>
          <c:idx val="1"/>
          <c:order val="1"/>
          <c:tx>
            <c:strRef>
              <c:f>Sheet1!$B$22</c:f>
              <c:strCache>
                <c:ptCount val="1"/>
                <c:pt idx="0">
                  <c:v>Fitted line  y = m·x + c</c:v>
                </c:pt>
              </c:strCache>
            </c:strRef>
          </c:tx>
          <c:spPr>
            <a:ln w="31750">
              <a:solidFill>
                <a:srgbClr val="EA580C"/>
              </a:solidFill>
            </a:ln>
          </c:spPr>
          <c:marker>
            <c:symbol val="none"/>
          </c:marker>
          <c:xVal>
            <c:numRef>
              <c:f>Sheet1!$A$23:$A$24</c:f>
              <c:numCache>
                <c:formatCode>General</c:formatCode>
                <c:ptCount val="2"/>
                <c:pt idx="0">
                  <c:v>-180</c:v>
                </c:pt>
                <c:pt idx="1">
                  <c:v>60</c:v>
                </c:pt>
              </c:numCache>
            </c:numRef>
          </c:xVal>
          <c:yVal>
            <c:numRef>
              <c:f>Sheet1!$B$23:$B$24</c:f>
              <c:numCache>
                <c:formatCode>General</c:formatCode>
                <c:ptCount val="2"/>
                <c:pt idx="0">
                  <c:v>62.0</c:v>
                </c:pt>
                <c:pt idx="1">
                  <c:v>86.0</c:v>
                </c:pt>
              </c:numCache>
            </c:numRef>
          </c:yVal>
          <c:smooth val="0"/>
        </c:ser>
        <c:ser>
          <c:idx val="2"/>
          <c:order val="2"/>
          <c:tx>
            <c:strRef>
              <c:f>Sheet1!$B$26</c:f>
              <c:strCache>
                <c:ptCount val="1"/>
                <c:pt idx="0">
                  <c:v>Hard limit 85 °C</c:v>
                </c:pt>
              </c:strCache>
            </c:strRef>
          </c:tx>
          <c:spPr>
            <a:ln w="31750">
              <a:solidFill>
                <a:srgbClr val="DC2626"/>
              </a:solidFill>
            </a:ln>
          </c:spPr>
          <c:marker>
            <c:symbol val="none"/>
          </c:marker>
          <c:xVal>
            <c:numRef>
              <c:f>Sheet1!$A$27:$A$28</c:f>
              <c:numCache>
                <c:formatCode>General</c:formatCode>
                <c:ptCount val="2"/>
                <c:pt idx="0">
                  <c:v>-180</c:v>
                </c:pt>
                <c:pt idx="1">
                  <c:v>60</c:v>
                </c:pt>
              </c:numCache>
            </c:numRef>
          </c:xVal>
          <c:yVal>
            <c:numRef>
              <c:f>Sheet1!$B$27:$B$28</c:f>
              <c:numCache>
                <c:formatCode>General</c:formatCode>
                <c:ptCount val="2"/>
                <c:pt idx="0">
                  <c:v>85</c:v>
                </c:pt>
                <c:pt idx="1">
                  <c:v>85</c:v>
                </c:pt>
              </c:numCache>
            </c:numRef>
          </c:yVal>
          <c:smooth val="0"/>
        </c:ser>
        <c:ser>
          <c:idx val="3"/>
          <c:order val="3"/>
          <c:tx>
            <c:strRef>
              <c:f>Sheet1!$B$30</c:f>
              <c:strCache>
                <c:ptCount val="1"/>
                <c:pt idx="0">
                  <c:v>Now</c:v>
                </c:pt>
              </c:strCache>
            </c:strRef>
          </c:tx>
          <c:spPr>
            <a:ln w="19050">
              <a:solidFill>
                <a:srgbClr val="64748B"/>
              </a:solidFill>
              <a:prstDash val="dash"/>
            </a:ln>
          </c:spPr>
          <c:marker>
            <c:symbol val="none"/>
          </c:marker>
          <c:xVal>
            <c:numRef>
              <c:f>Sheet1!$A$31:$A$32</c:f>
              <c:numCache>
                <c:formatCode>General</c:formatCode>
                <c:ptCount val="2"/>
                <c:pt idx="0">
                  <c:v>0</c:v>
                </c:pt>
                <c:pt idx="1">
                  <c:v>0</c:v>
                </c:pt>
              </c:numCache>
            </c:numRef>
          </c:xVal>
          <c:yVal>
            <c:numRef>
              <c:f>Sheet1!$B$31:$B$32</c:f>
              <c:numCache>
                <c:formatCode>General</c:formatCode>
                <c:ptCount val="2"/>
                <c:pt idx="0">
                  <c:v>55</c:v>
                </c:pt>
                <c:pt idx="1">
                  <c:v>95</c:v>
                </c:pt>
              </c:numCache>
            </c:numRef>
          </c:yVal>
          <c:smooth val="0"/>
        </c:ser>
        <c:ser>
          <c:idx val="4"/>
          <c:order val="4"/>
          <c:tx>
            <c:strRef>
              <c:f>Sheet1!$B$34</c:f>
              <c:strCache>
                <c:ptCount val="1"/>
                <c:pt idx="0">
                  <c:v>Predicted crossing (ETA ≈ 50 s)</c:v>
                </c:pt>
              </c:strCache>
            </c:strRef>
          </c:tx>
          <c:spPr>
            <a:ln>
              <a:noFill/>
            </a:ln>
          </c:spPr>
          <c:marker>
            <c:symbol val="diamond"/>
            <c:size val="12"/>
            <c:spPr>
              <a:solidFill>
                <a:srgbClr val="DC2626"/>
              </a:solidFill>
            </c:spPr>
          </c:marker>
          <c:xVal>
            <c:numRef>
              <c:f>Sheet1!$A$35:$A$35</c:f>
              <c:numCache>
                <c:formatCode>General</c:formatCode>
                <c:ptCount val="1"/>
                <c:pt idx="0">
                  <c:v>50</c:v>
                </c:pt>
              </c:numCache>
            </c:numRef>
          </c:xVal>
          <c:yVal>
            <c:numRef>
              <c:f>Sheet1!$B$35:$B$35</c:f>
              <c:numCache>
                <c:formatCode>General</c:formatCode>
                <c:ptCount val="1"/>
                <c:pt idx="0">
                  <c:v>85</c:v>
                </c:pt>
              </c:numCache>
            </c:numRef>
          </c:yVal>
          <c:smooth val="0"/>
        </c:ser>
        <c:axId val="-2128940872"/>
        <c:axId val="-2129643912"/>
      </c:scatterChart>
      <c:valAx>
        <c:axId val="-2128940872"/>
        <c:scaling>
          <c:orientation val="minMax"/>
          <c:max val="60.0"/>
          <c:min val="-180.0"/>
        </c:scaling>
        <c:delete val="0"/>
        <c:axPos val="b"/>
        <c:title>
          <c:tx>
            <c:rich>
              <a:bodyPr/>
              <a:lstStyle/>
              <a:p>
                <a:r>
                  <a:rPr sz="1200" b="0"/>
                  <a:t>Time relative to now (s)</a:t>
                </a:r>
              </a:p>
            </c:rich>
          </c:tx>
          <c:layout/>
          <c:overlay val="0"/>
        </c:title>
        <c:numFmt formatCode="General" sourceLinked="1"/>
        <c:majorTickMark val="out"/>
        <c:minorTickMark val="none"/>
        <c:tickLblPos val="nextTo"/>
        <c:txPr>
          <a:bodyPr/>
          <a:lstStyle/>
          <a:p>
            <a:pPr>
              <a:defRPr sz="1200"/>
            </a:pPr>
          </a:p>
        </c:txPr>
        <c:crossAx val="-2129643912"/>
        <c:crosses val="min"/>
        <c:crossBetween val="midCat"/>
        <c:majorUnit val="30.0"/>
      </c:valAx>
      <c:valAx>
        <c:axId val="-2129643912"/>
        <c:scaling>
          <c:orientation val="minMax"/>
          <c:max val="95.0"/>
          <c:min val="55.0"/>
        </c:scaling>
        <c:delete val="0"/>
        <c:axPos val="l"/>
        <c:majorGridlines>
          <c:spPr>
            <a:ln>
              <a:solidFill>
                <a:srgbClr val="E2E8F0"/>
              </a:solidFill>
            </a:ln>
          </c:spPr>
        </c:majorGridlines>
        <c:title>
          <c:tx>
            <c:rich>
              <a:bodyPr/>
              <a:lstStyle/>
              <a:p>
                <a:r>
                  <a:rPr sz="1200" b="0"/>
                  <a:t>Temperature (°C)</a:t>
                </a:r>
              </a:p>
            </c:rich>
          </c:tx>
          <c:layout/>
          <c:overlay val="0"/>
        </c:title>
        <c:numFmt formatCode="General" sourceLinked="1"/>
        <c:majorTickMark val="out"/>
        <c:minorTickMark val="none"/>
        <c:tickLblPos val="nextTo"/>
        <c:txPr>
          <a:bodyPr/>
          <a:lstStyle/>
          <a:p>
            <a:pPr>
              <a:defRPr sz="1200"/>
            </a:pPr>
          </a:p>
        </c:txPr>
        <c:crossAx val="-2128940872"/>
        <c:crosses val="min"/>
        <c:crossBetween val="midCat"/>
        <c:majorUnit val="5.0"/>
      </c:valAx>
    </c:plotArea>
    <c:legend>
      <c:legendPos val="b"/>
      <c:layout/>
      <c:overlay val="0"/>
      <c:txPr>
        <a:bodyPr/>
        <a:lstStyle/>
        <a:p>
          <a:pPr>
            <a:defRPr sz="1100"/>
          </a:pPr>
        </a:p>
      </c:txPr>
    </c:legend>
    <c:plotVisOnly val="1"/>
    <c:dispBlanksAs val="gap"/>
    <c:showDLblsOverMax val="0"/>
  </c:chart>
  <c:txPr>
    <a:bodyPr/>
    <a:lstStyle/>
    <a:p>
      <a:pPr>
        <a:defRPr sz="1200">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t>Measured as a share of the SRS limit (lower is better)</a:t>
            </a:r>
          </a:p>
        </c:rich>
      </c:tx>
      <c:layout/>
      <c:overlay val="0"/>
    </c:title>
    <c:autoTitleDeleted val="0"/>
    <c:plotArea>
      <c:barChart>
        <c:barDir val="bar"/>
        <c:grouping val="clustered"/>
        <c:ser>
          <c:idx val="0"/>
          <c:order val="0"/>
          <c:tx>
            <c:strRef>
              <c:f>Sheet1!$B$1</c:f>
              <c:strCache>
                <c:ptCount val="1"/>
                <c:pt idx="0">
                  <c:v>Share of the SRS limit used</c:v>
                </c:pt>
              </c:strCache>
            </c:strRef>
          </c:tx>
          <c:spPr>
            <a:solidFill>
              <a:srgbClr val="16A34A"/>
            </a:solidFill>
          </c:spPr>
          <c:cat>
            <c:strRef>
              <c:f>Sheet1!$A$2:$A$4</c:f>
              <c:strCache>
                <c:ptCount val="3"/>
                <c:pt idx="0">
                  <c:v>Dashboard update, p95
0.51 s of 1 s</c:v>
                </c:pt>
                <c:pt idx="1">
                  <c:v>ML inference, worst case
19 ms of 200 ms</c:v>
                </c:pt>
                <c:pt idx="2">
                  <c:v>MQTT recovery
1.9 s of 5 s</c:v>
                </c:pt>
              </c:strCache>
            </c:strRef>
          </c:cat>
          <c:val>
            <c:numRef>
              <c:f>Sheet1!$B$2:$B$4</c:f>
              <c:numCache>
                <c:formatCode>General</c:formatCode>
                <c:ptCount val="3"/>
                <c:pt idx="0">
                  <c:v>51</c:v>
                </c:pt>
                <c:pt idx="1">
                  <c:v>9.5</c:v>
                </c:pt>
                <c:pt idx="2">
                  <c:v>38</c:v>
                </c:pt>
              </c:numCache>
            </c:numRef>
          </c:val>
        </c:ser>
        <c:dLbls>
          <c:numFmt formatCode="0.0&quot;%&quot;" sourceLinked="0"/>
          <c:txPr>
            <a:bodyPr/>
            <a:lstStyle/>
            <a:p>
              <a:pPr>
                <a:defRPr sz="13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0.0"/>
          <c:min val="0.0"/>
        </c:scaling>
        <c:delete val="0"/>
        <c:axPos val="b"/>
        <c:majorGridlines>
          <c:spPr>
            <a:ln>
              <a:solidFill>
                <a:srgbClr val="E2E8F0"/>
              </a:solidFill>
            </a:ln>
          </c:spPr>
        </c:majorGridlines>
        <c:numFmt formatCode="0&quot;%&quot;" sourceLinked="0"/>
        <c:majorTickMark val="out"/>
        <c:minorTickMark val="none"/>
        <c:tickLblPos val="nextTo"/>
        <c:txPr>
          <a:bodyPr/>
          <a:lstStyle/>
          <a:p>
            <a:pPr>
              <a:defRPr sz="1200"/>
            </a:pPr>
          </a:p>
        </c:txPr>
        <c:crossAx val="-2068027336"/>
        <c:crosses val="autoZero"/>
        <c:majorUnit val="25.0"/>
      </c:valAx>
    </c:plotArea>
    <c:dispBlanksAs val="gap"/>
  </c:chart>
  <c:txPr>
    <a:bodyPr/>
    <a:lstStyle/>
    <a:p>
      <a:pPr>
        <a:defRPr sz="1200">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AD5C3C-9762-47FC-8162-DB9387D82497}" type="datetimeFigureOut">
              <a:rPr lang="en-IN" smtClean="0"/>
              <a:t>08-10-2026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B58062-A31C-4F74-AAC8-1017D63BF7F0}" type="slidenum">
              <a:rPr lang="en-IN" smtClean="0"/>
              <a:t>‹#›</a:t>
            </a:fld>
            <a:endParaRPr lang="en-IN"/>
          </a:p>
        </p:txBody>
      </p:sp>
    </p:spTree>
    <p:extLst>
      <p:ext uri="{BB962C8B-B14F-4D97-AF65-F5344CB8AC3E}">
        <p14:creationId xmlns:p14="http://schemas.microsoft.com/office/powerpoint/2010/main" val="28344004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5" name="Google Shape;95;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r>
              <a:t>Roadmap in the order of the SRS: requirements first, then design (architecture, UML, data flow), then how it was built, then how it was verified. About 15 minutes plus a 3-minute live demo.</a:t>
            </a:r>
          </a:p>
        </p:txBody>
      </p:sp>
      <p:sp>
        <p:nvSpPr>
          <p:cNvPr id="96" name="Google Shape;96;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IN"/>
              <a:t>2</a:t>
            </a:fld>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project in one sentence: a software-only smart-factory monitor that shows OEE live and warns operators three different ways - rules, a machine-learning model and a trend projection - before a machine fails. It is built exactly from my SRS.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faculty remembers one slide, it should be this one. A car dashboard shows speed and warns you before the engine overheats. Our software does that for a factory: virtual machines send readings, a smart backend computes productivity (OEE) and watches for trouble in three different ways, and the operator sees a four-colour status and can act on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OEE - Overall Equipment Effectiveness - is the standard productivity number in manufacturing (ISO 22400). It multiplies three simple questions: was the machine running, was it fast, and were the parts good? The worked example at the bottom is easy to follow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what plants live with today - OEE computed after the shift, alarms only when a limit is already crossed, slow drifts unnoticed. Right: the four things a manager or engineer actually needs. The green banner is the numeric targets from the SRS that we later prove with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objectives; each maps to requirements in the SRS (FR-01 to FR-12) shown in small print, and each is verified by a test - see the traceability slide later.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today OEE is retrospective and alarms are fixed thresholds. Our system is live, layered and explainable, and runs with no hardware at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simulator publishes JSON over MQTT (WebSockets) to Mosquitto; the FastAPI backend validates, computes OEE and runs the three detectors, stores data and pushes a snapshot every 500 ms to the React dashboard. Two switches in .env choose the ingest path (direct or mqtt) and the storage (memory or db).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incremental, requirements-driven approach: SRS first, then design, then build in ten milestones, verify, and deploy and document. Each milestone ended with working code and passing tests - that is the Definition of Done from SRS section 13.2.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eight modules from the SRS, each with the file where it lives, so every module can be shown in the code if asked.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layer and the tool chosen for it, all taken from the SRS technology stack. Everything is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system. Each reading goes through three questions in strict priority. Red is certain and immediate. Orange uses a regression line to predict a crossing within 60 seconds. Yellow comes from the Isolation Forest when the score stays above 85 percent. Higher levels suppress lower ones, and every alert is handed to the alert manager.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lane: done once, offline. A synthetic dataset of normal behaviour trains an Isolation Forest; the raw model output is calibrated to a 0 to 100 percent score and saved as model.pkl. Bottom lane: every 500 ms the live reading is converted to the same features and scored; two readings above 85 percent raise a Yellow caution. Validated on injected faults: six of six detected, no false alarms. If the ML service fails, the last score is held and the red rules keep working.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manager injects a controlled temperature rise over three minutes. The backend fits a straight line y = m x + c through the last three minutes of readings and predicts when the hard limit will be crossed. If that is within 60 seconds and the fit is good, the machine turns Orange with a countdown. The chart is an illustration with a slope of 0.1 degrees per second.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tables. Machines own alerts and maintenance records; each alert can have one ML feedback row and several maintenance records. Users and ML model metadata are standalone. Time-series telemetry lives separately in InfluxDB (30 days raw, 1 year aggregated).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command starts the stack: Mosquitto, simulator, backend and the nginx-served React frontend. The two databases are an optional compose profile. The databases were verified live in Docker containers. The right panel is the hardware and software requirement table from the SRS.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actors and eight use cases from the SRS. The maintenance engineer reacts to alerts and logs maintenance; the floor manager watches the dashboard and runs What-If scenarios; the production analyst reads reports; the system administrator deploys and scales the system. Write operations need a login.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context process decomposed into seven processes. P1 publishes telemetry to the MQTT broker; P2 consumes and validates it and stores it in InfluxDB; P3 computes OEE; P4 raises Red alerts from hard rules; P5 raises Yellow cautions from the ML score; P6 is the dashboard and visualisation manager; P7 handles maintenance and feedback in PostgreSQL.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twelve domain classes from the SRS with their attributes and operations. Read it from the Simulator at the top right: it creates Machines; each Machine has telemetry, alerts and OEE results. The rule engine and ML scorer create Alerts, and an Alert owns its maintenance records.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participants: User, Simulator, Backend API, ML Service, Database and Dashboard UI. Steps 1 to 6 are the login. Steps 7 to 14 repeat every 500 ms: the simulator publishes, the backend validates and calculates OEE, requests the anomaly score, saves telemetry and alerts and pushes the update to the dashboard. Steps 15 to 20 are the authenticated write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screenshots of the running application at 1440 pixels. Top left: plant overview with the OEE gauge and the three factors. Top right: the machine grid with red, orange and green tiles. Bottom left: machine detail with the What-If regression line and countdown. Bottom right: the alert centre after operator actions.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browser and follow the numbered steps; the whole demo takes about three minutes. Start the app first with scripts/dev.ps1 or docker compose up, then sign in as the Floor Manager. Step 8 is optional and only works when the databases are running.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come from real runs of the final code. Top: 45 automated tests, a 13-check end-to-end test with 50 simultaneous clients, zero accessibility violations and three browser engines clean. Bottom left: each performance target from the SRS compared with what we measured - every bar is far below its limit. Bottom right: further checks, including the live databases.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SRS asks that every requirement maps to a test. Each functional requirement is shown with the evidence that proves it. The last two rows group the non-functional targets and one item that is configured but still to be confirmed by a full Docker Compose run.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balanced. Advantages: layered detection, explainable alerts, runs without infrastructure. Limitations come straight from the SRS constraints: simulated data, one-off training, basic authentication, 2D web only. Applications: monitoring pilots, teaching, a test bench for anomaly models.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comes next: connect real equipment through OPC UA or Modbus, learn from the operator feedback already collected, add notifications, predict remaining useful life with non-linear models, and support several sites.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Conclusion: the system meets every numeric SRS target with measured evidence and is reproducible. Live OEE and three alert layers, validated machine learning, and a complete one-command platform.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as listed in the project report.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questions. Likely ones: Why Isolation Forest? (unsupervised, no fault labels needed, very fast inference). How is the 85 percent calibrated? (normal tail about 70 percent, median anomaly about 95 percent). What if the broker or ML fails? (automatic reconnect; last score held; red rules keep working). What was verified on real databases? (PostgreSQL and InfluxDB in Docker: data written, read back and still there after a restart).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7173952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5618195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5225688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2623265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8" name="Footer Placeholder 7"/>
          <p:cNvSpPr>
            <a:spLocks noGrp="1"/>
          </p:cNvSpPr>
          <p:nvPr>
            <p:ph type="ftr" sz="quarter" idx="11"/>
          </p:nvPr>
        </p:nvSpPr>
        <p:spPr/>
        <p:txBody>
          <a:bodyPr/>
          <a:lstStyle/>
          <a:p>
            <a:endParaRPr lang="en-US">
              <a:solidFill>
                <a:prstClr val="black">
                  <a:tint val="75000"/>
                </a:prstClr>
              </a:solidFill>
            </a:endParaRPr>
          </a:p>
        </p:txBody>
      </p:sp>
      <p:sp>
        <p:nvSpPr>
          <p:cNvPr id="9" name="Slide Number Placeholder 8"/>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8254290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4" name="Footer Placeholder 3"/>
          <p:cNvSpPr>
            <a:spLocks noGrp="1"/>
          </p:cNvSpPr>
          <p:nvPr>
            <p:ph type="ftr" sz="quarter" idx="11"/>
          </p:nvPr>
        </p:nvSpPr>
        <p:spPr/>
        <p:txBody>
          <a:bodyPr/>
          <a:lstStyle/>
          <a:p>
            <a:endParaRPr lang="en-US">
              <a:solidFill>
                <a:prstClr val="black">
                  <a:tint val="75000"/>
                </a:prstClr>
              </a:solidFill>
            </a:endParaRPr>
          </a:p>
        </p:txBody>
      </p:sp>
      <p:sp>
        <p:nvSpPr>
          <p:cNvPr id="5" name="Slide Number Placeholder 4"/>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9056422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3" name="Footer Placeholder 2"/>
          <p:cNvSpPr>
            <a:spLocks noGrp="1"/>
          </p:cNvSpPr>
          <p:nvPr>
            <p:ph type="ftr" sz="quarter" idx="11"/>
          </p:nvPr>
        </p:nvSpPr>
        <p:spPr/>
        <p:txBody>
          <a:bodyPr/>
          <a:lstStyle/>
          <a:p>
            <a:endParaRPr lang="en-US">
              <a:solidFill>
                <a:prstClr val="black">
                  <a:tint val="75000"/>
                </a:prstClr>
              </a:solidFill>
            </a:endParaRPr>
          </a:p>
        </p:txBody>
      </p:sp>
      <p:sp>
        <p:nvSpPr>
          <p:cNvPr id="4" name="Slide Number Placeholder 3"/>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8730978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6435609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7"/>
            <a:ext cx="6172200" cy="4873625"/>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4630351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6268706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41392645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11_Title Slide">
    <p:bg>
      <p:bgPr>
        <a:blipFill dpi="0" rotWithShape="1">
          <a:blip r:embed="rId2" cstate="print">
            <a:lum/>
          </a:blip>
          <a:srcRect/>
          <a:stretch>
            <a:fillRect/>
          </a:stretch>
        </a:blipFill>
        <a:effectLst/>
      </p:bgPr>
    </p:bg>
    <p:spTree>
      <p:nvGrpSpPr>
        <p:cNvPr id="1" name=""/>
        <p:cNvGrpSpPr/>
        <p:nvPr/>
      </p:nvGrpSpPr>
      <p:grpSpPr>
        <a:xfrm>
          <a:off x="0" y="0"/>
          <a:ext cx="0" cy="0"/>
          <a:chOff x="0" y="0"/>
          <a:chExt cx="0" cy="0"/>
        </a:xfrm>
      </p:grpSpPr>
      <p:sp>
        <p:nvSpPr>
          <p:cNvPr id="21" name="Title Placeholder 1"/>
          <p:cNvSpPr>
            <a:spLocks noGrp="1"/>
          </p:cNvSpPr>
          <p:nvPr>
            <p:ph type="title"/>
          </p:nvPr>
        </p:nvSpPr>
        <p:spPr>
          <a:xfrm>
            <a:off x="609600" y="1855079"/>
            <a:ext cx="10972800" cy="1143000"/>
          </a:xfrm>
          <a:prstGeom prst="rect">
            <a:avLst/>
          </a:prstGeom>
        </p:spPr>
        <p:txBody>
          <a:bodyPr vert="horz" lIns="91440" tIns="45720" rIns="91440" bIns="45720" rtlCol="0" anchor="ctr">
            <a:normAutofit/>
          </a:bodyPr>
          <a:lstStyle>
            <a:lvl1pPr>
              <a:defRPr b="1"/>
            </a:lvl1pPr>
          </a:lstStyle>
          <a:p>
            <a:r>
              <a:rPr lang="en-US"/>
              <a:t>PRESENTATON TITLE</a:t>
            </a:r>
          </a:p>
        </p:txBody>
      </p:sp>
      <p:sp>
        <p:nvSpPr>
          <p:cNvPr id="23" name="Date Placeholder 3"/>
          <p:cNvSpPr>
            <a:spLocks noGrp="1"/>
          </p:cNvSpPr>
          <p:nvPr>
            <p:ph type="dt" sz="half" idx="2"/>
          </p:nvPr>
        </p:nvSpPr>
        <p:spPr>
          <a:xfrm>
            <a:off x="11582400" y="6301259"/>
            <a:ext cx="508000" cy="365125"/>
          </a:xfrm>
          <a:prstGeom prst="rect">
            <a:avLst/>
          </a:prstGeom>
        </p:spPr>
        <p:txBody>
          <a:bodyPr vert="horz" lIns="91440" tIns="45720" rIns="91440" bIns="45720" rtlCol="0" anchor="ctr"/>
          <a:lstStyle>
            <a:lvl1pPr marL="0" marR="0" indent="0" algn="ctr" defTabSz="457200" rtl="0" eaLnBrk="1" fontAlgn="auto" latinLnBrk="0" hangingPunct="1">
              <a:lnSpc>
                <a:spcPct val="100000"/>
              </a:lnSpc>
              <a:spcBef>
                <a:spcPts val="0"/>
              </a:spcBef>
              <a:spcAft>
                <a:spcPts val="0"/>
              </a:spcAft>
              <a:buClrTx/>
              <a:buSzTx/>
              <a:buFontTx/>
              <a:buNone/>
              <a:tabLst/>
              <a:defRPr sz="1400" b="1">
                <a:solidFill>
                  <a:schemeClr val="tx1"/>
                </a:solidFill>
                <a:latin typeface="Aller"/>
                <a:cs typeface="Aller"/>
              </a:defRPr>
            </a:lvl1pPr>
          </a:lstStyle>
          <a:p>
            <a:r>
              <a:rPr lang="en-US"/>
              <a:t>‹#›</a:t>
            </a:r>
          </a:p>
        </p:txBody>
      </p:sp>
    </p:spTree>
    <p:extLst>
      <p:ext uri="{BB962C8B-B14F-4D97-AF65-F5344CB8AC3E}">
        <p14:creationId xmlns:p14="http://schemas.microsoft.com/office/powerpoint/2010/main" val="4244089601"/>
      </p:ext>
    </p:extLst>
  </p:cSld>
  <p:clrMapOvr>
    <a:masterClrMapping/>
  </p:clrMapOvr>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 name="Rectangle 14"/>
          <p:cNvSpPr/>
          <p:nvPr/>
        </p:nvSpPr>
        <p:spPr>
          <a:xfrm>
            <a:off x="1788" y="604228"/>
            <a:ext cx="12192000" cy="107895"/>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800">
              <a:solidFill>
                <a:prstClr val="white"/>
              </a:solidFill>
            </a:endParaRPr>
          </a:p>
        </p:txBody>
      </p:sp>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solidFill>
                <a:prstClr val="black">
                  <a:tint val="75000"/>
                </a:prstClr>
              </a:solidFill>
            </a:endParaRP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
        <p:nvSpPr>
          <p:cNvPr id="7" name="Rectangle 6"/>
          <p:cNvSpPr/>
          <p:nvPr/>
        </p:nvSpPr>
        <p:spPr>
          <a:xfrm>
            <a:off x="0" y="0"/>
            <a:ext cx="12192000" cy="623944"/>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800">
              <a:solidFill>
                <a:prstClr val="white"/>
              </a:solidFill>
            </a:endParaRPr>
          </a:p>
        </p:txBody>
      </p:sp>
      <p:sp>
        <p:nvSpPr>
          <p:cNvPr id="9" name="Round Same Side Corner Rectangle 8"/>
          <p:cNvSpPr/>
          <p:nvPr/>
        </p:nvSpPr>
        <p:spPr>
          <a:xfrm rot="10800000">
            <a:off x="311972" y="2"/>
            <a:ext cx="1258645" cy="1065007"/>
          </a:xfrm>
          <a:prstGeom prst="round2SameRect">
            <a:avLst/>
          </a:prstGeom>
          <a:solidFill>
            <a:schemeClr val="bg1"/>
          </a:solidFill>
          <a:effectLst>
            <a:outerShdw blurRad="50800" dist="38100" dir="5400000" algn="t" rotWithShape="0">
              <a:prstClr val="black">
                <a:alpha val="40000"/>
              </a:prstClr>
            </a:outerShdw>
          </a:effectLst>
        </p:spPr>
        <p:style>
          <a:lnRef idx="0">
            <a:schemeClr val="dk1"/>
          </a:lnRef>
          <a:fillRef idx="3">
            <a:schemeClr val="dk1"/>
          </a:fillRef>
          <a:effectRef idx="3">
            <a:schemeClr val="dk1"/>
          </a:effectRef>
          <a:fontRef idx="minor">
            <a:schemeClr val="lt1"/>
          </a:fontRef>
        </p:style>
        <p:txBody>
          <a:bodyPr rtlCol="0" anchor="ctr"/>
          <a:lstStyle/>
          <a:p>
            <a:pPr algn="ctr"/>
            <a:endParaRPr lang="en-IN" sz="1800">
              <a:solidFill>
                <a:prstClr val="white"/>
              </a:solidFill>
            </a:endParaRPr>
          </a:p>
        </p:txBody>
      </p:sp>
      <p:pic>
        <p:nvPicPr>
          <p:cNvPr id="10" name="Picture 9"/>
          <p:cNvPicPr>
            <a:picLocks noChangeAspect="1"/>
          </p:cNvPicPr>
          <p:nvPr/>
        </p:nvPicPr>
        <p:blipFill>
          <a:blip r:embed="rId14"/>
          <a:stretch>
            <a:fillRect/>
          </a:stretch>
        </p:blipFill>
        <p:spPr>
          <a:xfrm>
            <a:off x="429947" y="0"/>
            <a:ext cx="1039847" cy="1039846"/>
          </a:xfrm>
          <a:prstGeom prst="rect">
            <a:avLst/>
          </a:prstGeom>
        </p:spPr>
      </p:pic>
      <p:sp>
        <p:nvSpPr>
          <p:cNvPr id="11" name="Rectangle 10"/>
          <p:cNvSpPr/>
          <p:nvPr/>
        </p:nvSpPr>
        <p:spPr>
          <a:xfrm>
            <a:off x="0" y="6712771"/>
            <a:ext cx="12192000" cy="107895"/>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800">
              <a:solidFill>
                <a:prstClr val="white"/>
              </a:solidFill>
            </a:endParaRPr>
          </a:p>
        </p:txBody>
      </p:sp>
      <p:sp>
        <p:nvSpPr>
          <p:cNvPr id="12" name="Rectangle 11"/>
          <p:cNvSpPr/>
          <p:nvPr/>
        </p:nvSpPr>
        <p:spPr>
          <a:xfrm>
            <a:off x="0" y="6777634"/>
            <a:ext cx="12192000" cy="107895"/>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800">
              <a:solidFill>
                <a:prstClr val="white"/>
              </a:solidFill>
            </a:endParaRPr>
          </a:p>
        </p:txBody>
      </p:sp>
    </p:spTree>
    <p:extLst>
      <p:ext uri="{BB962C8B-B14F-4D97-AF65-F5344CB8AC3E}">
        <p14:creationId xmlns:p14="http://schemas.microsoft.com/office/powerpoint/2010/main" val="418388207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2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chart" Target="../charts/char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286000" y="3480797"/>
            <a:ext cx="7696200" cy="810228"/>
          </a:xfrm>
        </p:spPr>
        <p:txBody>
          <a:bodyPr>
            <a:noAutofit/>
          </a:bodyPr>
          <a:lstStyle/>
          <a:p>
            <a:pPr algn="ct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r>
              <a:rPr b="1" sz="2000">
                <a:solidFill>
                  <a:srgbClr val="111827"/>
                </a:solidFill>
                <a:latin typeface="Times New Roman"/>
              </a:rPr>
              <a:t>A Presentation on</a:t>
            </a:r>
            <a:endParaRPr lang="en-IN" sz="2000" b="1" dirty="0">
              <a:latin typeface="Times New Roman" pitchFamily="18" charset="0"/>
              <a:cs typeface="Times New Roman" pitchFamily="18" charset="0"/>
            </a:endParaRPr>
          </a:p>
          <a:p>
            <a:pPr algn="ctr"/>
            <a:r>
              <a:rPr b="1" sz="2600">
                <a:solidFill>
                  <a:srgbClr val="111827"/>
                </a:solidFill>
                <a:latin typeface="Times New Roman"/>
              </a:rPr>
              <a:t>“Real-Time OEE and Anomaly Dashboard for a Smart Factory System”</a:t>
            </a:r>
          </a:p>
          <a:p>
            <a:pPr algn="ctr"/>
            <a:r>
              <a:rPr b="1" sz="2000">
                <a:solidFill>
                  <a:srgbClr val="111827"/>
                </a:solidFill>
                <a:latin typeface="Times New Roman"/>
              </a:rPr>
              <a:t/>
            </a:r>
          </a:p>
          <a:p>
            <a:pPr algn="ctr"/>
            <a:r>
              <a:rPr b="1" sz="2000">
                <a:solidFill>
                  <a:srgbClr val="111827"/>
                </a:solidFill>
                <a:latin typeface="Times New Roman"/>
              </a:rPr>
              <a:t>By</a:t>
            </a:r>
          </a:p>
          <a:p>
            <a:pPr algn="ctr"/>
            <a:r>
              <a:rPr b="1" sz="2000">
                <a:solidFill>
                  <a:srgbClr val="111827"/>
                </a:solidFill>
                <a:latin typeface="Times New Roman"/>
              </a:rPr>
              <a:t>Sanika Jamadar  (Roll No. B291 · 70022400523, Batch A2)</a:t>
            </a:r>
          </a:p>
          <a:p>
            <a:pPr algn="ctr"/>
            <a:r>
              <a:rPr b="1" sz="2000">
                <a:solidFill>
                  <a:srgbClr val="111827"/>
                </a:solidFill>
                <a:latin typeface="Times New Roman"/>
              </a:rPr>
              <a:t/>
            </a:r>
          </a:p>
          <a:p>
            <a:pPr algn="ctr"/>
            <a:r>
              <a:rPr b="1" sz="2000">
                <a:solidFill>
                  <a:srgbClr val="111827"/>
                </a:solidFill>
                <a:latin typeface="Times New Roman"/>
              </a:rPr>
              <a:t>Subject: Software Engineering</a:t>
            </a:r>
          </a:p>
          <a:p>
            <a:pPr algn="ctr"/>
            <a:r>
              <a:rPr b="1" sz="2000">
                <a:solidFill>
                  <a:srgbClr val="111827"/>
                </a:solidFill>
                <a:latin typeface="Times New Roman"/>
              </a:rPr>
              <a:t>Under the Guidance of  Dr. Naziya Hussain</a:t>
            </a:r>
          </a:p>
        </p:txBody>
      </p:sp>
      <p:sp>
        <p:nvSpPr>
          <p:cNvPr id="7" name="Slide Number Placeholder 6"/>
          <p:cNvSpPr>
            <a:spLocks noGrp="1"/>
          </p:cNvSpPr>
          <p:nvPr>
            <p:ph type="sldNum" sz="quarter" idx="12"/>
          </p:nvPr>
        </p:nvSpPr>
        <p:spPr/>
        <p:txBody>
          <a:bodyPr/>
          <a:lstStyle/>
          <a:p>
            <a:fld id="{B6F15528-21DE-4FAA-801E-634DDDAF4B2B}" type="slidenum">
              <a:rPr lang="en-US" smtClean="0"/>
              <a:pPr/>
              <a:t>1</a:t>
            </a:fld>
            <a:endParaRPr lang="en-US"/>
          </a:p>
        </p:txBody>
      </p:sp>
      <p:pic>
        <p:nvPicPr>
          <p:cNvPr id="1027" name="Picture 3" descr="C:\Users\kunal\Pictures\nmims.png"/>
          <p:cNvPicPr>
            <a:picLocks noChangeAspect="1" noChangeArrowheads="1"/>
          </p:cNvPicPr>
          <p:nvPr/>
        </p:nvPicPr>
        <p:blipFill>
          <a:blip r:embed="rId2" cstate="print"/>
          <a:srcRect/>
          <a:stretch>
            <a:fillRect/>
          </a:stretch>
        </p:blipFill>
        <p:spPr bwMode="auto">
          <a:xfrm>
            <a:off x="5605463" y="4435637"/>
            <a:ext cx="1057275" cy="1209675"/>
          </a:xfrm>
          <a:prstGeom prst="rect">
            <a:avLst/>
          </a:prstGeom>
          <a:noFill/>
        </p:spPr>
      </p:pic>
      <p:sp>
        <p:nvSpPr>
          <p:cNvPr id="6" name="TextBox 5"/>
          <p:cNvSpPr txBox="1"/>
          <p:nvPr/>
        </p:nvSpPr>
        <p:spPr>
          <a:xfrm>
            <a:off x="3048000" y="5380673"/>
            <a:ext cx="6248400" cy="1200329"/>
          </a:xfrm>
          <a:prstGeom prst="rect">
            <a:avLst/>
          </a:prstGeom>
          <a:noFill/>
        </p:spPr>
        <p:txBody>
          <a:bodyPr wrap="square" lIns="91440" tIns="45720" rIns="91440" bIns="45720" rtlCol="0" anchor="t">
            <a:spAutoFit/>
          </a:bodyPr>
          <a:lstStyle/>
          <a:p>
            <a:pPr algn="ctr"/>
            <a:endParaRPr lang="en-IN" b="1" dirty="0">
              <a:latin typeface="Times New Roman" pitchFamily="18" charset="0"/>
              <a:cs typeface="Times New Roman" pitchFamily="18" charset="0"/>
            </a:endParaRPr>
          </a:p>
          <a:p>
            <a:pPr algn="ctr"/>
            <a:r>
              <a:rPr lang="en-IN" b="1" dirty="0">
                <a:latin typeface="Times New Roman" pitchFamily="18" charset="0"/>
                <a:cs typeface="Times New Roman" pitchFamily="18" charset="0"/>
              </a:rPr>
              <a:t>Department of AIML</a:t>
            </a:r>
          </a:p>
          <a:p>
            <a:pPr algn="ctr"/>
            <a:r>
              <a:rPr lang="en-IN" b="1" dirty="0">
                <a:latin typeface="Times New Roman" pitchFamily="18" charset="0"/>
                <a:cs typeface="Times New Roman" pitchFamily="18" charset="0"/>
              </a:rPr>
              <a:t>MPSTME, Shirpur Campus</a:t>
            </a:r>
          </a:p>
          <a:p>
            <a:pPr algn="ctr"/>
            <a:r>
              <a:rPr lang="en-IN" b="1" dirty="0">
                <a:latin typeface="Times New Roman"/>
                <a:cs typeface="Times New Roman"/>
              </a:rPr>
              <a:t>2026-27</a:t>
            </a:r>
            <a:endParaRPr lang="en-IN" b="1" dirty="0">
              <a:latin typeface="Times New Roman" pitchFamily="18" charset="0"/>
              <a:cs typeface="Times New Roman"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102" name="Google Shape;102;p2"/>
          <p:cNvSpPr txBox="1">
            <a:spLocks noGrp="1"/>
          </p:cNvSpPr>
          <p:nvPr>
            <p:ph type="sldNum" idx="12"/>
          </p:nvPr>
        </p:nvSpPr>
        <p:spPr>
          <a:xfrm>
            <a:off x="8077200" y="6373547"/>
            <a:ext cx="2133600" cy="365125"/>
          </a:xfrm>
          <a:prstGeom prst="rect">
            <a:avLst/>
          </a:prstGeom>
          <a:noFill/>
          <a:ln>
            <a:noFill/>
          </a:ln>
        </p:spPr>
        <p:txBody>
          <a:bodyPr spcFirstLastPara="1" vert="horz" wrap="square" lIns="91425" tIns="45700" rIns="91425" bIns="45700" rtlCol="0" anchor="ctr" anchorCtr="0">
            <a:noAutofit/>
          </a:bodyPr>
          <a:lstStyle/>
          <a:p>
            <a:fld id="{00000000-1234-1234-1234-123412341234}" type="slidenum">
              <a:rPr lang="en-IN"/>
              <a:pPr/>
              <a:t>2</a:t>
            </a:fld>
            <a:endParaRPr/>
          </a:p>
        </p:txBody>
      </p:sp>
      <p:sp>
        <p:nvSpPr>
          <p:cNvPr id="103" name="TextBox 102"/>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Agenda</a:t>
            </a:r>
          </a:p>
        </p:txBody>
      </p:sp>
      <p:sp>
        <p:nvSpPr>
          <p:cNvPr id="104" name="Rounded Rectangle 103"/>
          <p:cNvSpPr/>
          <p:nvPr/>
        </p:nvSpPr>
        <p:spPr>
          <a:xfrm>
            <a:off x="1783080" y="1143000"/>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05" name="Oval 104"/>
          <p:cNvSpPr/>
          <p:nvPr/>
        </p:nvSpPr>
        <p:spPr>
          <a:xfrm>
            <a:off x="1920240" y="1237705"/>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1</a:t>
            </a:r>
          </a:p>
        </p:txBody>
      </p:sp>
      <p:sp>
        <p:nvSpPr>
          <p:cNvPr id="106" name="TextBox 105"/>
          <p:cNvSpPr txBox="1"/>
          <p:nvPr/>
        </p:nvSpPr>
        <p:spPr>
          <a:xfrm>
            <a:off x="2514600" y="1207008"/>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Introduction</a:t>
            </a:r>
          </a:p>
        </p:txBody>
      </p:sp>
      <p:sp>
        <p:nvSpPr>
          <p:cNvPr id="107" name="TextBox 106"/>
          <p:cNvSpPr txBox="1"/>
          <p:nvPr/>
        </p:nvSpPr>
        <p:spPr>
          <a:xfrm>
            <a:off x="2514600" y="1527048"/>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slides 3 – 4</a:t>
            </a:r>
          </a:p>
        </p:txBody>
      </p:sp>
      <p:sp>
        <p:nvSpPr>
          <p:cNvPr id="108" name="Rounded Rectangle 107"/>
          <p:cNvSpPr/>
          <p:nvPr/>
        </p:nvSpPr>
        <p:spPr>
          <a:xfrm>
            <a:off x="1783080" y="1881051"/>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09" name="Oval 108"/>
          <p:cNvSpPr/>
          <p:nvPr/>
        </p:nvSpPr>
        <p:spPr>
          <a:xfrm>
            <a:off x="1920240" y="1975757"/>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2</a:t>
            </a:r>
          </a:p>
        </p:txBody>
      </p:sp>
      <p:sp>
        <p:nvSpPr>
          <p:cNvPr id="110" name="TextBox 109"/>
          <p:cNvSpPr txBox="1"/>
          <p:nvPr/>
        </p:nvSpPr>
        <p:spPr>
          <a:xfrm>
            <a:off x="2514600" y="1945059"/>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Problem Statement</a:t>
            </a:r>
          </a:p>
        </p:txBody>
      </p:sp>
      <p:sp>
        <p:nvSpPr>
          <p:cNvPr id="111" name="TextBox 110"/>
          <p:cNvSpPr txBox="1"/>
          <p:nvPr/>
        </p:nvSpPr>
        <p:spPr>
          <a:xfrm>
            <a:off x="2514600" y="2265099"/>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 5</a:t>
            </a:r>
          </a:p>
        </p:txBody>
      </p:sp>
      <p:sp>
        <p:nvSpPr>
          <p:cNvPr id="112" name="Rounded Rectangle 111"/>
          <p:cNvSpPr/>
          <p:nvPr/>
        </p:nvSpPr>
        <p:spPr>
          <a:xfrm>
            <a:off x="1783080" y="2619102"/>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13" name="Oval 112"/>
          <p:cNvSpPr/>
          <p:nvPr/>
        </p:nvSpPr>
        <p:spPr>
          <a:xfrm>
            <a:off x="1920240" y="2713808"/>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3</a:t>
            </a:r>
          </a:p>
        </p:txBody>
      </p:sp>
      <p:sp>
        <p:nvSpPr>
          <p:cNvPr id="114" name="TextBox 113"/>
          <p:cNvSpPr txBox="1"/>
          <p:nvPr/>
        </p:nvSpPr>
        <p:spPr>
          <a:xfrm>
            <a:off x="2514600" y="2683110"/>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Objectives</a:t>
            </a:r>
          </a:p>
        </p:txBody>
      </p:sp>
      <p:sp>
        <p:nvSpPr>
          <p:cNvPr id="115" name="TextBox 114"/>
          <p:cNvSpPr txBox="1"/>
          <p:nvPr/>
        </p:nvSpPr>
        <p:spPr>
          <a:xfrm>
            <a:off x="2514600" y="3003150"/>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slides 6 – 7</a:t>
            </a:r>
          </a:p>
        </p:txBody>
      </p:sp>
      <p:sp>
        <p:nvSpPr>
          <p:cNvPr id="116" name="Rounded Rectangle 115"/>
          <p:cNvSpPr/>
          <p:nvPr/>
        </p:nvSpPr>
        <p:spPr>
          <a:xfrm>
            <a:off x="1783080" y="3357154"/>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17" name="Oval 116"/>
          <p:cNvSpPr/>
          <p:nvPr/>
        </p:nvSpPr>
        <p:spPr>
          <a:xfrm>
            <a:off x="1920240" y="3451860"/>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4</a:t>
            </a:r>
          </a:p>
        </p:txBody>
      </p:sp>
      <p:sp>
        <p:nvSpPr>
          <p:cNvPr id="118" name="TextBox 117"/>
          <p:cNvSpPr txBox="1"/>
          <p:nvPr/>
        </p:nvSpPr>
        <p:spPr>
          <a:xfrm>
            <a:off x="2514600" y="3421162"/>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Existing vs. Proposed System</a:t>
            </a:r>
          </a:p>
        </p:txBody>
      </p:sp>
      <p:sp>
        <p:nvSpPr>
          <p:cNvPr id="119" name="TextBox 118"/>
          <p:cNvSpPr txBox="1"/>
          <p:nvPr/>
        </p:nvSpPr>
        <p:spPr>
          <a:xfrm>
            <a:off x="2514600" y="3741202"/>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 8</a:t>
            </a:r>
          </a:p>
        </p:txBody>
      </p:sp>
      <p:sp>
        <p:nvSpPr>
          <p:cNvPr id="120" name="Rounded Rectangle 119"/>
          <p:cNvSpPr/>
          <p:nvPr/>
        </p:nvSpPr>
        <p:spPr>
          <a:xfrm>
            <a:off x="1783080" y="4095205"/>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21" name="Oval 120"/>
          <p:cNvSpPr/>
          <p:nvPr/>
        </p:nvSpPr>
        <p:spPr>
          <a:xfrm>
            <a:off x="1920240" y="4189911"/>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5</a:t>
            </a:r>
          </a:p>
        </p:txBody>
      </p:sp>
      <p:sp>
        <p:nvSpPr>
          <p:cNvPr id="122" name="TextBox 121"/>
          <p:cNvSpPr txBox="1"/>
          <p:nvPr/>
        </p:nvSpPr>
        <p:spPr>
          <a:xfrm>
            <a:off x="2514600" y="4159213"/>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System Architecture</a:t>
            </a:r>
          </a:p>
        </p:txBody>
      </p:sp>
      <p:sp>
        <p:nvSpPr>
          <p:cNvPr id="123" name="TextBox 122"/>
          <p:cNvSpPr txBox="1"/>
          <p:nvPr/>
        </p:nvSpPr>
        <p:spPr>
          <a:xfrm>
            <a:off x="2514600" y="4479253"/>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slides 9 – 12</a:t>
            </a:r>
          </a:p>
        </p:txBody>
      </p:sp>
      <p:sp>
        <p:nvSpPr>
          <p:cNvPr id="124" name="Rounded Rectangle 123"/>
          <p:cNvSpPr/>
          <p:nvPr/>
        </p:nvSpPr>
        <p:spPr>
          <a:xfrm>
            <a:off x="1783080" y="4833257"/>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25" name="Oval 124"/>
          <p:cNvSpPr/>
          <p:nvPr/>
        </p:nvSpPr>
        <p:spPr>
          <a:xfrm>
            <a:off x="1920240" y="4927962"/>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6</a:t>
            </a:r>
          </a:p>
        </p:txBody>
      </p:sp>
      <p:sp>
        <p:nvSpPr>
          <p:cNvPr id="126" name="TextBox 125"/>
          <p:cNvSpPr txBox="1"/>
          <p:nvPr/>
        </p:nvSpPr>
        <p:spPr>
          <a:xfrm>
            <a:off x="2514600" y="4897265"/>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Methodology</a:t>
            </a:r>
          </a:p>
        </p:txBody>
      </p:sp>
      <p:sp>
        <p:nvSpPr>
          <p:cNvPr id="127" name="TextBox 126"/>
          <p:cNvSpPr txBox="1"/>
          <p:nvPr/>
        </p:nvSpPr>
        <p:spPr>
          <a:xfrm>
            <a:off x="2514600" y="5217305"/>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 13</a:t>
            </a:r>
          </a:p>
        </p:txBody>
      </p:sp>
      <p:sp>
        <p:nvSpPr>
          <p:cNvPr id="128" name="Rounded Rectangle 127"/>
          <p:cNvSpPr/>
          <p:nvPr/>
        </p:nvSpPr>
        <p:spPr>
          <a:xfrm>
            <a:off x="1783080" y="5571308"/>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29" name="Oval 128"/>
          <p:cNvSpPr/>
          <p:nvPr/>
        </p:nvSpPr>
        <p:spPr>
          <a:xfrm>
            <a:off x="1920240" y="5666014"/>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7</a:t>
            </a:r>
          </a:p>
        </p:txBody>
      </p:sp>
      <p:sp>
        <p:nvSpPr>
          <p:cNvPr id="130" name="TextBox 129"/>
          <p:cNvSpPr txBox="1"/>
          <p:nvPr/>
        </p:nvSpPr>
        <p:spPr>
          <a:xfrm>
            <a:off x="2514600" y="5635316"/>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Modules</a:t>
            </a:r>
          </a:p>
        </p:txBody>
      </p:sp>
      <p:sp>
        <p:nvSpPr>
          <p:cNvPr id="131" name="TextBox 130"/>
          <p:cNvSpPr txBox="1"/>
          <p:nvPr/>
        </p:nvSpPr>
        <p:spPr>
          <a:xfrm>
            <a:off x="2514600" y="5955356"/>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slides 14 – 18</a:t>
            </a:r>
          </a:p>
        </p:txBody>
      </p:sp>
      <p:sp>
        <p:nvSpPr>
          <p:cNvPr id="132" name="Rounded Rectangle 131"/>
          <p:cNvSpPr/>
          <p:nvPr/>
        </p:nvSpPr>
        <p:spPr>
          <a:xfrm>
            <a:off x="6972300" y="1143000"/>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33" name="Oval 132"/>
          <p:cNvSpPr/>
          <p:nvPr/>
        </p:nvSpPr>
        <p:spPr>
          <a:xfrm>
            <a:off x="7109460" y="1237705"/>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8</a:t>
            </a:r>
          </a:p>
        </p:txBody>
      </p:sp>
      <p:sp>
        <p:nvSpPr>
          <p:cNvPr id="134" name="TextBox 133"/>
          <p:cNvSpPr txBox="1"/>
          <p:nvPr/>
        </p:nvSpPr>
        <p:spPr>
          <a:xfrm>
            <a:off x="7703820" y="1207008"/>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Technologies Used</a:t>
            </a:r>
          </a:p>
        </p:txBody>
      </p:sp>
      <p:sp>
        <p:nvSpPr>
          <p:cNvPr id="135" name="TextBox 134"/>
          <p:cNvSpPr txBox="1"/>
          <p:nvPr/>
        </p:nvSpPr>
        <p:spPr>
          <a:xfrm>
            <a:off x="7703820" y="1527048"/>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slides 19 – 20</a:t>
            </a:r>
          </a:p>
        </p:txBody>
      </p:sp>
      <p:sp>
        <p:nvSpPr>
          <p:cNvPr id="136" name="Rounded Rectangle 135"/>
          <p:cNvSpPr/>
          <p:nvPr/>
        </p:nvSpPr>
        <p:spPr>
          <a:xfrm>
            <a:off x="6972300" y="1881051"/>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37" name="Oval 136"/>
          <p:cNvSpPr/>
          <p:nvPr/>
        </p:nvSpPr>
        <p:spPr>
          <a:xfrm>
            <a:off x="7109460" y="1975757"/>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9</a:t>
            </a:r>
          </a:p>
        </p:txBody>
      </p:sp>
      <p:sp>
        <p:nvSpPr>
          <p:cNvPr id="138" name="TextBox 137"/>
          <p:cNvSpPr txBox="1"/>
          <p:nvPr/>
        </p:nvSpPr>
        <p:spPr>
          <a:xfrm>
            <a:off x="7703820" y="1945059"/>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Implementation / Screenshots</a:t>
            </a:r>
          </a:p>
        </p:txBody>
      </p:sp>
      <p:sp>
        <p:nvSpPr>
          <p:cNvPr id="139" name="TextBox 138"/>
          <p:cNvSpPr txBox="1"/>
          <p:nvPr/>
        </p:nvSpPr>
        <p:spPr>
          <a:xfrm>
            <a:off x="7703820" y="2265099"/>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slides 21 – 22</a:t>
            </a:r>
          </a:p>
        </p:txBody>
      </p:sp>
      <p:sp>
        <p:nvSpPr>
          <p:cNvPr id="140" name="Rounded Rectangle 139"/>
          <p:cNvSpPr/>
          <p:nvPr/>
        </p:nvSpPr>
        <p:spPr>
          <a:xfrm>
            <a:off x="6972300" y="2619102"/>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41" name="Oval 140"/>
          <p:cNvSpPr/>
          <p:nvPr/>
        </p:nvSpPr>
        <p:spPr>
          <a:xfrm>
            <a:off x="7109460" y="2713808"/>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10</a:t>
            </a:r>
          </a:p>
        </p:txBody>
      </p:sp>
      <p:sp>
        <p:nvSpPr>
          <p:cNvPr id="142" name="TextBox 141"/>
          <p:cNvSpPr txBox="1"/>
          <p:nvPr/>
        </p:nvSpPr>
        <p:spPr>
          <a:xfrm>
            <a:off x="7703820" y="2683110"/>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Results &amp; Testing</a:t>
            </a:r>
          </a:p>
        </p:txBody>
      </p:sp>
      <p:sp>
        <p:nvSpPr>
          <p:cNvPr id="143" name="TextBox 142"/>
          <p:cNvSpPr txBox="1"/>
          <p:nvPr/>
        </p:nvSpPr>
        <p:spPr>
          <a:xfrm>
            <a:off x="7703820" y="3003150"/>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slides 23 – 24</a:t>
            </a:r>
          </a:p>
        </p:txBody>
      </p:sp>
      <p:sp>
        <p:nvSpPr>
          <p:cNvPr id="144" name="Rounded Rectangle 143"/>
          <p:cNvSpPr/>
          <p:nvPr/>
        </p:nvSpPr>
        <p:spPr>
          <a:xfrm>
            <a:off x="6972300" y="3357154"/>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45" name="Oval 144"/>
          <p:cNvSpPr/>
          <p:nvPr/>
        </p:nvSpPr>
        <p:spPr>
          <a:xfrm>
            <a:off x="7109460" y="3451860"/>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11</a:t>
            </a:r>
          </a:p>
        </p:txBody>
      </p:sp>
      <p:sp>
        <p:nvSpPr>
          <p:cNvPr id="146" name="TextBox 145"/>
          <p:cNvSpPr txBox="1"/>
          <p:nvPr/>
        </p:nvSpPr>
        <p:spPr>
          <a:xfrm>
            <a:off x="7703820" y="3421162"/>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Advantages &amp; Applications</a:t>
            </a:r>
          </a:p>
        </p:txBody>
      </p:sp>
      <p:sp>
        <p:nvSpPr>
          <p:cNvPr id="147" name="TextBox 146"/>
          <p:cNvSpPr txBox="1"/>
          <p:nvPr/>
        </p:nvSpPr>
        <p:spPr>
          <a:xfrm>
            <a:off x="7703820" y="3741202"/>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 25</a:t>
            </a:r>
          </a:p>
        </p:txBody>
      </p:sp>
      <p:sp>
        <p:nvSpPr>
          <p:cNvPr id="148" name="Rounded Rectangle 147"/>
          <p:cNvSpPr/>
          <p:nvPr/>
        </p:nvSpPr>
        <p:spPr>
          <a:xfrm>
            <a:off x="6972300" y="4095205"/>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49" name="Oval 148"/>
          <p:cNvSpPr/>
          <p:nvPr/>
        </p:nvSpPr>
        <p:spPr>
          <a:xfrm>
            <a:off x="7109460" y="4189911"/>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12</a:t>
            </a:r>
          </a:p>
        </p:txBody>
      </p:sp>
      <p:sp>
        <p:nvSpPr>
          <p:cNvPr id="150" name="TextBox 149"/>
          <p:cNvSpPr txBox="1"/>
          <p:nvPr/>
        </p:nvSpPr>
        <p:spPr>
          <a:xfrm>
            <a:off x="7703820" y="4159213"/>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Future Scope</a:t>
            </a:r>
          </a:p>
        </p:txBody>
      </p:sp>
      <p:sp>
        <p:nvSpPr>
          <p:cNvPr id="151" name="TextBox 150"/>
          <p:cNvSpPr txBox="1"/>
          <p:nvPr/>
        </p:nvSpPr>
        <p:spPr>
          <a:xfrm>
            <a:off x="7703820" y="4479253"/>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 26</a:t>
            </a:r>
          </a:p>
        </p:txBody>
      </p:sp>
      <p:sp>
        <p:nvSpPr>
          <p:cNvPr id="152" name="Rounded Rectangle 151"/>
          <p:cNvSpPr/>
          <p:nvPr/>
        </p:nvSpPr>
        <p:spPr>
          <a:xfrm>
            <a:off x="6972300" y="4833257"/>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53" name="Oval 152"/>
          <p:cNvSpPr/>
          <p:nvPr/>
        </p:nvSpPr>
        <p:spPr>
          <a:xfrm>
            <a:off x="7109460" y="4927962"/>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13</a:t>
            </a:r>
          </a:p>
        </p:txBody>
      </p:sp>
      <p:sp>
        <p:nvSpPr>
          <p:cNvPr id="154" name="TextBox 153"/>
          <p:cNvSpPr txBox="1"/>
          <p:nvPr/>
        </p:nvSpPr>
        <p:spPr>
          <a:xfrm>
            <a:off x="7703820" y="4897265"/>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Conclusion</a:t>
            </a:r>
          </a:p>
        </p:txBody>
      </p:sp>
      <p:sp>
        <p:nvSpPr>
          <p:cNvPr id="155" name="TextBox 154"/>
          <p:cNvSpPr txBox="1"/>
          <p:nvPr/>
        </p:nvSpPr>
        <p:spPr>
          <a:xfrm>
            <a:off x="7703820" y="5217305"/>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 27</a:t>
            </a:r>
          </a:p>
        </p:txBody>
      </p:sp>
      <p:sp>
        <p:nvSpPr>
          <p:cNvPr id="156" name="Rounded Rectangle 155"/>
          <p:cNvSpPr/>
          <p:nvPr/>
        </p:nvSpPr>
        <p:spPr>
          <a:xfrm>
            <a:off x="6972300" y="5571308"/>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57" name="Oval 156"/>
          <p:cNvSpPr/>
          <p:nvPr/>
        </p:nvSpPr>
        <p:spPr>
          <a:xfrm>
            <a:off x="7109460" y="5666014"/>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14</a:t>
            </a:r>
          </a:p>
        </p:txBody>
      </p:sp>
      <p:sp>
        <p:nvSpPr>
          <p:cNvPr id="158" name="TextBox 157"/>
          <p:cNvSpPr txBox="1"/>
          <p:nvPr/>
        </p:nvSpPr>
        <p:spPr>
          <a:xfrm>
            <a:off x="7703820" y="5635316"/>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References</a:t>
            </a:r>
          </a:p>
        </p:txBody>
      </p:sp>
      <p:sp>
        <p:nvSpPr>
          <p:cNvPr id="159" name="TextBox 158"/>
          <p:cNvSpPr txBox="1"/>
          <p:nvPr/>
        </p:nvSpPr>
        <p:spPr>
          <a:xfrm>
            <a:off x="7703820" y="5955356"/>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 28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90325" y="774785"/>
            <a:ext cx="6932101" cy="1061829"/>
          </a:xfrm>
          <a:noFill/>
        </p:spPr>
        <p:txBody>
          <a:bodyPr wrap="square" rtlCol="0">
            <a:spAutoFit/>
          </a:bodyPr>
          <a:lstStyle/>
          <a:p>
            <a:pPr algn="ctr"/>
            <a:r>
              <a:rPr lang="en-US" sz="4000">
                <a:latin typeface="Book Antiqua" panose="02040602050305030304" pitchFamily="18" charset="0"/>
                <a:ea typeface="+mn-ea"/>
                <a:cs typeface="+mn-cs"/>
              </a:rPr>
              <a:t>Thank You !!!  Questions?</a:t>
            </a:r>
          </a:p>
        </p:txBody>
      </p:sp>
      <p:pic>
        <p:nvPicPr>
          <p:cNvPr id="3" name="Picture 2"/>
          <p:cNvPicPr>
            <a:picLocks noChangeAspect="1"/>
          </p:cNvPicPr>
          <p:nvPr/>
        </p:nvPicPr>
        <p:blipFill>
          <a:blip r:embed="rId2"/>
          <a:stretch>
            <a:fillRect/>
          </a:stretch>
        </p:blipFill>
        <p:spPr>
          <a:xfrm>
            <a:off x="3331224" y="1"/>
            <a:ext cx="5355575" cy="502920"/>
          </a:xfrm>
          <a:prstGeom prst="rect">
            <a:avLst/>
          </a:prstGeom>
        </p:spPr>
      </p:pic>
      <p:pic>
        <p:nvPicPr>
          <p:cNvPr id="5" name="Picture 4"/>
          <p:cNvPicPr>
            <a:picLocks noChangeAspect="1"/>
          </p:cNvPicPr>
          <p:nvPr/>
        </p:nvPicPr>
        <p:blipFill>
          <a:blip r:embed="rId3"/>
          <a:stretch>
            <a:fillRect/>
          </a:stretch>
        </p:blipFill>
        <p:spPr>
          <a:xfrm>
            <a:off x="442452" y="1836614"/>
            <a:ext cx="11366243" cy="4570002"/>
          </a:xfrm>
          <a:prstGeom prst="rect">
            <a:avLst/>
          </a:prstGeom>
        </p:spPr>
      </p:pic>
    </p:spTree>
    <p:extLst>
      <p:ext uri="{BB962C8B-B14F-4D97-AF65-F5344CB8AC3E}">
        <p14:creationId xmlns:p14="http://schemas.microsoft.com/office/powerpoint/2010/main" val="645505984"/>
      </p:ext>
    </p:extLst>
  </p:cSld>
  <p:clrMapOvr>
    <a:masterClrMapping/>
  </p:clrMapOvr>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The Project in 30 Seconds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TextBox 3"/>
          <p:cNvSpPr txBox="1"/>
          <p:nvPr/>
        </p:nvSpPr>
        <p:spPr>
          <a:xfrm>
            <a:off x="1783080" y="1005840"/>
            <a:ext cx="10012680" cy="731520"/>
          </a:xfrm>
          <a:prstGeom prst="rect">
            <a:avLst/>
          </a:prstGeom>
          <a:noFill/>
        </p:spPr>
        <p:txBody>
          <a:bodyPr wrap="square" lIns="0" rIns="0" tIns="0" bIns="0" anchor="t">
            <a:noAutofit/>
          </a:bodyPr>
          <a:lstStyle/>
          <a:p>
            <a:pPr algn="l">
              <a:spcBef>
                <a:spcPts val="0"/>
              </a:spcBef>
              <a:spcAft>
                <a:spcPts val="0"/>
              </a:spcAft>
            </a:pPr>
            <a:r>
              <a:rPr sz="2000" b="0" i="0">
                <a:solidFill>
                  <a:srgbClr val="111827"/>
                </a:solidFill>
                <a:latin typeface="Times New Roman"/>
              </a:rPr>
              <a:t>Think of a </a:t>
            </a:r>
            <a:r>
              <a:rPr sz="2000" b="1" i="0">
                <a:solidFill>
                  <a:srgbClr val="111827"/>
                </a:solidFill>
                <a:latin typeface="Times New Roman"/>
              </a:rPr>
              <a:t>car dashboard – for a factory.</a:t>
            </a:r>
            <a:r>
              <a:rPr sz="2000" b="0" i="0">
                <a:solidFill>
                  <a:srgbClr val="111827"/>
                </a:solidFill>
                <a:latin typeface="Times New Roman"/>
              </a:rPr>
              <a:t> It shows how well every machine is running and warns the operator </a:t>
            </a:r>
            <a:r>
              <a:rPr sz="2000" b="1" i="0">
                <a:solidFill>
                  <a:srgbClr val="111827"/>
                </a:solidFill>
                <a:latin typeface="Times New Roman"/>
              </a:rPr>
              <a:t>before</a:t>
            </a:r>
            <a:r>
              <a:rPr sz="2000" b="0" i="0">
                <a:solidFill>
                  <a:srgbClr val="111827"/>
                </a:solidFill>
                <a:latin typeface="Times New Roman"/>
              </a:rPr>
              <a:t> something breaks.</a:t>
            </a:r>
          </a:p>
        </p:txBody>
      </p:sp>
      <p:sp>
        <p:nvSpPr>
          <p:cNvPr id="5" name="Rounded Rectangle 4"/>
          <p:cNvSpPr/>
          <p:nvPr/>
        </p:nvSpPr>
        <p:spPr>
          <a:xfrm>
            <a:off x="1783080" y="1920240"/>
            <a:ext cx="1673351" cy="1005840"/>
          </a:xfrm>
          <a:prstGeom prst="roundRect">
            <a:avLst>
              <a:gd name="adj" fmla="val 10909"/>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200" b="1" i="0">
                <a:solidFill>
                  <a:srgbClr val="475569"/>
                </a:solidFill>
                <a:latin typeface="Times New Roman"/>
              </a:rPr>
              <a:t>STEP 1</a:t>
            </a:r>
          </a:p>
          <a:p>
            <a:pPr algn="ctr">
              <a:spcBef>
                <a:spcPts val="0"/>
              </a:spcBef>
              <a:spcAft>
                <a:spcPts val="0"/>
              </a:spcAft>
            </a:pPr>
            <a:r>
              <a:rPr sz="1600" b="1" i="0">
                <a:solidFill>
                  <a:srgbClr val="111827"/>
                </a:solidFill>
                <a:latin typeface="Times New Roman"/>
              </a:rPr>
              <a:t>Virtual machines</a:t>
            </a:r>
          </a:p>
        </p:txBody>
      </p:sp>
      <p:sp>
        <p:nvSpPr>
          <p:cNvPr id="6" name="TextBox 5"/>
          <p:cNvSpPr txBox="1"/>
          <p:nvPr/>
        </p:nvSpPr>
        <p:spPr>
          <a:xfrm>
            <a:off x="1783080" y="3090672"/>
            <a:ext cx="1673351"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Five machines send temperature, vibration, status and cycle count every 0.5 s.</a:t>
            </a:r>
          </a:p>
        </p:txBody>
      </p:sp>
      <p:cxnSp>
        <p:nvCxnSpPr>
          <p:cNvPr id="7" name="Connector 6"/>
          <p:cNvCxnSpPr/>
          <p:nvPr/>
        </p:nvCxnSpPr>
        <p:spPr>
          <a:xfrm>
            <a:off x="3511295" y="2423160"/>
            <a:ext cx="301753"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867911" y="1920240"/>
            <a:ext cx="1673351" cy="1005840"/>
          </a:xfrm>
          <a:prstGeom prst="roundRect">
            <a:avLst>
              <a:gd name="adj" fmla="val 10909"/>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200" b="1" i="0">
                <a:solidFill>
                  <a:srgbClr val="475569"/>
                </a:solidFill>
                <a:latin typeface="Times New Roman"/>
              </a:rPr>
              <a:t>STEP 2</a:t>
            </a:r>
          </a:p>
          <a:p>
            <a:pPr algn="ctr">
              <a:spcBef>
                <a:spcPts val="0"/>
              </a:spcBef>
              <a:spcAft>
                <a:spcPts val="0"/>
              </a:spcAft>
            </a:pPr>
            <a:r>
              <a:rPr sz="1600" b="1" i="0">
                <a:solidFill>
                  <a:srgbClr val="111827"/>
                </a:solidFill>
                <a:latin typeface="Times New Roman"/>
              </a:rPr>
              <a:t>MQTT broker</a:t>
            </a:r>
          </a:p>
        </p:txBody>
      </p:sp>
      <p:sp>
        <p:nvSpPr>
          <p:cNvPr id="9" name="TextBox 8"/>
          <p:cNvSpPr txBox="1"/>
          <p:nvPr/>
        </p:nvSpPr>
        <p:spPr>
          <a:xfrm>
            <a:off x="3867911" y="3090672"/>
            <a:ext cx="1673351"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A lightweight message broker (Mosquitto) carries every reading.</a:t>
            </a:r>
          </a:p>
        </p:txBody>
      </p:sp>
      <p:cxnSp>
        <p:nvCxnSpPr>
          <p:cNvPr id="10" name="Connector 9"/>
          <p:cNvCxnSpPr/>
          <p:nvPr/>
        </p:nvCxnSpPr>
        <p:spPr>
          <a:xfrm>
            <a:off x="5596127" y="2423160"/>
            <a:ext cx="301752"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952744" y="1920240"/>
            <a:ext cx="1673351" cy="1005840"/>
          </a:xfrm>
          <a:prstGeom prst="roundRect">
            <a:avLst>
              <a:gd name="adj" fmla="val 10909"/>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200" b="1" i="0">
                <a:solidFill>
                  <a:srgbClr val="475569"/>
                </a:solidFill>
                <a:latin typeface="Times New Roman"/>
              </a:rPr>
              <a:t>STEP 3</a:t>
            </a:r>
          </a:p>
          <a:p>
            <a:pPr algn="ctr">
              <a:spcBef>
                <a:spcPts val="0"/>
              </a:spcBef>
              <a:spcAft>
                <a:spcPts val="0"/>
              </a:spcAft>
            </a:pPr>
            <a:r>
              <a:rPr sz="1600" b="1" i="0">
                <a:solidFill>
                  <a:srgbClr val="111827"/>
                </a:solidFill>
                <a:latin typeface="Times New Roman"/>
              </a:rPr>
              <a:t>Smart backend</a:t>
            </a:r>
          </a:p>
        </p:txBody>
      </p:sp>
      <p:sp>
        <p:nvSpPr>
          <p:cNvPr id="12" name="TextBox 11"/>
          <p:cNvSpPr txBox="1"/>
          <p:nvPr/>
        </p:nvSpPr>
        <p:spPr>
          <a:xfrm>
            <a:off x="5952744" y="3090672"/>
            <a:ext cx="1673351"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Computes OEE and checks three detectors: rules, machine learning, trend line.</a:t>
            </a:r>
          </a:p>
        </p:txBody>
      </p:sp>
      <p:cxnSp>
        <p:nvCxnSpPr>
          <p:cNvPr id="13" name="Connector 12"/>
          <p:cNvCxnSpPr/>
          <p:nvPr/>
        </p:nvCxnSpPr>
        <p:spPr>
          <a:xfrm>
            <a:off x="7680960" y="2423160"/>
            <a:ext cx="301751"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037575" y="1920240"/>
            <a:ext cx="1673351" cy="1005840"/>
          </a:xfrm>
          <a:prstGeom prst="roundRect">
            <a:avLst>
              <a:gd name="adj" fmla="val 10909"/>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200" b="1" i="0">
                <a:solidFill>
                  <a:srgbClr val="475569"/>
                </a:solidFill>
                <a:latin typeface="Times New Roman"/>
              </a:rPr>
              <a:t>STEP 4</a:t>
            </a:r>
          </a:p>
          <a:p>
            <a:pPr algn="ctr">
              <a:spcBef>
                <a:spcPts val="0"/>
              </a:spcBef>
              <a:spcAft>
                <a:spcPts val="0"/>
              </a:spcAft>
            </a:pPr>
            <a:r>
              <a:rPr sz="1600" b="1" i="0">
                <a:solidFill>
                  <a:srgbClr val="111827"/>
                </a:solidFill>
                <a:latin typeface="Times New Roman"/>
              </a:rPr>
              <a:t>Live dashboard</a:t>
            </a:r>
          </a:p>
        </p:txBody>
      </p:sp>
      <p:sp>
        <p:nvSpPr>
          <p:cNvPr id="15" name="TextBox 14"/>
          <p:cNvSpPr txBox="1"/>
          <p:nvPr/>
        </p:nvSpPr>
        <p:spPr>
          <a:xfrm>
            <a:off x="8037575" y="3090672"/>
            <a:ext cx="1673351"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Shows each machine Green, Yellow, Orange or Red – live, in under a second.</a:t>
            </a:r>
          </a:p>
        </p:txBody>
      </p:sp>
      <p:cxnSp>
        <p:nvCxnSpPr>
          <p:cNvPr id="16" name="Connector 15"/>
          <p:cNvCxnSpPr/>
          <p:nvPr/>
        </p:nvCxnSpPr>
        <p:spPr>
          <a:xfrm>
            <a:off x="9765792" y="2423160"/>
            <a:ext cx="301751"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122407" y="1920240"/>
            <a:ext cx="1673351" cy="1005840"/>
          </a:xfrm>
          <a:prstGeom prst="roundRect">
            <a:avLst>
              <a:gd name="adj" fmla="val 10909"/>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200" b="1" i="0">
                <a:solidFill>
                  <a:srgbClr val="475569"/>
                </a:solidFill>
                <a:latin typeface="Times New Roman"/>
              </a:rPr>
              <a:t>STEP 5</a:t>
            </a:r>
          </a:p>
          <a:p>
            <a:pPr algn="ctr">
              <a:spcBef>
                <a:spcPts val="0"/>
              </a:spcBef>
              <a:spcAft>
                <a:spcPts val="0"/>
              </a:spcAft>
            </a:pPr>
            <a:r>
              <a:rPr sz="1600" b="1" i="0">
                <a:solidFill>
                  <a:srgbClr val="111827"/>
                </a:solidFill>
                <a:latin typeface="Times New Roman"/>
              </a:rPr>
              <a:t>Operator</a:t>
            </a:r>
          </a:p>
        </p:txBody>
      </p:sp>
      <p:sp>
        <p:nvSpPr>
          <p:cNvPr id="18" name="TextBox 17"/>
          <p:cNvSpPr txBox="1"/>
          <p:nvPr/>
        </p:nvSpPr>
        <p:spPr>
          <a:xfrm>
            <a:off x="10122407" y="3090672"/>
            <a:ext cx="1673351"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Acknowledges, assigns a technician, resolves and logs the maintenance.</a:t>
            </a:r>
          </a:p>
        </p:txBody>
      </p:sp>
      <p:sp>
        <p:nvSpPr>
          <p:cNvPr id="19" name="TextBox 18"/>
          <p:cNvSpPr txBox="1"/>
          <p:nvPr/>
        </p:nvSpPr>
        <p:spPr>
          <a:xfrm>
            <a:off x="1783080" y="4572000"/>
            <a:ext cx="10012680" cy="320040"/>
          </a:xfrm>
          <a:prstGeom prst="rect">
            <a:avLst/>
          </a:prstGeom>
          <a:noFill/>
        </p:spPr>
        <p:txBody>
          <a:bodyPr wrap="square" lIns="0" rIns="0" tIns="0" bIns="0" anchor="t">
            <a:noAutofit/>
          </a:bodyPr>
          <a:lstStyle/>
          <a:p>
            <a:pPr algn="l">
              <a:spcBef>
                <a:spcPts val="0"/>
              </a:spcBef>
              <a:spcAft>
                <a:spcPts val="0"/>
              </a:spcAft>
            </a:pPr>
            <a:r>
              <a:rPr sz="1700" b="1" i="0">
                <a:solidFill>
                  <a:srgbClr val="111827"/>
                </a:solidFill>
                <a:latin typeface="Times New Roman"/>
              </a:rPr>
              <a:t>What the operator sees on every machine tile</a:t>
            </a:r>
          </a:p>
        </p:txBody>
      </p:sp>
      <p:sp>
        <p:nvSpPr>
          <p:cNvPr id="20" name="Rounded Rectangle 19"/>
          <p:cNvSpPr/>
          <p:nvPr/>
        </p:nvSpPr>
        <p:spPr>
          <a:xfrm>
            <a:off x="1783080" y="5029200"/>
            <a:ext cx="2331720" cy="1097280"/>
          </a:xfrm>
          <a:prstGeom prst="roundRect">
            <a:avLst>
              <a:gd name="adj" fmla="val 10000"/>
            </a:avLst>
          </a:prstGeom>
          <a:solidFill>
            <a:srgbClr val="DCFCE7"/>
          </a:solidFill>
          <a:ln w="2540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700" b="1" i="0">
                <a:solidFill>
                  <a:srgbClr val="111827"/>
                </a:solidFill>
                <a:latin typeface="Times New Roman"/>
              </a:rPr>
              <a:t>Green</a:t>
            </a:r>
          </a:p>
          <a:p>
            <a:pPr algn="ctr">
              <a:spcBef>
                <a:spcPts val="0"/>
              </a:spcBef>
              <a:spcAft>
                <a:spcPts val="0"/>
              </a:spcAft>
            </a:pPr>
            <a:r>
              <a:rPr sz="1400" b="0" i="0">
                <a:solidFill>
                  <a:srgbClr val="111827"/>
                </a:solidFill>
                <a:latin typeface="Times New Roman"/>
              </a:rPr>
              <a:t>Normal operation</a:t>
            </a:r>
          </a:p>
        </p:txBody>
      </p:sp>
      <p:sp>
        <p:nvSpPr>
          <p:cNvPr id="21" name="Rounded Rectangle 20"/>
          <p:cNvSpPr/>
          <p:nvPr/>
        </p:nvSpPr>
        <p:spPr>
          <a:xfrm>
            <a:off x="4343400" y="5029200"/>
            <a:ext cx="2331720" cy="1097280"/>
          </a:xfrm>
          <a:prstGeom prst="roundRect">
            <a:avLst>
              <a:gd name="adj" fmla="val 10000"/>
            </a:avLst>
          </a:prstGeom>
          <a:solidFill>
            <a:srgbClr val="FEF9C3"/>
          </a:solidFill>
          <a:ln w="2540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700" b="1" i="0">
                <a:solidFill>
                  <a:srgbClr val="111827"/>
                </a:solidFill>
                <a:latin typeface="Times New Roman"/>
              </a:rPr>
              <a:t>Yellow</a:t>
            </a:r>
          </a:p>
          <a:p>
            <a:pPr algn="ctr">
              <a:spcBef>
                <a:spcPts val="0"/>
              </a:spcBef>
              <a:spcAft>
                <a:spcPts val="0"/>
              </a:spcAft>
            </a:pPr>
            <a:r>
              <a:rPr sz="1400" b="0" i="0">
                <a:solidFill>
                  <a:srgbClr val="111827"/>
                </a:solidFill>
                <a:latin typeface="Times New Roman"/>
              </a:rPr>
              <a:t>ML caution: something looks unusual</a:t>
            </a:r>
          </a:p>
        </p:txBody>
      </p:sp>
      <p:sp>
        <p:nvSpPr>
          <p:cNvPr id="22" name="Rounded Rectangle 21"/>
          <p:cNvSpPr/>
          <p:nvPr/>
        </p:nvSpPr>
        <p:spPr>
          <a:xfrm>
            <a:off x="6903720" y="5029200"/>
            <a:ext cx="2331720" cy="1097280"/>
          </a:xfrm>
          <a:prstGeom prst="roundRect">
            <a:avLst>
              <a:gd name="adj" fmla="val 10000"/>
            </a:avLst>
          </a:prstGeom>
          <a:solidFill>
            <a:srgbClr val="FFEDD5"/>
          </a:solidFill>
          <a:ln w="254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700" b="1" i="0">
                <a:solidFill>
                  <a:srgbClr val="111827"/>
                </a:solidFill>
                <a:latin typeface="Times New Roman"/>
              </a:rPr>
              <a:t>Orange</a:t>
            </a:r>
          </a:p>
          <a:p>
            <a:pPr algn="ctr">
              <a:spcBef>
                <a:spcPts val="0"/>
              </a:spcBef>
              <a:spcAft>
                <a:spcPts val="0"/>
              </a:spcAft>
            </a:pPr>
            <a:r>
              <a:rPr sz="1400" b="0" i="0">
                <a:solidFill>
                  <a:srgbClr val="111827"/>
                </a:solidFill>
                <a:latin typeface="Times New Roman"/>
              </a:rPr>
              <a:t>Projected fault: limit reached in ≤ 60 s</a:t>
            </a:r>
          </a:p>
        </p:txBody>
      </p:sp>
      <p:sp>
        <p:nvSpPr>
          <p:cNvPr id="23" name="Rounded Rectangle 22"/>
          <p:cNvSpPr/>
          <p:nvPr/>
        </p:nvSpPr>
        <p:spPr>
          <a:xfrm>
            <a:off x="9464039" y="5029200"/>
            <a:ext cx="2331720" cy="1097280"/>
          </a:xfrm>
          <a:prstGeom prst="roundRect">
            <a:avLst>
              <a:gd name="adj" fmla="val 10000"/>
            </a:avLst>
          </a:prstGeom>
          <a:solidFill>
            <a:srgbClr val="FEE2E2"/>
          </a:solidFill>
          <a:ln w="254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700" b="1" i="0">
                <a:solidFill>
                  <a:srgbClr val="111827"/>
                </a:solidFill>
                <a:latin typeface="Times New Roman"/>
              </a:rPr>
              <a:t>Red</a:t>
            </a:r>
          </a:p>
          <a:p>
            <a:pPr algn="ctr">
              <a:spcBef>
                <a:spcPts val="0"/>
              </a:spcBef>
              <a:spcAft>
                <a:spcPts val="0"/>
              </a:spcAft>
            </a:pPr>
            <a:r>
              <a:rPr sz="1400" b="0" i="0">
                <a:solidFill>
                  <a:srgbClr val="111827"/>
                </a:solidFill>
                <a:latin typeface="Times New Roman"/>
              </a:rPr>
              <a:t>Hard fault: limit crossed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Introduction – What is OEE?</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97280"/>
            <a:ext cx="2194560" cy="1143000"/>
          </a:xfrm>
          <a:prstGeom prst="roundRect">
            <a:avLst>
              <a:gd name="adj" fmla="val 960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2200" b="1" i="0">
                <a:solidFill>
                  <a:srgbClr val="111827"/>
                </a:solidFill>
                <a:latin typeface="Times New Roman"/>
              </a:rPr>
              <a:t>Availability</a:t>
            </a:r>
          </a:p>
          <a:p>
            <a:pPr algn="ctr">
              <a:spcBef>
                <a:spcPts val="0"/>
              </a:spcBef>
              <a:spcAft>
                <a:spcPts val="0"/>
              </a:spcAft>
            </a:pPr>
            <a:r>
              <a:rPr sz="1400" b="0" i="0">
                <a:solidFill>
                  <a:srgbClr val="111827"/>
                </a:solidFill>
                <a:latin typeface="Times New Roman"/>
              </a:rPr>
              <a:t>run time ÷ planned time</a:t>
            </a:r>
          </a:p>
        </p:txBody>
      </p:sp>
      <p:sp>
        <p:nvSpPr>
          <p:cNvPr id="5" name="Rounded Rectangle 4"/>
          <p:cNvSpPr/>
          <p:nvPr/>
        </p:nvSpPr>
        <p:spPr>
          <a:xfrm>
            <a:off x="4389120" y="1097280"/>
            <a:ext cx="2194560" cy="1143000"/>
          </a:xfrm>
          <a:prstGeom prst="roundRect">
            <a:avLst>
              <a:gd name="adj" fmla="val 9600"/>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2200" b="1" i="0">
                <a:solidFill>
                  <a:srgbClr val="111827"/>
                </a:solidFill>
                <a:latin typeface="Times New Roman"/>
              </a:rPr>
              <a:t>Performance</a:t>
            </a:r>
          </a:p>
          <a:p>
            <a:pPr algn="ctr">
              <a:spcBef>
                <a:spcPts val="0"/>
              </a:spcBef>
              <a:spcAft>
                <a:spcPts val="0"/>
              </a:spcAft>
            </a:pPr>
            <a:r>
              <a:rPr sz="1400" b="0" i="0">
                <a:solidFill>
                  <a:srgbClr val="111827"/>
                </a:solidFill>
                <a:latin typeface="Times New Roman"/>
              </a:rPr>
              <a:t>actual speed ÷ ideal speed</a:t>
            </a:r>
          </a:p>
        </p:txBody>
      </p:sp>
      <p:sp>
        <p:nvSpPr>
          <p:cNvPr id="6" name="Rounded Rectangle 5"/>
          <p:cNvSpPr/>
          <p:nvPr/>
        </p:nvSpPr>
        <p:spPr>
          <a:xfrm>
            <a:off x="6995160" y="1097280"/>
            <a:ext cx="2194560" cy="1143000"/>
          </a:xfrm>
          <a:prstGeom prst="roundRect">
            <a:avLst>
              <a:gd name="adj" fmla="val 9600"/>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2200" b="1" i="0">
                <a:solidFill>
                  <a:srgbClr val="111827"/>
                </a:solidFill>
                <a:latin typeface="Times New Roman"/>
              </a:rPr>
              <a:t>Quality</a:t>
            </a:r>
          </a:p>
          <a:p>
            <a:pPr algn="ctr">
              <a:spcBef>
                <a:spcPts val="0"/>
              </a:spcBef>
              <a:spcAft>
                <a:spcPts val="0"/>
              </a:spcAft>
            </a:pPr>
            <a:r>
              <a:rPr sz="1400" b="0" i="0">
                <a:solidFill>
                  <a:srgbClr val="111827"/>
                </a:solidFill>
                <a:latin typeface="Times New Roman"/>
              </a:rPr>
              <a:t>good parts ÷ all parts</a:t>
            </a:r>
          </a:p>
        </p:txBody>
      </p:sp>
      <p:sp>
        <p:nvSpPr>
          <p:cNvPr id="7" name="Rounded Rectangle 6"/>
          <p:cNvSpPr/>
          <p:nvPr/>
        </p:nvSpPr>
        <p:spPr>
          <a:xfrm>
            <a:off x="9601200" y="1097280"/>
            <a:ext cx="2194560" cy="1143000"/>
          </a:xfrm>
          <a:prstGeom prst="roundRect">
            <a:avLst>
              <a:gd name="adj" fmla="val 9600"/>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2200" b="1" i="0">
                <a:solidFill>
                  <a:srgbClr val="111827"/>
                </a:solidFill>
                <a:latin typeface="Times New Roman"/>
              </a:rPr>
              <a:t>OEE</a:t>
            </a:r>
          </a:p>
          <a:p>
            <a:pPr algn="ctr">
              <a:spcBef>
                <a:spcPts val="0"/>
              </a:spcBef>
              <a:spcAft>
                <a:spcPts val="0"/>
              </a:spcAft>
            </a:pPr>
            <a:r>
              <a:rPr sz="1400" b="0" i="0">
                <a:solidFill>
                  <a:srgbClr val="111827"/>
                </a:solidFill>
                <a:latin typeface="Times New Roman"/>
              </a:rPr>
              <a:t>overall effectiveness</a:t>
            </a:r>
          </a:p>
        </p:txBody>
      </p:sp>
      <p:sp>
        <p:nvSpPr>
          <p:cNvPr id="8" name="TextBox 7"/>
          <p:cNvSpPr txBox="1"/>
          <p:nvPr/>
        </p:nvSpPr>
        <p:spPr>
          <a:xfrm>
            <a:off x="3977639" y="1097280"/>
            <a:ext cx="411480" cy="1143000"/>
          </a:xfrm>
          <a:prstGeom prst="rect">
            <a:avLst/>
          </a:prstGeom>
          <a:noFill/>
        </p:spPr>
        <p:txBody>
          <a:bodyPr wrap="square" lIns="0" rIns="0" tIns="0" bIns="0" anchor="ctr">
            <a:noAutofit/>
          </a:bodyPr>
          <a:lstStyle/>
          <a:p>
            <a:pPr algn="ctr">
              <a:spcBef>
                <a:spcPts val="0"/>
              </a:spcBef>
              <a:spcAft>
                <a:spcPts val="0"/>
              </a:spcAft>
            </a:pPr>
            <a:r>
              <a:rPr sz="3000" b="1" i="0">
                <a:solidFill>
                  <a:srgbClr val="111827"/>
                </a:solidFill>
                <a:latin typeface="Times New Roman"/>
              </a:rPr>
              <a:t>×</a:t>
            </a:r>
          </a:p>
        </p:txBody>
      </p:sp>
      <p:sp>
        <p:nvSpPr>
          <p:cNvPr id="9" name="TextBox 8"/>
          <p:cNvSpPr txBox="1"/>
          <p:nvPr/>
        </p:nvSpPr>
        <p:spPr>
          <a:xfrm>
            <a:off x="6583679" y="1097280"/>
            <a:ext cx="411480" cy="1143000"/>
          </a:xfrm>
          <a:prstGeom prst="rect">
            <a:avLst/>
          </a:prstGeom>
          <a:noFill/>
        </p:spPr>
        <p:txBody>
          <a:bodyPr wrap="square" lIns="0" rIns="0" tIns="0" bIns="0" anchor="ctr">
            <a:noAutofit/>
          </a:bodyPr>
          <a:lstStyle/>
          <a:p>
            <a:pPr algn="ctr">
              <a:spcBef>
                <a:spcPts val="0"/>
              </a:spcBef>
              <a:spcAft>
                <a:spcPts val="0"/>
              </a:spcAft>
            </a:pPr>
            <a:r>
              <a:rPr sz="3000" b="1" i="0">
                <a:solidFill>
                  <a:srgbClr val="111827"/>
                </a:solidFill>
                <a:latin typeface="Times New Roman"/>
              </a:rPr>
              <a:t>×</a:t>
            </a:r>
          </a:p>
        </p:txBody>
      </p:sp>
      <p:sp>
        <p:nvSpPr>
          <p:cNvPr id="10" name="TextBox 9"/>
          <p:cNvSpPr txBox="1"/>
          <p:nvPr/>
        </p:nvSpPr>
        <p:spPr>
          <a:xfrm>
            <a:off x="9189720" y="1097280"/>
            <a:ext cx="411480" cy="1143000"/>
          </a:xfrm>
          <a:prstGeom prst="rect">
            <a:avLst/>
          </a:prstGeom>
          <a:noFill/>
        </p:spPr>
        <p:txBody>
          <a:bodyPr wrap="square" lIns="0" rIns="0" tIns="0" bIns="0" anchor="ctr">
            <a:noAutofit/>
          </a:bodyPr>
          <a:lstStyle/>
          <a:p>
            <a:pPr algn="ctr">
              <a:spcBef>
                <a:spcPts val="0"/>
              </a:spcBef>
              <a:spcAft>
                <a:spcPts val="0"/>
              </a:spcAft>
            </a:pPr>
            <a:r>
              <a:rPr sz="3000" b="1" i="0">
                <a:solidFill>
                  <a:srgbClr val="111827"/>
                </a:solidFill>
                <a:latin typeface="Times New Roman"/>
              </a:rPr>
              <a:t>=</a:t>
            </a:r>
          </a:p>
        </p:txBody>
      </p:sp>
      <p:sp>
        <p:nvSpPr>
          <p:cNvPr id="11" name="TextBox 10"/>
          <p:cNvSpPr txBox="1"/>
          <p:nvPr/>
        </p:nvSpPr>
        <p:spPr>
          <a:xfrm>
            <a:off x="1783080" y="2395728"/>
            <a:ext cx="2194560" cy="128016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Was the machine running when it should? Stops lower it.</a:t>
            </a:r>
          </a:p>
        </p:txBody>
      </p:sp>
      <p:sp>
        <p:nvSpPr>
          <p:cNvPr id="12" name="TextBox 11"/>
          <p:cNvSpPr txBox="1"/>
          <p:nvPr/>
        </p:nvSpPr>
        <p:spPr>
          <a:xfrm>
            <a:off x="4389120" y="2395728"/>
            <a:ext cx="2194560" cy="128016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Did it run at full speed? Slow cycles lower it.</a:t>
            </a:r>
          </a:p>
        </p:txBody>
      </p:sp>
      <p:sp>
        <p:nvSpPr>
          <p:cNvPr id="13" name="TextBox 12"/>
          <p:cNvSpPr txBox="1"/>
          <p:nvPr/>
        </p:nvSpPr>
        <p:spPr>
          <a:xfrm>
            <a:off x="6995160" y="2395728"/>
            <a:ext cx="2194560" cy="128016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How many parts were good? Scrap and rework lower it.</a:t>
            </a:r>
          </a:p>
        </p:txBody>
      </p:sp>
      <p:sp>
        <p:nvSpPr>
          <p:cNvPr id="14" name="TextBox 13"/>
          <p:cNvSpPr txBox="1"/>
          <p:nvPr/>
        </p:nvSpPr>
        <p:spPr>
          <a:xfrm>
            <a:off x="9601200" y="2395728"/>
            <a:ext cx="2194560" cy="128016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One number from 0 to 100 % – the standard productivity KPI (ISO 22400).</a:t>
            </a:r>
          </a:p>
        </p:txBody>
      </p:sp>
      <p:sp>
        <p:nvSpPr>
          <p:cNvPr id="15" name="Rounded Rectangle 14"/>
          <p:cNvSpPr/>
          <p:nvPr/>
        </p:nvSpPr>
        <p:spPr>
          <a:xfrm>
            <a:off x="1783080" y="3886200"/>
            <a:ext cx="10012680" cy="2240280"/>
          </a:xfrm>
          <a:prstGeom prst="roundRect">
            <a:avLst>
              <a:gd name="adj" fmla="val 4897"/>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6" name="TextBox 15"/>
          <p:cNvSpPr txBox="1"/>
          <p:nvPr/>
        </p:nvSpPr>
        <p:spPr>
          <a:xfrm>
            <a:off x="2057400" y="4023360"/>
            <a:ext cx="2743200" cy="365760"/>
          </a:xfrm>
          <a:prstGeom prst="rect">
            <a:avLst/>
          </a:prstGeom>
          <a:noFill/>
        </p:spPr>
        <p:txBody>
          <a:bodyPr wrap="square" lIns="0" rIns="0" tIns="0" bIns="0" anchor="t">
            <a:noAutofit/>
          </a:bodyPr>
          <a:lstStyle/>
          <a:p>
            <a:pPr algn="l">
              <a:spcBef>
                <a:spcPts val="0"/>
              </a:spcBef>
              <a:spcAft>
                <a:spcPts val="0"/>
              </a:spcAft>
            </a:pPr>
            <a:r>
              <a:rPr sz="1800" b="1" i="0">
                <a:solidFill>
                  <a:srgbClr val="111827"/>
                </a:solidFill>
                <a:latin typeface="Times New Roman"/>
              </a:rPr>
              <a:t>Worked example</a:t>
            </a:r>
          </a:p>
        </p:txBody>
      </p:sp>
      <p:sp>
        <p:nvSpPr>
          <p:cNvPr id="17" name="TextBox 16"/>
          <p:cNvSpPr txBox="1"/>
          <p:nvPr/>
        </p:nvSpPr>
        <p:spPr>
          <a:xfrm>
            <a:off x="2057400" y="4434840"/>
            <a:ext cx="2468880" cy="109728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A machine that is up 90 % of the time, runs at 95 % of ideal speed and makes 98 % good parts is not “90 % productive”:</a:t>
            </a:r>
          </a:p>
        </p:txBody>
      </p:sp>
      <p:sp>
        <p:nvSpPr>
          <p:cNvPr id="18" name="TextBox 17"/>
          <p:cNvSpPr txBox="1"/>
          <p:nvPr/>
        </p:nvSpPr>
        <p:spPr>
          <a:xfrm>
            <a:off x="4892040" y="4343400"/>
            <a:ext cx="1234440" cy="640080"/>
          </a:xfrm>
          <a:prstGeom prst="rect">
            <a:avLst/>
          </a:prstGeom>
          <a:noFill/>
        </p:spPr>
        <p:txBody>
          <a:bodyPr wrap="square" lIns="0" rIns="0" tIns="0" bIns="0" anchor="ctr">
            <a:noAutofit/>
          </a:bodyPr>
          <a:lstStyle/>
          <a:p>
            <a:pPr algn="ctr">
              <a:spcBef>
                <a:spcPts val="0"/>
              </a:spcBef>
              <a:spcAft>
                <a:spcPts val="0"/>
              </a:spcAft>
            </a:pPr>
            <a:r>
              <a:rPr sz="3200" b="1" i="0">
                <a:solidFill>
                  <a:srgbClr val="111827"/>
                </a:solidFill>
                <a:latin typeface="Times New Roman"/>
              </a:rPr>
              <a:t>90 %</a:t>
            </a:r>
          </a:p>
        </p:txBody>
      </p:sp>
      <p:sp>
        <p:nvSpPr>
          <p:cNvPr id="19" name="TextBox 18"/>
          <p:cNvSpPr txBox="1"/>
          <p:nvPr/>
        </p:nvSpPr>
        <p:spPr>
          <a:xfrm>
            <a:off x="4892040" y="5029200"/>
            <a:ext cx="1234440" cy="274320"/>
          </a:xfrm>
          <a:prstGeom prst="rect">
            <a:avLst/>
          </a:prstGeom>
          <a:noFill/>
        </p:spPr>
        <p:txBody>
          <a:bodyPr wrap="square" lIns="0" rIns="0" tIns="0" bIns="0" anchor="t">
            <a:noAutofit/>
          </a:bodyPr>
          <a:lstStyle/>
          <a:p>
            <a:pPr algn="ctr">
              <a:spcBef>
                <a:spcPts val="0"/>
              </a:spcBef>
              <a:spcAft>
                <a:spcPts val="0"/>
              </a:spcAft>
            </a:pPr>
            <a:r>
              <a:rPr sz="1300" b="0" i="0">
                <a:solidFill>
                  <a:srgbClr val="475569"/>
                </a:solidFill>
                <a:latin typeface="Times New Roman"/>
              </a:rPr>
              <a:t>Availability</a:t>
            </a:r>
          </a:p>
        </p:txBody>
      </p:sp>
      <p:sp>
        <p:nvSpPr>
          <p:cNvPr id="20" name="TextBox 19"/>
          <p:cNvSpPr txBox="1"/>
          <p:nvPr/>
        </p:nvSpPr>
        <p:spPr>
          <a:xfrm>
            <a:off x="6126479" y="4343400"/>
            <a:ext cx="502920" cy="640080"/>
          </a:xfrm>
          <a:prstGeom prst="rect">
            <a:avLst/>
          </a:prstGeom>
          <a:noFill/>
        </p:spPr>
        <p:txBody>
          <a:bodyPr wrap="square" lIns="0" rIns="0" tIns="0" bIns="0" anchor="ctr">
            <a:noAutofit/>
          </a:bodyPr>
          <a:lstStyle/>
          <a:p>
            <a:pPr algn="ctr">
              <a:spcBef>
                <a:spcPts val="0"/>
              </a:spcBef>
              <a:spcAft>
                <a:spcPts val="0"/>
              </a:spcAft>
            </a:pPr>
            <a:r>
              <a:rPr sz="3000" b="1" i="0">
                <a:solidFill>
                  <a:srgbClr val="64748B"/>
                </a:solidFill>
                <a:latin typeface="Times New Roman"/>
              </a:rPr>
              <a:t>×</a:t>
            </a:r>
          </a:p>
        </p:txBody>
      </p:sp>
      <p:sp>
        <p:nvSpPr>
          <p:cNvPr id="21" name="TextBox 20"/>
          <p:cNvSpPr txBox="1"/>
          <p:nvPr/>
        </p:nvSpPr>
        <p:spPr>
          <a:xfrm>
            <a:off x="6629399" y="4343400"/>
            <a:ext cx="1234440" cy="640080"/>
          </a:xfrm>
          <a:prstGeom prst="rect">
            <a:avLst/>
          </a:prstGeom>
          <a:noFill/>
        </p:spPr>
        <p:txBody>
          <a:bodyPr wrap="square" lIns="0" rIns="0" tIns="0" bIns="0" anchor="ctr">
            <a:noAutofit/>
          </a:bodyPr>
          <a:lstStyle/>
          <a:p>
            <a:pPr algn="ctr">
              <a:spcBef>
                <a:spcPts val="0"/>
              </a:spcBef>
              <a:spcAft>
                <a:spcPts val="0"/>
              </a:spcAft>
            </a:pPr>
            <a:r>
              <a:rPr sz="3200" b="1" i="0">
                <a:solidFill>
                  <a:srgbClr val="111827"/>
                </a:solidFill>
                <a:latin typeface="Times New Roman"/>
              </a:rPr>
              <a:t>95 %</a:t>
            </a:r>
          </a:p>
        </p:txBody>
      </p:sp>
      <p:sp>
        <p:nvSpPr>
          <p:cNvPr id="22" name="TextBox 21"/>
          <p:cNvSpPr txBox="1"/>
          <p:nvPr/>
        </p:nvSpPr>
        <p:spPr>
          <a:xfrm>
            <a:off x="6629399" y="5029200"/>
            <a:ext cx="1234440" cy="274320"/>
          </a:xfrm>
          <a:prstGeom prst="rect">
            <a:avLst/>
          </a:prstGeom>
          <a:noFill/>
        </p:spPr>
        <p:txBody>
          <a:bodyPr wrap="square" lIns="0" rIns="0" tIns="0" bIns="0" anchor="t">
            <a:noAutofit/>
          </a:bodyPr>
          <a:lstStyle/>
          <a:p>
            <a:pPr algn="ctr">
              <a:spcBef>
                <a:spcPts val="0"/>
              </a:spcBef>
              <a:spcAft>
                <a:spcPts val="0"/>
              </a:spcAft>
            </a:pPr>
            <a:r>
              <a:rPr sz="1300" b="0" i="0">
                <a:solidFill>
                  <a:srgbClr val="475569"/>
                </a:solidFill>
                <a:latin typeface="Times New Roman"/>
              </a:rPr>
              <a:t>Performance</a:t>
            </a:r>
          </a:p>
        </p:txBody>
      </p:sp>
      <p:sp>
        <p:nvSpPr>
          <p:cNvPr id="23" name="TextBox 22"/>
          <p:cNvSpPr txBox="1"/>
          <p:nvPr/>
        </p:nvSpPr>
        <p:spPr>
          <a:xfrm>
            <a:off x="7863840" y="4343400"/>
            <a:ext cx="502920" cy="640080"/>
          </a:xfrm>
          <a:prstGeom prst="rect">
            <a:avLst/>
          </a:prstGeom>
          <a:noFill/>
        </p:spPr>
        <p:txBody>
          <a:bodyPr wrap="square" lIns="0" rIns="0" tIns="0" bIns="0" anchor="ctr">
            <a:noAutofit/>
          </a:bodyPr>
          <a:lstStyle/>
          <a:p>
            <a:pPr algn="ctr">
              <a:spcBef>
                <a:spcPts val="0"/>
              </a:spcBef>
              <a:spcAft>
                <a:spcPts val="0"/>
              </a:spcAft>
            </a:pPr>
            <a:r>
              <a:rPr sz="3000" b="1" i="0">
                <a:solidFill>
                  <a:srgbClr val="64748B"/>
                </a:solidFill>
                <a:latin typeface="Times New Roman"/>
              </a:rPr>
              <a:t>×</a:t>
            </a:r>
          </a:p>
        </p:txBody>
      </p:sp>
      <p:sp>
        <p:nvSpPr>
          <p:cNvPr id="24" name="TextBox 23"/>
          <p:cNvSpPr txBox="1"/>
          <p:nvPr/>
        </p:nvSpPr>
        <p:spPr>
          <a:xfrm>
            <a:off x="8366760" y="4343400"/>
            <a:ext cx="1234440" cy="640080"/>
          </a:xfrm>
          <a:prstGeom prst="rect">
            <a:avLst/>
          </a:prstGeom>
          <a:noFill/>
        </p:spPr>
        <p:txBody>
          <a:bodyPr wrap="square" lIns="0" rIns="0" tIns="0" bIns="0" anchor="ctr">
            <a:noAutofit/>
          </a:bodyPr>
          <a:lstStyle/>
          <a:p>
            <a:pPr algn="ctr">
              <a:spcBef>
                <a:spcPts val="0"/>
              </a:spcBef>
              <a:spcAft>
                <a:spcPts val="0"/>
              </a:spcAft>
            </a:pPr>
            <a:r>
              <a:rPr sz="3200" b="1" i="0">
                <a:solidFill>
                  <a:srgbClr val="111827"/>
                </a:solidFill>
                <a:latin typeface="Times New Roman"/>
              </a:rPr>
              <a:t>98 %</a:t>
            </a:r>
          </a:p>
        </p:txBody>
      </p:sp>
      <p:sp>
        <p:nvSpPr>
          <p:cNvPr id="25" name="TextBox 24"/>
          <p:cNvSpPr txBox="1"/>
          <p:nvPr/>
        </p:nvSpPr>
        <p:spPr>
          <a:xfrm>
            <a:off x="8366760" y="5029200"/>
            <a:ext cx="1234440" cy="274320"/>
          </a:xfrm>
          <a:prstGeom prst="rect">
            <a:avLst/>
          </a:prstGeom>
          <a:noFill/>
        </p:spPr>
        <p:txBody>
          <a:bodyPr wrap="square" lIns="0" rIns="0" tIns="0" bIns="0" anchor="t">
            <a:noAutofit/>
          </a:bodyPr>
          <a:lstStyle/>
          <a:p>
            <a:pPr algn="ctr">
              <a:spcBef>
                <a:spcPts val="0"/>
              </a:spcBef>
              <a:spcAft>
                <a:spcPts val="0"/>
              </a:spcAft>
            </a:pPr>
            <a:r>
              <a:rPr sz="1300" b="0" i="0">
                <a:solidFill>
                  <a:srgbClr val="475569"/>
                </a:solidFill>
                <a:latin typeface="Times New Roman"/>
              </a:rPr>
              <a:t>Quality</a:t>
            </a:r>
          </a:p>
        </p:txBody>
      </p:sp>
      <p:sp>
        <p:nvSpPr>
          <p:cNvPr id="26" name="TextBox 25"/>
          <p:cNvSpPr txBox="1"/>
          <p:nvPr/>
        </p:nvSpPr>
        <p:spPr>
          <a:xfrm>
            <a:off x="9601200" y="4343400"/>
            <a:ext cx="502920" cy="640080"/>
          </a:xfrm>
          <a:prstGeom prst="rect">
            <a:avLst/>
          </a:prstGeom>
          <a:noFill/>
        </p:spPr>
        <p:txBody>
          <a:bodyPr wrap="square" lIns="0" rIns="0" tIns="0" bIns="0" anchor="ctr">
            <a:noAutofit/>
          </a:bodyPr>
          <a:lstStyle/>
          <a:p>
            <a:pPr algn="ctr">
              <a:spcBef>
                <a:spcPts val="0"/>
              </a:spcBef>
              <a:spcAft>
                <a:spcPts val="0"/>
              </a:spcAft>
            </a:pPr>
            <a:r>
              <a:rPr sz="3000" b="1" i="0">
                <a:solidFill>
                  <a:srgbClr val="64748B"/>
                </a:solidFill>
                <a:latin typeface="Times New Roman"/>
              </a:rPr>
              <a:t>=</a:t>
            </a:r>
          </a:p>
        </p:txBody>
      </p:sp>
      <p:sp>
        <p:nvSpPr>
          <p:cNvPr id="27" name="TextBox 26"/>
          <p:cNvSpPr txBox="1"/>
          <p:nvPr/>
        </p:nvSpPr>
        <p:spPr>
          <a:xfrm>
            <a:off x="10104120" y="4343400"/>
            <a:ext cx="1234440" cy="640080"/>
          </a:xfrm>
          <a:prstGeom prst="rect">
            <a:avLst/>
          </a:prstGeom>
          <a:noFill/>
        </p:spPr>
        <p:txBody>
          <a:bodyPr wrap="square" lIns="0" rIns="0" tIns="0" bIns="0" anchor="ctr">
            <a:noAutofit/>
          </a:bodyPr>
          <a:lstStyle/>
          <a:p>
            <a:pPr algn="ctr">
              <a:spcBef>
                <a:spcPts val="0"/>
              </a:spcBef>
              <a:spcAft>
                <a:spcPts val="0"/>
              </a:spcAft>
            </a:pPr>
            <a:r>
              <a:rPr sz="3200" b="1" i="0">
                <a:solidFill>
                  <a:srgbClr val="375623"/>
                </a:solidFill>
                <a:latin typeface="Times New Roman"/>
              </a:rPr>
              <a:t>83.8 %</a:t>
            </a:r>
          </a:p>
        </p:txBody>
      </p:sp>
      <p:sp>
        <p:nvSpPr>
          <p:cNvPr id="28" name="TextBox 27"/>
          <p:cNvSpPr txBox="1"/>
          <p:nvPr/>
        </p:nvSpPr>
        <p:spPr>
          <a:xfrm>
            <a:off x="10104120" y="5029200"/>
            <a:ext cx="1234440" cy="274320"/>
          </a:xfrm>
          <a:prstGeom prst="rect">
            <a:avLst/>
          </a:prstGeom>
          <a:noFill/>
        </p:spPr>
        <p:txBody>
          <a:bodyPr wrap="square" lIns="0" rIns="0" tIns="0" bIns="0" anchor="t">
            <a:noAutofit/>
          </a:bodyPr>
          <a:lstStyle/>
          <a:p>
            <a:pPr algn="ctr">
              <a:spcBef>
                <a:spcPts val="0"/>
              </a:spcBef>
              <a:spcAft>
                <a:spcPts val="0"/>
              </a:spcAft>
            </a:pPr>
            <a:r>
              <a:rPr sz="1300" b="0" i="0">
                <a:solidFill>
                  <a:srgbClr val="475569"/>
                </a:solidFill>
                <a:latin typeface="Times New Roman"/>
              </a:rPr>
              <a:t>OEE</a:t>
            </a:r>
          </a:p>
        </p:txBody>
      </p:sp>
      <p:sp>
        <p:nvSpPr>
          <p:cNvPr id="29" name="TextBox 28"/>
          <p:cNvSpPr txBox="1"/>
          <p:nvPr/>
        </p:nvSpPr>
        <p:spPr>
          <a:xfrm>
            <a:off x="2057400" y="5623560"/>
            <a:ext cx="9464040" cy="320040"/>
          </a:xfrm>
          <a:prstGeom prst="rect">
            <a:avLst/>
          </a:prstGeom>
          <a:noFill/>
        </p:spPr>
        <p:txBody>
          <a:bodyPr wrap="square" lIns="0" rIns="0" tIns="0" bIns="0" anchor="t">
            <a:noAutofit/>
          </a:bodyPr>
          <a:lstStyle/>
          <a:p>
            <a:pPr algn="l">
              <a:spcBef>
                <a:spcPts val="0"/>
              </a:spcBef>
              <a:spcAft>
                <a:spcPts val="0"/>
              </a:spcAft>
            </a:pPr>
            <a:r>
              <a:rPr sz="1400" b="0" i="1">
                <a:solidFill>
                  <a:srgbClr val="475569"/>
                </a:solidFill>
                <a:latin typeface="Times New Roman"/>
              </a:rPr>
              <a:t>Reference point often quoted for “world-class” plants: about 85 % (Nakajima, TPM).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Problem Statement</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TextBox 3"/>
          <p:cNvSpPr txBox="1"/>
          <p:nvPr/>
        </p:nvSpPr>
        <p:spPr>
          <a:xfrm>
            <a:off x="1783080" y="1005840"/>
            <a:ext cx="4297680" cy="365760"/>
          </a:xfrm>
          <a:prstGeom prst="rect">
            <a:avLst/>
          </a:prstGeom>
          <a:noFill/>
        </p:spPr>
        <p:txBody>
          <a:bodyPr wrap="square" lIns="0" rIns="0" tIns="0" bIns="0" anchor="t">
            <a:noAutofit/>
          </a:bodyPr>
          <a:lstStyle/>
          <a:p>
            <a:pPr algn="l">
              <a:spcBef>
                <a:spcPts val="0"/>
              </a:spcBef>
              <a:spcAft>
                <a:spcPts val="0"/>
              </a:spcAft>
            </a:pPr>
            <a:r>
              <a:rPr sz="1900" b="1" i="0">
                <a:solidFill>
                  <a:srgbClr val="C00000"/>
                </a:solidFill>
                <a:latin typeface="Times New Roman"/>
              </a:rPr>
              <a:t>Today</a:t>
            </a:r>
          </a:p>
        </p:txBody>
      </p:sp>
      <p:sp>
        <p:nvSpPr>
          <p:cNvPr id="5" name="TextBox 4"/>
          <p:cNvSpPr txBox="1"/>
          <p:nvPr/>
        </p:nvSpPr>
        <p:spPr>
          <a:xfrm>
            <a:off x="6492240" y="1005840"/>
            <a:ext cx="5303519" cy="365760"/>
          </a:xfrm>
          <a:prstGeom prst="rect">
            <a:avLst/>
          </a:prstGeom>
          <a:noFill/>
        </p:spPr>
        <p:txBody>
          <a:bodyPr wrap="square" lIns="0" rIns="0" tIns="0" bIns="0" anchor="t">
            <a:noAutofit/>
          </a:bodyPr>
          <a:lstStyle/>
          <a:p>
            <a:pPr algn="l">
              <a:spcBef>
                <a:spcPts val="0"/>
              </a:spcBef>
              <a:spcAft>
                <a:spcPts val="0"/>
              </a:spcAft>
            </a:pPr>
            <a:r>
              <a:rPr sz="1900" b="1" i="0">
                <a:solidFill>
                  <a:srgbClr val="375623"/>
                </a:solidFill>
                <a:latin typeface="Times New Roman"/>
              </a:rPr>
              <a:t>What is needed</a:t>
            </a:r>
          </a:p>
        </p:txBody>
      </p:sp>
      <p:sp>
        <p:nvSpPr>
          <p:cNvPr id="6" name="Rounded Rectangle 5"/>
          <p:cNvSpPr/>
          <p:nvPr/>
        </p:nvSpPr>
        <p:spPr>
          <a:xfrm>
            <a:off x="1783080" y="1463040"/>
            <a:ext cx="4297680" cy="1188720"/>
          </a:xfrm>
          <a:prstGeom prst="roundRect">
            <a:avLst>
              <a:gd name="adj" fmla="val 9230"/>
            </a:avLst>
          </a:prstGeom>
          <a:solidFill>
            <a:srgbClr val="FEE2E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noAutofit/>
          </a:bodyPr>
          <a:lstStyle/>
          <a:p>
            <a:pPr algn="l">
              <a:spcBef>
                <a:spcPts val="0"/>
              </a:spcBef>
              <a:spcAft>
                <a:spcPts val="0"/>
              </a:spcAft>
            </a:pPr>
            <a:r>
              <a:rPr sz="1600" b="0" i="0">
                <a:solidFill>
                  <a:srgbClr val="111827"/>
                </a:solidFill>
                <a:latin typeface="Times New Roman"/>
              </a:rPr>
              <a:t>OEE is worked out </a:t>
            </a:r>
            <a:r>
              <a:rPr sz="1600" b="1" i="0">
                <a:solidFill>
                  <a:srgbClr val="111827"/>
                </a:solidFill>
                <a:latin typeface="Times New Roman"/>
              </a:rPr>
              <a:t>after</a:t>
            </a:r>
            <a:r>
              <a:rPr sz="1600" b="0" i="0">
                <a:solidFill>
                  <a:srgbClr val="111827"/>
                </a:solidFill>
                <a:latin typeface="Times New Roman"/>
              </a:rPr>
              <a:t> the shift, in spreadsheets</a:t>
            </a:r>
          </a:p>
        </p:txBody>
      </p:sp>
      <p:sp>
        <p:nvSpPr>
          <p:cNvPr id="7" name="Rounded Rectangle 6"/>
          <p:cNvSpPr/>
          <p:nvPr/>
        </p:nvSpPr>
        <p:spPr>
          <a:xfrm>
            <a:off x="1783080" y="2834640"/>
            <a:ext cx="4297680" cy="1188720"/>
          </a:xfrm>
          <a:prstGeom prst="roundRect">
            <a:avLst>
              <a:gd name="adj" fmla="val 9230"/>
            </a:avLst>
          </a:prstGeom>
          <a:solidFill>
            <a:srgbClr val="FEE2E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noAutofit/>
          </a:bodyPr>
          <a:lstStyle/>
          <a:p>
            <a:pPr algn="l">
              <a:spcBef>
                <a:spcPts val="0"/>
              </a:spcBef>
              <a:spcAft>
                <a:spcPts val="0"/>
              </a:spcAft>
            </a:pPr>
            <a:r>
              <a:rPr sz="1600" b="0" i="0">
                <a:solidFill>
                  <a:srgbClr val="111827"/>
                </a:solidFill>
                <a:latin typeface="Times New Roman"/>
              </a:rPr>
              <a:t>Alarms fire only when a fixed limit is </a:t>
            </a:r>
            <a:r>
              <a:rPr sz="1600" b="1" i="0">
                <a:solidFill>
                  <a:srgbClr val="111827"/>
                </a:solidFill>
                <a:latin typeface="Times New Roman"/>
              </a:rPr>
              <a:t>already crossed</a:t>
            </a:r>
          </a:p>
        </p:txBody>
      </p:sp>
      <p:sp>
        <p:nvSpPr>
          <p:cNvPr id="8" name="Rounded Rectangle 7"/>
          <p:cNvSpPr/>
          <p:nvPr/>
        </p:nvSpPr>
        <p:spPr>
          <a:xfrm>
            <a:off x="1783080" y="4206240"/>
            <a:ext cx="4297680" cy="1188720"/>
          </a:xfrm>
          <a:prstGeom prst="roundRect">
            <a:avLst>
              <a:gd name="adj" fmla="val 9230"/>
            </a:avLst>
          </a:prstGeom>
          <a:solidFill>
            <a:srgbClr val="FEE2E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noAutofit/>
          </a:bodyPr>
          <a:lstStyle/>
          <a:p>
            <a:pPr algn="l">
              <a:spcBef>
                <a:spcPts val="0"/>
              </a:spcBef>
              <a:spcAft>
                <a:spcPts val="0"/>
              </a:spcAft>
            </a:pPr>
            <a:r>
              <a:rPr sz="1600" b="0" i="0">
                <a:solidFill>
                  <a:srgbClr val="111827"/>
                </a:solidFill>
                <a:latin typeface="Times New Roman"/>
              </a:rPr>
              <a:t>Slow drifts and unusual patterns go unnoticed until a breakdown</a:t>
            </a:r>
          </a:p>
        </p:txBody>
      </p:sp>
      <p:sp>
        <p:nvSpPr>
          <p:cNvPr id="9" name="Rounded Rectangle 8"/>
          <p:cNvSpPr/>
          <p:nvPr/>
        </p:nvSpPr>
        <p:spPr>
          <a:xfrm>
            <a:off x="6492240" y="1463040"/>
            <a:ext cx="5303519" cy="886968"/>
          </a:xfrm>
          <a:prstGeom prst="roundRect">
            <a:avLst>
              <a:gd name="adj" fmla="val 12371"/>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0" name="Oval 9"/>
          <p:cNvSpPr/>
          <p:nvPr/>
        </p:nvSpPr>
        <p:spPr>
          <a:xfrm>
            <a:off x="6675120" y="1677924"/>
            <a:ext cx="457200" cy="457200"/>
          </a:xfrm>
          <a:prstGeom prst="ellipse">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1</a:t>
            </a:r>
          </a:p>
        </p:txBody>
      </p:sp>
      <p:sp>
        <p:nvSpPr>
          <p:cNvPr id="11" name="TextBox 10"/>
          <p:cNvSpPr txBox="1"/>
          <p:nvPr/>
        </p:nvSpPr>
        <p:spPr>
          <a:xfrm>
            <a:off x="7360920" y="1463040"/>
            <a:ext cx="4297679" cy="886968"/>
          </a:xfrm>
          <a:prstGeom prst="rect">
            <a:avLst/>
          </a:prstGeom>
          <a:noFill/>
        </p:spPr>
        <p:txBody>
          <a:bodyPr wrap="square" lIns="0" rIns="0" tIns="0" bIns="0" anchor="ctr">
            <a:noAutofit/>
          </a:bodyPr>
          <a:lstStyle/>
          <a:p>
            <a:pPr algn="l">
              <a:spcBef>
                <a:spcPts val="0"/>
              </a:spcBef>
              <a:spcAft>
                <a:spcPts val="0"/>
              </a:spcAft>
            </a:pPr>
            <a:r>
              <a:rPr sz="1600" b="0" i="0">
                <a:solidFill>
                  <a:srgbClr val="111827"/>
                </a:solidFill>
                <a:latin typeface="Times New Roman"/>
              </a:rPr>
              <a:t>Show </a:t>
            </a:r>
            <a:r>
              <a:rPr sz="1600" b="1" i="0">
                <a:solidFill>
                  <a:srgbClr val="111827"/>
                </a:solidFill>
                <a:latin typeface="Times New Roman"/>
              </a:rPr>
              <a:t>OEE</a:t>
            </a:r>
            <a:r>
              <a:rPr sz="1600" b="0" i="0">
                <a:solidFill>
                  <a:srgbClr val="111827"/>
                </a:solidFill>
                <a:latin typeface="Times New Roman"/>
              </a:rPr>
              <a:t> per machine and for the whole plant, live</a:t>
            </a:r>
          </a:p>
        </p:txBody>
      </p:sp>
      <p:sp>
        <p:nvSpPr>
          <p:cNvPr id="12" name="Rounded Rectangle 11"/>
          <p:cNvSpPr/>
          <p:nvPr/>
        </p:nvSpPr>
        <p:spPr>
          <a:xfrm>
            <a:off x="6492240" y="2491740"/>
            <a:ext cx="5303519" cy="886968"/>
          </a:xfrm>
          <a:prstGeom prst="roundRect">
            <a:avLst>
              <a:gd name="adj" fmla="val 12371"/>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3" name="Oval 12"/>
          <p:cNvSpPr/>
          <p:nvPr/>
        </p:nvSpPr>
        <p:spPr>
          <a:xfrm>
            <a:off x="6675120" y="2706624"/>
            <a:ext cx="457200" cy="457200"/>
          </a:xfrm>
          <a:prstGeom prst="ellipse">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2</a:t>
            </a:r>
          </a:p>
        </p:txBody>
      </p:sp>
      <p:sp>
        <p:nvSpPr>
          <p:cNvPr id="14" name="TextBox 13"/>
          <p:cNvSpPr txBox="1"/>
          <p:nvPr/>
        </p:nvSpPr>
        <p:spPr>
          <a:xfrm>
            <a:off x="7360920" y="2491740"/>
            <a:ext cx="4297679" cy="886968"/>
          </a:xfrm>
          <a:prstGeom prst="rect">
            <a:avLst/>
          </a:prstGeom>
          <a:noFill/>
        </p:spPr>
        <p:txBody>
          <a:bodyPr wrap="square" lIns="0" rIns="0" tIns="0" bIns="0" anchor="ctr">
            <a:noAutofit/>
          </a:bodyPr>
          <a:lstStyle/>
          <a:p>
            <a:pPr algn="l">
              <a:spcBef>
                <a:spcPts val="0"/>
              </a:spcBef>
              <a:spcAft>
                <a:spcPts val="0"/>
              </a:spcAft>
            </a:pPr>
            <a:r>
              <a:rPr sz="1600" b="0" i="0">
                <a:solidFill>
                  <a:srgbClr val="111827"/>
                </a:solidFill>
                <a:latin typeface="Times New Roman"/>
              </a:rPr>
              <a:t>Flag </a:t>
            </a:r>
            <a:r>
              <a:rPr sz="1600" b="1" i="0">
                <a:solidFill>
                  <a:srgbClr val="111827"/>
                </a:solidFill>
                <a:latin typeface="Times New Roman"/>
              </a:rPr>
              <a:t>hard faults</a:t>
            </a:r>
            <a:r>
              <a:rPr sz="1600" b="0" i="0">
                <a:solidFill>
                  <a:srgbClr val="111827"/>
                </a:solidFill>
                <a:latin typeface="Times New Roman"/>
              </a:rPr>
              <a:t> instantly (Red)</a:t>
            </a:r>
          </a:p>
        </p:txBody>
      </p:sp>
      <p:sp>
        <p:nvSpPr>
          <p:cNvPr id="15" name="Rounded Rectangle 14"/>
          <p:cNvSpPr/>
          <p:nvPr/>
        </p:nvSpPr>
        <p:spPr>
          <a:xfrm>
            <a:off x="6492240" y="3520440"/>
            <a:ext cx="5303519" cy="886968"/>
          </a:xfrm>
          <a:prstGeom prst="roundRect">
            <a:avLst>
              <a:gd name="adj" fmla="val 12371"/>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6" name="Oval 15"/>
          <p:cNvSpPr/>
          <p:nvPr/>
        </p:nvSpPr>
        <p:spPr>
          <a:xfrm>
            <a:off x="6675120" y="3735324"/>
            <a:ext cx="457200" cy="457200"/>
          </a:xfrm>
          <a:prstGeom prst="ellipse">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3</a:t>
            </a:r>
          </a:p>
        </p:txBody>
      </p:sp>
      <p:sp>
        <p:nvSpPr>
          <p:cNvPr id="17" name="TextBox 16"/>
          <p:cNvSpPr txBox="1"/>
          <p:nvPr/>
        </p:nvSpPr>
        <p:spPr>
          <a:xfrm>
            <a:off x="7360920" y="3520440"/>
            <a:ext cx="4297679" cy="886968"/>
          </a:xfrm>
          <a:prstGeom prst="rect">
            <a:avLst/>
          </a:prstGeom>
          <a:noFill/>
        </p:spPr>
        <p:txBody>
          <a:bodyPr wrap="square" lIns="0" rIns="0" tIns="0" bIns="0" anchor="ctr">
            <a:noAutofit/>
          </a:bodyPr>
          <a:lstStyle/>
          <a:p>
            <a:pPr algn="l">
              <a:spcBef>
                <a:spcPts val="0"/>
              </a:spcBef>
              <a:spcAft>
                <a:spcPts val="0"/>
              </a:spcAft>
            </a:pPr>
            <a:r>
              <a:rPr sz="1600" b="0" i="0">
                <a:solidFill>
                  <a:srgbClr val="111827"/>
                </a:solidFill>
                <a:latin typeface="Times New Roman"/>
              </a:rPr>
              <a:t>Detect </a:t>
            </a:r>
            <a:r>
              <a:rPr sz="1600" b="1" i="0">
                <a:solidFill>
                  <a:srgbClr val="111827"/>
                </a:solidFill>
                <a:latin typeface="Times New Roman"/>
              </a:rPr>
              <a:t>subtle anomalies</a:t>
            </a:r>
            <a:r>
              <a:rPr sz="1600" b="0" i="0">
                <a:solidFill>
                  <a:srgbClr val="111827"/>
                </a:solidFill>
                <a:latin typeface="Times New Roman"/>
              </a:rPr>
              <a:t> that limits miss (Yellow)</a:t>
            </a:r>
          </a:p>
        </p:txBody>
      </p:sp>
      <p:sp>
        <p:nvSpPr>
          <p:cNvPr id="18" name="Rounded Rectangle 17"/>
          <p:cNvSpPr/>
          <p:nvPr/>
        </p:nvSpPr>
        <p:spPr>
          <a:xfrm>
            <a:off x="6492240" y="4549140"/>
            <a:ext cx="5303519" cy="886968"/>
          </a:xfrm>
          <a:prstGeom prst="roundRect">
            <a:avLst>
              <a:gd name="adj" fmla="val 12371"/>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9" name="Oval 18"/>
          <p:cNvSpPr/>
          <p:nvPr/>
        </p:nvSpPr>
        <p:spPr>
          <a:xfrm>
            <a:off x="6675120" y="4764024"/>
            <a:ext cx="457200" cy="457200"/>
          </a:xfrm>
          <a:prstGeom prst="ellipse">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4</a:t>
            </a:r>
          </a:p>
        </p:txBody>
      </p:sp>
      <p:sp>
        <p:nvSpPr>
          <p:cNvPr id="20" name="TextBox 19"/>
          <p:cNvSpPr txBox="1"/>
          <p:nvPr/>
        </p:nvSpPr>
        <p:spPr>
          <a:xfrm>
            <a:off x="7360920" y="4549140"/>
            <a:ext cx="4297679" cy="886968"/>
          </a:xfrm>
          <a:prstGeom prst="rect">
            <a:avLst/>
          </a:prstGeom>
          <a:noFill/>
        </p:spPr>
        <p:txBody>
          <a:bodyPr wrap="square" lIns="0" rIns="0" tIns="0" bIns="0" anchor="ctr">
            <a:noAutofit/>
          </a:bodyPr>
          <a:lstStyle/>
          <a:p>
            <a:pPr algn="l">
              <a:spcBef>
                <a:spcPts val="0"/>
              </a:spcBef>
              <a:spcAft>
                <a:spcPts val="0"/>
              </a:spcAft>
            </a:pPr>
            <a:r>
              <a:rPr sz="1600" b="1" i="0">
                <a:solidFill>
                  <a:srgbClr val="111827"/>
                </a:solidFill>
                <a:latin typeface="Times New Roman"/>
              </a:rPr>
              <a:t>Predict</a:t>
            </a:r>
            <a:r>
              <a:rPr sz="1600" b="0" i="0">
                <a:solidFill>
                  <a:srgbClr val="111827"/>
                </a:solidFill>
                <a:latin typeface="Times New Roman"/>
              </a:rPr>
              <a:t> a breach early enough to act (Orange)</a:t>
            </a:r>
          </a:p>
        </p:txBody>
      </p:sp>
      <p:sp>
        <p:nvSpPr>
          <p:cNvPr id="21" name="Right Arrow 20"/>
          <p:cNvSpPr/>
          <p:nvPr/>
        </p:nvSpPr>
        <p:spPr>
          <a:xfrm>
            <a:off x="6144768" y="3246120"/>
            <a:ext cx="301752" cy="548640"/>
          </a:xfrm>
          <a:prstGeom prst="rightArrow">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783080" y="5669280"/>
            <a:ext cx="10012680" cy="566928"/>
          </a:xfrm>
          <a:prstGeom prst="roundRect">
            <a:avLst>
              <a:gd name="adj" fmla="val 19354"/>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500" b="1" i="0">
                <a:solidFill>
                  <a:srgbClr val="375623"/>
                </a:solidFill>
                <a:latin typeface="Times New Roman"/>
              </a:rPr>
              <a:t>SRS targets:  updates ≤ 1 s  ·  ML ≤ 200 ms  ·  MQTT reconnect ≤ 5 s  ·  50 clients  ·  5 → 20 machines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Objectives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97280"/>
            <a:ext cx="3185159" cy="2377440"/>
          </a:xfrm>
          <a:prstGeom prst="roundRect">
            <a:avLst>
              <a:gd name="adj" fmla="val 4615"/>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Oval 4"/>
          <p:cNvSpPr/>
          <p:nvPr/>
        </p:nvSpPr>
        <p:spPr>
          <a:xfrm>
            <a:off x="1943100" y="1257300"/>
            <a:ext cx="502920" cy="50292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1</a:t>
            </a:r>
          </a:p>
        </p:txBody>
      </p:sp>
      <p:sp>
        <p:nvSpPr>
          <p:cNvPr id="6" name="TextBox 5"/>
          <p:cNvSpPr txBox="1"/>
          <p:nvPr/>
        </p:nvSpPr>
        <p:spPr>
          <a:xfrm>
            <a:off x="2606040" y="1280160"/>
            <a:ext cx="2179319" cy="457200"/>
          </a:xfrm>
          <a:prstGeom prst="rect">
            <a:avLst/>
          </a:prstGeom>
          <a:noFill/>
        </p:spPr>
        <p:txBody>
          <a:bodyPr wrap="square" lIns="0" rIns="0" tIns="0" bIns="0" anchor="ctr">
            <a:noAutofit/>
          </a:bodyPr>
          <a:lstStyle/>
          <a:p>
            <a:pPr algn="l">
              <a:spcBef>
                <a:spcPts val="0"/>
              </a:spcBef>
              <a:spcAft>
                <a:spcPts val="0"/>
              </a:spcAft>
            </a:pPr>
            <a:r>
              <a:rPr sz="2000" b="1" i="0">
                <a:solidFill>
                  <a:srgbClr val="111827"/>
                </a:solidFill>
                <a:latin typeface="Times New Roman"/>
              </a:rPr>
              <a:t>Simulate</a:t>
            </a:r>
          </a:p>
        </p:txBody>
      </p:sp>
      <p:sp>
        <p:nvSpPr>
          <p:cNvPr id="7" name="TextBox 6"/>
          <p:cNvSpPr txBox="1"/>
          <p:nvPr/>
        </p:nvSpPr>
        <p:spPr>
          <a:xfrm>
            <a:off x="2011680" y="1965960"/>
            <a:ext cx="2727959" cy="1097280"/>
          </a:xfrm>
          <a:prstGeom prst="rect">
            <a:avLst/>
          </a:prstGeom>
          <a:noFill/>
        </p:spPr>
        <p:txBody>
          <a:bodyPr wrap="square" lIns="0" rIns="0" tIns="0" bIns="0" anchor="t">
            <a:noAutofit/>
          </a:bodyPr>
          <a:lstStyle/>
          <a:p>
            <a:pPr algn="l">
              <a:spcBef>
                <a:spcPts val="0"/>
              </a:spcBef>
              <a:spcAft>
                <a:spcPts val="0"/>
              </a:spcAft>
            </a:pPr>
            <a:r>
              <a:rPr sz="1600" b="0" i="0">
                <a:solidFill>
                  <a:srgbClr val="111827"/>
                </a:solidFill>
                <a:latin typeface="Times New Roman"/>
              </a:rPr>
              <a:t>5 virtual machines (scalable to 20) send telemetry every 500 ms.</a:t>
            </a:r>
          </a:p>
        </p:txBody>
      </p:sp>
      <p:sp>
        <p:nvSpPr>
          <p:cNvPr id="8" name="TextBox 7"/>
          <p:cNvSpPr txBox="1"/>
          <p:nvPr/>
        </p:nvSpPr>
        <p:spPr>
          <a:xfrm>
            <a:off x="2011680" y="3108960"/>
            <a:ext cx="2727959" cy="274320"/>
          </a:xfrm>
          <a:prstGeom prst="rect">
            <a:avLst/>
          </a:prstGeom>
          <a:noFill/>
        </p:spPr>
        <p:txBody>
          <a:bodyPr wrap="square" lIns="0" rIns="0" tIns="0" bIns="0" anchor="t">
            <a:noAutofit/>
          </a:bodyPr>
          <a:lstStyle/>
          <a:p>
            <a:pPr algn="l">
              <a:spcBef>
                <a:spcPts val="0"/>
              </a:spcBef>
              <a:spcAft>
                <a:spcPts val="0"/>
              </a:spcAft>
            </a:pPr>
            <a:r>
              <a:rPr sz="1200" b="1" i="0">
                <a:solidFill>
                  <a:srgbClr val="C00000"/>
                </a:solidFill>
                <a:latin typeface="Times New Roman"/>
              </a:rPr>
              <a:t>FR-01 · FR-11</a:t>
            </a:r>
          </a:p>
        </p:txBody>
      </p:sp>
      <p:sp>
        <p:nvSpPr>
          <p:cNvPr id="9" name="Rounded Rectangle 8"/>
          <p:cNvSpPr/>
          <p:nvPr/>
        </p:nvSpPr>
        <p:spPr>
          <a:xfrm>
            <a:off x="5196839" y="1097280"/>
            <a:ext cx="3185159" cy="2377440"/>
          </a:xfrm>
          <a:prstGeom prst="roundRect">
            <a:avLst>
              <a:gd name="adj" fmla="val 4615"/>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0" name="Oval 9"/>
          <p:cNvSpPr/>
          <p:nvPr/>
        </p:nvSpPr>
        <p:spPr>
          <a:xfrm>
            <a:off x="5356859" y="1257300"/>
            <a:ext cx="502920" cy="50292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2</a:t>
            </a:r>
          </a:p>
        </p:txBody>
      </p:sp>
      <p:sp>
        <p:nvSpPr>
          <p:cNvPr id="11" name="TextBox 10"/>
          <p:cNvSpPr txBox="1"/>
          <p:nvPr/>
        </p:nvSpPr>
        <p:spPr>
          <a:xfrm>
            <a:off x="6019800" y="1280160"/>
            <a:ext cx="2179319" cy="457200"/>
          </a:xfrm>
          <a:prstGeom prst="rect">
            <a:avLst/>
          </a:prstGeom>
          <a:noFill/>
        </p:spPr>
        <p:txBody>
          <a:bodyPr wrap="square" lIns="0" rIns="0" tIns="0" bIns="0" anchor="ctr">
            <a:noAutofit/>
          </a:bodyPr>
          <a:lstStyle/>
          <a:p>
            <a:pPr algn="l">
              <a:spcBef>
                <a:spcPts val="0"/>
              </a:spcBef>
              <a:spcAft>
                <a:spcPts val="0"/>
              </a:spcAft>
            </a:pPr>
            <a:r>
              <a:rPr sz="2000" b="1" i="0">
                <a:solidFill>
                  <a:srgbClr val="111827"/>
                </a:solidFill>
                <a:latin typeface="Times New Roman"/>
              </a:rPr>
              <a:t>Measure</a:t>
            </a:r>
          </a:p>
        </p:txBody>
      </p:sp>
      <p:sp>
        <p:nvSpPr>
          <p:cNvPr id="12" name="TextBox 11"/>
          <p:cNvSpPr txBox="1"/>
          <p:nvPr/>
        </p:nvSpPr>
        <p:spPr>
          <a:xfrm>
            <a:off x="5425439" y="1965960"/>
            <a:ext cx="2727959" cy="1097280"/>
          </a:xfrm>
          <a:prstGeom prst="rect">
            <a:avLst/>
          </a:prstGeom>
          <a:noFill/>
        </p:spPr>
        <p:txBody>
          <a:bodyPr wrap="square" lIns="0" rIns="0" tIns="0" bIns="0" anchor="t">
            <a:noAutofit/>
          </a:bodyPr>
          <a:lstStyle/>
          <a:p>
            <a:pPr algn="l">
              <a:spcBef>
                <a:spcPts val="0"/>
              </a:spcBef>
              <a:spcAft>
                <a:spcPts val="0"/>
              </a:spcAft>
            </a:pPr>
            <a:r>
              <a:rPr sz="1600" b="0" i="0">
                <a:solidFill>
                  <a:srgbClr val="111827"/>
                </a:solidFill>
                <a:latin typeface="Times New Roman"/>
              </a:rPr>
              <a:t>OEE = Availability × Performance × Quality over rolling 1 h and 8 h windows.</a:t>
            </a:r>
          </a:p>
        </p:txBody>
      </p:sp>
      <p:sp>
        <p:nvSpPr>
          <p:cNvPr id="13" name="TextBox 12"/>
          <p:cNvSpPr txBox="1"/>
          <p:nvPr/>
        </p:nvSpPr>
        <p:spPr>
          <a:xfrm>
            <a:off x="5425439" y="3108960"/>
            <a:ext cx="2727959" cy="274320"/>
          </a:xfrm>
          <a:prstGeom prst="rect">
            <a:avLst/>
          </a:prstGeom>
          <a:noFill/>
        </p:spPr>
        <p:txBody>
          <a:bodyPr wrap="square" lIns="0" rIns="0" tIns="0" bIns="0" anchor="t">
            <a:noAutofit/>
          </a:bodyPr>
          <a:lstStyle/>
          <a:p>
            <a:pPr algn="l">
              <a:spcBef>
                <a:spcPts val="0"/>
              </a:spcBef>
              <a:spcAft>
                <a:spcPts val="0"/>
              </a:spcAft>
            </a:pPr>
            <a:r>
              <a:rPr sz="1200" b="1" i="0">
                <a:solidFill>
                  <a:srgbClr val="C00000"/>
                </a:solidFill>
                <a:latin typeface="Times New Roman"/>
              </a:rPr>
              <a:t>FR-02</a:t>
            </a:r>
          </a:p>
        </p:txBody>
      </p:sp>
      <p:sp>
        <p:nvSpPr>
          <p:cNvPr id="14" name="Rounded Rectangle 13"/>
          <p:cNvSpPr/>
          <p:nvPr/>
        </p:nvSpPr>
        <p:spPr>
          <a:xfrm>
            <a:off x="8610600" y="1097280"/>
            <a:ext cx="3185159" cy="2377440"/>
          </a:xfrm>
          <a:prstGeom prst="roundRect">
            <a:avLst>
              <a:gd name="adj" fmla="val 4615"/>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5" name="Oval 14"/>
          <p:cNvSpPr/>
          <p:nvPr/>
        </p:nvSpPr>
        <p:spPr>
          <a:xfrm>
            <a:off x="8770619" y="1257300"/>
            <a:ext cx="502920" cy="50292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3</a:t>
            </a:r>
          </a:p>
        </p:txBody>
      </p:sp>
      <p:sp>
        <p:nvSpPr>
          <p:cNvPr id="16" name="TextBox 15"/>
          <p:cNvSpPr txBox="1"/>
          <p:nvPr/>
        </p:nvSpPr>
        <p:spPr>
          <a:xfrm>
            <a:off x="9433560" y="1280160"/>
            <a:ext cx="2179319" cy="457200"/>
          </a:xfrm>
          <a:prstGeom prst="rect">
            <a:avLst/>
          </a:prstGeom>
          <a:noFill/>
        </p:spPr>
        <p:txBody>
          <a:bodyPr wrap="square" lIns="0" rIns="0" tIns="0" bIns="0" anchor="ctr">
            <a:noAutofit/>
          </a:bodyPr>
          <a:lstStyle/>
          <a:p>
            <a:pPr algn="l">
              <a:spcBef>
                <a:spcPts val="0"/>
              </a:spcBef>
              <a:spcAft>
                <a:spcPts val="0"/>
              </a:spcAft>
            </a:pPr>
            <a:r>
              <a:rPr sz="2000" b="1" i="0">
                <a:solidFill>
                  <a:srgbClr val="111827"/>
                </a:solidFill>
                <a:latin typeface="Times New Roman"/>
              </a:rPr>
              <a:t>Detect</a:t>
            </a:r>
          </a:p>
        </p:txBody>
      </p:sp>
      <p:sp>
        <p:nvSpPr>
          <p:cNvPr id="17" name="TextBox 16"/>
          <p:cNvSpPr txBox="1"/>
          <p:nvPr/>
        </p:nvSpPr>
        <p:spPr>
          <a:xfrm>
            <a:off x="8839200" y="1965960"/>
            <a:ext cx="2727959" cy="1097280"/>
          </a:xfrm>
          <a:prstGeom prst="rect">
            <a:avLst/>
          </a:prstGeom>
          <a:noFill/>
        </p:spPr>
        <p:txBody>
          <a:bodyPr wrap="square" lIns="0" rIns="0" tIns="0" bIns="0" anchor="t">
            <a:noAutofit/>
          </a:bodyPr>
          <a:lstStyle/>
          <a:p>
            <a:pPr algn="l">
              <a:spcBef>
                <a:spcPts val="0"/>
              </a:spcBef>
              <a:spcAft>
                <a:spcPts val="0"/>
              </a:spcAft>
            </a:pPr>
            <a:r>
              <a:rPr sz="1600" b="0" i="0">
                <a:solidFill>
                  <a:srgbClr val="111827"/>
                </a:solidFill>
                <a:latin typeface="Times New Roman"/>
              </a:rPr>
              <a:t>Red by rules, Yellow by machine learning (&gt; 85 %), Orange by What-If trend.</a:t>
            </a:r>
          </a:p>
        </p:txBody>
      </p:sp>
      <p:sp>
        <p:nvSpPr>
          <p:cNvPr id="18" name="TextBox 17"/>
          <p:cNvSpPr txBox="1"/>
          <p:nvPr/>
        </p:nvSpPr>
        <p:spPr>
          <a:xfrm>
            <a:off x="8839200" y="3108960"/>
            <a:ext cx="2727959" cy="274320"/>
          </a:xfrm>
          <a:prstGeom prst="rect">
            <a:avLst/>
          </a:prstGeom>
          <a:noFill/>
        </p:spPr>
        <p:txBody>
          <a:bodyPr wrap="square" lIns="0" rIns="0" tIns="0" bIns="0" anchor="t">
            <a:noAutofit/>
          </a:bodyPr>
          <a:lstStyle/>
          <a:p>
            <a:pPr algn="l">
              <a:spcBef>
                <a:spcPts val="0"/>
              </a:spcBef>
              <a:spcAft>
                <a:spcPts val="0"/>
              </a:spcAft>
            </a:pPr>
            <a:r>
              <a:rPr sz="1200" b="1" i="0">
                <a:solidFill>
                  <a:srgbClr val="C00000"/>
                </a:solidFill>
                <a:latin typeface="Times New Roman"/>
              </a:rPr>
              <a:t>FR-03 · FR-04 · FR-07</a:t>
            </a:r>
          </a:p>
        </p:txBody>
      </p:sp>
      <p:sp>
        <p:nvSpPr>
          <p:cNvPr id="19" name="Rounded Rectangle 18"/>
          <p:cNvSpPr/>
          <p:nvPr/>
        </p:nvSpPr>
        <p:spPr>
          <a:xfrm>
            <a:off x="1783080" y="3703320"/>
            <a:ext cx="3185159" cy="2377440"/>
          </a:xfrm>
          <a:prstGeom prst="roundRect">
            <a:avLst>
              <a:gd name="adj" fmla="val 4615"/>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0" name="Oval 19"/>
          <p:cNvSpPr/>
          <p:nvPr/>
        </p:nvSpPr>
        <p:spPr>
          <a:xfrm>
            <a:off x="1943100" y="3863339"/>
            <a:ext cx="502920" cy="50292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4</a:t>
            </a:r>
          </a:p>
        </p:txBody>
      </p:sp>
      <p:sp>
        <p:nvSpPr>
          <p:cNvPr id="21" name="TextBox 20"/>
          <p:cNvSpPr txBox="1"/>
          <p:nvPr/>
        </p:nvSpPr>
        <p:spPr>
          <a:xfrm>
            <a:off x="2606040" y="3886200"/>
            <a:ext cx="2179319" cy="457200"/>
          </a:xfrm>
          <a:prstGeom prst="rect">
            <a:avLst/>
          </a:prstGeom>
          <a:noFill/>
        </p:spPr>
        <p:txBody>
          <a:bodyPr wrap="square" lIns="0" rIns="0" tIns="0" bIns="0" anchor="ctr">
            <a:noAutofit/>
          </a:bodyPr>
          <a:lstStyle/>
          <a:p>
            <a:pPr algn="l">
              <a:spcBef>
                <a:spcPts val="0"/>
              </a:spcBef>
              <a:spcAft>
                <a:spcPts val="0"/>
              </a:spcAft>
            </a:pPr>
            <a:r>
              <a:rPr sz="2000" b="1" i="0">
                <a:solidFill>
                  <a:srgbClr val="111827"/>
                </a:solidFill>
                <a:latin typeface="Times New Roman"/>
              </a:rPr>
              <a:t>Act</a:t>
            </a:r>
          </a:p>
        </p:txBody>
      </p:sp>
      <p:sp>
        <p:nvSpPr>
          <p:cNvPr id="22" name="TextBox 21"/>
          <p:cNvSpPr txBox="1"/>
          <p:nvPr/>
        </p:nvSpPr>
        <p:spPr>
          <a:xfrm>
            <a:off x="2011680" y="4572000"/>
            <a:ext cx="2727959" cy="1097280"/>
          </a:xfrm>
          <a:prstGeom prst="rect">
            <a:avLst/>
          </a:prstGeom>
          <a:noFill/>
        </p:spPr>
        <p:txBody>
          <a:bodyPr wrap="square" lIns="0" rIns="0" tIns="0" bIns="0" anchor="t">
            <a:noAutofit/>
          </a:bodyPr>
          <a:lstStyle/>
          <a:p>
            <a:pPr algn="l">
              <a:spcBef>
                <a:spcPts val="0"/>
              </a:spcBef>
              <a:spcAft>
                <a:spcPts val="0"/>
              </a:spcAft>
            </a:pPr>
            <a:r>
              <a:rPr sz="1600" b="0" i="0">
                <a:solidFill>
                  <a:srgbClr val="111827"/>
                </a:solidFill>
                <a:latin typeface="Times New Roman"/>
              </a:rPr>
              <a:t>Acknowledge, assign a technician, resolve, log maintenance, give ML feedback.</a:t>
            </a:r>
          </a:p>
        </p:txBody>
      </p:sp>
      <p:sp>
        <p:nvSpPr>
          <p:cNvPr id="23" name="TextBox 22"/>
          <p:cNvSpPr txBox="1"/>
          <p:nvPr/>
        </p:nvSpPr>
        <p:spPr>
          <a:xfrm>
            <a:off x="2011680" y="5715000"/>
            <a:ext cx="2727959" cy="274320"/>
          </a:xfrm>
          <a:prstGeom prst="rect">
            <a:avLst/>
          </a:prstGeom>
          <a:noFill/>
        </p:spPr>
        <p:txBody>
          <a:bodyPr wrap="square" lIns="0" rIns="0" tIns="0" bIns="0" anchor="t">
            <a:noAutofit/>
          </a:bodyPr>
          <a:lstStyle/>
          <a:p>
            <a:pPr algn="l">
              <a:spcBef>
                <a:spcPts val="0"/>
              </a:spcBef>
              <a:spcAft>
                <a:spcPts val="0"/>
              </a:spcAft>
            </a:pPr>
            <a:r>
              <a:rPr sz="1200" b="1" i="0">
                <a:solidFill>
                  <a:srgbClr val="C00000"/>
                </a:solidFill>
                <a:latin typeface="Times New Roman"/>
              </a:rPr>
              <a:t>FR-06</a:t>
            </a:r>
          </a:p>
        </p:txBody>
      </p:sp>
      <p:sp>
        <p:nvSpPr>
          <p:cNvPr id="24" name="Rounded Rectangle 23"/>
          <p:cNvSpPr/>
          <p:nvPr/>
        </p:nvSpPr>
        <p:spPr>
          <a:xfrm>
            <a:off x="5196839" y="3703320"/>
            <a:ext cx="3185159" cy="2377440"/>
          </a:xfrm>
          <a:prstGeom prst="roundRect">
            <a:avLst>
              <a:gd name="adj" fmla="val 4615"/>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5" name="Oval 24"/>
          <p:cNvSpPr/>
          <p:nvPr/>
        </p:nvSpPr>
        <p:spPr>
          <a:xfrm>
            <a:off x="5356859" y="3863339"/>
            <a:ext cx="502920" cy="50292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5</a:t>
            </a:r>
          </a:p>
        </p:txBody>
      </p:sp>
      <p:sp>
        <p:nvSpPr>
          <p:cNvPr id="26" name="TextBox 25"/>
          <p:cNvSpPr txBox="1"/>
          <p:nvPr/>
        </p:nvSpPr>
        <p:spPr>
          <a:xfrm>
            <a:off x="6019800" y="3886200"/>
            <a:ext cx="2179319" cy="457200"/>
          </a:xfrm>
          <a:prstGeom prst="rect">
            <a:avLst/>
          </a:prstGeom>
          <a:noFill/>
        </p:spPr>
        <p:txBody>
          <a:bodyPr wrap="square" lIns="0" rIns="0" tIns="0" bIns="0" anchor="ctr">
            <a:noAutofit/>
          </a:bodyPr>
          <a:lstStyle/>
          <a:p>
            <a:pPr algn="l">
              <a:spcBef>
                <a:spcPts val="0"/>
              </a:spcBef>
              <a:spcAft>
                <a:spcPts val="0"/>
              </a:spcAft>
            </a:pPr>
            <a:r>
              <a:rPr sz="2000" b="1" i="0">
                <a:solidFill>
                  <a:srgbClr val="111827"/>
                </a:solidFill>
                <a:latin typeface="Times New Roman"/>
              </a:rPr>
              <a:t>Report</a:t>
            </a:r>
          </a:p>
        </p:txBody>
      </p:sp>
      <p:sp>
        <p:nvSpPr>
          <p:cNvPr id="27" name="TextBox 26"/>
          <p:cNvSpPr txBox="1"/>
          <p:nvPr/>
        </p:nvSpPr>
        <p:spPr>
          <a:xfrm>
            <a:off x="5425439" y="4572000"/>
            <a:ext cx="2727959" cy="1097280"/>
          </a:xfrm>
          <a:prstGeom prst="rect">
            <a:avLst/>
          </a:prstGeom>
          <a:noFill/>
        </p:spPr>
        <p:txBody>
          <a:bodyPr wrap="square" lIns="0" rIns="0" tIns="0" bIns="0" anchor="t">
            <a:noAutofit/>
          </a:bodyPr>
          <a:lstStyle/>
          <a:p>
            <a:pPr algn="l">
              <a:spcBef>
                <a:spcPts val="0"/>
              </a:spcBef>
              <a:spcAft>
                <a:spcPts val="0"/>
              </a:spcAft>
            </a:pPr>
            <a:r>
              <a:rPr sz="1600" b="0" i="0">
                <a:solidFill>
                  <a:srgbClr val="111827"/>
                </a:solidFill>
                <a:latin typeface="Times New Roman"/>
              </a:rPr>
              <a:t>7-day OEE trend, downtime per shift and ML accuracy.</a:t>
            </a:r>
          </a:p>
        </p:txBody>
      </p:sp>
      <p:sp>
        <p:nvSpPr>
          <p:cNvPr id="28" name="TextBox 27"/>
          <p:cNvSpPr txBox="1"/>
          <p:nvPr/>
        </p:nvSpPr>
        <p:spPr>
          <a:xfrm>
            <a:off x="5425439" y="5715000"/>
            <a:ext cx="2727959" cy="274320"/>
          </a:xfrm>
          <a:prstGeom prst="rect">
            <a:avLst/>
          </a:prstGeom>
          <a:noFill/>
        </p:spPr>
        <p:txBody>
          <a:bodyPr wrap="square" lIns="0" rIns="0" tIns="0" bIns="0" anchor="t">
            <a:noAutofit/>
          </a:bodyPr>
          <a:lstStyle/>
          <a:p>
            <a:pPr algn="l">
              <a:spcBef>
                <a:spcPts val="0"/>
              </a:spcBef>
              <a:spcAft>
                <a:spcPts val="0"/>
              </a:spcAft>
            </a:pPr>
            <a:r>
              <a:rPr sz="1200" b="1" i="0">
                <a:solidFill>
                  <a:srgbClr val="C00000"/>
                </a:solidFill>
                <a:latin typeface="Times New Roman"/>
              </a:rPr>
              <a:t>FR-08</a:t>
            </a:r>
          </a:p>
        </p:txBody>
      </p:sp>
      <p:sp>
        <p:nvSpPr>
          <p:cNvPr id="29" name="Rounded Rectangle 28"/>
          <p:cNvSpPr/>
          <p:nvPr/>
        </p:nvSpPr>
        <p:spPr>
          <a:xfrm>
            <a:off x="8610600" y="3703320"/>
            <a:ext cx="3185159" cy="2377440"/>
          </a:xfrm>
          <a:prstGeom prst="roundRect">
            <a:avLst>
              <a:gd name="adj" fmla="val 4615"/>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0" name="Oval 29"/>
          <p:cNvSpPr/>
          <p:nvPr/>
        </p:nvSpPr>
        <p:spPr>
          <a:xfrm>
            <a:off x="8770619" y="3863339"/>
            <a:ext cx="502920" cy="50292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6</a:t>
            </a:r>
          </a:p>
        </p:txBody>
      </p:sp>
      <p:sp>
        <p:nvSpPr>
          <p:cNvPr id="31" name="TextBox 30"/>
          <p:cNvSpPr txBox="1"/>
          <p:nvPr/>
        </p:nvSpPr>
        <p:spPr>
          <a:xfrm>
            <a:off x="9433560" y="3886200"/>
            <a:ext cx="2179319" cy="457200"/>
          </a:xfrm>
          <a:prstGeom prst="rect">
            <a:avLst/>
          </a:prstGeom>
          <a:noFill/>
        </p:spPr>
        <p:txBody>
          <a:bodyPr wrap="square" lIns="0" rIns="0" tIns="0" bIns="0" anchor="ctr">
            <a:noAutofit/>
          </a:bodyPr>
          <a:lstStyle/>
          <a:p>
            <a:pPr algn="l">
              <a:spcBef>
                <a:spcPts val="0"/>
              </a:spcBef>
              <a:spcAft>
                <a:spcPts val="0"/>
              </a:spcAft>
            </a:pPr>
            <a:r>
              <a:rPr sz="2000" b="1" i="0">
                <a:solidFill>
                  <a:srgbClr val="111827"/>
                </a:solidFill>
                <a:latin typeface="Times New Roman"/>
              </a:rPr>
              <a:t>Run anywhere</a:t>
            </a:r>
          </a:p>
        </p:txBody>
      </p:sp>
      <p:sp>
        <p:nvSpPr>
          <p:cNvPr id="32" name="TextBox 31"/>
          <p:cNvSpPr txBox="1"/>
          <p:nvPr/>
        </p:nvSpPr>
        <p:spPr>
          <a:xfrm>
            <a:off x="8839200" y="4572000"/>
            <a:ext cx="2727959" cy="1097280"/>
          </a:xfrm>
          <a:prstGeom prst="rect">
            <a:avLst/>
          </a:prstGeom>
          <a:noFill/>
        </p:spPr>
        <p:txBody>
          <a:bodyPr wrap="square" lIns="0" rIns="0" tIns="0" bIns="0" anchor="t">
            <a:noAutofit/>
          </a:bodyPr>
          <a:lstStyle/>
          <a:p>
            <a:pPr algn="l">
              <a:spcBef>
                <a:spcPts val="0"/>
              </a:spcBef>
              <a:spcAft>
                <a:spcPts val="0"/>
              </a:spcAft>
            </a:pPr>
            <a:r>
              <a:rPr sz="1600" b="0" i="0">
                <a:solidFill>
                  <a:srgbClr val="111827"/>
                </a:solidFill>
                <a:latin typeface="Times New Roman"/>
              </a:rPr>
              <a:t>One command to start; validated input, login for writes, documented API.</a:t>
            </a:r>
          </a:p>
        </p:txBody>
      </p:sp>
      <p:sp>
        <p:nvSpPr>
          <p:cNvPr id="33" name="TextBox 32"/>
          <p:cNvSpPr txBox="1"/>
          <p:nvPr/>
        </p:nvSpPr>
        <p:spPr>
          <a:xfrm>
            <a:off x="8839200" y="5715000"/>
            <a:ext cx="2727959" cy="274320"/>
          </a:xfrm>
          <a:prstGeom prst="rect">
            <a:avLst/>
          </a:prstGeom>
          <a:noFill/>
        </p:spPr>
        <p:txBody>
          <a:bodyPr wrap="square" lIns="0" rIns="0" tIns="0" bIns="0" anchor="t">
            <a:noAutofit/>
          </a:bodyPr>
          <a:lstStyle/>
          <a:p>
            <a:pPr algn="l">
              <a:spcBef>
                <a:spcPts val="0"/>
              </a:spcBef>
              <a:spcAft>
                <a:spcPts val="0"/>
              </a:spcAft>
            </a:pPr>
            <a:r>
              <a:rPr sz="1200" b="1" i="0">
                <a:solidFill>
                  <a:srgbClr val="C00000"/>
                </a:solidFill>
                <a:latin typeface="Times New Roman"/>
              </a:rPr>
              <a:t>FR-09 · FR-10 · FR-12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Existing vs. Proposed System</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graphicFrame>
        <p:nvGraphicFramePr>
          <p:cNvPr id="4" name="Table 3"/>
          <p:cNvGraphicFramePr>
            <a:graphicFrameLocks noGrp="1"/>
          </p:cNvGraphicFramePr>
          <p:nvPr/>
        </p:nvGraphicFramePr>
        <p:xfrm>
          <a:off x="1783080" y="1097280"/>
          <a:ext cx="10012680" cy="4297680"/>
        </p:xfrm>
        <a:graphic>
          <a:graphicData uri="http://schemas.openxmlformats.org/drawingml/2006/table">
            <a:tbl>
              <a:tblPr firstRow="1" bandRow="1">
                <a:tableStyleId>{5C22544A-7EE6-4342-B048-85BDC9FD1C3A}</a:tableStyleId>
              </a:tblPr>
              <a:tblGrid>
                <a:gridCol w="2240280"/>
                <a:gridCol w="3566160"/>
                <a:gridCol w="4206240"/>
              </a:tblGrid>
              <a:tr h="548640">
                <a:tc>
                  <a:txBody>
                    <a:bodyPr/>
                    <a:lstStyle/>
                    <a:p>
                      <a:pPr algn="l"/>
                      <a:r>
                        <a:rPr sz="1700" b="1">
                          <a:solidFill>
                            <a:srgbClr val="FFFFFF"/>
                          </a:solidFill>
                          <a:latin typeface="Times New Roman"/>
                        </a:rPr>
                        <a:t/>
                      </a:r>
                    </a:p>
                  </a:txBody>
                  <a:tcPr marL="164592" marR="164592" anchor="ctr">
                    <a:solidFill>
                      <a:srgbClr val="C00000"/>
                    </a:solidFill>
                  </a:tcPr>
                </a:tc>
                <a:tc>
                  <a:txBody>
                    <a:bodyPr/>
                    <a:lstStyle/>
                    <a:p>
                      <a:pPr algn="l"/>
                      <a:r>
                        <a:rPr sz="1700" b="1">
                          <a:solidFill>
                            <a:srgbClr val="FFFFFF"/>
                          </a:solidFill>
                          <a:latin typeface="Times New Roman"/>
                        </a:rPr>
                        <a:t>Existing practice</a:t>
                      </a:r>
                    </a:p>
                  </a:txBody>
                  <a:tcPr marL="164592" marR="164592" anchor="ctr">
                    <a:solidFill>
                      <a:srgbClr val="C00000"/>
                    </a:solidFill>
                  </a:tcPr>
                </a:tc>
                <a:tc>
                  <a:txBody>
                    <a:bodyPr/>
                    <a:lstStyle/>
                    <a:p>
                      <a:pPr algn="l"/>
                      <a:r>
                        <a:rPr sz="1700" b="1">
                          <a:solidFill>
                            <a:srgbClr val="FFFFFF"/>
                          </a:solidFill>
                          <a:latin typeface="Times New Roman"/>
                        </a:rPr>
                        <a:t>Proposed system</a:t>
                      </a:r>
                    </a:p>
                  </a:txBody>
                  <a:tcPr marL="164592" marR="164592" anchor="ctr">
                    <a:solidFill>
                      <a:srgbClr val="C00000"/>
                    </a:solidFill>
                  </a:tcPr>
                </a:tc>
              </a:tr>
              <a:tr h="749808">
                <a:tc>
                  <a:txBody>
                    <a:bodyPr/>
                    <a:lstStyle/>
                    <a:p>
                      <a:pPr algn="l"/>
                      <a:r>
                        <a:rPr sz="1700" b="1">
                          <a:solidFill>
                            <a:srgbClr val="111827"/>
                          </a:solidFill>
                          <a:latin typeface="Times New Roman"/>
                        </a:rPr>
                        <a:t>OEE</a:t>
                      </a:r>
                    </a:p>
                  </a:txBody>
                  <a:tcPr marL="164592" marR="164592" anchor="ctr">
                    <a:solidFill>
                      <a:srgbClr val="F1F5F9"/>
                    </a:solidFill>
                  </a:tcPr>
                </a:tc>
                <a:tc>
                  <a:txBody>
                    <a:bodyPr/>
                    <a:lstStyle/>
                    <a:p>
                      <a:pPr algn="l"/>
                      <a:r>
                        <a:rPr sz="1700" b="0">
                          <a:solidFill>
                            <a:srgbClr val="111827"/>
                          </a:solidFill>
                          <a:latin typeface="Times New Roman"/>
                        </a:rPr>
                        <a:t>Spreadsheets after the shift</a:t>
                      </a:r>
                    </a:p>
                  </a:txBody>
                  <a:tcPr marL="164592" marR="164592" anchor="ctr">
                    <a:solidFill>
                      <a:srgbClr val="F1F5F9"/>
                    </a:solidFill>
                  </a:tcPr>
                </a:tc>
                <a:tc>
                  <a:txBody>
                    <a:bodyPr/>
                    <a:lstStyle/>
                    <a:p>
                      <a:pPr algn="l"/>
                      <a:r>
                        <a:rPr sz="1700" b="0">
                          <a:solidFill>
                            <a:srgbClr val="111827"/>
                          </a:solidFill>
                          <a:latin typeface="Times New Roman"/>
                        </a:rPr>
                        <a:t>Live 1 h / 8 h, with A, P and Q shown separately</a:t>
                      </a:r>
                    </a:p>
                  </a:txBody>
                  <a:tcPr marL="164592" marR="164592" anchor="ctr">
                    <a:solidFill>
                      <a:srgbClr val="DCFCE7"/>
                    </a:solidFill>
                  </a:tcPr>
                </a:tc>
              </a:tr>
              <a:tr h="749808">
                <a:tc>
                  <a:txBody>
                    <a:bodyPr/>
                    <a:lstStyle/>
                    <a:p>
                      <a:pPr algn="l"/>
                      <a:r>
                        <a:rPr sz="1700" b="1">
                          <a:solidFill>
                            <a:srgbClr val="111827"/>
                          </a:solidFill>
                          <a:latin typeface="Times New Roman"/>
                        </a:rPr>
                        <a:t>Fault detection</a:t>
                      </a:r>
                    </a:p>
                  </a:txBody>
                  <a:tcPr marL="164592" marR="164592" anchor="ctr">
                    <a:solidFill>
                      <a:srgbClr val="F1F5F9"/>
                    </a:solidFill>
                  </a:tcPr>
                </a:tc>
                <a:tc>
                  <a:txBody>
                    <a:bodyPr/>
                    <a:lstStyle/>
                    <a:p>
                      <a:pPr algn="l"/>
                      <a:r>
                        <a:rPr sz="1700" b="0">
                          <a:solidFill>
                            <a:srgbClr val="111827"/>
                          </a:solidFill>
                          <a:latin typeface="Times New Roman"/>
                        </a:rPr>
                        <a:t>Fixed alarm limits only</a:t>
                      </a:r>
                    </a:p>
                  </a:txBody>
                  <a:tcPr marL="164592" marR="164592" anchor="ctr">
                    <a:solidFill>
                      <a:srgbClr val="F1F5F9"/>
                    </a:solidFill>
                  </a:tcPr>
                </a:tc>
                <a:tc>
                  <a:txBody>
                    <a:bodyPr/>
                    <a:lstStyle/>
                    <a:p>
                      <a:pPr algn="l"/>
                      <a:r>
                        <a:rPr sz="1700" b="0">
                          <a:solidFill>
                            <a:srgbClr val="111827"/>
                          </a:solidFill>
                          <a:latin typeface="Times New Roman"/>
                        </a:rPr>
                        <a:t>Rules + Isolation Forest + What-If projection</a:t>
                      </a:r>
                    </a:p>
                  </a:txBody>
                  <a:tcPr marL="164592" marR="164592" anchor="ctr">
                    <a:solidFill>
                      <a:srgbClr val="DCFCE7"/>
                    </a:solidFill>
                  </a:tcPr>
                </a:tc>
              </a:tr>
              <a:tr h="749808">
                <a:tc>
                  <a:txBody>
                    <a:bodyPr/>
                    <a:lstStyle/>
                    <a:p>
                      <a:pPr algn="l"/>
                      <a:r>
                        <a:rPr sz="1700" b="1">
                          <a:solidFill>
                            <a:srgbClr val="111827"/>
                          </a:solidFill>
                          <a:latin typeface="Times New Roman"/>
                        </a:rPr>
                        <a:t>Warning time</a:t>
                      </a:r>
                    </a:p>
                  </a:txBody>
                  <a:tcPr marL="164592" marR="164592" anchor="ctr">
                    <a:solidFill>
                      <a:srgbClr val="F1F5F9"/>
                    </a:solidFill>
                  </a:tcPr>
                </a:tc>
                <a:tc>
                  <a:txBody>
                    <a:bodyPr/>
                    <a:lstStyle/>
                    <a:p>
                      <a:pPr algn="l"/>
                      <a:r>
                        <a:rPr sz="1700" b="0">
                          <a:solidFill>
                            <a:srgbClr val="111827"/>
                          </a:solidFill>
                          <a:latin typeface="Times New Roman"/>
                        </a:rPr>
                        <a:t>None – the alarm sounds at the breach</a:t>
                      </a:r>
                    </a:p>
                  </a:txBody>
                  <a:tcPr marL="164592" marR="164592" anchor="ctr">
                    <a:solidFill>
                      <a:srgbClr val="F1F5F9"/>
                    </a:solidFill>
                  </a:tcPr>
                </a:tc>
                <a:tc>
                  <a:txBody>
                    <a:bodyPr/>
                    <a:lstStyle/>
                    <a:p>
                      <a:pPr algn="l"/>
                      <a:r>
                        <a:rPr sz="1700" b="0">
                          <a:solidFill>
                            <a:srgbClr val="111827"/>
                          </a:solidFill>
                          <a:latin typeface="Times New Roman"/>
                        </a:rPr>
                        <a:t>Orange up to 60 s ahead, with an ETA countdown</a:t>
                      </a:r>
                    </a:p>
                  </a:txBody>
                  <a:tcPr marL="164592" marR="164592" anchor="ctr">
                    <a:solidFill>
                      <a:srgbClr val="DCFCE7"/>
                    </a:solidFill>
                  </a:tcPr>
                </a:tc>
              </a:tr>
              <a:tr h="749808">
                <a:tc>
                  <a:txBody>
                    <a:bodyPr/>
                    <a:lstStyle/>
                    <a:p>
                      <a:pPr algn="l"/>
                      <a:r>
                        <a:rPr sz="1700" b="1">
                          <a:solidFill>
                            <a:srgbClr val="111827"/>
                          </a:solidFill>
                          <a:latin typeface="Times New Roman"/>
                        </a:rPr>
                        <a:t>Operator workflow</a:t>
                      </a:r>
                    </a:p>
                  </a:txBody>
                  <a:tcPr marL="164592" marR="164592" anchor="ctr">
                    <a:solidFill>
                      <a:srgbClr val="F1F5F9"/>
                    </a:solidFill>
                  </a:tcPr>
                </a:tc>
                <a:tc>
                  <a:txBody>
                    <a:bodyPr/>
                    <a:lstStyle/>
                    <a:p>
                      <a:pPr algn="l"/>
                      <a:r>
                        <a:rPr sz="1700" b="0">
                          <a:solidFill>
                            <a:srgbClr val="111827"/>
                          </a:solidFill>
                          <a:latin typeface="Times New Roman"/>
                        </a:rPr>
                        <a:t>Paper notes / chat</a:t>
                      </a:r>
                    </a:p>
                  </a:txBody>
                  <a:tcPr marL="164592" marR="164592" anchor="ctr">
                    <a:solidFill>
                      <a:srgbClr val="F1F5F9"/>
                    </a:solidFill>
                  </a:tcPr>
                </a:tc>
                <a:tc>
                  <a:txBody>
                    <a:bodyPr/>
                    <a:lstStyle/>
                    <a:p>
                      <a:pPr algn="l"/>
                      <a:r>
                        <a:rPr sz="1700" b="0">
                          <a:solidFill>
                            <a:srgbClr val="111827"/>
                          </a:solidFill>
                          <a:latin typeface="Times New Roman"/>
                        </a:rPr>
                        <a:t>Acknowledge, assign, resolve, feedback, maintenance log</a:t>
                      </a:r>
                    </a:p>
                  </a:txBody>
                  <a:tcPr marL="164592" marR="164592" anchor="ctr">
                    <a:solidFill>
                      <a:srgbClr val="DCFCE7"/>
                    </a:solidFill>
                  </a:tcPr>
                </a:tc>
              </a:tr>
              <a:tr h="749808">
                <a:tc>
                  <a:txBody>
                    <a:bodyPr/>
                    <a:lstStyle/>
                    <a:p>
                      <a:pPr algn="l"/>
                      <a:r>
                        <a:rPr sz="1700" b="1">
                          <a:solidFill>
                            <a:srgbClr val="111827"/>
                          </a:solidFill>
                          <a:latin typeface="Times New Roman"/>
                        </a:rPr>
                        <a:t>Deployment</a:t>
                      </a:r>
                    </a:p>
                  </a:txBody>
                  <a:tcPr marL="164592" marR="164592" anchor="ctr">
                    <a:solidFill>
                      <a:srgbClr val="F1F5F9"/>
                    </a:solidFill>
                  </a:tcPr>
                </a:tc>
                <a:tc>
                  <a:txBody>
                    <a:bodyPr/>
                    <a:lstStyle/>
                    <a:p>
                      <a:pPr algn="l"/>
                      <a:r>
                        <a:rPr sz="1700" b="0">
                          <a:solidFill>
                            <a:srgbClr val="111827"/>
                          </a:solidFill>
                          <a:latin typeface="Times New Roman"/>
                        </a:rPr>
                        <a:t>Vendor systems, hardware needed</a:t>
                      </a:r>
                    </a:p>
                  </a:txBody>
                  <a:tcPr marL="164592" marR="164592" anchor="ctr">
                    <a:solidFill>
                      <a:srgbClr val="F1F5F9"/>
                    </a:solidFill>
                  </a:tcPr>
                </a:tc>
                <a:tc>
                  <a:txBody>
                    <a:bodyPr/>
                    <a:lstStyle/>
                    <a:p>
                      <a:pPr algn="l"/>
                      <a:r>
                        <a:rPr sz="1700" b="0">
                          <a:solidFill>
                            <a:srgbClr val="111827"/>
                          </a:solidFill>
                          <a:latin typeface="Times New Roman"/>
                        </a:rPr>
                        <a:t>Open-source stack, one command, no hardware</a:t>
                      </a:r>
                    </a:p>
                  </a:txBody>
                  <a:tcPr marL="164592" marR="164592" anchor="ctr">
                    <a:solidFill>
                      <a:srgbClr val="DCFCE7"/>
                    </a:solidFill>
                  </a:tcPr>
                </a:tc>
              </a:tr>
            </a:tbl>
          </a:graphicData>
        </a:graphic>
      </p:graphicFrame>
      <p:sp>
        <p:nvSpPr>
          <p:cNvPr id="5" name="TextBox 4"/>
          <p:cNvSpPr txBox="1"/>
          <p:nvPr/>
        </p:nvSpPr>
        <p:spPr>
          <a:xfrm>
            <a:off x="1783080" y="5715000"/>
            <a:ext cx="10012680" cy="457200"/>
          </a:xfrm>
          <a:prstGeom prst="rect">
            <a:avLst/>
          </a:prstGeom>
          <a:noFill/>
        </p:spPr>
        <p:txBody>
          <a:bodyPr wrap="square" lIns="0" rIns="0" tIns="0" bIns="0" anchor="t">
            <a:noAutofit/>
          </a:bodyPr>
          <a:lstStyle/>
          <a:p>
            <a:pPr algn="l">
              <a:spcBef>
                <a:spcPts val="0"/>
              </a:spcBef>
              <a:spcAft>
                <a:spcPts val="0"/>
              </a:spcAft>
            </a:pPr>
            <a:r>
              <a:rPr sz="1900" b="0" i="0">
                <a:solidFill>
                  <a:srgbClr val="375623"/>
                </a:solidFill>
                <a:latin typeface="Times New Roman"/>
              </a:rPr>
              <a:t>Key idea:  warn </a:t>
            </a:r>
            <a:r>
              <a:rPr sz="1900" b="1" i="0">
                <a:solidFill>
                  <a:srgbClr val="375623"/>
                </a:solidFill>
                <a:latin typeface="Times New Roman"/>
              </a:rPr>
              <a:t>before</a:t>
            </a:r>
            <a:r>
              <a:rPr sz="1900" b="0" i="0">
                <a:solidFill>
                  <a:srgbClr val="375623"/>
                </a:solidFill>
                <a:latin typeface="Times New Roman"/>
              </a:rPr>
              <a:t> the limit is crossed – and make every warning explainable.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System Architecture</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6172200" y="1005840"/>
            <a:ext cx="3429000" cy="3749039"/>
          </a:xfrm>
          <a:prstGeom prst="roundRect">
            <a:avLst>
              <a:gd name="adj" fmla="val 3200"/>
            </a:avLst>
          </a:prstGeom>
          <a:solidFill>
            <a:srgbClr val="F1F5F9"/>
          </a:solidFill>
          <a:ln w="25400">
            <a:solidFill>
              <a:srgbClr val="2563E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TextBox 4"/>
          <p:cNvSpPr txBox="1"/>
          <p:nvPr/>
        </p:nvSpPr>
        <p:spPr>
          <a:xfrm>
            <a:off x="6309360" y="1078992"/>
            <a:ext cx="3154680" cy="320040"/>
          </a:xfrm>
          <a:prstGeom prst="rect">
            <a:avLst/>
          </a:prstGeom>
          <a:noFill/>
        </p:spPr>
        <p:txBody>
          <a:bodyPr wrap="square" lIns="0" rIns="0" tIns="0" bIns="0" anchor="t">
            <a:noAutofit/>
          </a:bodyPr>
          <a:lstStyle/>
          <a:p>
            <a:pPr algn="l">
              <a:spcBef>
                <a:spcPts val="0"/>
              </a:spcBef>
              <a:spcAft>
                <a:spcPts val="0"/>
              </a:spcAft>
            </a:pPr>
            <a:r>
              <a:rPr sz="1600" b="1" i="0">
                <a:solidFill>
                  <a:srgbClr val="2563EB"/>
                </a:solidFill>
                <a:latin typeface="Times New Roman"/>
              </a:rPr>
              <a:t>FastAPI backend (asyncio)</a:t>
            </a:r>
          </a:p>
        </p:txBody>
      </p:sp>
      <p:sp>
        <p:nvSpPr>
          <p:cNvPr id="6" name="Rounded Rectangle 5"/>
          <p:cNvSpPr/>
          <p:nvPr/>
        </p:nvSpPr>
        <p:spPr>
          <a:xfrm>
            <a:off x="6263640" y="1508760"/>
            <a:ext cx="1554480" cy="960120"/>
          </a:xfrm>
          <a:prstGeom prst="roundRect">
            <a:avLst>
              <a:gd name="adj" fmla="val 11428"/>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300" b="1" i="0">
                <a:solidFill>
                  <a:srgbClr val="111827"/>
                </a:solidFill>
                <a:latin typeface="Times New Roman"/>
              </a:rPr>
              <a:t>Ingest + validation</a:t>
            </a:r>
          </a:p>
          <a:p>
            <a:pPr algn="ctr">
              <a:spcBef>
                <a:spcPts val="0"/>
              </a:spcBef>
              <a:spcAft>
                <a:spcPts val="0"/>
              </a:spcAft>
            </a:pPr>
            <a:r>
              <a:rPr sz="1200" b="0" i="0">
                <a:solidFill>
                  <a:srgbClr val="475569"/>
                </a:solidFill>
                <a:latin typeface="Times New Roman"/>
              </a:rPr>
              <a:t>FR-09</a:t>
            </a:r>
          </a:p>
        </p:txBody>
      </p:sp>
      <p:sp>
        <p:nvSpPr>
          <p:cNvPr id="7" name="Rounded Rectangle 6"/>
          <p:cNvSpPr/>
          <p:nvPr/>
        </p:nvSpPr>
        <p:spPr>
          <a:xfrm>
            <a:off x="7955279" y="1508760"/>
            <a:ext cx="1554480" cy="960120"/>
          </a:xfrm>
          <a:prstGeom prst="roundRect">
            <a:avLst>
              <a:gd name="adj" fmla="val 11428"/>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300" b="1" i="0">
                <a:solidFill>
                  <a:srgbClr val="111827"/>
                </a:solidFill>
                <a:latin typeface="Times New Roman"/>
              </a:rPr>
              <a:t>OEE engine</a:t>
            </a:r>
          </a:p>
          <a:p>
            <a:pPr algn="ctr">
              <a:spcBef>
                <a:spcPts val="0"/>
              </a:spcBef>
              <a:spcAft>
                <a:spcPts val="0"/>
              </a:spcAft>
            </a:pPr>
            <a:r>
              <a:rPr sz="1200" b="0" i="0">
                <a:solidFill>
                  <a:srgbClr val="475569"/>
                </a:solidFill>
                <a:latin typeface="Times New Roman"/>
              </a:rPr>
              <a:t>FR-02 · A × P × Q</a:t>
            </a:r>
          </a:p>
        </p:txBody>
      </p:sp>
      <p:sp>
        <p:nvSpPr>
          <p:cNvPr id="8" name="Rounded Rectangle 7"/>
          <p:cNvSpPr/>
          <p:nvPr/>
        </p:nvSpPr>
        <p:spPr>
          <a:xfrm>
            <a:off x="6263640" y="2578608"/>
            <a:ext cx="1554480" cy="960120"/>
          </a:xfrm>
          <a:prstGeom prst="roundRect">
            <a:avLst>
              <a:gd name="adj" fmla="val 11428"/>
            </a:avLst>
          </a:prstGeom>
          <a:solidFill>
            <a:srgbClr val="FEE2E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300" b="1" i="0">
                <a:solidFill>
                  <a:srgbClr val="111827"/>
                </a:solidFill>
                <a:latin typeface="Times New Roman"/>
              </a:rPr>
              <a:t>Rule engine → RED</a:t>
            </a:r>
          </a:p>
          <a:p>
            <a:pPr algn="ctr">
              <a:spcBef>
                <a:spcPts val="0"/>
              </a:spcBef>
              <a:spcAft>
                <a:spcPts val="0"/>
              </a:spcAft>
            </a:pPr>
            <a:r>
              <a:rPr sz="1200" b="0" i="0">
                <a:solidFill>
                  <a:srgbClr val="475569"/>
                </a:solidFill>
                <a:latin typeface="Times New Roman"/>
              </a:rPr>
              <a:t>FR-03</a:t>
            </a:r>
          </a:p>
        </p:txBody>
      </p:sp>
      <p:sp>
        <p:nvSpPr>
          <p:cNvPr id="9" name="Rounded Rectangle 8"/>
          <p:cNvSpPr/>
          <p:nvPr/>
        </p:nvSpPr>
        <p:spPr>
          <a:xfrm>
            <a:off x="7955279" y="2578608"/>
            <a:ext cx="1554480" cy="960120"/>
          </a:xfrm>
          <a:prstGeom prst="roundRect">
            <a:avLst>
              <a:gd name="adj" fmla="val 11428"/>
            </a:avLst>
          </a:prstGeom>
          <a:solidFill>
            <a:srgbClr val="FEF9C3"/>
          </a:solidFill>
          <a:ln w="1905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300" b="1" i="0">
                <a:solidFill>
                  <a:srgbClr val="111827"/>
                </a:solidFill>
                <a:latin typeface="Times New Roman"/>
              </a:rPr>
              <a:t>Isolation Forest → YELLOW</a:t>
            </a:r>
          </a:p>
          <a:p>
            <a:pPr algn="ctr">
              <a:spcBef>
                <a:spcPts val="0"/>
              </a:spcBef>
              <a:spcAft>
                <a:spcPts val="0"/>
              </a:spcAft>
            </a:pPr>
            <a:r>
              <a:rPr sz="1200" b="0" i="0">
                <a:solidFill>
                  <a:srgbClr val="475569"/>
                </a:solidFill>
                <a:latin typeface="Times New Roman"/>
              </a:rPr>
              <a:t>FR-04</a:t>
            </a:r>
          </a:p>
        </p:txBody>
      </p:sp>
      <p:sp>
        <p:nvSpPr>
          <p:cNvPr id="10" name="Rounded Rectangle 9"/>
          <p:cNvSpPr/>
          <p:nvPr/>
        </p:nvSpPr>
        <p:spPr>
          <a:xfrm>
            <a:off x="6263640" y="3648456"/>
            <a:ext cx="1554480" cy="960120"/>
          </a:xfrm>
          <a:prstGeom prst="roundRect">
            <a:avLst>
              <a:gd name="adj" fmla="val 11428"/>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300" b="1" i="0">
                <a:solidFill>
                  <a:srgbClr val="111827"/>
                </a:solidFill>
                <a:latin typeface="Times New Roman"/>
              </a:rPr>
              <a:t>What-If trend → ORANGE</a:t>
            </a:r>
          </a:p>
          <a:p>
            <a:pPr algn="ctr">
              <a:spcBef>
                <a:spcPts val="0"/>
              </a:spcBef>
              <a:spcAft>
                <a:spcPts val="0"/>
              </a:spcAft>
            </a:pPr>
            <a:r>
              <a:rPr sz="1200" b="0" i="0">
                <a:solidFill>
                  <a:srgbClr val="475569"/>
                </a:solidFill>
                <a:latin typeface="Times New Roman"/>
              </a:rPr>
              <a:t>FR-07</a:t>
            </a:r>
          </a:p>
        </p:txBody>
      </p:sp>
      <p:sp>
        <p:nvSpPr>
          <p:cNvPr id="11" name="Rounded Rectangle 10"/>
          <p:cNvSpPr/>
          <p:nvPr/>
        </p:nvSpPr>
        <p:spPr>
          <a:xfrm>
            <a:off x="7955279" y="3648456"/>
            <a:ext cx="1554480" cy="960120"/>
          </a:xfrm>
          <a:prstGeom prst="roundRect">
            <a:avLst>
              <a:gd name="adj" fmla="val 11428"/>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300" b="1" i="0">
                <a:solidFill>
                  <a:srgbClr val="111827"/>
                </a:solidFill>
                <a:latin typeface="Times New Roman"/>
              </a:rPr>
              <a:t>Alerts, maintenance, API</a:t>
            </a:r>
          </a:p>
          <a:p>
            <a:pPr algn="ctr">
              <a:spcBef>
                <a:spcPts val="0"/>
              </a:spcBef>
              <a:spcAft>
                <a:spcPts val="0"/>
              </a:spcAft>
            </a:pPr>
            <a:r>
              <a:rPr sz="1200" b="0" i="0">
                <a:solidFill>
                  <a:srgbClr val="475569"/>
                </a:solidFill>
                <a:latin typeface="Times New Roman"/>
              </a:rPr>
              <a:t>FR-05 · FR-06</a:t>
            </a:r>
          </a:p>
        </p:txBody>
      </p:sp>
      <p:sp>
        <p:nvSpPr>
          <p:cNvPr id="12" name="Rounded Rectangle 11"/>
          <p:cNvSpPr/>
          <p:nvPr/>
        </p:nvSpPr>
        <p:spPr>
          <a:xfrm>
            <a:off x="1783080" y="2103120"/>
            <a:ext cx="1417320" cy="1554480"/>
          </a:xfrm>
          <a:prstGeom prst="roundRect">
            <a:avLst>
              <a:gd name="adj" fmla="val 7741"/>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400" b="1" i="0">
                <a:solidFill>
                  <a:srgbClr val="111827"/>
                </a:solidFill>
                <a:latin typeface="Times New Roman"/>
              </a:rPr>
              <a:t>Virtual Factory Simulator</a:t>
            </a:r>
          </a:p>
          <a:p>
            <a:pPr algn="ctr">
              <a:spcBef>
                <a:spcPts val="0"/>
              </a:spcBef>
              <a:spcAft>
                <a:spcPts val="0"/>
              </a:spcAft>
            </a:pPr>
            <a:r>
              <a:rPr sz="1200" b="0" i="0">
                <a:solidFill>
                  <a:srgbClr val="111827"/>
                </a:solidFill>
                <a:latin typeface="Times New Roman"/>
              </a:rPr>
              <a:t>5–20 machines · every 500 ms</a:t>
            </a:r>
          </a:p>
        </p:txBody>
      </p:sp>
      <p:sp>
        <p:nvSpPr>
          <p:cNvPr id="13" name="Rounded Rectangle 12"/>
          <p:cNvSpPr/>
          <p:nvPr/>
        </p:nvSpPr>
        <p:spPr>
          <a:xfrm>
            <a:off x="3977639" y="2103120"/>
            <a:ext cx="1417320" cy="1554480"/>
          </a:xfrm>
          <a:prstGeom prst="roundRect">
            <a:avLst>
              <a:gd name="adj" fmla="val 7741"/>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400" b="1" i="0">
                <a:solidFill>
                  <a:srgbClr val="111827"/>
                </a:solidFill>
                <a:latin typeface="Times New Roman"/>
              </a:rPr>
              <a:t>Eclipse Mosquitto</a:t>
            </a:r>
          </a:p>
          <a:p>
            <a:pPr algn="ctr">
              <a:spcBef>
                <a:spcPts val="0"/>
              </a:spcBef>
              <a:spcAft>
                <a:spcPts val="0"/>
              </a:spcAft>
            </a:pPr>
            <a:r>
              <a:rPr sz="1200" b="0" i="0">
                <a:solidFill>
                  <a:srgbClr val="111827"/>
                </a:solidFill>
                <a:latin typeface="Times New Roman"/>
              </a:rPr>
              <a:t>MQTT over WebSockets</a:t>
            </a:r>
          </a:p>
        </p:txBody>
      </p:sp>
      <p:sp>
        <p:nvSpPr>
          <p:cNvPr id="14" name="Rounded Rectangle 13"/>
          <p:cNvSpPr/>
          <p:nvPr/>
        </p:nvSpPr>
        <p:spPr>
          <a:xfrm>
            <a:off x="10378440" y="2103120"/>
            <a:ext cx="1417320" cy="1554480"/>
          </a:xfrm>
          <a:prstGeom prst="roundRect">
            <a:avLst>
              <a:gd name="adj" fmla="val 7741"/>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400" b="1" i="0">
                <a:solidFill>
                  <a:srgbClr val="111827"/>
                </a:solidFill>
                <a:latin typeface="Times New Roman"/>
              </a:rPr>
              <a:t>React 18 dashboard</a:t>
            </a:r>
          </a:p>
          <a:p>
            <a:pPr algn="ctr">
              <a:spcBef>
                <a:spcPts val="0"/>
              </a:spcBef>
              <a:spcAft>
                <a:spcPts val="0"/>
              </a:spcAft>
            </a:pPr>
            <a:r>
              <a:rPr sz="1200" b="0" i="0">
                <a:solidFill>
                  <a:srgbClr val="111827"/>
                </a:solidFill>
                <a:latin typeface="Times New Roman"/>
              </a:rPr>
              <a:t>Chart.js 2D charts</a:t>
            </a:r>
          </a:p>
        </p:txBody>
      </p:sp>
      <p:cxnSp>
        <p:nvCxnSpPr>
          <p:cNvPr id="15" name="Connector 14"/>
          <p:cNvCxnSpPr/>
          <p:nvPr/>
        </p:nvCxnSpPr>
        <p:spPr>
          <a:xfrm>
            <a:off x="3218688" y="2743200"/>
            <a:ext cx="74066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200400" y="2450592"/>
            <a:ext cx="777239"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MQTT</a:t>
            </a:r>
          </a:p>
        </p:txBody>
      </p:sp>
      <p:cxnSp>
        <p:nvCxnSpPr>
          <p:cNvPr id="17" name="Connector 16"/>
          <p:cNvCxnSpPr/>
          <p:nvPr/>
        </p:nvCxnSpPr>
        <p:spPr>
          <a:xfrm>
            <a:off x="5413248" y="2743200"/>
            <a:ext cx="74066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394960" y="2450592"/>
            <a:ext cx="777239"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subscribe</a:t>
            </a:r>
          </a:p>
        </p:txBody>
      </p:sp>
      <p:cxnSp>
        <p:nvCxnSpPr>
          <p:cNvPr id="19" name="Connector 18"/>
          <p:cNvCxnSpPr/>
          <p:nvPr/>
        </p:nvCxnSpPr>
        <p:spPr>
          <a:xfrm>
            <a:off x="9619488" y="2743200"/>
            <a:ext cx="74066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01200" y="2450592"/>
            <a:ext cx="777239"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WebSocket</a:t>
            </a:r>
          </a:p>
        </p:txBody>
      </p:sp>
      <p:cxnSp>
        <p:nvCxnSpPr>
          <p:cNvPr id="21" name="Connector 20"/>
          <p:cNvCxnSpPr/>
          <p:nvPr/>
        </p:nvCxnSpPr>
        <p:spPr>
          <a:xfrm flipH="1">
            <a:off x="3218688" y="3291840"/>
            <a:ext cx="740664" cy="0"/>
          </a:xfrm>
          <a:prstGeom prst="line">
            <a:avLst/>
          </a:prstGeom>
          <a:ln w="19050">
            <a:solidFill>
              <a:srgbClr val="64748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200400" y="3328416"/>
            <a:ext cx="777239"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faults</a:t>
            </a:r>
          </a:p>
        </p:txBody>
      </p:sp>
      <p:cxnSp>
        <p:nvCxnSpPr>
          <p:cNvPr id="23" name="Connector 22"/>
          <p:cNvCxnSpPr/>
          <p:nvPr/>
        </p:nvCxnSpPr>
        <p:spPr>
          <a:xfrm flipH="1">
            <a:off x="5413248" y="3291840"/>
            <a:ext cx="740664" cy="0"/>
          </a:xfrm>
          <a:prstGeom prst="line">
            <a:avLst/>
          </a:prstGeom>
          <a:ln w="19050">
            <a:solidFill>
              <a:srgbClr val="64748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394960" y="3328416"/>
            <a:ext cx="777239"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control</a:t>
            </a:r>
          </a:p>
        </p:txBody>
      </p:sp>
      <p:cxnSp>
        <p:nvCxnSpPr>
          <p:cNvPr id="25" name="Connector 24"/>
          <p:cNvCxnSpPr/>
          <p:nvPr/>
        </p:nvCxnSpPr>
        <p:spPr>
          <a:xfrm flipH="1">
            <a:off x="9619488" y="3291840"/>
            <a:ext cx="740664" cy="0"/>
          </a:xfrm>
          <a:prstGeom prst="line">
            <a:avLst/>
          </a:prstGeom>
          <a:ln w="19050">
            <a:solidFill>
              <a:srgbClr val="64748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601200" y="3328416"/>
            <a:ext cx="777239"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REST</a:t>
            </a:r>
          </a:p>
        </p:txBody>
      </p:sp>
      <p:sp>
        <p:nvSpPr>
          <p:cNvPr id="27" name="TextBox 26"/>
          <p:cNvSpPr txBox="1"/>
          <p:nvPr/>
        </p:nvSpPr>
        <p:spPr>
          <a:xfrm>
            <a:off x="10378440" y="3794760"/>
            <a:ext cx="1417320" cy="457200"/>
          </a:xfrm>
          <a:prstGeom prst="rect">
            <a:avLst/>
          </a:prstGeom>
          <a:noFill/>
        </p:spPr>
        <p:txBody>
          <a:bodyPr wrap="square" lIns="0" rIns="0" tIns="0" bIns="0" anchor="t">
            <a:noAutofit/>
          </a:bodyPr>
          <a:lstStyle/>
          <a:p>
            <a:pPr algn="ctr">
              <a:spcBef>
                <a:spcPts val="0"/>
              </a:spcBef>
              <a:spcAft>
                <a:spcPts val="0"/>
              </a:spcAft>
            </a:pPr>
            <a:r>
              <a:rPr sz="1200" b="0" i="0">
                <a:solidFill>
                  <a:srgbClr val="475569"/>
                </a:solidFill>
                <a:latin typeface="Times New Roman"/>
              </a:rPr>
              <a:t>Chrome · Edge · Firefox</a:t>
            </a:r>
          </a:p>
        </p:txBody>
      </p:sp>
      <p:cxnSp>
        <p:nvCxnSpPr>
          <p:cNvPr id="28" name="Connector 27"/>
          <p:cNvCxnSpPr/>
          <p:nvPr/>
        </p:nvCxnSpPr>
        <p:spPr>
          <a:xfrm>
            <a:off x="6995160" y="4754880"/>
            <a:ext cx="0" cy="54864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72200" y="5303520"/>
            <a:ext cx="1645920" cy="960120"/>
          </a:xfrm>
          <a:prstGeom prst="roundRect">
            <a:avLst>
              <a:gd name="adj" fmla="val 11428"/>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1" i="0">
                <a:solidFill>
                  <a:srgbClr val="111827"/>
                </a:solidFill>
                <a:latin typeface="Times New Roman"/>
              </a:rPr>
              <a:t>InfluxDB v2</a:t>
            </a:r>
          </a:p>
          <a:p>
            <a:pPr algn="ctr">
              <a:spcBef>
                <a:spcPts val="0"/>
              </a:spcBef>
              <a:spcAft>
                <a:spcPts val="0"/>
              </a:spcAft>
            </a:pPr>
            <a:r>
              <a:rPr sz="1200" b="0" i="0">
                <a:solidFill>
                  <a:srgbClr val="111827"/>
                </a:solidFill>
                <a:latin typeface="Times New Roman"/>
              </a:rPr>
              <a:t>telemetry_raw 30 d</a:t>
            </a:r>
          </a:p>
          <a:p>
            <a:pPr algn="ctr">
              <a:spcBef>
                <a:spcPts val="0"/>
              </a:spcBef>
              <a:spcAft>
                <a:spcPts val="0"/>
              </a:spcAft>
            </a:pPr>
            <a:r>
              <a:rPr sz="1200" b="0" i="0">
                <a:solidFill>
                  <a:srgbClr val="111827"/>
                </a:solidFill>
                <a:latin typeface="Times New Roman"/>
              </a:rPr>
              <a:t>telemetry_agg 1 y</a:t>
            </a:r>
          </a:p>
        </p:txBody>
      </p:sp>
      <p:cxnSp>
        <p:nvCxnSpPr>
          <p:cNvPr id="30" name="Connector 29"/>
          <p:cNvCxnSpPr/>
          <p:nvPr/>
        </p:nvCxnSpPr>
        <p:spPr>
          <a:xfrm>
            <a:off x="8778240" y="4754880"/>
            <a:ext cx="0" cy="54864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955279" y="5303520"/>
            <a:ext cx="1645920" cy="960120"/>
          </a:xfrm>
          <a:prstGeom prst="roundRect">
            <a:avLst>
              <a:gd name="adj" fmla="val 11428"/>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1" i="0">
                <a:solidFill>
                  <a:srgbClr val="111827"/>
                </a:solidFill>
                <a:latin typeface="Times New Roman"/>
              </a:rPr>
              <a:t>PostgreSQL 14</a:t>
            </a:r>
          </a:p>
          <a:p>
            <a:pPr algn="ctr">
              <a:spcBef>
                <a:spcPts val="0"/>
              </a:spcBef>
              <a:spcAft>
                <a:spcPts val="0"/>
              </a:spcAft>
            </a:pPr>
            <a:r>
              <a:rPr sz="1200" b="0" i="0">
                <a:solidFill>
                  <a:srgbClr val="111827"/>
                </a:solidFill>
                <a:latin typeface="Times New Roman"/>
              </a:rPr>
              <a:t>machines · users · alerts</a:t>
            </a:r>
          </a:p>
          <a:p>
            <a:pPr algn="ctr">
              <a:spcBef>
                <a:spcPts val="0"/>
              </a:spcBef>
              <a:spcAft>
                <a:spcPts val="0"/>
              </a:spcAft>
            </a:pPr>
            <a:r>
              <a:rPr sz="1200" b="0" i="0">
                <a:solidFill>
                  <a:srgbClr val="111827"/>
                </a:solidFill>
                <a:latin typeface="Times New Roman"/>
              </a:rPr>
              <a:t>maintenance · feedback</a:t>
            </a:r>
          </a:p>
        </p:txBody>
      </p:sp>
      <p:sp>
        <p:nvSpPr>
          <p:cNvPr id="32" name="Rounded Rectangle 31"/>
          <p:cNvSpPr/>
          <p:nvPr/>
        </p:nvSpPr>
        <p:spPr>
          <a:xfrm>
            <a:off x="1783080" y="5074920"/>
            <a:ext cx="4023360" cy="1188720"/>
          </a:xfrm>
          <a:prstGeom prst="roundRect">
            <a:avLst>
              <a:gd name="adj" fmla="val 923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noAutofit/>
          </a:bodyPr>
          <a:lstStyle/>
          <a:p>
            <a:pPr algn="l">
              <a:spcBef>
                <a:spcPts val="0"/>
              </a:spcBef>
              <a:spcAft>
                <a:spcPts val="0"/>
              </a:spcAft>
            </a:pPr>
            <a:r>
              <a:rPr sz="1400" b="1" i="0">
                <a:solidFill>
                  <a:srgbClr val="111827"/>
                </a:solidFill>
                <a:latin typeface="Times New Roman"/>
              </a:rPr>
              <a:t>Two switches in .env</a:t>
            </a:r>
          </a:p>
          <a:p>
            <a:pPr algn="l">
              <a:spcBef>
                <a:spcPts val="0"/>
              </a:spcBef>
              <a:spcAft>
                <a:spcPts val="0"/>
              </a:spcAft>
            </a:pPr>
            <a:r>
              <a:rPr sz="1300" b="0" i="0">
                <a:solidFill>
                  <a:srgbClr val="111827"/>
                </a:solidFill>
                <a:latin typeface="Times New Roman"/>
              </a:rPr>
              <a:t>INGEST_MODE = direct | mqtt</a:t>
            </a:r>
          </a:p>
          <a:p>
            <a:pPr algn="l">
              <a:spcBef>
                <a:spcPts val="0"/>
              </a:spcBef>
              <a:spcAft>
                <a:spcPts val="0"/>
              </a:spcAft>
            </a:pPr>
            <a:r>
              <a:rPr sz="1300" b="0" i="0">
                <a:solidFill>
                  <a:srgbClr val="111827"/>
                </a:solidFill>
                <a:latin typeface="Times New Roman"/>
              </a:rPr>
              <a:t>STORAGE_MODE = memory | db</a:t>
            </a:r>
          </a:p>
          <a:p>
            <a:pPr algn="l">
              <a:spcBef>
                <a:spcPts val="0"/>
              </a:spcBef>
              <a:spcAft>
                <a:spcPts val="0"/>
              </a:spcAft>
            </a:pPr>
            <a:r>
              <a:rPr sz="1300" b="0" i="1">
                <a:solidFill>
                  <a:srgbClr val="475569"/>
                </a:solidFill>
                <a:latin typeface="Times New Roman"/>
              </a:rPr>
              <a:t>→ runs with no Docker and no database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Methodology</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Chevron 3"/>
          <p:cNvSpPr/>
          <p:nvPr/>
        </p:nvSpPr>
        <p:spPr>
          <a:xfrm>
            <a:off x="1783080" y="1097280"/>
            <a:ext cx="2057400" cy="86868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8288"/>
          <a:lstStyle/>
          <a:p>
            <a:pPr algn="l">
              <a:spcBef>
                <a:spcPts val="0"/>
              </a:spcBef>
              <a:spcAft>
                <a:spcPts val="0"/>
              </a:spcAft>
            </a:pPr>
            <a:r>
              <a:rPr sz="1300" b="1" i="0">
                <a:solidFill>
                  <a:srgbClr val="FFFFFF"/>
                </a:solidFill>
                <a:latin typeface="Times New Roman"/>
              </a:rPr>
              <a:t>1  Requirements</a:t>
            </a:r>
          </a:p>
        </p:txBody>
      </p:sp>
      <p:sp>
        <p:nvSpPr>
          <p:cNvPr id="5" name="Rounded Rectangle 4"/>
          <p:cNvSpPr/>
          <p:nvPr/>
        </p:nvSpPr>
        <p:spPr>
          <a:xfrm>
            <a:off x="1783080" y="2194560"/>
            <a:ext cx="1856231" cy="3063240"/>
          </a:xfrm>
          <a:prstGeom prst="roundRect">
            <a:avLst>
              <a:gd name="adj" fmla="val 5911"/>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6" name="TextBox 5"/>
          <p:cNvSpPr txBox="1"/>
          <p:nvPr/>
        </p:nvSpPr>
        <p:spPr>
          <a:xfrm>
            <a:off x="1920240" y="2331720"/>
            <a:ext cx="1581911" cy="2834640"/>
          </a:xfrm>
          <a:prstGeom prst="rect">
            <a:avLst/>
          </a:prstGeom>
          <a:noFill/>
        </p:spPr>
        <p:txBody>
          <a:bodyPr wrap="square" lIns="0" rIns="0" tIns="0" bIns="0" anchor="t">
            <a:noAutofit/>
          </a:bodyPr>
          <a:lstStyle/>
          <a:p>
            <a:pPr algn="l" marL="201168" indent="-201168">
              <a:spcBef>
                <a:spcPts val="0"/>
              </a:spcBef>
              <a:spcAft>
                <a:spcPts val="1000"/>
              </a:spcAft>
              <a:buFont typeface="Arial"/>
              <a:buChar char="•"/>
            </a:pPr>
            <a:r>
              <a:rPr sz="1500" b="0" i="0">
                <a:solidFill>
                  <a:srgbClr val="111827"/>
                </a:solidFill>
                <a:latin typeface="Times New Roman"/>
              </a:rPr>
              <a:t>SRS: 12 functional and 18 non-functional requirements</a:t>
            </a:r>
          </a:p>
          <a:p>
            <a:pPr algn="l" marL="201168" indent="-201168">
              <a:spcBef>
                <a:spcPts val="0"/>
              </a:spcBef>
              <a:spcAft>
                <a:spcPts val="1000"/>
              </a:spcAft>
              <a:buFont typeface="Arial"/>
              <a:buChar char="•"/>
            </a:pPr>
            <a:r>
              <a:rPr sz="1500" b="0" i="0">
                <a:solidFill>
                  <a:srgbClr val="111827"/>
                </a:solidFill>
                <a:latin typeface="Times New Roman"/>
              </a:rPr>
              <a:t>6 user stories, 8 use cases</a:t>
            </a:r>
          </a:p>
          <a:p>
            <a:pPr algn="l" marL="201168" indent="-201168">
              <a:spcBef>
                <a:spcPts val="0"/>
              </a:spcBef>
              <a:spcAft>
                <a:spcPts val="1000"/>
              </a:spcAft>
              <a:buFont typeface="Arial"/>
              <a:buChar char="•"/>
            </a:pPr>
            <a:r>
              <a:rPr sz="1500" b="0" i="0">
                <a:solidFill>
                  <a:srgbClr val="111827"/>
                </a:solidFill>
                <a:latin typeface="Times New Roman"/>
              </a:rPr>
              <a:t>Constraints C-01 to C-07</a:t>
            </a:r>
          </a:p>
        </p:txBody>
      </p:sp>
      <p:sp>
        <p:nvSpPr>
          <p:cNvPr id="7" name="Chevron 6"/>
          <p:cNvSpPr/>
          <p:nvPr/>
        </p:nvSpPr>
        <p:spPr>
          <a:xfrm>
            <a:off x="3822191" y="1097280"/>
            <a:ext cx="2057400" cy="86868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8288"/>
          <a:lstStyle/>
          <a:p>
            <a:pPr algn="l">
              <a:spcBef>
                <a:spcPts val="0"/>
              </a:spcBef>
              <a:spcAft>
                <a:spcPts val="0"/>
              </a:spcAft>
            </a:pPr>
            <a:r>
              <a:rPr sz="1300" b="1" i="0">
                <a:solidFill>
                  <a:srgbClr val="FFFFFF"/>
                </a:solidFill>
                <a:latin typeface="Times New Roman"/>
              </a:rPr>
              <a:t>2  Design</a:t>
            </a:r>
          </a:p>
        </p:txBody>
      </p:sp>
      <p:sp>
        <p:nvSpPr>
          <p:cNvPr id="8" name="Rounded Rectangle 7"/>
          <p:cNvSpPr/>
          <p:nvPr/>
        </p:nvSpPr>
        <p:spPr>
          <a:xfrm>
            <a:off x="3822191" y="2194560"/>
            <a:ext cx="1856231" cy="3063240"/>
          </a:xfrm>
          <a:prstGeom prst="roundRect">
            <a:avLst>
              <a:gd name="adj" fmla="val 5911"/>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9" name="TextBox 8"/>
          <p:cNvSpPr txBox="1"/>
          <p:nvPr/>
        </p:nvSpPr>
        <p:spPr>
          <a:xfrm>
            <a:off x="3959352" y="2331720"/>
            <a:ext cx="1581911" cy="2834640"/>
          </a:xfrm>
          <a:prstGeom prst="rect">
            <a:avLst/>
          </a:prstGeom>
          <a:noFill/>
        </p:spPr>
        <p:txBody>
          <a:bodyPr wrap="square" lIns="0" rIns="0" tIns="0" bIns="0" anchor="t">
            <a:noAutofit/>
          </a:bodyPr>
          <a:lstStyle/>
          <a:p>
            <a:pPr algn="l" marL="201168" indent="-201168">
              <a:spcBef>
                <a:spcPts val="0"/>
              </a:spcBef>
              <a:spcAft>
                <a:spcPts val="1000"/>
              </a:spcAft>
              <a:buFont typeface="Arial"/>
              <a:buChar char="•"/>
            </a:pPr>
            <a:r>
              <a:rPr sz="1500" b="0" i="0">
                <a:solidFill>
                  <a:srgbClr val="111827"/>
                </a:solidFill>
                <a:latin typeface="Times New Roman"/>
              </a:rPr>
              <a:t>Architecture and data-flow diagrams</a:t>
            </a:r>
          </a:p>
          <a:p>
            <a:pPr algn="l" marL="201168" indent="-201168">
              <a:spcBef>
                <a:spcPts val="0"/>
              </a:spcBef>
              <a:spcAft>
                <a:spcPts val="1000"/>
              </a:spcAft>
              <a:buFont typeface="Arial"/>
              <a:buChar char="•"/>
            </a:pPr>
            <a:r>
              <a:rPr sz="1500" b="0" i="0">
                <a:solidFill>
                  <a:srgbClr val="111827"/>
                </a:solidFill>
                <a:latin typeface="Times New Roman"/>
              </a:rPr>
              <a:t>UML: use case, class, sequence, activity</a:t>
            </a:r>
          </a:p>
          <a:p>
            <a:pPr algn="l" marL="201168" indent="-201168">
              <a:spcBef>
                <a:spcPts val="0"/>
              </a:spcBef>
              <a:spcAft>
                <a:spcPts val="1000"/>
              </a:spcAft>
              <a:buFont typeface="Arial"/>
              <a:buChar char="•"/>
            </a:pPr>
            <a:r>
              <a:rPr sz="1500" b="0" i="0">
                <a:solidFill>
                  <a:srgbClr val="111827"/>
                </a:solidFill>
                <a:latin typeface="Times New Roman"/>
              </a:rPr>
              <a:t>Database schema</a:t>
            </a:r>
          </a:p>
        </p:txBody>
      </p:sp>
      <p:sp>
        <p:nvSpPr>
          <p:cNvPr id="10" name="Chevron 9"/>
          <p:cNvSpPr/>
          <p:nvPr/>
        </p:nvSpPr>
        <p:spPr>
          <a:xfrm>
            <a:off x="5861304" y="1097280"/>
            <a:ext cx="2057400" cy="868680"/>
          </a:xfrm>
          <a:prstGeom prst="chevron">
            <a:avLst>
              <a:gd name="adj" fmla="val 28000"/>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8288"/>
          <a:lstStyle/>
          <a:p>
            <a:pPr algn="l">
              <a:spcBef>
                <a:spcPts val="0"/>
              </a:spcBef>
              <a:spcAft>
                <a:spcPts val="0"/>
              </a:spcAft>
            </a:pPr>
            <a:r>
              <a:rPr sz="1300" b="1" i="0">
                <a:solidFill>
                  <a:srgbClr val="FFFFFF"/>
                </a:solidFill>
                <a:latin typeface="Times New Roman"/>
              </a:rPr>
              <a:t>3  Build</a:t>
            </a:r>
          </a:p>
        </p:txBody>
      </p:sp>
      <p:sp>
        <p:nvSpPr>
          <p:cNvPr id="11" name="Rounded Rectangle 10"/>
          <p:cNvSpPr/>
          <p:nvPr/>
        </p:nvSpPr>
        <p:spPr>
          <a:xfrm>
            <a:off x="5861304" y="2194560"/>
            <a:ext cx="1856231" cy="3063240"/>
          </a:xfrm>
          <a:prstGeom prst="roundRect">
            <a:avLst>
              <a:gd name="adj" fmla="val 5911"/>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2" name="TextBox 11"/>
          <p:cNvSpPr txBox="1"/>
          <p:nvPr/>
        </p:nvSpPr>
        <p:spPr>
          <a:xfrm>
            <a:off x="5998464" y="2331720"/>
            <a:ext cx="1581911" cy="2834640"/>
          </a:xfrm>
          <a:prstGeom prst="rect">
            <a:avLst/>
          </a:prstGeom>
          <a:noFill/>
        </p:spPr>
        <p:txBody>
          <a:bodyPr wrap="square" lIns="0" rIns="0" tIns="0" bIns="0" anchor="t">
            <a:noAutofit/>
          </a:bodyPr>
          <a:lstStyle/>
          <a:p>
            <a:pPr algn="l" marL="201168" indent="-201168">
              <a:spcBef>
                <a:spcPts val="0"/>
              </a:spcBef>
              <a:spcAft>
                <a:spcPts val="1000"/>
              </a:spcAft>
              <a:buFont typeface="Arial"/>
              <a:buChar char="•"/>
            </a:pPr>
            <a:r>
              <a:rPr sz="1500" b="0" i="0">
                <a:solidFill>
                  <a:srgbClr val="111827"/>
                </a:solidFill>
                <a:latin typeface="Times New Roman"/>
              </a:rPr>
              <a:t>Ten incremental milestones (M1 – M10)</a:t>
            </a:r>
          </a:p>
          <a:p>
            <a:pPr algn="l" marL="201168" indent="-201168">
              <a:spcBef>
                <a:spcPts val="0"/>
              </a:spcBef>
              <a:spcAft>
                <a:spcPts val="1000"/>
              </a:spcAft>
              <a:buFont typeface="Arial"/>
              <a:buChar char="•"/>
            </a:pPr>
            <a:r>
              <a:rPr sz="1500" b="0" i="0">
                <a:solidFill>
                  <a:srgbClr val="111827"/>
                </a:solidFill>
                <a:latin typeface="Times New Roman"/>
              </a:rPr>
              <a:t>Simulator → backend → ML → What-If → dashboard</a:t>
            </a:r>
          </a:p>
          <a:p>
            <a:pPr algn="l" marL="201168" indent="-201168">
              <a:spcBef>
                <a:spcPts val="0"/>
              </a:spcBef>
              <a:spcAft>
                <a:spcPts val="1000"/>
              </a:spcAft>
              <a:buFont typeface="Arial"/>
              <a:buChar char="•"/>
            </a:pPr>
            <a:r>
              <a:rPr sz="1500" b="0" i="0">
                <a:solidFill>
                  <a:srgbClr val="111827"/>
                </a:solidFill>
                <a:latin typeface="Times New Roman"/>
              </a:rPr>
              <a:t>Docker Compose, scripts</a:t>
            </a:r>
          </a:p>
        </p:txBody>
      </p:sp>
      <p:sp>
        <p:nvSpPr>
          <p:cNvPr id="13" name="Chevron 12"/>
          <p:cNvSpPr/>
          <p:nvPr/>
        </p:nvSpPr>
        <p:spPr>
          <a:xfrm>
            <a:off x="7900415" y="1097280"/>
            <a:ext cx="2057400" cy="868680"/>
          </a:xfrm>
          <a:prstGeom prst="chevron">
            <a:avLst>
              <a:gd name="adj" fmla="val 28000"/>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8288"/>
          <a:lstStyle/>
          <a:p>
            <a:pPr algn="l">
              <a:spcBef>
                <a:spcPts val="0"/>
              </a:spcBef>
              <a:spcAft>
                <a:spcPts val="0"/>
              </a:spcAft>
            </a:pPr>
            <a:r>
              <a:rPr sz="1300" b="1" i="0">
                <a:solidFill>
                  <a:srgbClr val="FFFFFF"/>
                </a:solidFill>
                <a:latin typeface="Times New Roman"/>
              </a:rPr>
              <a:t>4  Verify</a:t>
            </a:r>
          </a:p>
        </p:txBody>
      </p:sp>
      <p:sp>
        <p:nvSpPr>
          <p:cNvPr id="14" name="Rounded Rectangle 13"/>
          <p:cNvSpPr/>
          <p:nvPr/>
        </p:nvSpPr>
        <p:spPr>
          <a:xfrm>
            <a:off x="7900415" y="2194560"/>
            <a:ext cx="1856231" cy="3063240"/>
          </a:xfrm>
          <a:prstGeom prst="roundRect">
            <a:avLst>
              <a:gd name="adj" fmla="val 5911"/>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5" name="TextBox 14"/>
          <p:cNvSpPr txBox="1"/>
          <p:nvPr/>
        </p:nvSpPr>
        <p:spPr>
          <a:xfrm>
            <a:off x="8037575" y="2331720"/>
            <a:ext cx="1581911" cy="2834640"/>
          </a:xfrm>
          <a:prstGeom prst="rect">
            <a:avLst/>
          </a:prstGeom>
          <a:noFill/>
        </p:spPr>
        <p:txBody>
          <a:bodyPr wrap="square" lIns="0" rIns="0" tIns="0" bIns="0" anchor="t">
            <a:noAutofit/>
          </a:bodyPr>
          <a:lstStyle/>
          <a:p>
            <a:pPr algn="l" marL="201168" indent="-201168">
              <a:spcBef>
                <a:spcPts val="0"/>
              </a:spcBef>
              <a:spcAft>
                <a:spcPts val="1000"/>
              </a:spcAft>
              <a:buFont typeface="Arial"/>
              <a:buChar char="•"/>
            </a:pPr>
            <a:r>
              <a:rPr sz="1500" b="0" i="0">
                <a:solidFill>
                  <a:srgbClr val="111827"/>
                </a:solidFill>
                <a:latin typeface="Times New Roman"/>
              </a:rPr>
              <a:t>45 automated tests</a:t>
            </a:r>
          </a:p>
          <a:p>
            <a:pPr algn="l" marL="201168" indent="-201168">
              <a:spcBef>
                <a:spcPts val="0"/>
              </a:spcBef>
              <a:spcAft>
                <a:spcPts val="1000"/>
              </a:spcAft>
              <a:buFont typeface="Arial"/>
              <a:buChar char="•"/>
            </a:pPr>
            <a:r>
              <a:rPr sz="1500" b="0" i="0">
                <a:solidFill>
                  <a:srgbClr val="111827"/>
                </a:solidFill>
                <a:latin typeface="Times New Roman"/>
              </a:rPr>
              <a:t>13-check end-to-end smoke test</a:t>
            </a:r>
          </a:p>
          <a:p>
            <a:pPr algn="l" marL="201168" indent="-201168">
              <a:spcBef>
                <a:spcPts val="0"/>
              </a:spcBef>
              <a:spcAft>
                <a:spcPts val="1000"/>
              </a:spcAft>
              <a:buFont typeface="Arial"/>
              <a:buChar char="•"/>
            </a:pPr>
            <a:r>
              <a:rPr sz="1500" b="0" i="0">
                <a:solidFill>
                  <a:srgbClr val="111827"/>
                </a:solidFill>
                <a:latin typeface="Times New Roman"/>
              </a:rPr>
              <a:t>Accessibility, 3 browsers, live databases</a:t>
            </a:r>
          </a:p>
        </p:txBody>
      </p:sp>
      <p:sp>
        <p:nvSpPr>
          <p:cNvPr id="16" name="Chevron 15"/>
          <p:cNvSpPr/>
          <p:nvPr/>
        </p:nvSpPr>
        <p:spPr>
          <a:xfrm>
            <a:off x="9939528" y="1097280"/>
            <a:ext cx="2057400" cy="86868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8288"/>
          <a:lstStyle/>
          <a:p>
            <a:pPr algn="l">
              <a:spcBef>
                <a:spcPts val="0"/>
              </a:spcBef>
              <a:spcAft>
                <a:spcPts val="0"/>
              </a:spcAft>
            </a:pPr>
            <a:r>
              <a:rPr sz="1300" b="1" i="0">
                <a:solidFill>
                  <a:srgbClr val="FFFFFF"/>
                </a:solidFill>
                <a:latin typeface="Times New Roman"/>
              </a:rPr>
              <a:t>5  Document</a:t>
            </a:r>
          </a:p>
        </p:txBody>
      </p:sp>
      <p:sp>
        <p:nvSpPr>
          <p:cNvPr id="17" name="Rounded Rectangle 16"/>
          <p:cNvSpPr/>
          <p:nvPr/>
        </p:nvSpPr>
        <p:spPr>
          <a:xfrm>
            <a:off x="9939528" y="2194560"/>
            <a:ext cx="1856231" cy="3063240"/>
          </a:xfrm>
          <a:prstGeom prst="roundRect">
            <a:avLst>
              <a:gd name="adj" fmla="val 5911"/>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8" name="TextBox 17"/>
          <p:cNvSpPr txBox="1"/>
          <p:nvPr/>
        </p:nvSpPr>
        <p:spPr>
          <a:xfrm>
            <a:off x="10076688" y="2331720"/>
            <a:ext cx="1581911" cy="2834640"/>
          </a:xfrm>
          <a:prstGeom prst="rect">
            <a:avLst/>
          </a:prstGeom>
          <a:noFill/>
        </p:spPr>
        <p:txBody>
          <a:bodyPr wrap="square" lIns="0" rIns="0" tIns="0" bIns="0" anchor="t">
            <a:noAutofit/>
          </a:bodyPr>
          <a:lstStyle/>
          <a:p>
            <a:pPr algn="l" marL="201168" indent="-201168">
              <a:spcBef>
                <a:spcPts val="0"/>
              </a:spcBef>
              <a:spcAft>
                <a:spcPts val="1000"/>
              </a:spcAft>
              <a:buFont typeface="Arial"/>
              <a:buChar char="•"/>
            </a:pPr>
            <a:r>
              <a:rPr sz="1500" b="0" i="0">
                <a:solidFill>
                  <a:srgbClr val="111827"/>
                </a:solidFill>
                <a:latin typeface="Times New Roman"/>
              </a:rPr>
              <a:t>Project report and this presentation</a:t>
            </a:r>
          </a:p>
          <a:p>
            <a:pPr algn="l" marL="201168" indent="-201168">
              <a:spcBef>
                <a:spcPts val="0"/>
              </a:spcBef>
              <a:spcAft>
                <a:spcPts val="1000"/>
              </a:spcAft>
              <a:buFont typeface="Arial"/>
              <a:buChar char="•"/>
            </a:pPr>
            <a:r>
              <a:rPr sz="1500" b="0" i="0">
                <a:solidFill>
                  <a:srgbClr val="111827"/>
                </a:solidFill>
                <a:latin typeface="Times New Roman"/>
              </a:rPr>
              <a:t>README, setup guides</a:t>
            </a:r>
          </a:p>
          <a:p>
            <a:pPr algn="l" marL="201168" indent="-201168">
              <a:spcBef>
                <a:spcPts val="0"/>
              </a:spcBef>
              <a:spcAft>
                <a:spcPts val="1000"/>
              </a:spcAft>
              <a:buFont typeface="Arial"/>
              <a:buChar char="•"/>
            </a:pPr>
            <a:r>
              <a:rPr sz="1500" b="0" i="0">
                <a:solidFill>
                  <a:srgbClr val="111827"/>
                </a:solidFill>
                <a:latin typeface="Times New Roman"/>
              </a:rPr>
              <a:t>Auto-generated API docs at /docs</a:t>
            </a:r>
          </a:p>
        </p:txBody>
      </p:sp>
      <p:sp>
        <p:nvSpPr>
          <p:cNvPr id="19" name="Rounded Rectangle 18"/>
          <p:cNvSpPr/>
          <p:nvPr/>
        </p:nvSpPr>
        <p:spPr>
          <a:xfrm>
            <a:off x="1783080" y="5486400"/>
            <a:ext cx="10012680" cy="731520"/>
          </a:xfrm>
          <a:prstGeom prst="roundRect">
            <a:avLst>
              <a:gd name="adj" fmla="val 1500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600" b="1" i="0">
                <a:solidFill>
                  <a:srgbClr val="375623"/>
                </a:solidFill>
                <a:latin typeface="Times New Roman"/>
              </a:rPr>
              <a:t>Every milestone ended with working code and passing tests – the Definition of Done in SRS §13.2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Modules (SRS §3.2)</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97280"/>
            <a:ext cx="2331720" cy="2377440"/>
          </a:xfrm>
          <a:prstGeom prst="roundRect">
            <a:avLst>
              <a:gd name="adj" fmla="val 4705"/>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TextBox 4"/>
          <p:cNvSpPr txBox="1"/>
          <p:nvPr/>
        </p:nvSpPr>
        <p:spPr>
          <a:xfrm>
            <a:off x="1920240" y="1207007"/>
            <a:ext cx="2057400" cy="640080"/>
          </a:xfrm>
          <a:prstGeom prst="rect">
            <a:avLst/>
          </a:prstGeom>
          <a:noFill/>
        </p:spPr>
        <p:txBody>
          <a:bodyPr wrap="square" lIns="0" rIns="0" tIns="0" bIns="0" anchor="t">
            <a:noAutofit/>
          </a:bodyPr>
          <a:lstStyle/>
          <a:p>
            <a:pPr algn="l">
              <a:spcBef>
                <a:spcPts val="0"/>
              </a:spcBef>
              <a:spcAft>
                <a:spcPts val="0"/>
              </a:spcAft>
            </a:pPr>
            <a:r>
              <a:rPr sz="1600" b="1" i="0">
                <a:solidFill>
                  <a:srgbClr val="111827"/>
                </a:solidFill>
                <a:latin typeface="Times New Roman"/>
              </a:rPr>
              <a:t>Virtual Factory Simulator</a:t>
            </a:r>
          </a:p>
        </p:txBody>
      </p:sp>
      <p:sp>
        <p:nvSpPr>
          <p:cNvPr id="6" name="TextBox 5"/>
          <p:cNvSpPr txBox="1"/>
          <p:nvPr/>
        </p:nvSpPr>
        <p:spPr>
          <a:xfrm>
            <a:off x="1920240" y="1874519"/>
            <a:ext cx="2057400" cy="114300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Emulates 5–20 machines; emits temperature, vibration, status and cycles every 500 ms.</a:t>
            </a:r>
          </a:p>
        </p:txBody>
      </p:sp>
      <p:sp>
        <p:nvSpPr>
          <p:cNvPr id="7" name="TextBox 6"/>
          <p:cNvSpPr txBox="1"/>
          <p:nvPr/>
        </p:nvSpPr>
        <p:spPr>
          <a:xfrm>
            <a:off x="1920240" y="3108960"/>
            <a:ext cx="2057400" cy="274320"/>
          </a:xfrm>
          <a:prstGeom prst="rect">
            <a:avLst/>
          </a:prstGeom>
          <a:noFill/>
        </p:spPr>
        <p:txBody>
          <a:bodyPr wrap="square" lIns="0" rIns="0" tIns="0" bIns="0" anchor="t">
            <a:noAutofit/>
          </a:bodyPr>
          <a:lstStyle/>
          <a:p>
            <a:pPr algn="l">
              <a:spcBef>
                <a:spcPts val="0"/>
              </a:spcBef>
              <a:spcAft>
                <a:spcPts val="0"/>
              </a:spcAft>
            </a:pPr>
            <a:r>
              <a:rPr sz="1100" b="0" i="1">
                <a:solidFill>
                  <a:srgbClr val="475569"/>
                </a:solidFill>
                <a:latin typeface="Times New Roman"/>
              </a:rPr>
              <a:t>simulator/core.py</a:t>
            </a:r>
          </a:p>
        </p:txBody>
      </p:sp>
      <p:sp>
        <p:nvSpPr>
          <p:cNvPr id="8" name="Rounded Rectangle 7"/>
          <p:cNvSpPr/>
          <p:nvPr/>
        </p:nvSpPr>
        <p:spPr>
          <a:xfrm>
            <a:off x="4343400" y="1097280"/>
            <a:ext cx="2331720" cy="2377440"/>
          </a:xfrm>
          <a:prstGeom prst="roundRect">
            <a:avLst>
              <a:gd name="adj" fmla="val 4705"/>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9" name="TextBox 8"/>
          <p:cNvSpPr txBox="1"/>
          <p:nvPr/>
        </p:nvSpPr>
        <p:spPr>
          <a:xfrm>
            <a:off x="4480560" y="1207007"/>
            <a:ext cx="2057400" cy="640080"/>
          </a:xfrm>
          <a:prstGeom prst="rect">
            <a:avLst/>
          </a:prstGeom>
          <a:noFill/>
        </p:spPr>
        <p:txBody>
          <a:bodyPr wrap="square" lIns="0" rIns="0" tIns="0" bIns="0" anchor="t">
            <a:noAutofit/>
          </a:bodyPr>
          <a:lstStyle/>
          <a:p>
            <a:pPr algn="l">
              <a:spcBef>
                <a:spcPts val="0"/>
              </a:spcBef>
              <a:spcAft>
                <a:spcPts val="0"/>
              </a:spcAft>
            </a:pPr>
            <a:r>
              <a:rPr sz="1600" b="1" i="0">
                <a:solidFill>
                  <a:srgbClr val="111827"/>
                </a:solidFill>
                <a:latin typeface="Times New Roman"/>
              </a:rPr>
              <a:t>OEE Calculation Engine</a:t>
            </a:r>
          </a:p>
        </p:txBody>
      </p:sp>
      <p:sp>
        <p:nvSpPr>
          <p:cNvPr id="10" name="TextBox 9"/>
          <p:cNvSpPr txBox="1"/>
          <p:nvPr/>
        </p:nvSpPr>
        <p:spPr>
          <a:xfrm>
            <a:off x="4480560" y="1874519"/>
            <a:ext cx="2057400" cy="114300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Availability × Performance × Quality over rolling 1 h and 8 h windows.</a:t>
            </a:r>
          </a:p>
        </p:txBody>
      </p:sp>
      <p:sp>
        <p:nvSpPr>
          <p:cNvPr id="11" name="TextBox 10"/>
          <p:cNvSpPr txBox="1"/>
          <p:nvPr/>
        </p:nvSpPr>
        <p:spPr>
          <a:xfrm>
            <a:off x="4480560" y="3108960"/>
            <a:ext cx="2057400" cy="274320"/>
          </a:xfrm>
          <a:prstGeom prst="rect">
            <a:avLst/>
          </a:prstGeom>
          <a:noFill/>
        </p:spPr>
        <p:txBody>
          <a:bodyPr wrap="square" lIns="0" rIns="0" tIns="0" bIns="0" anchor="t">
            <a:noAutofit/>
          </a:bodyPr>
          <a:lstStyle/>
          <a:p>
            <a:pPr algn="l">
              <a:spcBef>
                <a:spcPts val="0"/>
              </a:spcBef>
              <a:spcAft>
                <a:spcPts val="0"/>
              </a:spcAft>
            </a:pPr>
            <a:r>
              <a:rPr sz="1100" b="0" i="1">
                <a:solidFill>
                  <a:srgbClr val="475569"/>
                </a:solidFill>
                <a:latin typeface="Times New Roman"/>
              </a:rPr>
              <a:t>backend/app/services/oee.py</a:t>
            </a:r>
          </a:p>
        </p:txBody>
      </p:sp>
      <p:sp>
        <p:nvSpPr>
          <p:cNvPr id="12" name="Rounded Rectangle 11"/>
          <p:cNvSpPr/>
          <p:nvPr/>
        </p:nvSpPr>
        <p:spPr>
          <a:xfrm>
            <a:off x="6903720" y="1097280"/>
            <a:ext cx="2331720" cy="2377440"/>
          </a:xfrm>
          <a:prstGeom prst="roundRect">
            <a:avLst>
              <a:gd name="adj" fmla="val 4705"/>
            </a:avLst>
          </a:prstGeom>
          <a:solidFill>
            <a:srgbClr val="FEE2E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3" name="TextBox 12"/>
          <p:cNvSpPr txBox="1"/>
          <p:nvPr/>
        </p:nvSpPr>
        <p:spPr>
          <a:xfrm>
            <a:off x="7040880" y="1207007"/>
            <a:ext cx="2057400" cy="640080"/>
          </a:xfrm>
          <a:prstGeom prst="rect">
            <a:avLst/>
          </a:prstGeom>
          <a:noFill/>
        </p:spPr>
        <p:txBody>
          <a:bodyPr wrap="square" lIns="0" rIns="0" tIns="0" bIns="0" anchor="t">
            <a:noAutofit/>
          </a:bodyPr>
          <a:lstStyle/>
          <a:p>
            <a:pPr algn="l">
              <a:spcBef>
                <a:spcPts val="0"/>
              </a:spcBef>
              <a:spcAft>
                <a:spcPts val="0"/>
              </a:spcAft>
            </a:pPr>
            <a:r>
              <a:rPr sz="1600" b="1" i="0">
                <a:solidFill>
                  <a:srgbClr val="111827"/>
                </a:solidFill>
                <a:latin typeface="Times New Roman"/>
              </a:rPr>
              <a:t>Rule-Based Alert Engine</a:t>
            </a:r>
          </a:p>
        </p:txBody>
      </p:sp>
      <p:sp>
        <p:nvSpPr>
          <p:cNvPr id="14" name="TextBox 13"/>
          <p:cNvSpPr txBox="1"/>
          <p:nvPr/>
        </p:nvSpPr>
        <p:spPr>
          <a:xfrm>
            <a:off x="7040880" y="1874519"/>
            <a:ext cx="2057400" cy="114300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Deterministic hard limits raise Red alerts instantly.</a:t>
            </a:r>
          </a:p>
        </p:txBody>
      </p:sp>
      <p:sp>
        <p:nvSpPr>
          <p:cNvPr id="15" name="TextBox 14"/>
          <p:cNvSpPr txBox="1"/>
          <p:nvPr/>
        </p:nvSpPr>
        <p:spPr>
          <a:xfrm>
            <a:off x="7040880" y="3108960"/>
            <a:ext cx="2057400" cy="274320"/>
          </a:xfrm>
          <a:prstGeom prst="rect">
            <a:avLst/>
          </a:prstGeom>
          <a:noFill/>
        </p:spPr>
        <p:txBody>
          <a:bodyPr wrap="square" lIns="0" rIns="0" tIns="0" bIns="0" anchor="t">
            <a:noAutofit/>
          </a:bodyPr>
          <a:lstStyle/>
          <a:p>
            <a:pPr algn="l">
              <a:spcBef>
                <a:spcPts val="0"/>
              </a:spcBef>
              <a:spcAft>
                <a:spcPts val="0"/>
              </a:spcAft>
            </a:pPr>
            <a:r>
              <a:rPr sz="1100" b="0" i="1">
                <a:solidFill>
                  <a:srgbClr val="475569"/>
                </a:solidFill>
                <a:latin typeface="Times New Roman"/>
              </a:rPr>
              <a:t>backend/app/services/rules.py</a:t>
            </a:r>
          </a:p>
        </p:txBody>
      </p:sp>
      <p:sp>
        <p:nvSpPr>
          <p:cNvPr id="16" name="Rounded Rectangle 15"/>
          <p:cNvSpPr/>
          <p:nvPr/>
        </p:nvSpPr>
        <p:spPr>
          <a:xfrm>
            <a:off x="9464039" y="1097280"/>
            <a:ext cx="2331720" cy="2377440"/>
          </a:xfrm>
          <a:prstGeom prst="roundRect">
            <a:avLst>
              <a:gd name="adj" fmla="val 4705"/>
            </a:avLst>
          </a:prstGeom>
          <a:solidFill>
            <a:srgbClr val="FEF9C3"/>
          </a:solidFill>
          <a:ln w="1905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7" name="TextBox 16"/>
          <p:cNvSpPr txBox="1"/>
          <p:nvPr/>
        </p:nvSpPr>
        <p:spPr>
          <a:xfrm>
            <a:off x="9601199" y="1207007"/>
            <a:ext cx="2057400" cy="640080"/>
          </a:xfrm>
          <a:prstGeom prst="rect">
            <a:avLst/>
          </a:prstGeom>
          <a:noFill/>
        </p:spPr>
        <p:txBody>
          <a:bodyPr wrap="square" lIns="0" rIns="0" tIns="0" bIns="0" anchor="t">
            <a:noAutofit/>
          </a:bodyPr>
          <a:lstStyle/>
          <a:p>
            <a:pPr algn="l">
              <a:spcBef>
                <a:spcPts val="0"/>
              </a:spcBef>
              <a:spcAft>
                <a:spcPts val="0"/>
              </a:spcAft>
            </a:pPr>
            <a:r>
              <a:rPr sz="1600" b="1" i="0">
                <a:solidFill>
                  <a:srgbClr val="111827"/>
                </a:solidFill>
                <a:latin typeface="Times New Roman"/>
              </a:rPr>
              <a:t>ML Anomaly Scorer</a:t>
            </a:r>
          </a:p>
        </p:txBody>
      </p:sp>
      <p:sp>
        <p:nvSpPr>
          <p:cNvPr id="18" name="TextBox 17"/>
          <p:cNvSpPr txBox="1"/>
          <p:nvPr/>
        </p:nvSpPr>
        <p:spPr>
          <a:xfrm>
            <a:off x="9601199" y="1874519"/>
            <a:ext cx="2057400" cy="114300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Pre-trained Isolation Forest returns a 0–100 % anomaly score.</a:t>
            </a:r>
          </a:p>
        </p:txBody>
      </p:sp>
      <p:sp>
        <p:nvSpPr>
          <p:cNvPr id="19" name="TextBox 18"/>
          <p:cNvSpPr txBox="1"/>
          <p:nvPr/>
        </p:nvSpPr>
        <p:spPr>
          <a:xfrm>
            <a:off x="9601199" y="3108960"/>
            <a:ext cx="2057400" cy="274320"/>
          </a:xfrm>
          <a:prstGeom prst="rect">
            <a:avLst/>
          </a:prstGeom>
          <a:noFill/>
        </p:spPr>
        <p:txBody>
          <a:bodyPr wrap="square" lIns="0" rIns="0" tIns="0" bIns="0" anchor="t">
            <a:noAutofit/>
          </a:bodyPr>
          <a:lstStyle/>
          <a:p>
            <a:pPr algn="l">
              <a:spcBef>
                <a:spcPts val="0"/>
              </a:spcBef>
              <a:spcAft>
                <a:spcPts val="0"/>
              </a:spcAft>
            </a:pPr>
            <a:r>
              <a:rPr sz="1100" b="0" i="1">
                <a:solidFill>
                  <a:srgbClr val="475569"/>
                </a:solidFill>
                <a:latin typeface="Times New Roman"/>
              </a:rPr>
              <a:t>backend/app/ml/scorer.py</a:t>
            </a:r>
          </a:p>
        </p:txBody>
      </p:sp>
      <p:sp>
        <p:nvSpPr>
          <p:cNvPr id="20" name="Rounded Rectangle 19"/>
          <p:cNvSpPr/>
          <p:nvPr/>
        </p:nvSpPr>
        <p:spPr>
          <a:xfrm>
            <a:off x="1783080" y="3703320"/>
            <a:ext cx="2331720" cy="2377440"/>
          </a:xfrm>
          <a:prstGeom prst="roundRect">
            <a:avLst>
              <a:gd name="adj" fmla="val 4705"/>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1" name="TextBox 20"/>
          <p:cNvSpPr txBox="1"/>
          <p:nvPr/>
        </p:nvSpPr>
        <p:spPr>
          <a:xfrm>
            <a:off x="1920240" y="3813048"/>
            <a:ext cx="2057400" cy="640080"/>
          </a:xfrm>
          <a:prstGeom prst="rect">
            <a:avLst/>
          </a:prstGeom>
          <a:noFill/>
        </p:spPr>
        <p:txBody>
          <a:bodyPr wrap="square" lIns="0" rIns="0" tIns="0" bIns="0" anchor="t">
            <a:noAutofit/>
          </a:bodyPr>
          <a:lstStyle/>
          <a:p>
            <a:pPr algn="l">
              <a:spcBef>
                <a:spcPts val="0"/>
              </a:spcBef>
              <a:spcAft>
                <a:spcPts val="0"/>
              </a:spcAft>
            </a:pPr>
            <a:r>
              <a:rPr sz="1600" b="1" i="0">
                <a:solidFill>
                  <a:srgbClr val="111827"/>
                </a:solidFill>
                <a:latin typeface="Times New Roman"/>
              </a:rPr>
              <a:t>Interactive 2D Dashboard</a:t>
            </a:r>
          </a:p>
        </p:txBody>
      </p:sp>
      <p:sp>
        <p:nvSpPr>
          <p:cNvPr id="22" name="TextBox 21"/>
          <p:cNvSpPr txBox="1"/>
          <p:nvPr/>
        </p:nvSpPr>
        <p:spPr>
          <a:xfrm>
            <a:off x="1920240" y="4480559"/>
            <a:ext cx="2057400" cy="114300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Machine grid, live charts, alert feed, ML gauges, reports, controls.</a:t>
            </a:r>
          </a:p>
        </p:txBody>
      </p:sp>
      <p:sp>
        <p:nvSpPr>
          <p:cNvPr id="23" name="TextBox 22"/>
          <p:cNvSpPr txBox="1"/>
          <p:nvPr/>
        </p:nvSpPr>
        <p:spPr>
          <a:xfrm>
            <a:off x="1920240" y="5715000"/>
            <a:ext cx="2057400" cy="274320"/>
          </a:xfrm>
          <a:prstGeom prst="rect">
            <a:avLst/>
          </a:prstGeom>
          <a:noFill/>
        </p:spPr>
        <p:txBody>
          <a:bodyPr wrap="square" lIns="0" rIns="0" tIns="0" bIns="0" anchor="t">
            <a:noAutofit/>
          </a:bodyPr>
          <a:lstStyle/>
          <a:p>
            <a:pPr algn="l">
              <a:spcBef>
                <a:spcPts val="0"/>
              </a:spcBef>
              <a:spcAft>
                <a:spcPts val="0"/>
              </a:spcAft>
            </a:pPr>
            <a:r>
              <a:rPr sz="1100" b="0" i="1">
                <a:solidFill>
                  <a:srgbClr val="475569"/>
                </a:solidFill>
                <a:latin typeface="Times New Roman"/>
              </a:rPr>
              <a:t>frontend/src/pages/</a:t>
            </a:r>
          </a:p>
        </p:txBody>
      </p:sp>
      <p:sp>
        <p:nvSpPr>
          <p:cNvPr id="24" name="Rounded Rectangle 23"/>
          <p:cNvSpPr/>
          <p:nvPr/>
        </p:nvSpPr>
        <p:spPr>
          <a:xfrm>
            <a:off x="4343400" y="3703320"/>
            <a:ext cx="2331720" cy="2377440"/>
          </a:xfrm>
          <a:prstGeom prst="roundRect">
            <a:avLst>
              <a:gd name="adj" fmla="val 4705"/>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5" name="TextBox 24"/>
          <p:cNvSpPr txBox="1"/>
          <p:nvPr/>
        </p:nvSpPr>
        <p:spPr>
          <a:xfrm>
            <a:off x="4480560" y="3813048"/>
            <a:ext cx="2057400" cy="640080"/>
          </a:xfrm>
          <a:prstGeom prst="rect">
            <a:avLst/>
          </a:prstGeom>
          <a:noFill/>
        </p:spPr>
        <p:txBody>
          <a:bodyPr wrap="square" lIns="0" rIns="0" tIns="0" bIns="0" anchor="t">
            <a:noAutofit/>
          </a:bodyPr>
          <a:lstStyle/>
          <a:p>
            <a:pPr algn="l">
              <a:spcBef>
                <a:spcPts val="0"/>
              </a:spcBef>
              <a:spcAft>
                <a:spcPts val="0"/>
              </a:spcAft>
            </a:pPr>
            <a:r>
              <a:rPr sz="1600" b="1" i="0">
                <a:solidFill>
                  <a:srgbClr val="111827"/>
                </a:solidFill>
                <a:latin typeface="Times New Roman"/>
              </a:rPr>
              <a:t>Maintenance &amp; Feedback Logger</a:t>
            </a:r>
          </a:p>
        </p:txBody>
      </p:sp>
      <p:sp>
        <p:nvSpPr>
          <p:cNvPr id="26" name="TextBox 25"/>
          <p:cNvSpPr txBox="1"/>
          <p:nvPr/>
        </p:nvSpPr>
        <p:spPr>
          <a:xfrm>
            <a:off x="4480560" y="4480559"/>
            <a:ext cx="2057400" cy="114300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Acknowledge, assign technician, notes, resolve, ML feedback.</a:t>
            </a:r>
          </a:p>
        </p:txBody>
      </p:sp>
      <p:sp>
        <p:nvSpPr>
          <p:cNvPr id="27" name="TextBox 26"/>
          <p:cNvSpPr txBox="1"/>
          <p:nvPr/>
        </p:nvSpPr>
        <p:spPr>
          <a:xfrm>
            <a:off x="4480560" y="5715000"/>
            <a:ext cx="2057400" cy="274320"/>
          </a:xfrm>
          <a:prstGeom prst="rect">
            <a:avLst/>
          </a:prstGeom>
          <a:noFill/>
        </p:spPr>
        <p:txBody>
          <a:bodyPr wrap="square" lIns="0" rIns="0" tIns="0" bIns="0" anchor="t">
            <a:noAutofit/>
          </a:bodyPr>
          <a:lstStyle/>
          <a:p>
            <a:pPr algn="l">
              <a:spcBef>
                <a:spcPts val="0"/>
              </a:spcBef>
              <a:spcAft>
                <a:spcPts val="0"/>
              </a:spcAft>
            </a:pPr>
            <a:r>
              <a:rPr sz="1100" b="0" i="1">
                <a:solidFill>
                  <a:srgbClr val="475569"/>
                </a:solidFill>
                <a:latin typeface="Times New Roman"/>
              </a:rPr>
              <a:t>backend/app/services/alerts.py</a:t>
            </a:r>
          </a:p>
        </p:txBody>
      </p:sp>
      <p:sp>
        <p:nvSpPr>
          <p:cNvPr id="28" name="Rounded Rectangle 27"/>
          <p:cNvSpPr/>
          <p:nvPr/>
        </p:nvSpPr>
        <p:spPr>
          <a:xfrm>
            <a:off x="6903720" y="3703320"/>
            <a:ext cx="2331720" cy="2377440"/>
          </a:xfrm>
          <a:prstGeom prst="roundRect">
            <a:avLst>
              <a:gd name="adj" fmla="val 4705"/>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9" name="TextBox 28"/>
          <p:cNvSpPr txBox="1"/>
          <p:nvPr/>
        </p:nvSpPr>
        <p:spPr>
          <a:xfrm>
            <a:off x="7040880" y="3813048"/>
            <a:ext cx="2057400" cy="640080"/>
          </a:xfrm>
          <a:prstGeom prst="rect">
            <a:avLst/>
          </a:prstGeom>
          <a:noFill/>
        </p:spPr>
        <p:txBody>
          <a:bodyPr wrap="square" lIns="0" rIns="0" tIns="0" bIns="0" anchor="t">
            <a:noAutofit/>
          </a:bodyPr>
          <a:lstStyle/>
          <a:p>
            <a:pPr algn="l">
              <a:spcBef>
                <a:spcPts val="0"/>
              </a:spcBef>
              <a:spcAft>
                <a:spcPts val="0"/>
              </a:spcAft>
            </a:pPr>
            <a:r>
              <a:rPr sz="1600" b="1" i="0">
                <a:solidFill>
                  <a:srgbClr val="111827"/>
                </a:solidFill>
                <a:latin typeface="Times New Roman"/>
              </a:rPr>
              <a:t>What-If Degradation Simulator</a:t>
            </a:r>
          </a:p>
        </p:txBody>
      </p:sp>
      <p:sp>
        <p:nvSpPr>
          <p:cNvPr id="30" name="TextBox 29"/>
          <p:cNvSpPr txBox="1"/>
          <p:nvPr/>
        </p:nvSpPr>
        <p:spPr>
          <a:xfrm>
            <a:off x="7040880" y="4480559"/>
            <a:ext cx="2057400" cy="114300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Injects a temperature rise and projects the crossing with y = mx + c.</a:t>
            </a:r>
          </a:p>
        </p:txBody>
      </p:sp>
      <p:sp>
        <p:nvSpPr>
          <p:cNvPr id="31" name="TextBox 30"/>
          <p:cNvSpPr txBox="1"/>
          <p:nvPr/>
        </p:nvSpPr>
        <p:spPr>
          <a:xfrm>
            <a:off x="7040880" y="5715000"/>
            <a:ext cx="2057400" cy="274320"/>
          </a:xfrm>
          <a:prstGeom prst="rect">
            <a:avLst/>
          </a:prstGeom>
          <a:noFill/>
        </p:spPr>
        <p:txBody>
          <a:bodyPr wrap="square" lIns="0" rIns="0" tIns="0" bIns="0" anchor="t">
            <a:noAutofit/>
          </a:bodyPr>
          <a:lstStyle/>
          <a:p>
            <a:pPr algn="l">
              <a:spcBef>
                <a:spcPts val="0"/>
              </a:spcBef>
              <a:spcAft>
                <a:spcPts val="0"/>
              </a:spcAft>
            </a:pPr>
            <a:r>
              <a:rPr sz="1100" b="0" i="1">
                <a:solidFill>
                  <a:srgbClr val="475569"/>
                </a:solidFill>
                <a:latin typeface="Times New Roman"/>
              </a:rPr>
              <a:t>backend/app/services/whatif.py</a:t>
            </a:r>
          </a:p>
        </p:txBody>
      </p:sp>
      <p:sp>
        <p:nvSpPr>
          <p:cNvPr id="32" name="Rounded Rectangle 31"/>
          <p:cNvSpPr/>
          <p:nvPr/>
        </p:nvSpPr>
        <p:spPr>
          <a:xfrm>
            <a:off x="9464039" y="3703320"/>
            <a:ext cx="2331720" cy="2377440"/>
          </a:xfrm>
          <a:prstGeom prst="roundRect">
            <a:avLst>
              <a:gd name="adj" fmla="val 4705"/>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3" name="TextBox 32"/>
          <p:cNvSpPr txBox="1"/>
          <p:nvPr/>
        </p:nvSpPr>
        <p:spPr>
          <a:xfrm>
            <a:off x="9601199" y="3813048"/>
            <a:ext cx="2057400" cy="640080"/>
          </a:xfrm>
          <a:prstGeom prst="rect">
            <a:avLst/>
          </a:prstGeom>
          <a:noFill/>
        </p:spPr>
        <p:txBody>
          <a:bodyPr wrap="square" lIns="0" rIns="0" tIns="0" bIns="0" anchor="t">
            <a:noAutofit/>
          </a:bodyPr>
          <a:lstStyle/>
          <a:p>
            <a:pPr algn="l">
              <a:spcBef>
                <a:spcPts val="0"/>
              </a:spcBef>
              <a:spcAft>
                <a:spcPts val="0"/>
              </a:spcAft>
            </a:pPr>
            <a:r>
              <a:rPr sz="1600" b="1" i="0">
                <a:solidFill>
                  <a:srgbClr val="111827"/>
                </a:solidFill>
                <a:latin typeface="Times New Roman"/>
              </a:rPr>
              <a:t>Historical Reporting API</a:t>
            </a:r>
          </a:p>
        </p:txBody>
      </p:sp>
      <p:sp>
        <p:nvSpPr>
          <p:cNvPr id="34" name="TextBox 33"/>
          <p:cNvSpPr txBox="1"/>
          <p:nvPr/>
        </p:nvSpPr>
        <p:spPr>
          <a:xfrm>
            <a:off x="9601199" y="4480559"/>
            <a:ext cx="2057400" cy="114300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7-day OEE, downtime per shift and ML accuracy.</a:t>
            </a:r>
          </a:p>
        </p:txBody>
      </p:sp>
      <p:sp>
        <p:nvSpPr>
          <p:cNvPr id="35" name="TextBox 34"/>
          <p:cNvSpPr txBox="1"/>
          <p:nvPr/>
        </p:nvSpPr>
        <p:spPr>
          <a:xfrm>
            <a:off x="9601199" y="5715000"/>
            <a:ext cx="2057400" cy="274320"/>
          </a:xfrm>
          <a:prstGeom prst="rect">
            <a:avLst/>
          </a:prstGeom>
          <a:noFill/>
        </p:spPr>
        <p:txBody>
          <a:bodyPr wrap="square" lIns="0" rIns="0" tIns="0" bIns="0" anchor="t">
            <a:noAutofit/>
          </a:bodyPr>
          <a:lstStyle/>
          <a:p>
            <a:pPr algn="l">
              <a:spcBef>
                <a:spcPts val="0"/>
              </a:spcBef>
              <a:spcAft>
                <a:spcPts val="0"/>
              </a:spcAft>
            </a:pPr>
            <a:r>
              <a:rPr sz="1100" b="0" i="1">
                <a:solidFill>
                  <a:srgbClr val="475569"/>
                </a:solidFill>
                <a:latin typeface="Times New Roman"/>
              </a:rPr>
              <a:t>backend/app/api/routes.py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Technologies Used</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05840"/>
            <a:ext cx="2103120" cy="640080"/>
          </a:xfrm>
          <a:prstGeom prst="roundRect">
            <a:avLst>
              <a:gd name="adj" fmla="val 17142"/>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600" b="1" i="0">
                <a:solidFill>
                  <a:srgbClr val="111827"/>
                </a:solidFill>
                <a:latin typeface="Times New Roman"/>
              </a:rPr>
              <a:t>Data source</a:t>
            </a:r>
          </a:p>
        </p:txBody>
      </p:sp>
      <p:sp>
        <p:nvSpPr>
          <p:cNvPr id="5" name="Rounded Rectangle 4"/>
          <p:cNvSpPr/>
          <p:nvPr/>
        </p:nvSpPr>
        <p:spPr>
          <a:xfrm>
            <a:off x="4069080" y="1078992"/>
            <a:ext cx="1757476" cy="493775"/>
          </a:xfrm>
          <a:prstGeom prst="roundRect">
            <a:avLst>
              <a:gd name="adj" fmla="val 22222"/>
            </a:avLst>
          </a:prstGeom>
          <a:solidFill>
            <a:srgbClr val="FFFFFF"/>
          </a:solidFill>
          <a:ln w="222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Python simulator</a:t>
            </a:r>
          </a:p>
        </p:txBody>
      </p:sp>
      <p:sp>
        <p:nvSpPr>
          <p:cNvPr id="6" name="Rounded Rectangle 5"/>
          <p:cNvSpPr/>
          <p:nvPr/>
        </p:nvSpPr>
        <p:spPr>
          <a:xfrm>
            <a:off x="5963716" y="1078992"/>
            <a:ext cx="1168603" cy="493775"/>
          </a:xfrm>
          <a:prstGeom prst="roundRect">
            <a:avLst>
              <a:gd name="adj" fmla="val 22222"/>
            </a:avLst>
          </a:prstGeom>
          <a:solidFill>
            <a:srgbClr val="FFFFFF"/>
          </a:solidFill>
          <a:ln w="222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paho-mqtt</a:t>
            </a:r>
          </a:p>
        </p:txBody>
      </p:sp>
      <p:sp>
        <p:nvSpPr>
          <p:cNvPr id="7" name="Rounded Rectangle 6"/>
          <p:cNvSpPr/>
          <p:nvPr/>
        </p:nvSpPr>
        <p:spPr>
          <a:xfrm>
            <a:off x="7269480" y="1078992"/>
            <a:ext cx="832103" cy="493775"/>
          </a:xfrm>
          <a:prstGeom prst="roundRect">
            <a:avLst>
              <a:gd name="adj" fmla="val 22222"/>
            </a:avLst>
          </a:prstGeom>
          <a:solidFill>
            <a:srgbClr val="FFFFFF"/>
          </a:solidFill>
          <a:ln w="222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NumPy</a:t>
            </a:r>
          </a:p>
        </p:txBody>
      </p:sp>
      <p:sp>
        <p:nvSpPr>
          <p:cNvPr id="8" name="Rounded Rectangle 7"/>
          <p:cNvSpPr/>
          <p:nvPr/>
        </p:nvSpPr>
        <p:spPr>
          <a:xfrm>
            <a:off x="1783080" y="1783080"/>
            <a:ext cx="2103120" cy="640080"/>
          </a:xfrm>
          <a:prstGeom prst="roundRect">
            <a:avLst>
              <a:gd name="adj" fmla="val 17142"/>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600" b="1" i="0">
                <a:solidFill>
                  <a:srgbClr val="111827"/>
                </a:solidFill>
                <a:latin typeface="Times New Roman"/>
              </a:rPr>
              <a:t>Messaging</a:t>
            </a:r>
          </a:p>
        </p:txBody>
      </p:sp>
      <p:sp>
        <p:nvSpPr>
          <p:cNvPr id="9" name="Rounded Rectangle 8"/>
          <p:cNvSpPr/>
          <p:nvPr/>
        </p:nvSpPr>
        <p:spPr>
          <a:xfrm>
            <a:off x="4069080" y="1856232"/>
            <a:ext cx="2009851" cy="493775"/>
          </a:xfrm>
          <a:prstGeom prst="roundRect">
            <a:avLst>
              <a:gd name="adj" fmla="val 22222"/>
            </a:avLst>
          </a:prstGeom>
          <a:solidFill>
            <a:srgbClr val="FFFFFF"/>
          </a:solidFill>
          <a:ln w="2222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Eclipse Mosquitto 2</a:t>
            </a:r>
          </a:p>
        </p:txBody>
      </p:sp>
      <p:sp>
        <p:nvSpPr>
          <p:cNvPr id="10" name="Rounded Rectangle 9"/>
          <p:cNvSpPr/>
          <p:nvPr/>
        </p:nvSpPr>
        <p:spPr>
          <a:xfrm>
            <a:off x="6216091" y="1856232"/>
            <a:ext cx="2093976" cy="493775"/>
          </a:xfrm>
          <a:prstGeom prst="roundRect">
            <a:avLst>
              <a:gd name="adj" fmla="val 22222"/>
            </a:avLst>
          </a:prstGeom>
          <a:solidFill>
            <a:srgbClr val="FFFFFF"/>
          </a:solidFill>
          <a:ln w="2222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MQTT over WebSockets</a:t>
            </a:r>
          </a:p>
        </p:txBody>
      </p:sp>
      <p:sp>
        <p:nvSpPr>
          <p:cNvPr id="11" name="Rounded Rectangle 10"/>
          <p:cNvSpPr/>
          <p:nvPr/>
        </p:nvSpPr>
        <p:spPr>
          <a:xfrm>
            <a:off x="1783080" y="2560320"/>
            <a:ext cx="2103120" cy="640080"/>
          </a:xfrm>
          <a:prstGeom prst="roundRect">
            <a:avLst>
              <a:gd name="adj" fmla="val 17142"/>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600" b="1" i="0">
                <a:solidFill>
                  <a:srgbClr val="111827"/>
                </a:solidFill>
                <a:latin typeface="Times New Roman"/>
              </a:rPr>
              <a:t>Backend</a:t>
            </a:r>
          </a:p>
        </p:txBody>
      </p:sp>
      <p:sp>
        <p:nvSpPr>
          <p:cNvPr id="12" name="Rounded Rectangle 11"/>
          <p:cNvSpPr/>
          <p:nvPr/>
        </p:nvSpPr>
        <p:spPr>
          <a:xfrm>
            <a:off x="4069080" y="2633472"/>
            <a:ext cx="1000353" cy="493775"/>
          </a:xfrm>
          <a:prstGeom prst="roundRect">
            <a:avLst>
              <a:gd name="adj" fmla="val 22222"/>
            </a:avLst>
          </a:prstGeom>
          <a:solidFill>
            <a:srgbClr val="FFFFFF"/>
          </a:solidFill>
          <a:ln w="2222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FastAPI</a:t>
            </a:r>
          </a:p>
        </p:txBody>
      </p:sp>
      <p:sp>
        <p:nvSpPr>
          <p:cNvPr id="13" name="Rounded Rectangle 12"/>
          <p:cNvSpPr/>
          <p:nvPr/>
        </p:nvSpPr>
        <p:spPr>
          <a:xfrm>
            <a:off x="5206593" y="2633472"/>
            <a:ext cx="1336852" cy="493775"/>
          </a:xfrm>
          <a:prstGeom prst="roundRect">
            <a:avLst>
              <a:gd name="adj" fmla="val 22222"/>
            </a:avLst>
          </a:prstGeom>
          <a:solidFill>
            <a:srgbClr val="FFFFFF"/>
          </a:solidFill>
          <a:ln w="2222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Pydantic v2</a:t>
            </a:r>
          </a:p>
        </p:txBody>
      </p:sp>
      <p:sp>
        <p:nvSpPr>
          <p:cNvPr id="14" name="Rounded Rectangle 13"/>
          <p:cNvSpPr/>
          <p:nvPr/>
        </p:nvSpPr>
        <p:spPr>
          <a:xfrm>
            <a:off x="6680606" y="2633472"/>
            <a:ext cx="1000353" cy="493775"/>
          </a:xfrm>
          <a:prstGeom prst="roundRect">
            <a:avLst>
              <a:gd name="adj" fmla="val 22222"/>
            </a:avLst>
          </a:prstGeom>
          <a:solidFill>
            <a:srgbClr val="FFFFFF"/>
          </a:solidFill>
          <a:ln w="2222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asyncio</a:t>
            </a:r>
          </a:p>
        </p:txBody>
      </p:sp>
      <p:sp>
        <p:nvSpPr>
          <p:cNvPr id="15" name="Rounded Rectangle 14"/>
          <p:cNvSpPr/>
          <p:nvPr/>
        </p:nvSpPr>
        <p:spPr>
          <a:xfrm>
            <a:off x="7818120" y="2633472"/>
            <a:ext cx="1168603" cy="493775"/>
          </a:xfrm>
          <a:prstGeom prst="roundRect">
            <a:avLst>
              <a:gd name="adj" fmla="val 22222"/>
            </a:avLst>
          </a:prstGeom>
          <a:solidFill>
            <a:srgbClr val="FFFFFF"/>
          </a:solidFill>
          <a:ln w="2222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WebSocket</a:t>
            </a:r>
          </a:p>
        </p:txBody>
      </p:sp>
      <p:sp>
        <p:nvSpPr>
          <p:cNvPr id="16" name="Rounded Rectangle 15"/>
          <p:cNvSpPr/>
          <p:nvPr/>
        </p:nvSpPr>
        <p:spPr>
          <a:xfrm>
            <a:off x="9123883" y="2633472"/>
            <a:ext cx="1841601" cy="493775"/>
          </a:xfrm>
          <a:prstGeom prst="roundRect">
            <a:avLst>
              <a:gd name="adj" fmla="val 22222"/>
            </a:avLst>
          </a:prstGeom>
          <a:solidFill>
            <a:srgbClr val="FFFFFF"/>
          </a:solidFill>
          <a:ln w="2222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OpenAPI / Swagger</a:t>
            </a:r>
          </a:p>
        </p:txBody>
      </p:sp>
      <p:sp>
        <p:nvSpPr>
          <p:cNvPr id="17" name="Rounded Rectangle 16"/>
          <p:cNvSpPr/>
          <p:nvPr/>
        </p:nvSpPr>
        <p:spPr>
          <a:xfrm>
            <a:off x="1783080" y="3337560"/>
            <a:ext cx="2103120" cy="640080"/>
          </a:xfrm>
          <a:prstGeom prst="roundRect">
            <a:avLst>
              <a:gd name="adj" fmla="val 17142"/>
            </a:avLst>
          </a:prstGeom>
          <a:solidFill>
            <a:srgbClr val="FEF9C3"/>
          </a:solidFill>
          <a:ln w="1905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600" b="1" i="0">
                <a:solidFill>
                  <a:srgbClr val="111827"/>
                </a:solidFill>
                <a:latin typeface="Times New Roman"/>
              </a:rPr>
              <a:t>Intelligence</a:t>
            </a:r>
          </a:p>
        </p:txBody>
      </p:sp>
      <p:sp>
        <p:nvSpPr>
          <p:cNvPr id="18" name="Rounded Rectangle 17"/>
          <p:cNvSpPr/>
          <p:nvPr/>
        </p:nvSpPr>
        <p:spPr>
          <a:xfrm>
            <a:off x="4069080" y="3410712"/>
            <a:ext cx="2851099" cy="493775"/>
          </a:xfrm>
          <a:prstGeom prst="roundRect">
            <a:avLst>
              <a:gd name="adj" fmla="val 22222"/>
            </a:avLst>
          </a:prstGeom>
          <a:solidFill>
            <a:srgbClr val="FFFFFF"/>
          </a:solidFill>
          <a:ln w="22225">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scikit-learn Isolation Forest</a:t>
            </a:r>
          </a:p>
        </p:txBody>
      </p:sp>
      <p:sp>
        <p:nvSpPr>
          <p:cNvPr id="19" name="Rounded Rectangle 18"/>
          <p:cNvSpPr/>
          <p:nvPr/>
        </p:nvSpPr>
        <p:spPr>
          <a:xfrm>
            <a:off x="7057339" y="3410712"/>
            <a:ext cx="832103" cy="493775"/>
          </a:xfrm>
          <a:prstGeom prst="roundRect">
            <a:avLst>
              <a:gd name="adj" fmla="val 22222"/>
            </a:avLst>
          </a:prstGeom>
          <a:solidFill>
            <a:srgbClr val="FFFFFF"/>
          </a:solidFill>
          <a:ln w="22225">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NumPy</a:t>
            </a:r>
          </a:p>
        </p:txBody>
      </p:sp>
      <p:sp>
        <p:nvSpPr>
          <p:cNvPr id="20" name="Rounded Rectangle 19"/>
          <p:cNvSpPr/>
          <p:nvPr/>
        </p:nvSpPr>
        <p:spPr>
          <a:xfrm>
            <a:off x="8026603" y="3410712"/>
            <a:ext cx="2430475" cy="493775"/>
          </a:xfrm>
          <a:prstGeom prst="roundRect">
            <a:avLst>
              <a:gd name="adj" fmla="val 22222"/>
            </a:avLst>
          </a:prstGeom>
          <a:solidFill>
            <a:srgbClr val="FFFFFF"/>
          </a:solidFill>
          <a:ln w="22225">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Least-squares regression</a:t>
            </a:r>
          </a:p>
        </p:txBody>
      </p:sp>
      <p:sp>
        <p:nvSpPr>
          <p:cNvPr id="21" name="Rounded Rectangle 20"/>
          <p:cNvSpPr/>
          <p:nvPr/>
        </p:nvSpPr>
        <p:spPr>
          <a:xfrm>
            <a:off x="1783080" y="4114800"/>
            <a:ext cx="2103120" cy="640080"/>
          </a:xfrm>
          <a:prstGeom prst="roundRect">
            <a:avLst>
              <a:gd name="adj" fmla="val 17142"/>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600" b="1" i="0">
                <a:solidFill>
                  <a:srgbClr val="111827"/>
                </a:solidFill>
                <a:latin typeface="Times New Roman"/>
              </a:rPr>
              <a:t>Storage</a:t>
            </a:r>
          </a:p>
        </p:txBody>
      </p:sp>
      <p:sp>
        <p:nvSpPr>
          <p:cNvPr id="22" name="Rounded Rectangle 21"/>
          <p:cNvSpPr/>
          <p:nvPr/>
        </p:nvSpPr>
        <p:spPr>
          <a:xfrm>
            <a:off x="4069080" y="4187952"/>
            <a:ext cx="2514600" cy="493775"/>
          </a:xfrm>
          <a:prstGeom prst="roundRect">
            <a:avLst>
              <a:gd name="adj" fmla="val 22222"/>
            </a:avLst>
          </a:prstGeom>
          <a:solidFill>
            <a:srgbClr val="FFFFFF"/>
          </a:solidFill>
          <a:ln w="22225">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InfluxDB v2 (time series)</a:t>
            </a:r>
          </a:p>
        </p:txBody>
      </p:sp>
      <p:sp>
        <p:nvSpPr>
          <p:cNvPr id="23" name="Rounded Rectangle 22"/>
          <p:cNvSpPr/>
          <p:nvPr/>
        </p:nvSpPr>
        <p:spPr>
          <a:xfrm>
            <a:off x="6720840" y="4187952"/>
            <a:ext cx="1505102" cy="493775"/>
          </a:xfrm>
          <a:prstGeom prst="roundRect">
            <a:avLst>
              <a:gd name="adj" fmla="val 22222"/>
            </a:avLst>
          </a:prstGeom>
          <a:solidFill>
            <a:srgbClr val="FFFFFF"/>
          </a:solidFill>
          <a:ln w="22225">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PostgreSQL 14</a:t>
            </a:r>
          </a:p>
        </p:txBody>
      </p:sp>
      <p:sp>
        <p:nvSpPr>
          <p:cNvPr id="24" name="Rounded Rectangle 23"/>
          <p:cNvSpPr/>
          <p:nvPr/>
        </p:nvSpPr>
        <p:spPr>
          <a:xfrm>
            <a:off x="8363102" y="4187952"/>
            <a:ext cx="1252728" cy="493775"/>
          </a:xfrm>
          <a:prstGeom prst="roundRect">
            <a:avLst>
              <a:gd name="adj" fmla="val 22222"/>
            </a:avLst>
          </a:prstGeom>
          <a:solidFill>
            <a:srgbClr val="FFFFFF"/>
          </a:solidFill>
          <a:ln w="22225">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SQLAlchemy</a:t>
            </a:r>
          </a:p>
        </p:txBody>
      </p:sp>
      <p:sp>
        <p:nvSpPr>
          <p:cNvPr id="25" name="Rounded Rectangle 24"/>
          <p:cNvSpPr/>
          <p:nvPr/>
        </p:nvSpPr>
        <p:spPr>
          <a:xfrm>
            <a:off x="1783080" y="4892040"/>
            <a:ext cx="2103120" cy="640080"/>
          </a:xfrm>
          <a:prstGeom prst="roundRect">
            <a:avLst>
              <a:gd name="adj" fmla="val 17142"/>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600" b="1" i="0">
                <a:solidFill>
                  <a:srgbClr val="111827"/>
                </a:solidFill>
                <a:latin typeface="Times New Roman"/>
              </a:rPr>
              <a:t>Frontend</a:t>
            </a:r>
          </a:p>
        </p:txBody>
      </p:sp>
      <p:sp>
        <p:nvSpPr>
          <p:cNvPr id="26" name="Rounded Rectangle 25"/>
          <p:cNvSpPr/>
          <p:nvPr/>
        </p:nvSpPr>
        <p:spPr>
          <a:xfrm>
            <a:off x="4069080" y="4965192"/>
            <a:ext cx="1084478" cy="493775"/>
          </a:xfrm>
          <a:prstGeom prst="roundRect">
            <a:avLst>
              <a:gd name="adj" fmla="val 22222"/>
            </a:avLst>
          </a:prstGeom>
          <a:solidFill>
            <a:srgbClr val="FFFFFF"/>
          </a:solidFill>
          <a:ln w="2222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React 18</a:t>
            </a:r>
          </a:p>
        </p:txBody>
      </p:sp>
      <p:sp>
        <p:nvSpPr>
          <p:cNvPr id="27" name="Rounded Rectangle 26"/>
          <p:cNvSpPr/>
          <p:nvPr/>
        </p:nvSpPr>
        <p:spPr>
          <a:xfrm>
            <a:off x="5290718" y="4965192"/>
            <a:ext cx="1252728" cy="493775"/>
          </a:xfrm>
          <a:prstGeom prst="roundRect">
            <a:avLst>
              <a:gd name="adj" fmla="val 22222"/>
            </a:avLst>
          </a:prstGeom>
          <a:solidFill>
            <a:srgbClr val="FFFFFF"/>
          </a:solidFill>
          <a:ln w="2222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TypeScript</a:t>
            </a:r>
          </a:p>
        </p:txBody>
      </p:sp>
      <p:sp>
        <p:nvSpPr>
          <p:cNvPr id="28" name="Rounded Rectangle 27"/>
          <p:cNvSpPr/>
          <p:nvPr/>
        </p:nvSpPr>
        <p:spPr>
          <a:xfrm>
            <a:off x="6680606" y="4965192"/>
            <a:ext cx="747979" cy="493775"/>
          </a:xfrm>
          <a:prstGeom prst="roundRect">
            <a:avLst>
              <a:gd name="adj" fmla="val 22222"/>
            </a:avLst>
          </a:prstGeom>
          <a:solidFill>
            <a:srgbClr val="FFFFFF"/>
          </a:solidFill>
          <a:ln w="2222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Vite</a:t>
            </a:r>
          </a:p>
        </p:txBody>
      </p:sp>
      <p:sp>
        <p:nvSpPr>
          <p:cNvPr id="29" name="Rounded Rectangle 28"/>
          <p:cNvSpPr/>
          <p:nvPr/>
        </p:nvSpPr>
        <p:spPr>
          <a:xfrm>
            <a:off x="7565745" y="4965192"/>
            <a:ext cx="1084478" cy="493775"/>
          </a:xfrm>
          <a:prstGeom prst="roundRect">
            <a:avLst>
              <a:gd name="adj" fmla="val 22222"/>
            </a:avLst>
          </a:prstGeom>
          <a:solidFill>
            <a:srgbClr val="FFFFFF"/>
          </a:solidFill>
          <a:ln w="2222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Chart.js</a:t>
            </a:r>
          </a:p>
        </p:txBody>
      </p:sp>
      <p:sp>
        <p:nvSpPr>
          <p:cNvPr id="30" name="Rounded Rectangle 29"/>
          <p:cNvSpPr/>
          <p:nvPr/>
        </p:nvSpPr>
        <p:spPr>
          <a:xfrm>
            <a:off x="1783080" y="5669279"/>
            <a:ext cx="2103120" cy="640080"/>
          </a:xfrm>
          <a:prstGeom prst="roundRect">
            <a:avLst>
              <a:gd name="adj" fmla="val 17142"/>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600" b="1" i="0">
                <a:solidFill>
                  <a:srgbClr val="111827"/>
                </a:solidFill>
                <a:latin typeface="Times New Roman"/>
              </a:rPr>
              <a:t>Deploy &amp; quality</a:t>
            </a:r>
          </a:p>
        </p:txBody>
      </p:sp>
      <p:sp>
        <p:nvSpPr>
          <p:cNvPr id="31" name="Rounded Rectangle 30"/>
          <p:cNvSpPr/>
          <p:nvPr/>
        </p:nvSpPr>
        <p:spPr>
          <a:xfrm>
            <a:off x="4069080" y="5742431"/>
            <a:ext cx="1589227" cy="493775"/>
          </a:xfrm>
          <a:prstGeom prst="roundRect">
            <a:avLst>
              <a:gd name="adj" fmla="val 22222"/>
            </a:avLst>
          </a:prstGeom>
          <a:solidFill>
            <a:srgbClr val="FFFFFF"/>
          </a:solidFill>
          <a:ln w="222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Docker Compose</a:t>
            </a:r>
          </a:p>
        </p:txBody>
      </p:sp>
      <p:sp>
        <p:nvSpPr>
          <p:cNvPr id="32" name="Rounded Rectangle 31"/>
          <p:cNvSpPr/>
          <p:nvPr/>
        </p:nvSpPr>
        <p:spPr>
          <a:xfrm>
            <a:off x="5795467" y="5742431"/>
            <a:ext cx="832103" cy="493775"/>
          </a:xfrm>
          <a:prstGeom prst="roundRect">
            <a:avLst>
              <a:gd name="adj" fmla="val 22222"/>
            </a:avLst>
          </a:prstGeom>
          <a:solidFill>
            <a:srgbClr val="FFFFFF"/>
          </a:solidFill>
          <a:ln w="222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nginx</a:t>
            </a:r>
          </a:p>
        </p:txBody>
      </p:sp>
      <p:sp>
        <p:nvSpPr>
          <p:cNvPr id="33" name="Rounded Rectangle 32"/>
          <p:cNvSpPr/>
          <p:nvPr/>
        </p:nvSpPr>
        <p:spPr>
          <a:xfrm>
            <a:off x="6764731" y="5742431"/>
            <a:ext cx="916228" cy="493775"/>
          </a:xfrm>
          <a:prstGeom prst="roundRect">
            <a:avLst>
              <a:gd name="adj" fmla="val 22222"/>
            </a:avLst>
          </a:prstGeom>
          <a:solidFill>
            <a:srgbClr val="FFFFFF"/>
          </a:solidFill>
          <a:ln w="222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pytest</a:t>
            </a:r>
          </a:p>
        </p:txBody>
      </p:sp>
      <p:sp>
        <p:nvSpPr>
          <p:cNvPr id="34" name="Rounded Rectangle 33"/>
          <p:cNvSpPr/>
          <p:nvPr/>
        </p:nvSpPr>
        <p:spPr>
          <a:xfrm>
            <a:off x="7818119" y="5742431"/>
            <a:ext cx="916228" cy="493775"/>
          </a:xfrm>
          <a:prstGeom prst="roundRect">
            <a:avLst>
              <a:gd name="adj" fmla="val 22222"/>
            </a:avLst>
          </a:prstGeom>
          <a:solidFill>
            <a:srgbClr val="FFFFFF"/>
          </a:solidFill>
          <a:ln w="222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Vitest</a:t>
            </a:r>
          </a:p>
        </p:txBody>
      </p:sp>
      <p:sp>
        <p:nvSpPr>
          <p:cNvPr id="35" name="Rounded Rectangle 34"/>
          <p:cNvSpPr/>
          <p:nvPr/>
        </p:nvSpPr>
        <p:spPr>
          <a:xfrm>
            <a:off x="8871508" y="5742431"/>
            <a:ext cx="1252728" cy="493775"/>
          </a:xfrm>
          <a:prstGeom prst="roundRect">
            <a:avLst>
              <a:gd name="adj" fmla="val 22222"/>
            </a:avLst>
          </a:prstGeom>
          <a:solidFill>
            <a:srgbClr val="FFFFFF"/>
          </a:solidFill>
          <a:ln w="222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Playwright</a:t>
            </a:r>
          </a:p>
        </p:txBody>
      </p:sp>
      <p:sp>
        <p:nvSpPr>
          <p:cNvPr id="36" name="Rounded Rectangle 35"/>
          <p:cNvSpPr/>
          <p:nvPr/>
        </p:nvSpPr>
        <p:spPr>
          <a:xfrm>
            <a:off x="10261396" y="5742431"/>
            <a:ext cx="1084478" cy="493775"/>
          </a:xfrm>
          <a:prstGeom prst="roundRect">
            <a:avLst>
              <a:gd name="adj" fmla="val 22222"/>
            </a:avLst>
          </a:prstGeom>
          <a:solidFill>
            <a:srgbClr val="FFFFFF"/>
          </a:solidFill>
          <a:ln w="222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axe-core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Alert Decision Flow – Every 500 ms per Machine</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2286000" y="1005840"/>
            <a:ext cx="3291840" cy="457200"/>
          </a:xfrm>
          <a:prstGeom prst="roundRect">
            <a:avLst>
              <a:gd name="adj" fmla="val 2400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0" i="0">
                <a:solidFill>
                  <a:srgbClr val="111827"/>
                </a:solidFill>
                <a:latin typeface="Times New Roman"/>
              </a:rPr>
              <a:t>Telemetry reading received and validated</a:t>
            </a:r>
          </a:p>
        </p:txBody>
      </p:sp>
      <p:cxnSp>
        <p:nvCxnSpPr>
          <p:cNvPr id="5" name="Connector 4"/>
          <p:cNvCxnSpPr/>
          <p:nvPr/>
        </p:nvCxnSpPr>
        <p:spPr>
          <a:xfrm>
            <a:off x="3931920" y="1481328"/>
            <a:ext cx="0" cy="146304"/>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Decision 5"/>
          <p:cNvSpPr/>
          <p:nvPr/>
        </p:nvSpPr>
        <p:spPr>
          <a:xfrm>
            <a:off x="1783080" y="1645920"/>
            <a:ext cx="4297680" cy="1051560"/>
          </a:xfrm>
          <a:prstGeom prst="flowChartDecision">
            <a:avLst/>
          </a:prstGeom>
          <a:solidFill>
            <a:srgbClr val="F1F5F9"/>
          </a:solidFill>
          <a:ln w="254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0" y="1801368"/>
            <a:ext cx="2743200" cy="740664"/>
          </a:xfrm>
          <a:prstGeom prst="rect">
            <a:avLst/>
          </a:prstGeom>
          <a:noFill/>
        </p:spPr>
        <p:txBody>
          <a:bodyPr wrap="square" lIns="0" rIns="0" tIns="0" bIns="0" anchor="ctr">
            <a:noAutofit/>
          </a:bodyPr>
          <a:lstStyle/>
          <a:p>
            <a:pPr algn="ctr">
              <a:spcBef>
                <a:spcPts val="0"/>
              </a:spcBef>
              <a:spcAft>
                <a:spcPts val="0"/>
              </a:spcAft>
            </a:pPr>
            <a:r>
              <a:rPr sz="1300" b="0" i="0">
                <a:solidFill>
                  <a:srgbClr val="111827"/>
                </a:solidFill>
                <a:latin typeface="Times New Roman"/>
              </a:rPr>
              <a:t>Temperature or vibration above its limit, or status STOPPED?</a:t>
            </a:r>
          </a:p>
        </p:txBody>
      </p:sp>
      <p:cxnSp>
        <p:nvCxnSpPr>
          <p:cNvPr id="8" name="Connector 7"/>
          <p:cNvCxnSpPr/>
          <p:nvPr/>
        </p:nvCxnSpPr>
        <p:spPr>
          <a:xfrm>
            <a:off x="6099048" y="2171700"/>
            <a:ext cx="69494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099048" y="1874519"/>
            <a:ext cx="731520" cy="237744"/>
          </a:xfrm>
          <a:prstGeom prst="rect">
            <a:avLst/>
          </a:prstGeom>
          <a:noFill/>
        </p:spPr>
        <p:txBody>
          <a:bodyPr wrap="square" lIns="0" rIns="0" tIns="0" bIns="0" anchor="ctr">
            <a:noAutofit/>
          </a:bodyPr>
          <a:lstStyle/>
          <a:p>
            <a:pPr algn="ctr">
              <a:spcBef>
                <a:spcPts val="0"/>
              </a:spcBef>
              <a:spcAft>
                <a:spcPts val="0"/>
              </a:spcAft>
            </a:pPr>
            <a:r>
              <a:rPr sz="1200" b="1" i="0">
                <a:solidFill>
                  <a:srgbClr val="475569"/>
                </a:solidFill>
                <a:latin typeface="Times New Roman"/>
              </a:rPr>
              <a:t>yes</a:t>
            </a:r>
          </a:p>
        </p:txBody>
      </p:sp>
      <p:sp>
        <p:nvSpPr>
          <p:cNvPr id="10" name="Rounded Rectangle 9"/>
          <p:cNvSpPr/>
          <p:nvPr/>
        </p:nvSpPr>
        <p:spPr>
          <a:xfrm>
            <a:off x="6812280" y="1760220"/>
            <a:ext cx="2788920" cy="822960"/>
          </a:xfrm>
          <a:prstGeom prst="roundRect">
            <a:avLst>
              <a:gd name="adj" fmla="val 13333"/>
            </a:avLst>
          </a:prstGeom>
          <a:solidFill>
            <a:srgbClr val="FEE2E2"/>
          </a:solidFill>
          <a:ln w="254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600" b="1" i="0">
                <a:solidFill>
                  <a:srgbClr val="111827"/>
                </a:solidFill>
                <a:latin typeface="Times New Roman"/>
              </a:rPr>
              <a:t>RED</a:t>
            </a:r>
          </a:p>
          <a:p>
            <a:pPr algn="ctr">
              <a:spcBef>
                <a:spcPts val="0"/>
              </a:spcBef>
              <a:spcAft>
                <a:spcPts val="0"/>
              </a:spcAft>
            </a:pPr>
            <a:r>
              <a:rPr sz="1200" b="0" i="0">
                <a:solidFill>
                  <a:srgbClr val="111827"/>
                </a:solidFill>
                <a:latin typeface="Times New Roman"/>
              </a:rPr>
              <a:t>Hard fault – rule engine, immediate</a:t>
            </a:r>
          </a:p>
        </p:txBody>
      </p:sp>
      <p:cxnSp>
        <p:nvCxnSpPr>
          <p:cNvPr id="11" name="Connector 10"/>
          <p:cNvCxnSpPr/>
          <p:nvPr/>
        </p:nvCxnSpPr>
        <p:spPr>
          <a:xfrm>
            <a:off x="9619488" y="2171700"/>
            <a:ext cx="457200" cy="0"/>
          </a:xfrm>
          <a:prstGeom prst="line">
            <a:avLst/>
          </a:prstGeom>
          <a:ln w="19050">
            <a:solidFill>
              <a:srgbClr val="64748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Decision 11"/>
          <p:cNvSpPr/>
          <p:nvPr/>
        </p:nvSpPr>
        <p:spPr>
          <a:xfrm>
            <a:off x="1783080" y="2926080"/>
            <a:ext cx="4297680" cy="1051560"/>
          </a:xfrm>
          <a:prstGeom prst="flowChartDecision">
            <a:avLst/>
          </a:prstGeom>
          <a:solidFill>
            <a:srgbClr val="F1F5F9"/>
          </a:solidFill>
          <a:ln w="254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60320" y="3081528"/>
            <a:ext cx="2743200" cy="740664"/>
          </a:xfrm>
          <a:prstGeom prst="rect">
            <a:avLst/>
          </a:prstGeom>
          <a:noFill/>
        </p:spPr>
        <p:txBody>
          <a:bodyPr wrap="square" lIns="0" rIns="0" tIns="0" bIns="0" anchor="ctr">
            <a:noAutofit/>
          </a:bodyPr>
          <a:lstStyle/>
          <a:p>
            <a:pPr algn="ctr">
              <a:spcBef>
                <a:spcPts val="0"/>
              </a:spcBef>
              <a:spcAft>
                <a:spcPts val="0"/>
              </a:spcAft>
            </a:pPr>
            <a:r>
              <a:rPr sz="1300" b="0" i="0">
                <a:solidFill>
                  <a:srgbClr val="111827"/>
                </a:solidFill>
                <a:latin typeface="Times New Roman"/>
              </a:rPr>
              <a:t>Trend line reaches the limit within 60 s? (R² ≥ 0.6)</a:t>
            </a:r>
          </a:p>
        </p:txBody>
      </p:sp>
      <p:cxnSp>
        <p:nvCxnSpPr>
          <p:cNvPr id="14" name="Connector 13"/>
          <p:cNvCxnSpPr/>
          <p:nvPr/>
        </p:nvCxnSpPr>
        <p:spPr>
          <a:xfrm>
            <a:off x="6099048" y="3451860"/>
            <a:ext cx="69494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099048" y="3154680"/>
            <a:ext cx="731520" cy="237744"/>
          </a:xfrm>
          <a:prstGeom prst="rect">
            <a:avLst/>
          </a:prstGeom>
          <a:noFill/>
        </p:spPr>
        <p:txBody>
          <a:bodyPr wrap="square" lIns="0" rIns="0" tIns="0" bIns="0" anchor="ctr">
            <a:noAutofit/>
          </a:bodyPr>
          <a:lstStyle/>
          <a:p>
            <a:pPr algn="ctr">
              <a:spcBef>
                <a:spcPts val="0"/>
              </a:spcBef>
              <a:spcAft>
                <a:spcPts val="0"/>
              </a:spcAft>
            </a:pPr>
            <a:r>
              <a:rPr sz="1200" b="1" i="0">
                <a:solidFill>
                  <a:srgbClr val="475569"/>
                </a:solidFill>
                <a:latin typeface="Times New Roman"/>
              </a:rPr>
              <a:t>yes</a:t>
            </a:r>
          </a:p>
        </p:txBody>
      </p:sp>
      <p:sp>
        <p:nvSpPr>
          <p:cNvPr id="16" name="Rounded Rectangle 15"/>
          <p:cNvSpPr/>
          <p:nvPr/>
        </p:nvSpPr>
        <p:spPr>
          <a:xfrm>
            <a:off x="6812280" y="3040380"/>
            <a:ext cx="2788920" cy="822960"/>
          </a:xfrm>
          <a:prstGeom prst="roundRect">
            <a:avLst>
              <a:gd name="adj" fmla="val 13333"/>
            </a:avLst>
          </a:prstGeom>
          <a:solidFill>
            <a:srgbClr val="FFEDD5"/>
          </a:solidFill>
          <a:ln w="254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600" b="1" i="0">
                <a:solidFill>
                  <a:srgbClr val="111827"/>
                </a:solidFill>
                <a:latin typeface="Times New Roman"/>
              </a:rPr>
              <a:t>ORANGE</a:t>
            </a:r>
          </a:p>
          <a:p>
            <a:pPr algn="ctr">
              <a:spcBef>
                <a:spcPts val="0"/>
              </a:spcBef>
              <a:spcAft>
                <a:spcPts val="0"/>
              </a:spcAft>
            </a:pPr>
            <a:r>
              <a:rPr sz="1200" b="0" i="0">
                <a:solidFill>
                  <a:srgbClr val="111827"/>
                </a:solidFill>
                <a:latin typeface="Times New Roman"/>
              </a:rPr>
              <a:t>Projected fault – with ETA countdown</a:t>
            </a:r>
          </a:p>
        </p:txBody>
      </p:sp>
      <p:cxnSp>
        <p:nvCxnSpPr>
          <p:cNvPr id="17" name="Connector 16"/>
          <p:cNvCxnSpPr/>
          <p:nvPr/>
        </p:nvCxnSpPr>
        <p:spPr>
          <a:xfrm>
            <a:off x="9619488" y="3451860"/>
            <a:ext cx="457200" cy="0"/>
          </a:xfrm>
          <a:prstGeom prst="line">
            <a:avLst/>
          </a:prstGeom>
          <a:ln w="19050">
            <a:solidFill>
              <a:srgbClr val="64748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Decision 17"/>
          <p:cNvSpPr/>
          <p:nvPr/>
        </p:nvSpPr>
        <p:spPr>
          <a:xfrm>
            <a:off x="1783080" y="4206240"/>
            <a:ext cx="4297680" cy="1051560"/>
          </a:xfrm>
          <a:prstGeom prst="flowChartDecision">
            <a:avLst/>
          </a:prstGeom>
          <a:solidFill>
            <a:srgbClr val="F1F5F9"/>
          </a:solidFill>
          <a:ln w="254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60320" y="4361688"/>
            <a:ext cx="2743200" cy="740664"/>
          </a:xfrm>
          <a:prstGeom prst="rect">
            <a:avLst/>
          </a:prstGeom>
          <a:noFill/>
        </p:spPr>
        <p:txBody>
          <a:bodyPr wrap="square" lIns="0" rIns="0" tIns="0" bIns="0" anchor="ctr">
            <a:noAutofit/>
          </a:bodyPr>
          <a:lstStyle/>
          <a:p>
            <a:pPr algn="ctr">
              <a:spcBef>
                <a:spcPts val="0"/>
              </a:spcBef>
              <a:spcAft>
                <a:spcPts val="0"/>
              </a:spcAft>
            </a:pPr>
            <a:r>
              <a:rPr sz="1300" b="0" i="0">
                <a:solidFill>
                  <a:srgbClr val="111827"/>
                </a:solidFill>
                <a:latin typeface="Times New Roman"/>
              </a:rPr>
              <a:t>ML anomaly score above 85 % for 2 readings?</a:t>
            </a:r>
          </a:p>
        </p:txBody>
      </p:sp>
      <p:cxnSp>
        <p:nvCxnSpPr>
          <p:cNvPr id="20" name="Connector 19"/>
          <p:cNvCxnSpPr/>
          <p:nvPr/>
        </p:nvCxnSpPr>
        <p:spPr>
          <a:xfrm>
            <a:off x="6099048" y="4732020"/>
            <a:ext cx="69494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099048" y="4434840"/>
            <a:ext cx="731520" cy="237744"/>
          </a:xfrm>
          <a:prstGeom prst="rect">
            <a:avLst/>
          </a:prstGeom>
          <a:noFill/>
        </p:spPr>
        <p:txBody>
          <a:bodyPr wrap="square" lIns="0" rIns="0" tIns="0" bIns="0" anchor="ctr">
            <a:noAutofit/>
          </a:bodyPr>
          <a:lstStyle/>
          <a:p>
            <a:pPr algn="ctr">
              <a:spcBef>
                <a:spcPts val="0"/>
              </a:spcBef>
              <a:spcAft>
                <a:spcPts val="0"/>
              </a:spcAft>
            </a:pPr>
            <a:r>
              <a:rPr sz="1200" b="1" i="0">
                <a:solidFill>
                  <a:srgbClr val="475569"/>
                </a:solidFill>
                <a:latin typeface="Times New Roman"/>
              </a:rPr>
              <a:t>yes</a:t>
            </a:r>
          </a:p>
        </p:txBody>
      </p:sp>
      <p:sp>
        <p:nvSpPr>
          <p:cNvPr id="22" name="Rounded Rectangle 21"/>
          <p:cNvSpPr/>
          <p:nvPr/>
        </p:nvSpPr>
        <p:spPr>
          <a:xfrm>
            <a:off x="6812280" y="4320540"/>
            <a:ext cx="2788920" cy="822960"/>
          </a:xfrm>
          <a:prstGeom prst="roundRect">
            <a:avLst>
              <a:gd name="adj" fmla="val 13333"/>
            </a:avLst>
          </a:prstGeom>
          <a:solidFill>
            <a:srgbClr val="FEF9C3"/>
          </a:solidFill>
          <a:ln w="2540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600" b="1" i="0">
                <a:solidFill>
                  <a:srgbClr val="111827"/>
                </a:solidFill>
                <a:latin typeface="Times New Roman"/>
              </a:rPr>
              <a:t>YELLOW</a:t>
            </a:r>
          </a:p>
          <a:p>
            <a:pPr algn="ctr">
              <a:spcBef>
                <a:spcPts val="0"/>
              </a:spcBef>
              <a:spcAft>
                <a:spcPts val="0"/>
              </a:spcAft>
            </a:pPr>
            <a:r>
              <a:rPr sz="1200" b="0" i="0">
                <a:solidFill>
                  <a:srgbClr val="111827"/>
                </a:solidFill>
                <a:latin typeface="Times New Roman"/>
              </a:rPr>
              <a:t>ML caution – Isolation Forest</a:t>
            </a:r>
          </a:p>
        </p:txBody>
      </p:sp>
      <p:cxnSp>
        <p:nvCxnSpPr>
          <p:cNvPr id="23" name="Connector 22"/>
          <p:cNvCxnSpPr/>
          <p:nvPr/>
        </p:nvCxnSpPr>
        <p:spPr>
          <a:xfrm>
            <a:off x="9619488" y="4732020"/>
            <a:ext cx="457200" cy="0"/>
          </a:xfrm>
          <a:prstGeom prst="line">
            <a:avLst/>
          </a:prstGeom>
          <a:ln w="19050">
            <a:solidFill>
              <a:srgbClr val="64748B"/>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931920" y="2706624"/>
            <a:ext cx="0" cy="210312"/>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005072" y="2688336"/>
            <a:ext cx="457200" cy="237744"/>
          </a:xfrm>
          <a:prstGeom prst="rect">
            <a:avLst/>
          </a:prstGeom>
          <a:noFill/>
        </p:spPr>
        <p:txBody>
          <a:bodyPr wrap="square" lIns="0" rIns="0" tIns="0" bIns="0" anchor="ctr">
            <a:noAutofit/>
          </a:bodyPr>
          <a:lstStyle/>
          <a:p>
            <a:pPr algn="l">
              <a:spcBef>
                <a:spcPts val="0"/>
              </a:spcBef>
              <a:spcAft>
                <a:spcPts val="0"/>
              </a:spcAft>
            </a:pPr>
            <a:r>
              <a:rPr sz="1200" b="1" i="0">
                <a:solidFill>
                  <a:srgbClr val="475569"/>
                </a:solidFill>
                <a:latin typeface="Times New Roman"/>
              </a:rPr>
              <a:t>no</a:t>
            </a:r>
          </a:p>
        </p:txBody>
      </p:sp>
      <p:cxnSp>
        <p:nvCxnSpPr>
          <p:cNvPr id="26" name="Connector 25"/>
          <p:cNvCxnSpPr/>
          <p:nvPr/>
        </p:nvCxnSpPr>
        <p:spPr>
          <a:xfrm>
            <a:off x="3931920" y="3986783"/>
            <a:ext cx="0" cy="210313"/>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005072" y="3968496"/>
            <a:ext cx="457200" cy="237744"/>
          </a:xfrm>
          <a:prstGeom prst="rect">
            <a:avLst/>
          </a:prstGeom>
          <a:noFill/>
        </p:spPr>
        <p:txBody>
          <a:bodyPr wrap="square" lIns="0" rIns="0" tIns="0" bIns="0" anchor="ctr">
            <a:noAutofit/>
          </a:bodyPr>
          <a:lstStyle/>
          <a:p>
            <a:pPr algn="l">
              <a:spcBef>
                <a:spcPts val="0"/>
              </a:spcBef>
              <a:spcAft>
                <a:spcPts val="0"/>
              </a:spcAft>
            </a:pPr>
            <a:r>
              <a:rPr sz="1200" b="1" i="0">
                <a:solidFill>
                  <a:srgbClr val="475569"/>
                </a:solidFill>
                <a:latin typeface="Times New Roman"/>
              </a:rPr>
              <a:t>no</a:t>
            </a:r>
          </a:p>
        </p:txBody>
      </p:sp>
      <p:cxnSp>
        <p:nvCxnSpPr>
          <p:cNvPr id="28" name="Connector 27"/>
          <p:cNvCxnSpPr/>
          <p:nvPr/>
        </p:nvCxnSpPr>
        <p:spPr>
          <a:xfrm>
            <a:off x="3931920" y="5266944"/>
            <a:ext cx="0" cy="201168"/>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005072" y="5248656"/>
            <a:ext cx="457200" cy="237744"/>
          </a:xfrm>
          <a:prstGeom prst="rect">
            <a:avLst/>
          </a:prstGeom>
          <a:noFill/>
        </p:spPr>
        <p:txBody>
          <a:bodyPr wrap="square" lIns="0" rIns="0" tIns="0" bIns="0" anchor="ctr">
            <a:noAutofit/>
          </a:bodyPr>
          <a:lstStyle/>
          <a:p>
            <a:pPr algn="l">
              <a:spcBef>
                <a:spcPts val="0"/>
              </a:spcBef>
              <a:spcAft>
                <a:spcPts val="0"/>
              </a:spcAft>
            </a:pPr>
            <a:r>
              <a:rPr sz="1200" b="1" i="0">
                <a:solidFill>
                  <a:srgbClr val="475569"/>
                </a:solidFill>
                <a:latin typeface="Times New Roman"/>
              </a:rPr>
              <a:t>no</a:t>
            </a:r>
          </a:p>
        </p:txBody>
      </p:sp>
      <p:sp>
        <p:nvSpPr>
          <p:cNvPr id="30" name="Rounded Rectangle 29"/>
          <p:cNvSpPr/>
          <p:nvPr/>
        </p:nvSpPr>
        <p:spPr>
          <a:xfrm>
            <a:off x="2286000" y="5486400"/>
            <a:ext cx="3291840" cy="457200"/>
          </a:xfrm>
          <a:prstGeom prst="roundRect">
            <a:avLst>
              <a:gd name="adj" fmla="val 24000"/>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111827"/>
                </a:solidFill>
                <a:latin typeface="Times New Roman"/>
              </a:rPr>
              <a:t>GREEN – normal operation</a:t>
            </a:r>
          </a:p>
        </p:txBody>
      </p:sp>
      <p:sp>
        <p:nvSpPr>
          <p:cNvPr id="31" name="Rounded Rectangle 30"/>
          <p:cNvSpPr/>
          <p:nvPr/>
        </p:nvSpPr>
        <p:spPr>
          <a:xfrm>
            <a:off x="10104120" y="1760220"/>
            <a:ext cx="1691639" cy="3383280"/>
          </a:xfrm>
          <a:prstGeom prst="roundRect">
            <a:avLst>
              <a:gd name="adj" fmla="val 6486"/>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500" b="1" i="0">
                <a:solidFill>
                  <a:srgbClr val="111827"/>
                </a:solidFill>
                <a:latin typeface="Times New Roman"/>
              </a:rPr>
              <a:t>Alert manager</a:t>
            </a:r>
          </a:p>
          <a:p>
            <a:pPr algn="ctr">
              <a:spcBef>
                <a:spcPts val="0"/>
              </a:spcBef>
              <a:spcAft>
                <a:spcPts val="0"/>
              </a:spcAft>
            </a:pPr>
            <a:r>
              <a:rPr sz="1300" b="0" i="0">
                <a:solidFill>
                  <a:srgbClr val="111827"/>
                </a:solidFill>
                <a:latin typeface="Times New Roman"/>
              </a:rPr>
              <a:t>acknowledge</a:t>
            </a:r>
          </a:p>
          <a:p>
            <a:pPr algn="ctr">
              <a:spcBef>
                <a:spcPts val="0"/>
              </a:spcBef>
              <a:spcAft>
                <a:spcPts val="0"/>
              </a:spcAft>
            </a:pPr>
            <a:r>
              <a:rPr sz="1300" b="0" i="0">
                <a:solidFill>
                  <a:srgbClr val="111827"/>
                </a:solidFill>
                <a:latin typeface="Times New Roman"/>
              </a:rPr>
              <a:t>assign</a:t>
            </a:r>
          </a:p>
          <a:p>
            <a:pPr algn="ctr">
              <a:spcBef>
                <a:spcPts val="0"/>
              </a:spcBef>
              <a:spcAft>
                <a:spcPts val="0"/>
              </a:spcAft>
            </a:pPr>
            <a:r>
              <a:rPr sz="1300" b="0" i="0">
                <a:solidFill>
                  <a:srgbClr val="111827"/>
                </a:solidFill>
                <a:latin typeface="Times New Roman"/>
              </a:rPr>
              <a:t>resolve</a:t>
            </a:r>
          </a:p>
          <a:p>
            <a:pPr algn="ctr">
              <a:spcBef>
                <a:spcPts val="0"/>
              </a:spcBef>
              <a:spcAft>
                <a:spcPts val="0"/>
              </a:spcAft>
            </a:pPr>
            <a:r>
              <a:rPr sz="1300" b="0" i="0">
                <a:solidFill>
                  <a:srgbClr val="111827"/>
                </a:solidFill>
                <a:latin typeface="Times New Roman"/>
              </a:rPr>
              <a:t>ML feedback</a:t>
            </a:r>
          </a:p>
        </p:txBody>
      </p:sp>
      <p:sp>
        <p:nvSpPr>
          <p:cNvPr id="32" name="TextBox 31"/>
          <p:cNvSpPr txBox="1"/>
          <p:nvPr/>
        </p:nvSpPr>
        <p:spPr>
          <a:xfrm>
            <a:off x="1783080" y="6035040"/>
            <a:ext cx="10012680" cy="274320"/>
          </a:xfrm>
          <a:prstGeom prst="rect">
            <a:avLst/>
          </a:prstGeom>
          <a:noFill/>
        </p:spPr>
        <p:txBody>
          <a:bodyPr wrap="square" lIns="0" rIns="0" tIns="0" bIns="0" anchor="t">
            <a:noAutofit/>
          </a:bodyPr>
          <a:lstStyle/>
          <a:p>
            <a:pPr algn="l">
              <a:spcBef>
                <a:spcPts val="0"/>
              </a:spcBef>
              <a:spcAft>
                <a:spcPts val="0"/>
              </a:spcAft>
            </a:pPr>
            <a:r>
              <a:rPr sz="1300" b="0" i="1">
                <a:solidFill>
                  <a:srgbClr val="475569"/>
                </a:solidFill>
                <a:latin typeface="Times New Roman"/>
              </a:rPr>
              <a:t>Higher levels suppress lower ones  ·  an alert clears when its condition is absent for 3 – 4 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ML Anomaly Scoring – Isolation Forest</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97280"/>
            <a:ext cx="1188720" cy="1463040"/>
          </a:xfrm>
          <a:prstGeom prst="roundRect">
            <a:avLst>
              <a:gd name="adj" fmla="val 923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111827"/>
                </a:solidFill>
                <a:latin typeface="Times New Roman"/>
              </a:rPr>
              <a:t>Offline</a:t>
            </a:r>
          </a:p>
          <a:p>
            <a:pPr algn="ctr">
              <a:spcBef>
                <a:spcPts val="0"/>
              </a:spcBef>
              <a:spcAft>
                <a:spcPts val="0"/>
              </a:spcAft>
            </a:pPr>
            <a:r>
              <a:rPr sz="1400" b="1" i="0">
                <a:solidFill>
                  <a:srgbClr val="111827"/>
                </a:solidFill>
                <a:latin typeface="Times New Roman"/>
              </a:rPr>
              <a:t>(once)</a:t>
            </a:r>
          </a:p>
        </p:txBody>
      </p:sp>
      <p:sp>
        <p:nvSpPr>
          <p:cNvPr id="5" name="Rounded Rectangle 4"/>
          <p:cNvSpPr/>
          <p:nvPr/>
        </p:nvSpPr>
        <p:spPr>
          <a:xfrm>
            <a:off x="3154680" y="1097280"/>
            <a:ext cx="1417320" cy="1463040"/>
          </a:xfrm>
          <a:prstGeom prst="roundRect">
            <a:avLst>
              <a:gd name="adj" fmla="val 7741"/>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Synthetic normal data</a:t>
            </a:r>
          </a:p>
          <a:p>
            <a:pPr algn="ctr">
              <a:spcBef>
                <a:spcPts val="0"/>
              </a:spcBef>
              <a:spcAft>
                <a:spcPts val="0"/>
              </a:spcAft>
            </a:pPr>
            <a:r>
              <a:rPr sz="1200" b="0" i="0">
                <a:solidFill>
                  <a:srgbClr val="111827"/>
                </a:solidFill>
                <a:latin typeface="Times New Roman"/>
              </a:rPr>
              <a:t>68 687 rows · 20 machine profiles</a:t>
            </a:r>
          </a:p>
        </p:txBody>
      </p:sp>
      <p:cxnSp>
        <p:nvCxnSpPr>
          <p:cNvPr id="6" name="Connector 5"/>
          <p:cNvCxnSpPr/>
          <p:nvPr/>
        </p:nvCxnSpPr>
        <p:spPr>
          <a:xfrm>
            <a:off x="4590288" y="1828800"/>
            <a:ext cx="28346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892040" y="1097280"/>
            <a:ext cx="1417320" cy="1463040"/>
          </a:xfrm>
          <a:prstGeom prst="roundRect">
            <a:avLst>
              <a:gd name="adj" fmla="val 7741"/>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Feature engineering</a:t>
            </a:r>
          </a:p>
          <a:p>
            <a:pPr algn="ctr">
              <a:spcBef>
                <a:spcPts val="0"/>
              </a:spcBef>
              <a:spcAft>
                <a:spcPts val="0"/>
              </a:spcAft>
            </a:pPr>
            <a:r>
              <a:rPr sz="1200" b="0" i="0">
                <a:solidFill>
                  <a:srgbClr val="111827"/>
                </a:solidFill>
                <a:latin typeface="Times New Roman"/>
              </a:rPr>
              <a:t>6 normalised features</a:t>
            </a:r>
          </a:p>
        </p:txBody>
      </p:sp>
      <p:cxnSp>
        <p:nvCxnSpPr>
          <p:cNvPr id="8" name="Connector 7"/>
          <p:cNvCxnSpPr/>
          <p:nvPr/>
        </p:nvCxnSpPr>
        <p:spPr>
          <a:xfrm>
            <a:off x="6327647" y="1828800"/>
            <a:ext cx="283465"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629400" y="1097280"/>
            <a:ext cx="1417320" cy="1463040"/>
          </a:xfrm>
          <a:prstGeom prst="roundRect">
            <a:avLst>
              <a:gd name="adj" fmla="val 7741"/>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Train Isolation Forest</a:t>
            </a:r>
          </a:p>
          <a:p>
            <a:pPr algn="ctr">
              <a:spcBef>
                <a:spcPts val="0"/>
              </a:spcBef>
              <a:spcAft>
                <a:spcPts val="0"/>
              </a:spcAft>
            </a:pPr>
            <a:r>
              <a:rPr sz="1200" b="0" i="0">
                <a:solidFill>
                  <a:srgbClr val="111827"/>
                </a:solidFill>
                <a:latin typeface="Times New Roman"/>
              </a:rPr>
              <a:t>unsupervised – no fault labels needed</a:t>
            </a:r>
          </a:p>
        </p:txBody>
      </p:sp>
      <p:cxnSp>
        <p:nvCxnSpPr>
          <p:cNvPr id="10" name="Connector 9"/>
          <p:cNvCxnSpPr/>
          <p:nvPr/>
        </p:nvCxnSpPr>
        <p:spPr>
          <a:xfrm>
            <a:off x="8065008" y="1828800"/>
            <a:ext cx="28346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366759" y="1097280"/>
            <a:ext cx="1417320" cy="1463040"/>
          </a:xfrm>
          <a:prstGeom prst="roundRect">
            <a:avLst>
              <a:gd name="adj" fmla="val 7741"/>
            </a:avLst>
          </a:prstGeom>
          <a:solidFill>
            <a:srgbClr val="FEF9C3"/>
          </a:solidFill>
          <a:ln w="1905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Calibrate score</a:t>
            </a:r>
          </a:p>
          <a:p>
            <a:pPr algn="ctr">
              <a:spcBef>
                <a:spcPts val="0"/>
              </a:spcBef>
              <a:spcAft>
                <a:spcPts val="0"/>
              </a:spcAft>
            </a:pPr>
            <a:r>
              <a:rPr sz="1200" b="0" i="0">
                <a:solidFill>
                  <a:srgbClr val="111827"/>
                </a:solidFill>
                <a:latin typeface="Times New Roman"/>
              </a:rPr>
              <a:t>mapped to 0–100 %, alert threshold 85 %</a:t>
            </a:r>
          </a:p>
        </p:txBody>
      </p:sp>
      <p:cxnSp>
        <p:nvCxnSpPr>
          <p:cNvPr id="12" name="Connector 11"/>
          <p:cNvCxnSpPr/>
          <p:nvPr/>
        </p:nvCxnSpPr>
        <p:spPr>
          <a:xfrm>
            <a:off x="9802367" y="1828800"/>
            <a:ext cx="283465"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0104120" y="1097280"/>
            <a:ext cx="1417320" cy="1463040"/>
          </a:xfrm>
          <a:prstGeom prst="roundRect">
            <a:avLst>
              <a:gd name="adj" fmla="val 7741"/>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Save model.pkl</a:t>
            </a:r>
          </a:p>
          <a:p>
            <a:pPr algn="ctr">
              <a:spcBef>
                <a:spcPts val="0"/>
              </a:spcBef>
              <a:spcAft>
                <a:spcPts val="0"/>
              </a:spcAft>
            </a:pPr>
            <a:r>
              <a:rPr sz="1200" b="0" i="0">
                <a:solidFill>
                  <a:srgbClr val="111827"/>
                </a:solidFill>
                <a:latin typeface="Times New Roman"/>
              </a:rPr>
              <a:t>loaded at start-up (C-04: trained once)</a:t>
            </a:r>
          </a:p>
        </p:txBody>
      </p:sp>
      <p:sp>
        <p:nvSpPr>
          <p:cNvPr id="14" name="Rounded Rectangle 13"/>
          <p:cNvSpPr/>
          <p:nvPr/>
        </p:nvSpPr>
        <p:spPr>
          <a:xfrm>
            <a:off x="1783080" y="2880360"/>
            <a:ext cx="1188720" cy="1463040"/>
          </a:xfrm>
          <a:prstGeom prst="roundRect">
            <a:avLst>
              <a:gd name="adj" fmla="val 923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111827"/>
                </a:solidFill>
                <a:latin typeface="Times New Roman"/>
              </a:rPr>
              <a:t>Online</a:t>
            </a:r>
          </a:p>
          <a:p>
            <a:pPr algn="ctr">
              <a:spcBef>
                <a:spcPts val="0"/>
              </a:spcBef>
              <a:spcAft>
                <a:spcPts val="0"/>
              </a:spcAft>
            </a:pPr>
            <a:r>
              <a:rPr sz="1400" b="1" i="0">
                <a:solidFill>
                  <a:srgbClr val="111827"/>
                </a:solidFill>
                <a:latin typeface="Times New Roman"/>
              </a:rPr>
              <a:t>(every 500 ms)</a:t>
            </a:r>
          </a:p>
        </p:txBody>
      </p:sp>
      <p:sp>
        <p:nvSpPr>
          <p:cNvPr id="15" name="Rounded Rectangle 14"/>
          <p:cNvSpPr/>
          <p:nvPr/>
        </p:nvSpPr>
        <p:spPr>
          <a:xfrm>
            <a:off x="3154680" y="2880360"/>
            <a:ext cx="1417320" cy="1463040"/>
          </a:xfrm>
          <a:prstGeom prst="roundRect">
            <a:avLst>
              <a:gd name="adj" fmla="val 7741"/>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Live reading</a:t>
            </a:r>
          </a:p>
          <a:p>
            <a:pPr algn="ctr">
              <a:spcBef>
                <a:spcPts val="0"/>
              </a:spcBef>
              <a:spcAft>
                <a:spcPts val="0"/>
              </a:spcAft>
            </a:pPr>
            <a:r>
              <a:rPr sz="1200" b="0" i="0">
                <a:solidFill>
                  <a:srgbClr val="111827"/>
                </a:solidFill>
                <a:latin typeface="Times New Roman"/>
              </a:rPr>
              <a:t>temperature, vibration, status, cycles</a:t>
            </a:r>
          </a:p>
        </p:txBody>
      </p:sp>
      <p:cxnSp>
        <p:nvCxnSpPr>
          <p:cNvPr id="16" name="Connector 15"/>
          <p:cNvCxnSpPr/>
          <p:nvPr/>
        </p:nvCxnSpPr>
        <p:spPr>
          <a:xfrm>
            <a:off x="4590288" y="3611880"/>
            <a:ext cx="28346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892040" y="2880360"/>
            <a:ext cx="1417320" cy="1463040"/>
          </a:xfrm>
          <a:prstGeom prst="roundRect">
            <a:avLst>
              <a:gd name="adj" fmla="val 7741"/>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Same features</a:t>
            </a:r>
          </a:p>
          <a:p>
            <a:pPr algn="ctr">
              <a:spcBef>
                <a:spcPts val="0"/>
              </a:spcBef>
              <a:spcAft>
                <a:spcPts val="0"/>
              </a:spcAft>
            </a:pPr>
            <a:r>
              <a:rPr sz="1200" b="0" i="0">
                <a:solidFill>
                  <a:srgbClr val="111827"/>
                </a:solidFill>
                <a:latin typeface="Times New Roman"/>
              </a:rPr>
              <a:t>relative to the machine's own profile</a:t>
            </a:r>
          </a:p>
        </p:txBody>
      </p:sp>
      <p:cxnSp>
        <p:nvCxnSpPr>
          <p:cNvPr id="18" name="Connector 17"/>
          <p:cNvCxnSpPr/>
          <p:nvPr/>
        </p:nvCxnSpPr>
        <p:spPr>
          <a:xfrm>
            <a:off x="6327647" y="3611880"/>
            <a:ext cx="283465"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629400" y="2880360"/>
            <a:ext cx="1417320" cy="1463040"/>
          </a:xfrm>
          <a:prstGeom prst="roundRect">
            <a:avLst>
              <a:gd name="adj" fmla="val 7741"/>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Score the reading</a:t>
            </a:r>
          </a:p>
          <a:p>
            <a:pPr algn="ctr">
              <a:spcBef>
                <a:spcPts val="0"/>
              </a:spcBef>
              <a:spcAft>
                <a:spcPts val="0"/>
              </a:spcAft>
            </a:pPr>
            <a:r>
              <a:rPr sz="1200" b="0" i="0">
                <a:solidFill>
                  <a:srgbClr val="111827"/>
                </a:solidFill>
                <a:latin typeface="Times New Roman"/>
              </a:rPr>
              <a:t>≤ 25 ms measured (limit 200 ms)</a:t>
            </a:r>
          </a:p>
        </p:txBody>
      </p:sp>
      <p:cxnSp>
        <p:nvCxnSpPr>
          <p:cNvPr id="20" name="Connector 19"/>
          <p:cNvCxnSpPr/>
          <p:nvPr/>
        </p:nvCxnSpPr>
        <p:spPr>
          <a:xfrm>
            <a:off x="8065008" y="3611880"/>
            <a:ext cx="28346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366759" y="2880360"/>
            <a:ext cx="1417320" cy="1463040"/>
          </a:xfrm>
          <a:prstGeom prst="roundRect">
            <a:avLst>
              <a:gd name="adj" fmla="val 7741"/>
            </a:avLst>
          </a:prstGeom>
          <a:solidFill>
            <a:srgbClr val="FEF9C3"/>
          </a:solidFill>
          <a:ln w="1905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Above 85 % for 2 readings?</a:t>
            </a:r>
          </a:p>
          <a:p>
            <a:pPr algn="ctr">
              <a:spcBef>
                <a:spcPts val="0"/>
              </a:spcBef>
              <a:spcAft>
                <a:spcPts val="0"/>
              </a:spcAft>
            </a:pPr>
            <a:r>
              <a:rPr sz="1200" b="0" i="0">
                <a:solidFill>
                  <a:srgbClr val="111827"/>
                </a:solidFill>
                <a:latin typeface="Times New Roman"/>
              </a:rPr>
              <a:t>and below every hard limit</a:t>
            </a:r>
          </a:p>
        </p:txBody>
      </p:sp>
      <p:cxnSp>
        <p:nvCxnSpPr>
          <p:cNvPr id="22" name="Connector 21"/>
          <p:cNvCxnSpPr/>
          <p:nvPr/>
        </p:nvCxnSpPr>
        <p:spPr>
          <a:xfrm>
            <a:off x="9802367" y="3611880"/>
            <a:ext cx="283465"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104120" y="2880360"/>
            <a:ext cx="1417320" cy="1463040"/>
          </a:xfrm>
          <a:prstGeom prst="roundRect">
            <a:avLst>
              <a:gd name="adj" fmla="val 7741"/>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YELLOW caution</a:t>
            </a:r>
          </a:p>
          <a:p>
            <a:pPr algn="ctr">
              <a:spcBef>
                <a:spcPts val="0"/>
              </a:spcBef>
              <a:spcAft>
                <a:spcPts val="0"/>
              </a:spcAft>
            </a:pPr>
            <a:r>
              <a:rPr sz="1200" b="0" i="0">
                <a:solidFill>
                  <a:srgbClr val="111827"/>
                </a:solidFill>
                <a:latin typeface="Times New Roman"/>
              </a:rPr>
              <a:t>operator gives true / false feedback</a:t>
            </a:r>
          </a:p>
        </p:txBody>
      </p:sp>
      <p:sp>
        <p:nvSpPr>
          <p:cNvPr id="24" name="Rounded Rectangle 23"/>
          <p:cNvSpPr/>
          <p:nvPr/>
        </p:nvSpPr>
        <p:spPr>
          <a:xfrm>
            <a:off x="1783080" y="4572000"/>
            <a:ext cx="2331720" cy="1325880"/>
          </a:xfrm>
          <a:prstGeom prst="roundRect">
            <a:avLst>
              <a:gd name="adj" fmla="val 8275"/>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5" name="TextBox 24"/>
          <p:cNvSpPr txBox="1"/>
          <p:nvPr/>
        </p:nvSpPr>
        <p:spPr>
          <a:xfrm>
            <a:off x="1920240" y="4645152"/>
            <a:ext cx="2057400" cy="594360"/>
          </a:xfrm>
          <a:prstGeom prst="rect">
            <a:avLst/>
          </a:prstGeom>
          <a:noFill/>
        </p:spPr>
        <p:txBody>
          <a:bodyPr wrap="square" lIns="0" rIns="0" tIns="0" bIns="0" anchor="ctr">
            <a:noAutofit/>
          </a:bodyPr>
          <a:lstStyle/>
          <a:p>
            <a:pPr algn="l">
              <a:spcBef>
                <a:spcPts val="0"/>
              </a:spcBef>
              <a:spcAft>
                <a:spcPts val="0"/>
              </a:spcAft>
            </a:pPr>
            <a:r>
              <a:rPr sz="3000" b="1" i="0">
                <a:solidFill>
                  <a:srgbClr val="375623"/>
                </a:solidFill>
                <a:latin typeface="Times New Roman"/>
              </a:rPr>
              <a:t>6 / 6</a:t>
            </a:r>
          </a:p>
        </p:txBody>
      </p:sp>
      <p:sp>
        <p:nvSpPr>
          <p:cNvPr id="26" name="TextBox 25"/>
          <p:cNvSpPr txBox="1"/>
          <p:nvPr/>
        </p:nvSpPr>
        <p:spPr>
          <a:xfrm>
            <a:off x="1920240" y="5285232"/>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injected anomalies detected</a:t>
            </a:r>
          </a:p>
        </p:txBody>
      </p:sp>
      <p:sp>
        <p:nvSpPr>
          <p:cNvPr id="27" name="Rounded Rectangle 26"/>
          <p:cNvSpPr/>
          <p:nvPr/>
        </p:nvSpPr>
        <p:spPr>
          <a:xfrm>
            <a:off x="4343400" y="4572000"/>
            <a:ext cx="2331720" cy="1325880"/>
          </a:xfrm>
          <a:prstGeom prst="roundRect">
            <a:avLst>
              <a:gd name="adj" fmla="val 8275"/>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8" name="TextBox 27"/>
          <p:cNvSpPr txBox="1"/>
          <p:nvPr/>
        </p:nvSpPr>
        <p:spPr>
          <a:xfrm>
            <a:off x="4480560" y="4645152"/>
            <a:ext cx="2057400" cy="594360"/>
          </a:xfrm>
          <a:prstGeom prst="rect">
            <a:avLst/>
          </a:prstGeom>
          <a:noFill/>
        </p:spPr>
        <p:txBody>
          <a:bodyPr wrap="square" lIns="0" rIns="0" tIns="0" bIns="0" anchor="ctr">
            <a:noAutofit/>
          </a:bodyPr>
          <a:lstStyle/>
          <a:p>
            <a:pPr algn="l">
              <a:spcBef>
                <a:spcPts val="0"/>
              </a:spcBef>
              <a:spcAft>
                <a:spcPts val="0"/>
              </a:spcAft>
            </a:pPr>
            <a:r>
              <a:rPr sz="3000" b="1" i="0">
                <a:solidFill>
                  <a:srgbClr val="375623"/>
                </a:solidFill>
                <a:latin typeface="Times New Roman"/>
              </a:rPr>
              <a:t>100 %</a:t>
            </a:r>
          </a:p>
        </p:txBody>
      </p:sp>
      <p:sp>
        <p:nvSpPr>
          <p:cNvPr id="29" name="TextBox 28"/>
          <p:cNvSpPr txBox="1"/>
          <p:nvPr/>
        </p:nvSpPr>
        <p:spPr>
          <a:xfrm>
            <a:off x="4480560" y="5285232"/>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precision on injected faults</a:t>
            </a:r>
          </a:p>
        </p:txBody>
      </p:sp>
      <p:sp>
        <p:nvSpPr>
          <p:cNvPr id="30" name="Rounded Rectangle 29"/>
          <p:cNvSpPr/>
          <p:nvPr/>
        </p:nvSpPr>
        <p:spPr>
          <a:xfrm>
            <a:off x="6903720" y="4572000"/>
            <a:ext cx="2331720" cy="1325880"/>
          </a:xfrm>
          <a:prstGeom prst="roundRect">
            <a:avLst>
              <a:gd name="adj" fmla="val 8275"/>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1" name="TextBox 30"/>
          <p:cNvSpPr txBox="1"/>
          <p:nvPr/>
        </p:nvSpPr>
        <p:spPr>
          <a:xfrm>
            <a:off x="7040880" y="4645152"/>
            <a:ext cx="2057400" cy="594360"/>
          </a:xfrm>
          <a:prstGeom prst="rect">
            <a:avLst/>
          </a:prstGeom>
          <a:noFill/>
        </p:spPr>
        <p:txBody>
          <a:bodyPr wrap="square" lIns="0" rIns="0" tIns="0" bIns="0" anchor="ctr">
            <a:noAutofit/>
          </a:bodyPr>
          <a:lstStyle/>
          <a:p>
            <a:pPr algn="l">
              <a:spcBef>
                <a:spcPts val="0"/>
              </a:spcBef>
              <a:spcAft>
                <a:spcPts val="0"/>
              </a:spcAft>
            </a:pPr>
            <a:r>
              <a:rPr sz="3000" b="1" i="0">
                <a:solidFill>
                  <a:srgbClr val="375623"/>
                </a:solidFill>
                <a:latin typeface="Times New Roman"/>
              </a:rPr>
              <a:t>0</a:t>
            </a:r>
          </a:p>
        </p:txBody>
      </p:sp>
      <p:sp>
        <p:nvSpPr>
          <p:cNvPr id="32" name="TextBox 31"/>
          <p:cNvSpPr txBox="1"/>
          <p:nvPr/>
        </p:nvSpPr>
        <p:spPr>
          <a:xfrm>
            <a:off x="7040880" y="5285232"/>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false alarms per hour on healthy machines</a:t>
            </a:r>
          </a:p>
        </p:txBody>
      </p:sp>
      <p:sp>
        <p:nvSpPr>
          <p:cNvPr id="33" name="Rounded Rectangle 32"/>
          <p:cNvSpPr/>
          <p:nvPr/>
        </p:nvSpPr>
        <p:spPr>
          <a:xfrm>
            <a:off x="9464039" y="4572000"/>
            <a:ext cx="2331720" cy="1325880"/>
          </a:xfrm>
          <a:prstGeom prst="roundRect">
            <a:avLst>
              <a:gd name="adj" fmla="val 8275"/>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4" name="TextBox 33"/>
          <p:cNvSpPr txBox="1"/>
          <p:nvPr/>
        </p:nvSpPr>
        <p:spPr>
          <a:xfrm>
            <a:off x="9601199" y="4645152"/>
            <a:ext cx="2057400" cy="594360"/>
          </a:xfrm>
          <a:prstGeom prst="rect">
            <a:avLst/>
          </a:prstGeom>
          <a:noFill/>
        </p:spPr>
        <p:txBody>
          <a:bodyPr wrap="square" lIns="0" rIns="0" tIns="0" bIns="0" anchor="ctr">
            <a:noAutofit/>
          </a:bodyPr>
          <a:lstStyle/>
          <a:p>
            <a:pPr algn="l">
              <a:spcBef>
                <a:spcPts val="0"/>
              </a:spcBef>
              <a:spcAft>
                <a:spcPts val="0"/>
              </a:spcAft>
            </a:pPr>
            <a:r>
              <a:rPr sz="3000" b="1" i="0">
                <a:solidFill>
                  <a:srgbClr val="375623"/>
                </a:solidFill>
                <a:latin typeface="Times New Roman"/>
              </a:rPr>
              <a:t>≤ 25 ms</a:t>
            </a:r>
          </a:p>
        </p:txBody>
      </p:sp>
      <p:sp>
        <p:nvSpPr>
          <p:cNvPr id="35" name="TextBox 34"/>
          <p:cNvSpPr txBox="1"/>
          <p:nvPr/>
        </p:nvSpPr>
        <p:spPr>
          <a:xfrm>
            <a:off x="9601199" y="5285232"/>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worst-case inference (limit 200 ms)</a:t>
            </a:r>
          </a:p>
        </p:txBody>
      </p:sp>
      <p:sp>
        <p:nvSpPr>
          <p:cNvPr id="36" name="TextBox 35"/>
          <p:cNvSpPr txBox="1"/>
          <p:nvPr/>
        </p:nvSpPr>
        <p:spPr>
          <a:xfrm>
            <a:off x="1783080" y="5989320"/>
            <a:ext cx="10012680" cy="274320"/>
          </a:xfrm>
          <a:prstGeom prst="rect">
            <a:avLst/>
          </a:prstGeom>
          <a:noFill/>
        </p:spPr>
        <p:txBody>
          <a:bodyPr wrap="square" lIns="0" rIns="0" tIns="0" bIns="0" anchor="t">
            <a:noAutofit/>
          </a:bodyPr>
          <a:lstStyle/>
          <a:p>
            <a:pPr algn="l">
              <a:spcBef>
                <a:spcPts val="0"/>
              </a:spcBef>
              <a:spcAft>
                <a:spcPts val="0"/>
              </a:spcAft>
            </a:pPr>
            <a:r>
              <a:rPr sz="1300" b="0" i="1">
                <a:solidFill>
                  <a:srgbClr val="475569"/>
                </a:solidFill>
                <a:latin typeface="Times New Roman"/>
              </a:rPr>
              <a:t>If the ML service fails, the last score is kept and the Red rules keep working (NFR-R1).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What-If Degradation &amp; Projection (FR-07)</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graphicFrame>
        <p:nvGraphicFramePr>
          <p:cNvPr id="4" name="Chart 3"/>
          <p:cNvGraphicFramePr>
            <a:graphicFrameLocks noGrp="1"/>
          </p:cNvGraphicFramePr>
          <p:nvPr/>
        </p:nvGraphicFramePr>
        <p:xfrm>
          <a:off x="1783080" y="1005840"/>
          <a:ext cx="6035040" cy="4526280"/>
        </p:xfrm>
        <a:graphic>
          <a:graphicData uri="http://schemas.openxmlformats.org/drawingml/2006/chart">
            <c:chart xmlns:c="http://schemas.openxmlformats.org/drawingml/2006/chart" r:id="rId3"/>
          </a:graphicData>
        </a:graphic>
      </p:graphicFrame>
      <p:sp>
        <p:nvSpPr>
          <p:cNvPr id="5" name="TextBox 4"/>
          <p:cNvSpPr txBox="1"/>
          <p:nvPr/>
        </p:nvSpPr>
        <p:spPr>
          <a:xfrm>
            <a:off x="1783080" y="5623560"/>
            <a:ext cx="6035040" cy="502920"/>
          </a:xfrm>
          <a:prstGeom prst="rect">
            <a:avLst/>
          </a:prstGeom>
          <a:noFill/>
        </p:spPr>
        <p:txBody>
          <a:bodyPr wrap="square" lIns="0" rIns="0" tIns="0" bIns="0" anchor="t">
            <a:noAutofit/>
          </a:bodyPr>
          <a:lstStyle/>
          <a:p>
            <a:pPr algn="l">
              <a:spcBef>
                <a:spcPts val="0"/>
              </a:spcBef>
              <a:spcAft>
                <a:spcPts val="0"/>
              </a:spcAft>
            </a:pPr>
            <a:r>
              <a:rPr sz="1300" b="0" i="1">
                <a:solidFill>
                  <a:srgbClr val="475569"/>
                </a:solidFill>
                <a:latin typeface="Times New Roman"/>
              </a:rPr>
              <a:t>Illustrative example: the line predicts the 85 °C limit in about 50 s (≤ 60 s), so the machine turns Orange.</a:t>
            </a:r>
          </a:p>
        </p:txBody>
      </p:sp>
      <p:sp>
        <p:nvSpPr>
          <p:cNvPr id="6" name="Rounded Rectangle 5"/>
          <p:cNvSpPr/>
          <p:nvPr/>
        </p:nvSpPr>
        <p:spPr>
          <a:xfrm>
            <a:off x="8046719" y="1005840"/>
            <a:ext cx="3749039" cy="896112"/>
          </a:xfrm>
          <a:prstGeom prst="roundRect">
            <a:avLst>
              <a:gd name="adj" fmla="val 12244"/>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7" name="Oval 6"/>
          <p:cNvSpPr/>
          <p:nvPr/>
        </p:nvSpPr>
        <p:spPr>
          <a:xfrm>
            <a:off x="8220455" y="1243584"/>
            <a:ext cx="420624" cy="420624"/>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1</a:t>
            </a:r>
          </a:p>
        </p:txBody>
      </p:sp>
      <p:sp>
        <p:nvSpPr>
          <p:cNvPr id="8" name="TextBox 7"/>
          <p:cNvSpPr txBox="1"/>
          <p:nvPr/>
        </p:nvSpPr>
        <p:spPr>
          <a:xfrm>
            <a:off x="8823959" y="1005840"/>
            <a:ext cx="2834639" cy="896112"/>
          </a:xfrm>
          <a:prstGeom prst="rect">
            <a:avLst/>
          </a:prstGeom>
          <a:noFill/>
        </p:spPr>
        <p:txBody>
          <a:bodyPr wrap="square" lIns="0" rIns="0" tIns="0" bIns="0" anchor="ctr">
            <a:noAutofit/>
          </a:bodyPr>
          <a:lstStyle/>
          <a:p>
            <a:pPr algn="l">
              <a:spcBef>
                <a:spcPts val="0"/>
              </a:spcBef>
              <a:spcAft>
                <a:spcPts val="0"/>
              </a:spcAft>
            </a:pPr>
            <a:r>
              <a:rPr sz="1400" b="0" i="0">
                <a:solidFill>
                  <a:srgbClr val="111827"/>
                </a:solidFill>
                <a:latin typeface="Times New Roman"/>
              </a:rPr>
              <a:t>Fit a straight line through the last </a:t>
            </a:r>
            <a:r>
              <a:rPr sz="1400" b="1" i="0">
                <a:solidFill>
                  <a:srgbClr val="111827"/>
                </a:solidFill>
                <a:latin typeface="Times New Roman"/>
              </a:rPr>
              <a:t>3 minutes</a:t>
            </a:r>
            <a:r>
              <a:rPr sz="1400" b="0" i="0">
                <a:solidFill>
                  <a:srgbClr val="111827"/>
                </a:solidFill>
                <a:latin typeface="Times New Roman"/>
              </a:rPr>
              <a:t> of temperature</a:t>
            </a:r>
          </a:p>
        </p:txBody>
      </p:sp>
      <p:sp>
        <p:nvSpPr>
          <p:cNvPr id="9" name="Rounded Rectangle 8"/>
          <p:cNvSpPr/>
          <p:nvPr/>
        </p:nvSpPr>
        <p:spPr>
          <a:xfrm>
            <a:off x="8046719" y="2029968"/>
            <a:ext cx="3749039" cy="896112"/>
          </a:xfrm>
          <a:prstGeom prst="roundRect">
            <a:avLst>
              <a:gd name="adj" fmla="val 12244"/>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0" name="Oval 9"/>
          <p:cNvSpPr/>
          <p:nvPr/>
        </p:nvSpPr>
        <p:spPr>
          <a:xfrm>
            <a:off x="8220455" y="2267712"/>
            <a:ext cx="420624" cy="420624"/>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2</a:t>
            </a:r>
          </a:p>
        </p:txBody>
      </p:sp>
      <p:sp>
        <p:nvSpPr>
          <p:cNvPr id="11" name="TextBox 10"/>
          <p:cNvSpPr txBox="1"/>
          <p:nvPr/>
        </p:nvSpPr>
        <p:spPr>
          <a:xfrm>
            <a:off x="8823959" y="2029968"/>
            <a:ext cx="2834639" cy="896112"/>
          </a:xfrm>
          <a:prstGeom prst="rect">
            <a:avLst/>
          </a:prstGeom>
          <a:noFill/>
        </p:spPr>
        <p:txBody>
          <a:bodyPr wrap="square" lIns="0" rIns="0" tIns="0" bIns="0" anchor="ctr">
            <a:noAutofit/>
          </a:bodyPr>
          <a:lstStyle/>
          <a:p>
            <a:pPr algn="l">
              <a:spcBef>
                <a:spcPts val="0"/>
              </a:spcBef>
              <a:spcAft>
                <a:spcPts val="0"/>
              </a:spcAft>
            </a:pPr>
            <a:r>
              <a:rPr sz="1400" b="0" i="0">
                <a:solidFill>
                  <a:srgbClr val="111827"/>
                </a:solidFill>
                <a:latin typeface="Times New Roman"/>
              </a:rPr>
              <a:t>Compute </a:t>
            </a:r>
            <a:r>
              <a:rPr sz="1400" b="1" i="0">
                <a:solidFill>
                  <a:srgbClr val="111827"/>
                </a:solidFill>
                <a:latin typeface="Times New Roman"/>
              </a:rPr>
              <a:t>ETA = (limit − value now) ÷ slope</a:t>
            </a:r>
          </a:p>
        </p:txBody>
      </p:sp>
      <p:sp>
        <p:nvSpPr>
          <p:cNvPr id="12" name="Rounded Rectangle 11"/>
          <p:cNvSpPr/>
          <p:nvPr/>
        </p:nvSpPr>
        <p:spPr>
          <a:xfrm>
            <a:off x="8046719" y="3054096"/>
            <a:ext cx="3749039" cy="896112"/>
          </a:xfrm>
          <a:prstGeom prst="roundRect">
            <a:avLst>
              <a:gd name="adj" fmla="val 12244"/>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3" name="Oval 12"/>
          <p:cNvSpPr/>
          <p:nvPr/>
        </p:nvSpPr>
        <p:spPr>
          <a:xfrm>
            <a:off x="8220455" y="3291840"/>
            <a:ext cx="420624" cy="420624"/>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3</a:t>
            </a:r>
          </a:p>
        </p:txBody>
      </p:sp>
      <p:sp>
        <p:nvSpPr>
          <p:cNvPr id="14" name="TextBox 13"/>
          <p:cNvSpPr txBox="1"/>
          <p:nvPr/>
        </p:nvSpPr>
        <p:spPr>
          <a:xfrm>
            <a:off x="8823959" y="3054096"/>
            <a:ext cx="2834639" cy="896112"/>
          </a:xfrm>
          <a:prstGeom prst="rect">
            <a:avLst/>
          </a:prstGeom>
          <a:noFill/>
        </p:spPr>
        <p:txBody>
          <a:bodyPr wrap="square" lIns="0" rIns="0" tIns="0" bIns="0" anchor="ctr">
            <a:noAutofit/>
          </a:bodyPr>
          <a:lstStyle/>
          <a:p>
            <a:pPr algn="l">
              <a:spcBef>
                <a:spcPts val="0"/>
              </a:spcBef>
              <a:spcAft>
                <a:spcPts val="0"/>
              </a:spcAft>
            </a:pPr>
            <a:r>
              <a:rPr sz="1400" b="0" i="0">
                <a:solidFill>
                  <a:srgbClr val="111827"/>
                </a:solidFill>
                <a:latin typeface="Times New Roman"/>
              </a:rPr>
              <a:t>If ETA ≤ </a:t>
            </a:r>
            <a:r>
              <a:rPr sz="1400" b="1" i="0">
                <a:solidFill>
                  <a:srgbClr val="111827"/>
                </a:solidFill>
                <a:latin typeface="Times New Roman"/>
              </a:rPr>
              <a:t>60 s</a:t>
            </a:r>
            <a:r>
              <a:rPr sz="1400" b="0" i="0">
                <a:solidFill>
                  <a:srgbClr val="111827"/>
                </a:solidFill>
                <a:latin typeface="Times New Roman"/>
              </a:rPr>
              <a:t> and the fit is good (R² ≥ 0.6, slope ≥ 0.03 °C/s) → </a:t>
            </a:r>
            <a:r>
              <a:rPr sz="1400" b="1" i="0">
                <a:solidFill>
                  <a:srgbClr val="111827"/>
                </a:solidFill>
                <a:latin typeface="Times New Roman"/>
              </a:rPr>
              <a:t>ORANGE</a:t>
            </a:r>
            <a:r>
              <a:rPr sz="1400" b="0" i="0">
                <a:solidFill>
                  <a:srgbClr val="111827"/>
                </a:solidFill>
                <a:latin typeface="Times New Roman"/>
              </a:rPr>
              <a:t> + countdown</a:t>
            </a:r>
          </a:p>
        </p:txBody>
      </p:sp>
      <p:sp>
        <p:nvSpPr>
          <p:cNvPr id="15" name="Rounded Rectangle 14"/>
          <p:cNvSpPr/>
          <p:nvPr/>
        </p:nvSpPr>
        <p:spPr>
          <a:xfrm>
            <a:off x="8046719" y="4078224"/>
            <a:ext cx="3749039" cy="896112"/>
          </a:xfrm>
          <a:prstGeom prst="roundRect">
            <a:avLst>
              <a:gd name="adj" fmla="val 12244"/>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6" name="Oval 15"/>
          <p:cNvSpPr/>
          <p:nvPr/>
        </p:nvSpPr>
        <p:spPr>
          <a:xfrm>
            <a:off x="8220455" y="4315968"/>
            <a:ext cx="420624" cy="420624"/>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4</a:t>
            </a:r>
          </a:p>
        </p:txBody>
      </p:sp>
      <p:sp>
        <p:nvSpPr>
          <p:cNvPr id="17" name="TextBox 16"/>
          <p:cNvSpPr txBox="1"/>
          <p:nvPr/>
        </p:nvSpPr>
        <p:spPr>
          <a:xfrm>
            <a:off x="8823959" y="4078224"/>
            <a:ext cx="2834639" cy="896112"/>
          </a:xfrm>
          <a:prstGeom prst="rect">
            <a:avLst/>
          </a:prstGeom>
          <a:noFill/>
        </p:spPr>
        <p:txBody>
          <a:bodyPr wrap="square" lIns="0" rIns="0" tIns="0" bIns="0" anchor="ctr">
            <a:noAutofit/>
          </a:bodyPr>
          <a:lstStyle/>
          <a:p>
            <a:pPr algn="l">
              <a:spcBef>
                <a:spcPts val="0"/>
              </a:spcBef>
              <a:spcAft>
                <a:spcPts val="0"/>
              </a:spcAft>
            </a:pPr>
            <a:r>
              <a:rPr sz="1400" b="0" i="0">
                <a:solidFill>
                  <a:srgbClr val="111827"/>
                </a:solidFill>
                <a:latin typeface="Times New Roman"/>
              </a:rPr>
              <a:t>If the limit is really crossed → </a:t>
            </a:r>
            <a:r>
              <a:rPr sz="1400" b="1" i="0">
                <a:solidFill>
                  <a:srgbClr val="111827"/>
                </a:solidFill>
                <a:latin typeface="Times New Roman"/>
              </a:rPr>
              <a:t>RED</a:t>
            </a:r>
          </a:p>
        </p:txBody>
      </p:sp>
      <p:sp>
        <p:nvSpPr>
          <p:cNvPr id="18" name="Rounded Rectangle 17"/>
          <p:cNvSpPr/>
          <p:nvPr/>
        </p:nvSpPr>
        <p:spPr>
          <a:xfrm>
            <a:off x="8046719" y="5212080"/>
            <a:ext cx="3749039" cy="1051560"/>
          </a:xfrm>
          <a:prstGeom prst="roundRect">
            <a:avLst>
              <a:gd name="adj" fmla="val 10434"/>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noAutofit/>
          </a:bodyPr>
          <a:lstStyle/>
          <a:p>
            <a:pPr algn="l">
              <a:spcBef>
                <a:spcPts val="0"/>
              </a:spcBef>
              <a:spcAft>
                <a:spcPts val="0"/>
              </a:spcAft>
            </a:pPr>
            <a:r>
              <a:rPr sz="1400" b="1" i="0">
                <a:solidFill>
                  <a:srgbClr val="111827"/>
                </a:solidFill>
                <a:latin typeface="Times New Roman"/>
              </a:rPr>
              <a:t>Measured in tests</a:t>
            </a:r>
          </a:p>
          <a:p>
            <a:pPr algn="l">
              <a:spcBef>
                <a:spcPts val="0"/>
              </a:spcBef>
              <a:spcAft>
                <a:spcPts val="0"/>
              </a:spcAft>
            </a:pPr>
            <a:r>
              <a:rPr sz="1300" b="0" i="0">
                <a:solidFill>
                  <a:srgbClr val="111827"/>
                </a:solidFill>
                <a:latin typeface="Times New Roman"/>
              </a:rPr>
              <a:t>Orange raised with ETA ≈ 28 s, then Red at 85.3 °C. Flat noise and short windows do not trigger it (unit-tested).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Database Design – ER Diagram (PostgreSQL)</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51560"/>
            <a:ext cx="2697480" cy="1828800"/>
          </a:xfrm>
          <a:prstGeom prst="roundRect">
            <a:avLst>
              <a:gd name="adj" fmla="val 4000"/>
            </a:avLst>
          </a:prstGeom>
          <a:solidFill>
            <a:srgbClr val="FFFFFF"/>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Rounded Rectangle 4"/>
          <p:cNvSpPr/>
          <p:nvPr/>
        </p:nvSpPr>
        <p:spPr>
          <a:xfrm>
            <a:off x="1783080" y="1051560"/>
            <a:ext cx="2697480" cy="365760"/>
          </a:xfrm>
          <a:prstGeom prst="roundRect">
            <a:avLst>
              <a:gd name="adj" fmla="val 2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machines</a:t>
            </a:r>
          </a:p>
        </p:txBody>
      </p:sp>
      <p:sp>
        <p:nvSpPr>
          <p:cNvPr id="6" name="TextBox 5"/>
          <p:cNvSpPr txBox="1"/>
          <p:nvPr/>
        </p:nvSpPr>
        <p:spPr>
          <a:xfrm>
            <a:off x="1892807" y="1472184"/>
            <a:ext cx="1965960" cy="228600"/>
          </a:xfrm>
          <a:prstGeom prst="rect">
            <a:avLst/>
          </a:prstGeom>
          <a:noFill/>
        </p:spPr>
        <p:txBody>
          <a:bodyPr wrap="square" lIns="0" rIns="0" tIns="0" bIns="0" anchor="ctr">
            <a:noAutofit/>
          </a:bodyPr>
          <a:lstStyle/>
          <a:p>
            <a:pPr algn="l">
              <a:spcBef>
                <a:spcPts val="0"/>
              </a:spcBef>
              <a:spcAft>
                <a:spcPts val="0"/>
              </a:spcAft>
            </a:pPr>
            <a:r>
              <a:rPr sz="1200" b="1" i="0">
                <a:solidFill>
                  <a:srgbClr val="111827"/>
                </a:solidFill>
                <a:latin typeface="Times New Roman"/>
              </a:rPr>
              <a:t>id</a:t>
            </a:r>
          </a:p>
        </p:txBody>
      </p:sp>
      <p:sp>
        <p:nvSpPr>
          <p:cNvPr id="7" name="TextBox 6"/>
          <p:cNvSpPr txBox="1"/>
          <p:nvPr/>
        </p:nvSpPr>
        <p:spPr>
          <a:xfrm>
            <a:off x="3840480" y="147218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2563EB"/>
                </a:solidFill>
                <a:latin typeface="Times New Roman"/>
              </a:rPr>
              <a:t>PK</a:t>
            </a:r>
          </a:p>
        </p:txBody>
      </p:sp>
      <p:sp>
        <p:nvSpPr>
          <p:cNvPr id="8" name="TextBox 7"/>
          <p:cNvSpPr txBox="1"/>
          <p:nvPr/>
        </p:nvSpPr>
        <p:spPr>
          <a:xfrm>
            <a:off x="1892807" y="17007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name</a:t>
            </a:r>
          </a:p>
        </p:txBody>
      </p:sp>
      <p:sp>
        <p:nvSpPr>
          <p:cNvPr id="9" name="TextBox 8"/>
          <p:cNvSpPr txBox="1"/>
          <p:nvPr/>
        </p:nvSpPr>
        <p:spPr>
          <a:xfrm>
            <a:off x="1892807" y="19293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kind</a:t>
            </a:r>
          </a:p>
        </p:txBody>
      </p:sp>
      <p:sp>
        <p:nvSpPr>
          <p:cNvPr id="10" name="TextBox 9"/>
          <p:cNvSpPr txBox="1"/>
          <p:nvPr/>
        </p:nvSpPr>
        <p:spPr>
          <a:xfrm>
            <a:off x="1892807" y="21579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ideal_cycle_s</a:t>
            </a:r>
          </a:p>
        </p:txBody>
      </p:sp>
      <p:sp>
        <p:nvSpPr>
          <p:cNvPr id="11" name="TextBox 10"/>
          <p:cNvSpPr txBox="1"/>
          <p:nvPr/>
        </p:nvSpPr>
        <p:spPr>
          <a:xfrm>
            <a:off x="1892807" y="23865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temp_limit</a:t>
            </a:r>
          </a:p>
        </p:txBody>
      </p:sp>
      <p:sp>
        <p:nvSpPr>
          <p:cNvPr id="12" name="TextBox 11"/>
          <p:cNvSpPr txBox="1"/>
          <p:nvPr/>
        </p:nvSpPr>
        <p:spPr>
          <a:xfrm>
            <a:off x="1892807" y="26151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vib_limit</a:t>
            </a:r>
          </a:p>
        </p:txBody>
      </p:sp>
      <p:sp>
        <p:nvSpPr>
          <p:cNvPr id="13" name="Rounded Rectangle 12"/>
          <p:cNvSpPr/>
          <p:nvPr/>
        </p:nvSpPr>
        <p:spPr>
          <a:xfrm>
            <a:off x="5440680" y="1051560"/>
            <a:ext cx="2697480" cy="2286000"/>
          </a:xfrm>
          <a:prstGeom prst="roundRect">
            <a:avLst>
              <a:gd name="adj" fmla="val 3200"/>
            </a:avLst>
          </a:prstGeom>
          <a:solidFill>
            <a:srgbClr val="FFFFFF"/>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4" name="Rounded Rectangle 13"/>
          <p:cNvSpPr/>
          <p:nvPr/>
        </p:nvSpPr>
        <p:spPr>
          <a:xfrm>
            <a:off x="5440680" y="1051560"/>
            <a:ext cx="2697480" cy="365760"/>
          </a:xfrm>
          <a:prstGeom prst="roundRect">
            <a:avLst>
              <a:gd name="adj" fmla="val 20000"/>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alerts</a:t>
            </a:r>
          </a:p>
        </p:txBody>
      </p:sp>
      <p:sp>
        <p:nvSpPr>
          <p:cNvPr id="15" name="TextBox 14"/>
          <p:cNvSpPr txBox="1"/>
          <p:nvPr/>
        </p:nvSpPr>
        <p:spPr>
          <a:xfrm>
            <a:off x="5550408" y="1472184"/>
            <a:ext cx="1965960" cy="228600"/>
          </a:xfrm>
          <a:prstGeom prst="rect">
            <a:avLst/>
          </a:prstGeom>
          <a:noFill/>
        </p:spPr>
        <p:txBody>
          <a:bodyPr wrap="square" lIns="0" rIns="0" tIns="0" bIns="0" anchor="ctr">
            <a:noAutofit/>
          </a:bodyPr>
          <a:lstStyle/>
          <a:p>
            <a:pPr algn="l">
              <a:spcBef>
                <a:spcPts val="0"/>
              </a:spcBef>
              <a:spcAft>
                <a:spcPts val="0"/>
              </a:spcAft>
            </a:pPr>
            <a:r>
              <a:rPr sz="1200" b="1" i="0">
                <a:solidFill>
                  <a:srgbClr val="111827"/>
                </a:solidFill>
                <a:latin typeface="Times New Roman"/>
              </a:rPr>
              <a:t>id</a:t>
            </a:r>
          </a:p>
        </p:txBody>
      </p:sp>
      <p:sp>
        <p:nvSpPr>
          <p:cNvPr id="16" name="TextBox 15"/>
          <p:cNvSpPr txBox="1"/>
          <p:nvPr/>
        </p:nvSpPr>
        <p:spPr>
          <a:xfrm>
            <a:off x="7498080" y="147218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EA580C"/>
                </a:solidFill>
                <a:latin typeface="Times New Roman"/>
              </a:rPr>
              <a:t>PK</a:t>
            </a:r>
          </a:p>
        </p:txBody>
      </p:sp>
      <p:sp>
        <p:nvSpPr>
          <p:cNvPr id="17" name="TextBox 16"/>
          <p:cNvSpPr txBox="1"/>
          <p:nvPr/>
        </p:nvSpPr>
        <p:spPr>
          <a:xfrm>
            <a:off x="5550408" y="17007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machine_id</a:t>
            </a:r>
          </a:p>
        </p:txBody>
      </p:sp>
      <p:sp>
        <p:nvSpPr>
          <p:cNvPr id="18" name="TextBox 17"/>
          <p:cNvSpPr txBox="1"/>
          <p:nvPr/>
        </p:nvSpPr>
        <p:spPr>
          <a:xfrm>
            <a:off x="7498080" y="170078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EA580C"/>
                </a:solidFill>
                <a:latin typeface="Times New Roman"/>
              </a:rPr>
              <a:t>FK</a:t>
            </a:r>
          </a:p>
        </p:txBody>
      </p:sp>
      <p:sp>
        <p:nvSpPr>
          <p:cNvPr id="19" name="TextBox 18"/>
          <p:cNvSpPr txBox="1"/>
          <p:nvPr/>
        </p:nvSpPr>
        <p:spPr>
          <a:xfrm>
            <a:off x="5550408" y="19293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level</a:t>
            </a:r>
          </a:p>
        </p:txBody>
      </p:sp>
      <p:sp>
        <p:nvSpPr>
          <p:cNvPr id="20" name="TextBox 19"/>
          <p:cNvSpPr txBox="1"/>
          <p:nvPr/>
        </p:nvSpPr>
        <p:spPr>
          <a:xfrm>
            <a:off x="5550408" y="21579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status</a:t>
            </a:r>
          </a:p>
        </p:txBody>
      </p:sp>
      <p:sp>
        <p:nvSpPr>
          <p:cNvPr id="21" name="TextBox 20"/>
          <p:cNvSpPr txBox="1"/>
          <p:nvPr/>
        </p:nvSpPr>
        <p:spPr>
          <a:xfrm>
            <a:off x="5550408" y="23865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opened_at</a:t>
            </a:r>
          </a:p>
        </p:txBody>
      </p:sp>
      <p:sp>
        <p:nvSpPr>
          <p:cNvPr id="22" name="TextBox 21"/>
          <p:cNvSpPr txBox="1"/>
          <p:nvPr/>
        </p:nvSpPr>
        <p:spPr>
          <a:xfrm>
            <a:off x="5550408" y="26151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acked_by</a:t>
            </a:r>
          </a:p>
        </p:txBody>
      </p:sp>
      <p:sp>
        <p:nvSpPr>
          <p:cNvPr id="23" name="TextBox 22"/>
          <p:cNvSpPr txBox="1"/>
          <p:nvPr/>
        </p:nvSpPr>
        <p:spPr>
          <a:xfrm>
            <a:off x="5550408" y="28437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technician</a:t>
            </a:r>
          </a:p>
        </p:txBody>
      </p:sp>
      <p:sp>
        <p:nvSpPr>
          <p:cNvPr id="24" name="TextBox 23"/>
          <p:cNvSpPr txBox="1"/>
          <p:nvPr/>
        </p:nvSpPr>
        <p:spPr>
          <a:xfrm>
            <a:off x="5550408" y="30723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resolution_notes</a:t>
            </a:r>
          </a:p>
        </p:txBody>
      </p:sp>
      <p:sp>
        <p:nvSpPr>
          <p:cNvPr id="25" name="Rounded Rectangle 24"/>
          <p:cNvSpPr/>
          <p:nvPr/>
        </p:nvSpPr>
        <p:spPr>
          <a:xfrm>
            <a:off x="9098280" y="1051560"/>
            <a:ext cx="2697480" cy="1600200"/>
          </a:xfrm>
          <a:prstGeom prst="roundRect">
            <a:avLst>
              <a:gd name="adj" fmla="val 4571"/>
            </a:avLst>
          </a:prstGeom>
          <a:solidFill>
            <a:srgbClr val="FFFFFF"/>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6" name="Rounded Rectangle 25"/>
          <p:cNvSpPr/>
          <p:nvPr/>
        </p:nvSpPr>
        <p:spPr>
          <a:xfrm>
            <a:off x="9098280" y="1051560"/>
            <a:ext cx="2697480" cy="365760"/>
          </a:xfrm>
          <a:prstGeom prst="roundRect">
            <a:avLst>
              <a:gd name="adj" fmla="val 2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feedback</a:t>
            </a:r>
          </a:p>
        </p:txBody>
      </p:sp>
      <p:sp>
        <p:nvSpPr>
          <p:cNvPr id="27" name="TextBox 26"/>
          <p:cNvSpPr txBox="1"/>
          <p:nvPr/>
        </p:nvSpPr>
        <p:spPr>
          <a:xfrm>
            <a:off x="9208007" y="1472184"/>
            <a:ext cx="1965960" cy="228600"/>
          </a:xfrm>
          <a:prstGeom prst="rect">
            <a:avLst/>
          </a:prstGeom>
          <a:noFill/>
        </p:spPr>
        <p:txBody>
          <a:bodyPr wrap="square" lIns="0" rIns="0" tIns="0" bIns="0" anchor="ctr">
            <a:noAutofit/>
          </a:bodyPr>
          <a:lstStyle/>
          <a:p>
            <a:pPr algn="l">
              <a:spcBef>
                <a:spcPts val="0"/>
              </a:spcBef>
              <a:spcAft>
                <a:spcPts val="0"/>
              </a:spcAft>
            </a:pPr>
            <a:r>
              <a:rPr sz="1200" b="1" i="0">
                <a:solidFill>
                  <a:srgbClr val="111827"/>
                </a:solidFill>
                <a:latin typeface="Times New Roman"/>
              </a:rPr>
              <a:t>id</a:t>
            </a:r>
          </a:p>
        </p:txBody>
      </p:sp>
      <p:sp>
        <p:nvSpPr>
          <p:cNvPr id="28" name="TextBox 27"/>
          <p:cNvSpPr txBox="1"/>
          <p:nvPr/>
        </p:nvSpPr>
        <p:spPr>
          <a:xfrm>
            <a:off x="11155680" y="147218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7C3AED"/>
                </a:solidFill>
                <a:latin typeface="Times New Roman"/>
              </a:rPr>
              <a:t>PK</a:t>
            </a:r>
          </a:p>
        </p:txBody>
      </p:sp>
      <p:sp>
        <p:nvSpPr>
          <p:cNvPr id="29" name="TextBox 28"/>
          <p:cNvSpPr txBox="1"/>
          <p:nvPr/>
        </p:nvSpPr>
        <p:spPr>
          <a:xfrm>
            <a:off x="9208007" y="17007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alert_id</a:t>
            </a:r>
          </a:p>
        </p:txBody>
      </p:sp>
      <p:sp>
        <p:nvSpPr>
          <p:cNvPr id="30" name="TextBox 29"/>
          <p:cNvSpPr txBox="1"/>
          <p:nvPr/>
        </p:nvSpPr>
        <p:spPr>
          <a:xfrm>
            <a:off x="11155680" y="170078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7C3AED"/>
                </a:solidFill>
                <a:latin typeface="Times New Roman"/>
              </a:rPr>
              <a:t>FK</a:t>
            </a:r>
          </a:p>
        </p:txBody>
      </p:sp>
      <p:sp>
        <p:nvSpPr>
          <p:cNvPr id="31" name="TextBox 30"/>
          <p:cNvSpPr txBox="1"/>
          <p:nvPr/>
        </p:nvSpPr>
        <p:spPr>
          <a:xfrm>
            <a:off x="9208007" y="19293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verdict</a:t>
            </a:r>
          </a:p>
        </p:txBody>
      </p:sp>
      <p:sp>
        <p:nvSpPr>
          <p:cNvPr id="32" name="TextBox 31"/>
          <p:cNvSpPr txBox="1"/>
          <p:nvPr/>
        </p:nvSpPr>
        <p:spPr>
          <a:xfrm>
            <a:off x="9208007" y="21579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given_by</a:t>
            </a:r>
          </a:p>
        </p:txBody>
      </p:sp>
      <p:sp>
        <p:nvSpPr>
          <p:cNvPr id="33" name="TextBox 32"/>
          <p:cNvSpPr txBox="1"/>
          <p:nvPr/>
        </p:nvSpPr>
        <p:spPr>
          <a:xfrm>
            <a:off x="9208007" y="23865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comment</a:t>
            </a:r>
          </a:p>
        </p:txBody>
      </p:sp>
      <p:sp>
        <p:nvSpPr>
          <p:cNvPr id="34" name="Rounded Rectangle 33"/>
          <p:cNvSpPr/>
          <p:nvPr/>
        </p:nvSpPr>
        <p:spPr>
          <a:xfrm>
            <a:off x="9098280" y="2926080"/>
            <a:ext cx="2697480" cy="1143000"/>
          </a:xfrm>
          <a:prstGeom prst="roundRect">
            <a:avLst>
              <a:gd name="adj" fmla="val 6400"/>
            </a:avLst>
          </a:prstGeom>
          <a:solidFill>
            <a:srgbClr val="FFFFFF"/>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5" name="Rounded Rectangle 34"/>
          <p:cNvSpPr/>
          <p:nvPr/>
        </p:nvSpPr>
        <p:spPr>
          <a:xfrm>
            <a:off x="9098280" y="2926080"/>
            <a:ext cx="2697480" cy="365760"/>
          </a:xfrm>
          <a:prstGeom prst="roundRect">
            <a:avLst>
              <a:gd name="adj" fmla="val 2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users</a:t>
            </a:r>
          </a:p>
        </p:txBody>
      </p:sp>
      <p:sp>
        <p:nvSpPr>
          <p:cNvPr id="36" name="TextBox 35"/>
          <p:cNvSpPr txBox="1"/>
          <p:nvPr/>
        </p:nvSpPr>
        <p:spPr>
          <a:xfrm>
            <a:off x="9208007" y="3346704"/>
            <a:ext cx="1965960" cy="228600"/>
          </a:xfrm>
          <a:prstGeom prst="rect">
            <a:avLst/>
          </a:prstGeom>
          <a:noFill/>
        </p:spPr>
        <p:txBody>
          <a:bodyPr wrap="square" lIns="0" rIns="0" tIns="0" bIns="0" anchor="ctr">
            <a:noAutofit/>
          </a:bodyPr>
          <a:lstStyle/>
          <a:p>
            <a:pPr algn="l">
              <a:spcBef>
                <a:spcPts val="0"/>
              </a:spcBef>
              <a:spcAft>
                <a:spcPts val="0"/>
              </a:spcAft>
            </a:pPr>
            <a:r>
              <a:rPr sz="1200" b="1" i="0">
                <a:solidFill>
                  <a:srgbClr val="111827"/>
                </a:solidFill>
                <a:latin typeface="Times New Roman"/>
              </a:rPr>
              <a:t>username</a:t>
            </a:r>
          </a:p>
        </p:txBody>
      </p:sp>
      <p:sp>
        <p:nvSpPr>
          <p:cNvPr id="37" name="TextBox 36"/>
          <p:cNvSpPr txBox="1"/>
          <p:nvPr/>
        </p:nvSpPr>
        <p:spPr>
          <a:xfrm>
            <a:off x="11155680" y="334670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64748B"/>
                </a:solidFill>
                <a:latin typeface="Times New Roman"/>
              </a:rPr>
              <a:t>PK</a:t>
            </a:r>
          </a:p>
        </p:txBody>
      </p:sp>
      <p:sp>
        <p:nvSpPr>
          <p:cNvPr id="38" name="TextBox 37"/>
          <p:cNvSpPr txBox="1"/>
          <p:nvPr/>
        </p:nvSpPr>
        <p:spPr>
          <a:xfrm>
            <a:off x="9208007" y="357530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role</a:t>
            </a:r>
          </a:p>
        </p:txBody>
      </p:sp>
      <p:sp>
        <p:nvSpPr>
          <p:cNvPr id="39" name="TextBox 38"/>
          <p:cNvSpPr txBox="1"/>
          <p:nvPr/>
        </p:nvSpPr>
        <p:spPr>
          <a:xfrm>
            <a:off x="9208007" y="380390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password_hash</a:t>
            </a:r>
          </a:p>
        </p:txBody>
      </p:sp>
      <p:sp>
        <p:nvSpPr>
          <p:cNvPr id="40" name="Rounded Rectangle 39"/>
          <p:cNvSpPr/>
          <p:nvPr/>
        </p:nvSpPr>
        <p:spPr>
          <a:xfrm>
            <a:off x="9098280" y="4297680"/>
            <a:ext cx="2697480" cy="1600200"/>
          </a:xfrm>
          <a:prstGeom prst="roundRect">
            <a:avLst>
              <a:gd name="adj" fmla="val 4571"/>
            </a:avLst>
          </a:prstGeom>
          <a:solidFill>
            <a:srgbClr val="FFFFFF"/>
          </a:solidFill>
          <a:ln w="1905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41" name="Rounded Rectangle 40"/>
          <p:cNvSpPr/>
          <p:nvPr/>
        </p:nvSpPr>
        <p:spPr>
          <a:xfrm>
            <a:off x="9098280" y="4297680"/>
            <a:ext cx="2697480" cy="365760"/>
          </a:xfrm>
          <a:prstGeom prst="roundRect">
            <a:avLst>
              <a:gd name="adj" fmla="val 20000"/>
            </a:avLst>
          </a:prstGeom>
          <a:solidFill>
            <a:srgbClr val="CA8A0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ml_models</a:t>
            </a:r>
          </a:p>
        </p:txBody>
      </p:sp>
      <p:sp>
        <p:nvSpPr>
          <p:cNvPr id="42" name="TextBox 41"/>
          <p:cNvSpPr txBox="1"/>
          <p:nvPr/>
        </p:nvSpPr>
        <p:spPr>
          <a:xfrm>
            <a:off x="9208007" y="4718304"/>
            <a:ext cx="1965960" cy="228600"/>
          </a:xfrm>
          <a:prstGeom prst="rect">
            <a:avLst/>
          </a:prstGeom>
          <a:noFill/>
        </p:spPr>
        <p:txBody>
          <a:bodyPr wrap="square" lIns="0" rIns="0" tIns="0" bIns="0" anchor="ctr">
            <a:noAutofit/>
          </a:bodyPr>
          <a:lstStyle/>
          <a:p>
            <a:pPr algn="l">
              <a:spcBef>
                <a:spcPts val="0"/>
              </a:spcBef>
              <a:spcAft>
                <a:spcPts val="0"/>
              </a:spcAft>
            </a:pPr>
            <a:r>
              <a:rPr sz="1200" b="1" i="0">
                <a:solidFill>
                  <a:srgbClr val="111827"/>
                </a:solidFill>
                <a:latin typeface="Times New Roman"/>
              </a:rPr>
              <a:t>id</a:t>
            </a:r>
          </a:p>
        </p:txBody>
      </p:sp>
      <p:sp>
        <p:nvSpPr>
          <p:cNvPr id="43" name="TextBox 42"/>
          <p:cNvSpPr txBox="1"/>
          <p:nvPr/>
        </p:nvSpPr>
        <p:spPr>
          <a:xfrm>
            <a:off x="11155680" y="471830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CA8A04"/>
                </a:solidFill>
                <a:latin typeface="Times New Roman"/>
              </a:rPr>
              <a:t>PK</a:t>
            </a:r>
          </a:p>
        </p:txBody>
      </p:sp>
      <p:sp>
        <p:nvSpPr>
          <p:cNvPr id="44" name="TextBox 43"/>
          <p:cNvSpPr txBox="1"/>
          <p:nvPr/>
        </p:nvSpPr>
        <p:spPr>
          <a:xfrm>
            <a:off x="9208007" y="494690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algorithm</a:t>
            </a:r>
          </a:p>
        </p:txBody>
      </p:sp>
      <p:sp>
        <p:nvSpPr>
          <p:cNvPr id="45" name="TextBox 44"/>
          <p:cNvSpPr txBox="1"/>
          <p:nvPr/>
        </p:nvSpPr>
        <p:spPr>
          <a:xfrm>
            <a:off x="9208007" y="517550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trained_at</a:t>
            </a:r>
          </a:p>
        </p:txBody>
      </p:sp>
      <p:sp>
        <p:nvSpPr>
          <p:cNvPr id="46" name="TextBox 45"/>
          <p:cNvSpPr txBox="1"/>
          <p:nvPr/>
        </p:nvSpPr>
        <p:spPr>
          <a:xfrm>
            <a:off x="9208007" y="540410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threshold</a:t>
            </a:r>
          </a:p>
        </p:txBody>
      </p:sp>
      <p:sp>
        <p:nvSpPr>
          <p:cNvPr id="47" name="TextBox 46"/>
          <p:cNvSpPr txBox="1"/>
          <p:nvPr/>
        </p:nvSpPr>
        <p:spPr>
          <a:xfrm>
            <a:off x="9208007" y="563270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metrics</a:t>
            </a:r>
          </a:p>
        </p:txBody>
      </p:sp>
      <p:sp>
        <p:nvSpPr>
          <p:cNvPr id="48" name="Rounded Rectangle 47"/>
          <p:cNvSpPr/>
          <p:nvPr/>
        </p:nvSpPr>
        <p:spPr>
          <a:xfrm>
            <a:off x="5440680" y="3931920"/>
            <a:ext cx="2697480" cy="1828800"/>
          </a:xfrm>
          <a:prstGeom prst="roundRect">
            <a:avLst>
              <a:gd name="adj" fmla="val 4000"/>
            </a:avLst>
          </a:prstGeom>
          <a:solidFill>
            <a:srgbClr val="FFFFFF"/>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49" name="Rounded Rectangle 48"/>
          <p:cNvSpPr/>
          <p:nvPr/>
        </p:nvSpPr>
        <p:spPr>
          <a:xfrm>
            <a:off x="5440680" y="3931920"/>
            <a:ext cx="2697480" cy="365760"/>
          </a:xfrm>
          <a:prstGeom prst="roundRect">
            <a:avLst>
              <a:gd name="adj" fmla="val 20000"/>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maintenance_logs</a:t>
            </a:r>
          </a:p>
        </p:txBody>
      </p:sp>
      <p:sp>
        <p:nvSpPr>
          <p:cNvPr id="50" name="TextBox 49"/>
          <p:cNvSpPr txBox="1"/>
          <p:nvPr/>
        </p:nvSpPr>
        <p:spPr>
          <a:xfrm>
            <a:off x="5550408" y="4352544"/>
            <a:ext cx="1965960" cy="228600"/>
          </a:xfrm>
          <a:prstGeom prst="rect">
            <a:avLst/>
          </a:prstGeom>
          <a:noFill/>
        </p:spPr>
        <p:txBody>
          <a:bodyPr wrap="square" lIns="0" rIns="0" tIns="0" bIns="0" anchor="ctr">
            <a:noAutofit/>
          </a:bodyPr>
          <a:lstStyle/>
          <a:p>
            <a:pPr algn="l">
              <a:spcBef>
                <a:spcPts val="0"/>
              </a:spcBef>
              <a:spcAft>
                <a:spcPts val="0"/>
              </a:spcAft>
            </a:pPr>
            <a:r>
              <a:rPr sz="1200" b="1" i="0">
                <a:solidFill>
                  <a:srgbClr val="111827"/>
                </a:solidFill>
                <a:latin typeface="Times New Roman"/>
              </a:rPr>
              <a:t>id</a:t>
            </a:r>
          </a:p>
        </p:txBody>
      </p:sp>
      <p:sp>
        <p:nvSpPr>
          <p:cNvPr id="51" name="TextBox 50"/>
          <p:cNvSpPr txBox="1"/>
          <p:nvPr/>
        </p:nvSpPr>
        <p:spPr>
          <a:xfrm>
            <a:off x="7498080" y="435254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16A34A"/>
                </a:solidFill>
                <a:latin typeface="Times New Roman"/>
              </a:rPr>
              <a:t>PK</a:t>
            </a:r>
          </a:p>
        </p:txBody>
      </p:sp>
      <p:sp>
        <p:nvSpPr>
          <p:cNvPr id="52" name="TextBox 51"/>
          <p:cNvSpPr txBox="1"/>
          <p:nvPr/>
        </p:nvSpPr>
        <p:spPr>
          <a:xfrm>
            <a:off x="5550408" y="458114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machine_id</a:t>
            </a:r>
          </a:p>
        </p:txBody>
      </p:sp>
      <p:sp>
        <p:nvSpPr>
          <p:cNvPr id="53" name="TextBox 52"/>
          <p:cNvSpPr txBox="1"/>
          <p:nvPr/>
        </p:nvSpPr>
        <p:spPr>
          <a:xfrm>
            <a:off x="7498080" y="458114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16A34A"/>
                </a:solidFill>
                <a:latin typeface="Times New Roman"/>
              </a:rPr>
              <a:t>FK</a:t>
            </a:r>
          </a:p>
        </p:txBody>
      </p:sp>
      <p:sp>
        <p:nvSpPr>
          <p:cNvPr id="54" name="TextBox 53"/>
          <p:cNvSpPr txBox="1"/>
          <p:nvPr/>
        </p:nvSpPr>
        <p:spPr>
          <a:xfrm>
            <a:off x="5550408" y="480974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alert_id</a:t>
            </a:r>
          </a:p>
        </p:txBody>
      </p:sp>
      <p:sp>
        <p:nvSpPr>
          <p:cNvPr id="55" name="TextBox 54"/>
          <p:cNvSpPr txBox="1"/>
          <p:nvPr/>
        </p:nvSpPr>
        <p:spPr>
          <a:xfrm>
            <a:off x="7498080" y="480974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16A34A"/>
                </a:solidFill>
                <a:latin typeface="Times New Roman"/>
              </a:rPr>
              <a:t>FK</a:t>
            </a:r>
          </a:p>
        </p:txBody>
      </p:sp>
      <p:sp>
        <p:nvSpPr>
          <p:cNvPr id="56" name="TextBox 55"/>
          <p:cNvSpPr txBox="1"/>
          <p:nvPr/>
        </p:nvSpPr>
        <p:spPr>
          <a:xfrm>
            <a:off x="5550408" y="503834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action</a:t>
            </a:r>
          </a:p>
        </p:txBody>
      </p:sp>
      <p:sp>
        <p:nvSpPr>
          <p:cNvPr id="57" name="TextBox 56"/>
          <p:cNvSpPr txBox="1"/>
          <p:nvPr/>
        </p:nvSpPr>
        <p:spPr>
          <a:xfrm>
            <a:off x="5550408" y="526694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technician</a:t>
            </a:r>
          </a:p>
        </p:txBody>
      </p:sp>
      <p:sp>
        <p:nvSpPr>
          <p:cNvPr id="58" name="TextBox 57"/>
          <p:cNvSpPr txBox="1"/>
          <p:nvPr/>
        </p:nvSpPr>
        <p:spPr>
          <a:xfrm>
            <a:off x="5550408" y="549554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status</a:t>
            </a:r>
          </a:p>
        </p:txBody>
      </p:sp>
      <p:cxnSp>
        <p:nvCxnSpPr>
          <p:cNvPr id="59" name="Connector 58"/>
          <p:cNvCxnSpPr/>
          <p:nvPr/>
        </p:nvCxnSpPr>
        <p:spPr>
          <a:xfrm>
            <a:off x="4480560" y="1828800"/>
            <a:ext cx="960120" cy="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4480560" y="1536192"/>
            <a:ext cx="960120" cy="237744"/>
          </a:xfrm>
          <a:prstGeom prst="rect">
            <a:avLst/>
          </a:prstGeom>
          <a:noFill/>
        </p:spPr>
        <p:txBody>
          <a:bodyPr wrap="square" lIns="0" rIns="0" tIns="0" bIns="0" anchor="t">
            <a:noAutofit/>
          </a:bodyPr>
          <a:lstStyle/>
          <a:p>
            <a:pPr algn="ctr">
              <a:spcBef>
                <a:spcPts val="0"/>
              </a:spcBef>
              <a:spcAft>
                <a:spcPts val="0"/>
              </a:spcAft>
            </a:pPr>
            <a:r>
              <a:rPr sz="1200" b="1" i="0">
                <a:solidFill>
                  <a:srgbClr val="111827"/>
                </a:solidFill>
                <a:latin typeface="Times New Roman"/>
              </a:rPr>
              <a:t>1 : N</a:t>
            </a:r>
          </a:p>
        </p:txBody>
      </p:sp>
      <p:cxnSp>
        <p:nvCxnSpPr>
          <p:cNvPr id="61" name="Connector 60"/>
          <p:cNvCxnSpPr/>
          <p:nvPr/>
        </p:nvCxnSpPr>
        <p:spPr>
          <a:xfrm>
            <a:off x="8138160" y="1828800"/>
            <a:ext cx="960120" cy="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8138160" y="1536192"/>
            <a:ext cx="960120" cy="237744"/>
          </a:xfrm>
          <a:prstGeom prst="rect">
            <a:avLst/>
          </a:prstGeom>
          <a:noFill/>
        </p:spPr>
        <p:txBody>
          <a:bodyPr wrap="square" lIns="0" rIns="0" tIns="0" bIns="0" anchor="t">
            <a:noAutofit/>
          </a:bodyPr>
          <a:lstStyle/>
          <a:p>
            <a:pPr algn="ctr">
              <a:spcBef>
                <a:spcPts val="0"/>
              </a:spcBef>
              <a:spcAft>
                <a:spcPts val="0"/>
              </a:spcAft>
            </a:pPr>
            <a:r>
              <a:rPr sz="1200" b="1" i="0">
                <a:solidFill>
                  <a:srgbClr val="111827"/>
                </a:solidFill>
                <a:latin typeface="Times New Roman"/>
              </a:rPr>
              <a:t>1 : 1</a:t>
            </a:r>
          </a:p>
        </p:txBody>
      </p:sp>
      <p:cxnSp>
        <p:nvCxnSpPr>
          <p:cNvPr id="63" name="Connector 62"/>
          <p:cNvCxnSpPr/>
          <p:nvPr/>
        </p:nvCxnSpPr>
        <p:spPr>
          <a:xfrm>
            <a:off x="6789420" y="3337560"/>
            <a:ext cx="0" cy="59436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6880860" y="3383280"/>
            <a:ext cx="731520" cy="237744"/>
          </a:xfrm>
          <a:prstGeom prst="rect">
            <a:avLst/>
          </a:prstGeom>
          <a:noFill/>
        </p:spPr>
        <p:txBody>
          <a:bodyPr wrap="square" lIns="0" rIns="0" tIns="0" bIns="0" anchor="t">
            <a:noAutofit/>
          </a:bodyPr>
          <a:lstStyle/>
          <a:p>
            <a:pPr algn="l">
              <a:spcBef>
                <a:spcPts val="0"/>
              </a:spcBef>
              <a:spcAft>
                <a:spcPts val="0"/>
              </a:spcAft>
            </a:pPr>
            <a:r>
              <a:rPr sz="1200" b="1" i="0">
                <a:solidFill>
                  <a:srgbClr val="111827"/>
                </a:solidFill>
                <a:latin typeface="Times New Roman"/>
              </a:rPr>
              <a:t>1 : N</a:t>
            </a:r>
          </a:p>
        </p:txBody>
      </p:sp>
      <p:cxnSp>
        <p:nvCxnSpPr>
          <p:cNvPr id="65" name="Connector 64"/>
          <p:cNvCxnSpPr/>
          <p:nvPr/>
        </p:nvCxnSpPr>
        <p:spPr>
          <a:xfrm>
            <a:off x="3131820" y="2788920"/>
            <a:ext cx="0" cy="169164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3131820" y="4480560"/>
            <a:ext cx="2308860" cy="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3223260" y="3566160"/>
            <a:ext cx="731520" cy="237744"/>
          </a:xfrm>
          <a:prstGeom prst="rect">
            <a:avLst/>
          </a:prstGeom>
          <a:noFill/>
        </p:spPr>
        <p:txBody>
          <a:bodyPr wrap="square" lIns="0" rIns="0" tIns="0" bIns="0" anchor="t">
            <a:noAutofit/>
          </a:bodyPr>
          <a:lstStyle/>
          <a:p>
            <a:pPr algn="l">
              <a:spcBef>
                <a:spcPts val="0"/>
              </a:spcBef>
              <a:spcAft>
                <a:spcPts val="0"/>
              </a:spcAft>
            </a:pPr>
            <a:r>
              <a:rPr sz="1200" b="1" i="0">
                <a:solidFill>
                  <a:srgbClr val="111827"/>
                </a:solidFill>
                <a:latin typeface="Times New Roman"/>
              </a:rPr>
              <a:t>1 : N</a:t>
            </a:r>
          </a:p>
        </p:txBody>
      </p:sp>
      <p:sp>
        <p:nvSpPr>
          <p:cNvPr id="68" name="Rounded Rectangle 67"/>
          <p:cNvSpPr/>
          <p:nvPr/>
        </p:nvSpPr>
        <p:spPr>
          <a:xfrm>
            <a:off x="1783080" y="4892040"/>
            <a:ext cx="3108960" cy="1371600"/>
          </a:xfrm>
          <a:prstGeom prst="roundRect">
            <a:avLst>
              <a:gd name="adj" fmla="val 8000"/>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noAutofit/>
          </a:bodyPr>
          <a:lstStyle/>
          <a:p>
            <a:pPr algn="l">
              <a:spcBef>
                <a:spcPts val="0"/>
              </a:spcBef>
              <a:spcAft>
                <a:spcPts val="0"/>
              </a:spcAft>
            </a:pPr>
            <a:r>
              <a:rPr sz="1400" b="1" i="0">
                <a:solidFill>
                  <a:srgbClr val="111827"/>
                </a:solidFill>
                <a:latin typeface="Times New Roman"/>
              </a:rPr>
              <a:t>Time series (InfluxDB)</a:t>
            </a:r>
          </a:p>
          <a:p>
            <a:pPr algn="l">
              <a:spcBef>
                <a:spcPts val="0"/>
              </a:spcBef>
              <a:spcAft>
                <a:spcPts val="0"/>
              </a:spcAft>
            </a:pPr>
            <a:r>
              <a:rPr sz="1300" b="0" i="0">
                <a:solidFill>
                  <a:srgbClr val="111827"/>
                </a:solidFill>
                <a:latin typeface="Times New Roman"/>
              </a:rPr>
              <a:t>telemetry_raw – 30 days</a:t>
            </a:r>
          </a:p>
          <a:p>
            <a:pPr algn="l">
              <a:spcBef>
                <a:spcPts val="0"/>
              </a:spcBef>
              <a:spcAft>
                <a:spcPts val="0"/>
              </a:spcAft>
            </a:pPr>
            <a:r>
              <a:rPr sz="1300" b="0" i="0">
                <a:solidFill>
                  <a:srgbClr val="111827"/>
                </a:solidFill>
                <a:latin typeface="Times New Roman"/>
              </a:rPr>
              <a:t>telemetry_agg – 1 year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Deployment – Docker Compose &amp; Requirements (SRS §10–11)</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05840"/>
            <a:ext cx="6035040" cy="502920"/>
          </a:xfrm>
          <a:prstGeom prst="roundRect">
            <a:avLst>
              <a:gd name="adj" fmla="val 21818"/>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800" b="1" i="0">
                <a:solidFill>
                  <a:srgbClr val="111827"/>
                </a:solidFill>
                <a:latin typeface="Times New Roman"/>
              </a:rPr>
              <a:t>docker compose up --build</a:t>
            </a:r>
          </a:p>
        </p:txBody>
      </p:sp>
      <p:sp>
        <p:nvSpPr>
          <p:cNvPr id="5" name="Rounded Rectangle 4"/>
          <p:cNvSpPr/>
          <p:nvPr/>
        </p:nvSpPr>
        <p:spPr>
          <a:xfrm>
            <a:off x="1783080" y="1737360"/>
            <a:ext cx="1783080" cy="1005840"/>
          </a:xfrm>
          <a:prstGeom prst="roundRect">
            <a:avLst>
              <a:gd name="adj" fmla="val 10909"/>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500" b="1" i="0">
                <a:solidFill>
                  <a:srgbClr val="111827"/>
                </a:solidFill>
                <a:latin typeface="Times New Roman"/>
              </a:rPr>
              <a:t>simulator</a:t>
            </a:r>
          </a:p>
          <a:p>
            <a:pPr algn="ctr">
              <a:spcBef>
                <a:spcPts val="0"/>
              </a:spcBef>
              <a:spcAft>
                <a:spcPts val="0"/>
              </a:spcAft>
            </a:pPr>
            <a:r>
              <a:rPr sz="1200" b="0" i="0">
                <a:solidFill>
                  <a:srgbClr val="111827"/>
                </a:solidFill>
                <a:latin typeface="Times New Roman"/>
              </a:rPr>
              <a:t>publishes telemetry</a:t>
            </a:r>
          </a:p>
        </p:txBody>
      </p:sp>
      <p:sp>
        <p:nvSpPr>
          <p:cNvPr id="6" name="Rounded Rectangle 5"/>
          <p:cNvSpPr/>
          <p:nvPr/>
        </p:nvSpPr>
        <p:spPr>
          <a:xfrm>
            <a:off x="3909060" y="1737360"/>
            <a:ext cx="1783080" cy="1005840"/>
          </a:xfrm>
          <a:prstGeom prst="roundRect">
            <a:avLst>
              <a:gd name="adj" fmla="val 10909"/>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500" b="1" i="0">
                <a:solidFill>
                  <a:srgbClr val="111827"/>
                </a:solidFill>
                <a:latin typeface="Times New Roman"/>
              </a:rPr>
              <a:t>mosquitto</a:t>
            </a:r>
          </a:p>
          <a:p>
            <a:pPr algn="ctr">
              <a:spcBef>
                <a:spcPts val="0"/>
              </a:spcBef>
              <a:spcAft>
                <a:spcPts val="0"/>
              </a:spcAft>
            </a:pPr>
            <a:r>
              <a:rPr sz="1200" b="0" i="0">
                <a:solidFill>
                  <a:srgbClr val="111827"/>
                </a:solidFill>
                <a:latin typeface="Times New Roman"/>
              </a:rPr>
              <a:t>:1883 · :9001</a:t>
            </a:r>
          </a:p>
        </p:txBody>
      </p:sp>
      <p:sp>
        <p:nvSpPr>
          <p:cNvPr id="7" name="Rounded Rectangle 6"/>
          <p:cNvSpPr/>
          <p:nvPr/>
        </p:nvSpPr>
        <p:spPr>
          <a:xfrm>
            <a:off x="6035040" y="1737360"/>
            <a:ext cx="1783080" cy="1005840"/>
          </a:xfrm>
          <a:prstGeom prst="roundRect">
            <a:avLst>
              <a:gd name="adj" fmla="val 10909"/>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500" b="1" i="0">
                <a:solidFill>
                  <a:srgbClr val="111827"/>
                </a:solidFill>
                <a:latin typeface="Times New Roman"/>
              </a:rPr>
              <a:t>backend</a:t>
            </a:r>
          </a:p>
          <a:p>
            <a:pPr algn="ctr">
              <a:spcBef>
                <a:spcPts val="0"/>
              </a:spcBef>
              <a:spcAft>
                <a:spcPts val="0"/>
              </a:spcAft>
            </a:pPr>
            <a:r>
              <a:rPr sz="1200" b="0" i="0">
                <a:solidFill>
                  <a:srgbClr val="111827"/>
                </a:solidFill>
                <a:latin typeface="Times New Roman"/>
              </a:rPr>
              <a:t>:8000 · /docs</a:t>
            </a:r>
          </a:p>
        </p:txBody>
      </p:sp>
      <p:cxnSp>
        <p:nvCxnSpPr>
          <p:cNvPr id="8" name="Connector 7"/>
          <p:cNvCxnSpPr/>
          <p:nvPr/>
        </p:nvCxnSpPr>
        <p:spPr>
          <a:xfrm>
            <a:off x="3575303" y="2240280"/>
            <a:ext cx="324613"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701284" y="2240280"/>
            <a:ext cx="324612"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35040" y="3429000"/>
            <a:ext cx="1783080" cy="1005840"/>
          </a:xfrm>
          <a:prstGeom prst="roundRect">
            <a:avLst>
              <a:gd name="adj" fmla="val 10909"/>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500" b="1" i="0">
                <a:solidFill>
                  <a:srgbClr val="111827"/>
                </a:solidFill>
                <a:latin typeface="Times New Roman"/>
              </a:rPr>
              <a:t>frontend</a:t>
            </a:r>
          </a:p>
          <a:p>
            <a:pPr algn="ctr">
              <a:spcBef>
                <a:spcPts val="0"/>
              </a:spcBef>
              <a:spcAft>
                <a:spcPts val="0"/>
              </a:spcAft>
            </a:pPr>
            <a:r>
              <a:rPr sz="1200" b="0" i="0">
                <a:solidFill>
                  <a:srgbClr val="111827"/>
                </a:solidFill>
                <a:latin typeface="Times New Roman"/>
              </a:rPr>
              <a:t>nginx · :5173</a:t>
            </a:r>
          </a:p>
        </p:txBody>
      </p:sp>
      <p:cxnSp>
        <p:nvCxnSpPr>
          <p:cNvPr id="11" name="Connector 10"/>
          <p:cNvCxnSpPr/>
          <p:nvPr/>
        </p:nvCxnSpPr>
        <p:spPr>
          <a:xfrm flipV="1">
            <a:off x="6949440" y="2752344"/>
            <a:ext cx="0" cy="667512"/>
          </a:xfrm>
          <a:prstGeom prst="line">
            <a:avLst/>
          </a:prstGeom>
          <a:ln w="25400">
            <a:solidFill>
              <a:srgbClr val="11182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783080" y="3429000"/>
            <a:ext cx="3977639" cy="1005840"/>
          </a:xfrm>
          <a:prstGeom prst="roundRect">
            <a:avLst>
              <a:gd name="adj" fmla="val 9090"/>
            </a:avLst>
          </a:prstGeom>
          <a:noFill/>
          <a:ln w="19050">
            <a:solidFill>
              <a:srgbClr val="64748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3" name="TextBox 12"/>
          <p:cNvSpPr txBox="1"/>
          <p:nvPr/>
        </p:nvSpPr>
        <p:spPr>
          <a:xfrm>
            <a:off x="1920240" y="3474720"/>
            <a:ext cx="3749039" cy="274320"/>
          </a:xfrm>
          <a:prstGeom prst="rect">
            <a:avLst/>
          </a:prstGeom>
          <a:noFill/>
        </p:spPr>
        <p:txBody>
          <a:bodyPr wrap="square" lIns="0" rIns="0" tIns="0" bIns="0" anchor="t">
            <a:noAutofit/>
          </a:bodyPr>
          <a:lstStyle/>
          <a:p>
            <a:pPr algn="l">
              <a:spcBef>
                <a:spcPts val="0"/>
              </a:spcBef>
              <a:spcAft>
                <a:spcPts val="0"/>
              </a:spcAft>
            </a:pPr>
            <a:r>
              <a:rPr sz="1200" b="0" i="1">
                <a:solidFill>
                  <a:srgbClr val="475569"/>
                </a:solidFill>
                <a:latin typeface="Times New Roman"/>
              </a:rPr>
              <a:t>optional profile  --profile db</a:t>
            </a:r>
          </a:p>
        </p:txBody>
      </p:sp>
      <p:sp>
        <p:nvSpPr>
          <p:cNvPr id="14" name="Rounded Rectangle 13"/>
          <p:cNvSpPr/>
          <p:nvPr/>
        </p:nvSpPr>
        <p:spPr>
          <a:xfrm>
            <a:off x="1920240" y="3794760"/>
            <a:ext cx="1783080" cy="548640"/>
          </a:xfrm>
          <a:prstGeom prst="roundRect">
            <a:avLst>
              <a:gd name="adj" fmla="val 20000"/>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300" b="1" i="0">
                <a:solidFill>
                  <a:srgbClr val="111827"/>
                </a:solidFill>
                <a:latin typeface="Times New Roman"/>
              </a:rPr>
              <a:t>PostgreSQL 14</a:t>
            </a:r>
          </a:p>
          <a:p>
            <a:pPr algn="ctr">
              <a:spcBef>
                <a:spcPts val="0"/>
              </a:spcBef>
              <a:spcAft>
                <a:spcPts val="0"/>
              </a:spcAft>
            </a:pPr>
            <a:r>
              <a:rPr sz="1100" b="0" i="0">
                <a:solidFill>
                  <a:srgbClr val="111827"/>
                </a:solidFill>
                <a:latin typeface="Times New Roman"/>
              </a:rPr>
              <a:t>:5432</a:t>
            </a:r>
          </a:p>
        </p:txBody>
      </p:sp>
      <p:sp>
        <p:nvSpPr>
          <p:cNvPr id="15" name="Rounded Rectangle 14"/>
          <p:cNvSpPr/>
          <p:nvPr/>
        </p:nvSpPr>
        <p:spPr>
          <a:xfrm>
            <a:off x="3840480" y="3794760"/>
            <a:ext cx="1783080" cy="548640"/>
          </a:xfrm>
          <a:prstGeom prst="roundRect">
            <a:avLst>
              <a:gd name="adj" fmla="val 20000"/>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300" b="1" i="0">
                <a:solidFill>
                  <a:srgbClr val="111827"/>
                </a:solidFill>
                <a:latin typeface="Times New Roman"/>
              </a:rPr>
              <a:t>InfluxDB 2</a:t>
            </a:r>
          </a:p>
          <a:p>
            <a:pPr algn="ctr">
              <a:spcBef>
                <a:spcPts val="0"/>
              </a:spcBef>
              <a:spcAft>
                <a:spcPts val="0"/>
              </a:spcAft>
            </a:pPr>
            <a:r>
              <a:rPr sz="1100" b="0" i="0">
                <a:solidFill>
                  <a:srgbClr val="111827"/>
                </a:solidFill>
                <a:latin typeface="Times New Roman"/>
              </a:rPr>
              <a:t>:8086</a:t>
            </a:r>
          </a:p>
        </p:txBody>
      </p:sp>
      <p:cxnSp>
        <p:nvCxnSpPr>
          <p:cNvPr id="16" name="Connector 15"/>
          <p:cNvCxnSpPr/>
          <p:nvPr/>
        </p:nvCxnSpPr>
        <p:spPr>
          <a:xfrm>
            <a:off x="6309360" y="2752344"/>
            <a:ext cx="0" cy="356616"/>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3776472" y="3108960"/>
            <a:ext cx="2532888" cy="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76472" y="3108960"/>
            <a:ext cx="0" cy="310896"/>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783080" y="4709160"/>
            <a:ext cx="6035040" cy="1554480"/>
          </a:xfrm>
          <a:prstGeom prst="roundRect">
            <a:avLst>
              <a:gd name="adj" fmla="val 8235"/>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0" name="TextBox 19"/>
          <p:cNvSpPr txBox="1"/>
          <p:nvPr/>
        </p:nvSpPr>
        <p:spPr>
          <a:xfrm>
            <a:off x="1947672" y="4837176"/>
            <a:ext cx="5705855" cy="1335024"/>
          </a:xfrm>
          <a:prstGeom prst="rect">
            <a:avLst/>
          </a:prstGeom>
          <a:noFill/>
        </p:spPr>
        <p:txBody>
          <a:bodyPr wrap="square" lIns="0" rIns="0" tIns="0" bIns="0" anchor="t">
            <a:noAutofit/>
          </a:bodyPr>
          <a:lstStyle/>
          <a:p>
            <a:pPr algn="l">
              <a:spcBef>
                <a:spcPts val="0"/>
              </a:spcBef>
              <a:spcAft>
                <a:spcPts val="600"/>
              </a:spcAft>
            </a:pPr>
            <a:r>
              <a:rPr sz="1700" b="1" i="0">
                <a:solidFill>
                  <a:srgbClr val="111827"/>
                </a:solidFill>
                <a:latin typeface="Times New Roman"/>
              </a:rPr>
              <a:t>Verified live</a:t>
            </a:r>
          </a:p>
          <a:p>
            <a:pPr algn="l">
              <a:spcBef>
                <a:spcPts val="0"/>
              </a:spcBef>
              <a:spcAft>
                <a:spcPts val="400"/>
              </a:spcAft>
            </a:pPr>
            <a:r>
              <a:rPr sz="1400" b="0" i="0">
                <a:solidFill>
                  <a:srgbClr val="111827"/>
                </a:solidFill>
                <a:latin typeface="Times New Roman"/>
              </a:rPr>
              <a:t>PostgreSQL 14 and InfluxDB 2 running in Docker: telemetry, alerts, acknowledgements, feedback and maintenance saved and still there after a backend restart</a:t>
            </a:r>
          </a:p>
        </p:txBody>
      </p:sp>
      <p:sp>
        <p:nvSpPr>
          <p:cNvPr id="21" name="Rounded Rectangle 20"/>
          <p:cNvSpPr/>
          <p:nvPr/>
        </p:nvSpPr>
        <p:spPr>
          <a:xfrm>
            <a:off x="8046719" y="1005840"/>
            <a:ext cx="3749039" cy="5257800"/>
          </a:xfrm>
          <a:prstGeom prst="roundRect">
            <a:avLst>
              <a:gd name="adj" fmla="val 2926"/>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2" name="TextBox 21"/>
          <p:cNvSpPr txBox="1"/>
          <p:nvPr/>
        </p:nvSpPr>
        <p:spPr>
          <a:xfrm>
            <a:off x="8229599" y="1115568"/>
            <a:ext cx="3383279" cy="365760"/>
          </a:xfrm>
          <a:prstGeom prst="rect">
            <a:avLst/>
          </a:prstGeom>
          <a:noFill/>
        </p:spPr>
        <p:txBody>
          <a:bodyPr wrap="square" lIns="0" rIns="0" tIns="0" bIns="0" anchor="t">
            <a:noAutofit/>
          </a:bodyPr>
          <a:lstStyle/>
          <a:p>
            <a:pPr algn="l">
              <a:spcBef>
                <a:spcPts val="0"/>
              </a:spcBef>
              <a:spcAft>
                <a:spcPts val="0"/>
              </a:spcAft>
            </a:pPr>
            <a:r>
              <a:rPr sz="1700" b="1" i="0">
                <a:solidFill>
                  <a:srgbClr val="111827"/>
                </a:solidFill>
                <a:latin typeface="Times New Roman"/>
              </a:rPr>
              <a:t>Requirements (SRS §11)</a:t>
            </a:r>
          </a:p>
        </p:txBody>
      </p:sp>
      <p:sp>
        <p:nvSpPr>
          <p:cNvPr id="23" name="TextBox 22"/>
          <p:cNvSpPr txBox="1"/>
          <p:nvPr/>
        </p:nvSpPr>
        <p:spPr>
          <a:xfrm>
            <a:off x="8229599" y="1600200"/>
            <a:ext cx="3383279" cy="1828800"/>
          </a:xfrm>
          <a:prstGeom prst="rect">
            <a:avLst/>
          </a:prstGeom>
          <a:noFill/>
        </p:spPr>
        <p:txBody>
          <a:bodyPr wrap="square" lIns="0" rIns="0" tIns="0" bIns="0" anchor="t">
            <a:noAutofit/>
          </a:bodyPr>
          <a:lstStyle/>
          <a:p>
            <a:pPr algn="l">
              <a:spcBef>
                <a:spcPts val="0"/>
              </a:spcBef>
              <a:spcAft>
                <a:spcPts val="400"/>
              </a:spcAft>
            </a:pPr>
            <a:r>
              <a:rPr sz="1400" b="1" i="0">
                <a:solidFill>
                  <a:srgbClr val="111827"/>
                </a:solidFill>
                <a:latin typeface="Times New Roman"/>
              </a:rPr>
              <a:t>Hardware – minimum → recommended</a:t>
            </a:r>
          </a:p>
          <a:p>
            <a:pPr algn="l" marL="201168" indent="-201168">
              <a:spcBef>
                <a:spcPts val="0"/>
              </a:spcBef>
              <a:spcAft>
                <a:spcPts val="300"/>
              </a:spcAft>
              <a:buFont typeface="Arial"/>
              <a:buChar char="•"/>
            </a:pPr>
            <a:r>
              <a:rPr sz="1300" b="0" i="0">
                <a:solidFill>
                  <a:srgbClr val="111827"/>
                </a:solidFill>
                <a:latin typeface="Times New Roman"/>
              </a:rPr>
              <a:t>CPU: dual-core 2.0 GHz → quad-core 2.5 GHz</a:t>
            </a:r>
          </a:p>
          <a:p>
            <a:pPr algn="l" marL="201168" indent="-201168">
              <a:spcBef>
                <a:spcPts val="0"/>
              </a:spcBef>
              <a:spcAft>
                <a:spcPts val="300"/>
              </a:spcAft>
              <a:buFont typeface="Arial"/>
              <a:buChar char="•"/>
            </a:pPr>
            <a:r>
              <a:rPr sz="1300" b="0" i="0">
                <a:solidFill>
                  <a:srgbClr val="111827"/>
                </a:solidFill>
                <a:latin typeface="Times New Roman"/>
              </a:rPr>
              <a:t>RAM: 8 GB → 16 GB</a:t>
            </a:r>
          </a:p>
          <a:p>
            <a:pPr algn="l" marL="201168" indent="-201168">
              <a:spcBef>
                <a:spcPts val="0"/>
              </a:spcBef>
              <a:spcAft>
                <a:spcPts val="300"/>
              </a:spcAft>
              <a:buFont typeface="Arial"/>
              <a:buChar char="•"/>
            </a:pPr>
            <a:r>
              <a:rPr sz="1300" b="0" i="0">
                <a:solidFill>
                  <a:srgbClr val="111827"/>
                </a:solidFill>
                <a:latin typeface="Times New Roman"/>
              </a:rPr>
              <a:t>Storage: 20 GB free → 50 GB SSD</a:t>
            </a:r>
          </a:p>
          <a:p>
            <a:pPr algn="l" marL="201168" indent="-201168">
              <a:spcBef>
                <a:spcPts val="0"/>
              </a:spcBef>
              <a:spcAft>
                <a:spcPts val="0"/>
              </a:spcAft>
              <a:buFont typeface="Arial"/>
              <a:buChar char="•"/>
            </a:pPr>
            <a:r>
              <a:rPr sz="1300" b="0" i="0">
                <a:solidFill>
                  <a:srgbClr val="111827"/>
                </a:solidFill>
                <a:latin typeface="Times New Roman"/>
              </a:rPr>
              <a:t>Display: 1366 × 768 → 1920 × 1080</a:t>
            </a:r>
          </a:p>
        </p:txBody>
      </p:sp>
      <p:sp>
        <p:nvSpPr>
          <p:cNvPr id="24" name="TextBox 23"/>
          <p:cNvSpPr txBox="1"/>
          <p:nvPr/>
        </p:nvSpPr>
        <p:spPr>
          <a:xfrm>
            <a:off x="8229599" y="3520440"/>
            <a:ext cx="3383279" cy="2651760"/>
          </a:xfrm>
          <a:prstGeom prst="rect">
            <a:avLst/>
          </a:prstGeom>
          <a:noFill/>
        </p:spPr>
        <p:txBody>
          <a:bodyPr wrap="square" lIns="0" rIns="0" tIns="0" bIns="0" anchor="t">
            <a:noAutofit/>
          </a:bodyPr>
          <a:lstStyle/>
          <a:p>
            <a:pPr algn="l">
              <a:spcBef>
                <a:spcPts val="0"/>
              </a:spcBef>
              <a:spcAft>
                <a:spcPts val="400"/>
              </a:spcAft>
            </a:pPr>
            <a:r>
              <a:rPr sz="1400" b="1" i="0">
                <a:solidFill>
                  <a:srgbClr val="111827"/>
                </a:solidFill>
                <a:latin typeface="Times New Roman"/>
              </a:rPr>
              <a:t>Software</a:t>
            </a:r>
          </a:p>
          <a:p>
            <a:pPr algn="l" marL="201168" indent="-201168">
              <a:spcBef>
                <a:spcPts val="0"/>
              </a:spcBef>
              <a:spcAft>
                <a:spcPts val="300"/>
              </a:spcAft>
              <a:buFont typeface="Arial"/>
              <a:buChar char="•"/>
            </a:pPr>
            <a:r>
              <a:rPr sz="1300" b="0" i="0">
                <a:solidFill>
                  <a:srgbClr val="111827"/>
                </a:solidFill>
                <a:latin typeface="Times New Roman"/>
              </a:rPr>
              <a:t>Windows 10/11, Ubuntu 20.04+, macOS 11+</a:t>
            </a:r>
          </a:p>
          <a:p>
            <a:pPr algn="l" marL="201168" indent="-201168">
              <a:spcBef>
                <a:spcPts val="0"/>
              </a:spcBef>
              <a:spcAft>
                <a:spcPts val="300"/>
              </a:spcAft>
              <a:buFont typeface="Arial"/>
              <a:buChar char="•"/>
            </a:pPr>
            <a:r>
              <a:rPr sz="1300" b="0" i="0">
                <a:solidFill>
                  <a:srgbClr val="111827"/>
                </a:solidFill>
                <a:latin typeface="Times New Roman"/>
              </a:rPr>
              <a:t>Docker Desktop 4.x + Compose 2.x</a:t>
            </a:r>
          </a:p>
          <a:p>
            <a:pPr algn="l" marL="201168" indent="-201168">
              <a:spcBef>
                <a:spcPts val="0"/>
              </a:spcBef>
              <a:spcAft>
                <a:spcPts val="300"/>
              </a:spcAft>
              <a:buFont typeface="Arial"/>
              <a:buChar char="•"/>
            </a:pPr>
            <a:r>
              <a:rPr sz="1300" b="0" i="0">
                <a:solidFill>
                  <a:srgbClr val="111827"/>
                </a:solidFill>
                <a:latin typeface="Times New Roman"/>
              </a:rPr>
              <a:t>Python 3.10+ and Node 18+ (containerised)</a:t>
            </a:r>
          </a:p>
          <a:p>
            <a:pPr algn="l" marL="201168" indent="-201168">
              <a:spcBef>
                <a:spcPts val="0"/>
              </a:spcBef>
              <a:spcAft>
                <a:spcPts val="300"/>
              </a:spcAft>
              <a:buFont typeface="Arial"/>
              <a:buChar char="•"/>
            </a:pPr>
            <a:r>
              <a:rPr sz="1300" b="0" i="0">
                <a:solidFill>
                  <a:srgbClr val="111827"/>
                </a:solidFill>
                <a:latin typeface="Times New Roman"/>
              </a:rPr>
              <a:t>PostgreSQL 14, InfluxDB 2, Mosquitto 2</a:t>
            </a:r>
          </a:p>
          <a:p>
            <a:pPr algn="l" marL="201168" indent="-201168">
              <a:spcBef>
                <a:spcPts val="0"/>
              </a:spcBef>
              <a:spcAft>
                <a:spcPts val="0"/>
              </a:spcAft>
              <a:buFont typeface="Arial"/>
              <a:buChar char="•"/>
            </a:pPr>
            <a:r>
              <a:rPr sz="1300" b="0" i="0">
                <a:solidFill>
                  <a:srgbClr val="111827"/>
                </a:solidFill>
                <a:latin typeface="Times New Roman"/>
              </a:rPr>
              <a:t>Chrome, Firefox or Edge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UML – Use Case Diagram (SRS §7.2)</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pic>
        <p:nvPicPr>
          <p:cNvPr id="4" name="Picture 3" descr="use_case.png"/>
          <p:cNvPicPr>
            <a:picLocks noChangeAspect="1"/>
          </p:cNvPicPr>
          <p:nvPr/>
        </p:nvPicPr>
        <p:blipFill>
          <a:blip r:embed="rId3"/>
          <a:stretch>
            <a:fillRect/>
          </a:stretch>
        </p:blipFill>
        <p:spPr>
          <a:xfrm>
            <a:off x="1783080" y="1005840"/>
            <a:ext cx="6858000" cy="4264983"/>
          </a:xfrm>
          <a:prstGeom prst="rect">
            <a:avLst/>
          </a:prstGeom>
          <a:ln w="12700">
            <a:solidFill>
              <a:srgbClr val="CBD5E1"/>
            </a:solidFill>
          </a:ln>
        </p:spPr>
      </p:pic>
      <p:sp>
        <p:nvSpPr>
          <p:cNvPr id="5" name="TextBox 4"/>
          <p:cNvSpPr txBox="1"/>
          <p:nvPr/>
        </p:nvSpPr>
        <p:spPr>
          <a:xfrm>
            <a:off x="1783080" y="6035040"/>
            <a:ext cx="6858000" cy="256032"/>
          </a:xfrm>
          <a:prstGeom prst="rect">
            <a:avLst/>
          </a:prstGeom>
          <a:noFill/>
        </p:spPr>
        <p:txBody>
          <a:bodyPr wrap="square" lIns="0" rIns="0" tIns="0" bIns="0" anchor="t">
            <a:noAutofit/>
          </a:bodyPr>
          <a:lstStyle/>
          <a:p>
            <a:pPr algn="l">
              <a:spcBef>
                <a:spcPts val="0"/>
              </a:spcBef>
              <a:spcAft>
                <a:spcPts val="0"/>
              </a:spcAft>
            </a:pPr>
            <a:r>
              <a:rPr sz="1200" b="0" i="1">
                <a:solidFill>
                  <a:srgbClr val="475569"/>
                </a:solidFill>
                <a:latin typeface="Times New Roman"/>
              </a:rPr>
              <a:t>Source: SRS §7.2 – use case diagram</a:t>
            </a:r>
          </a:p>
        </p:txBody>
      </p:sp>
      <p:sp>
        <p:nvSpPr>
          <p:cNvPr id="6" name="Rounded Rectangle 5"/>
          <p:cNvSpPr/>
          <p:nvPr/>
        </p:nvSpPr>
        <p:spPr>
          <a:xfrm>
            <a:off x="8869680" y="1005840"/>
            <a:ext cx="2926079" cy="5303520"/>
          </a:xfrm>
          <a:prstGeom prst="roundRect">
            <a:avLst>
              <a:gd name="adj" fmla="val 4375"/>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7" name="TextBox 6"/>
          <p:cNvSpPr txBox="1"/>
          <p:nvPr/>
        </p:nvSpPr>
        <p:spPr>
          <a:xfrm>
            <a:off x="9034272" y="1133856"/>
            <a:ext cx="2596895" cy="5084064"/>
          </a:xfrm>
          <a:prstGeom prst="rect">
            <a:avLst/>
          </a:prstGeom>
          <a:noFill/>
        </p:spPr>
        <p:txBody>
          <a:bodyPr wrap="square" lIns="0" rIns="0" tIns="0" bIns="0" anchor="t">
            <a:noAutofit/>
          </a:bodyPr>
          <a:lstStyle/>
          <a:p>
            <a:pPr algn="l">
              <a:spcBef>
                <a:spcPts val="0"/>
              </a:spcBef>
              <a:spcAft>
                <a:spcPts val="600"/>
              </a:spcAft>
            </a:pPr>
            <a:r>
              <a:rPr sz="1700" b="1" i="0">
                <a:solidFill>
                  <a:srgbClr val="111827"/>
                </a:solidFill>
                <a:latin typeface="Times New Roman"/>
              </a:rPr>
              <a:t>How to read it</a:t>
            </a:r>
          </a:p>
          <a:p>
            <a:pPr algn="l" marL="201168" indent="-201168">
              <a:spcBef>
                <a:spcPts val="0"/>
              </a:spcBef>
              <a:spcAft>
                <a:spcPts val="900"/>
              </a:spcAft>
              <a:buFont typeface="Arial"/>
              <a:buChar char="•"/>
            </a:pPr>
            <a:r>
              <a:rPr sz="1400" b="1" i="0">
                <a:solidFill>
                  <a:srgbClr val="111827"/>
                </a:solidFill>
                <a:latin typeface="Times New Roman"/>
              </a:rPr>
              <a:t>4 actors</a:t>
            </a:r>
            <a:r>
              <a:rPr sz="1400" b="0" i="0">
                <a:solidFill>
                  <a:srgbClr val="111827"/>
                </a:solidFill>
                <a:latin typeface="Times New Roman"/>
              </a:rPr>
              <a:t> and </a:t>
            </a:r>
            <a:r>
              <a:rPr sz="1400" b="1" i="0">
                <a:solidFill>
                  <a:srgbClr val="111827"/>
                </a:solidFill>
                <a:latin typeface="Times New Roman"/>
              </a:rPr>
              <a:t>8 use cases</a:t>
            </a:r>
            <a:r>
              <a:rPr sz="1400" b="0" i="0">
                <a:solidFill>
                  <a:srgbClr val="111827"/>
                </a:solidFill>
                <a:latin typeface="Times New Roman"/>
              </a:rPr>
              <a:t> from the SRS catalogue</a:t>
            </a:r>
          </a:p>
          <a:p>
            <a:pPr algn="l" marL="201168" indent="-201168">
              <a:spcBef>
                <a:spcPts val="0"/>
              </a:spcBef>
              <a:spcAft>
                <a:spcPts val="900"/>
              </a:spcAft>
              <a:buFont typeface="Arial"/>
              <a:buChar char="•"/>
            </a:pPr>
            <a:r>
              <a:rPr sz="1400" b="1" i="0">
                <a:solidFill>
                  <a:srgbClr val="111827"/>
                </a:solidFill>
                <a:latin typeface="Times New Roman"/>
              </a:rPr>
              <a:t>Maintenance Engineer:</a:t>
            </a:r>
            <a:r>
              <a:rPr sz="1400" b="0" i="0">
                <a:solidFill>
                  <a:srgbClr val="111827"/>
                </a:solidFill>
                <a:latin typeface="Times New Roman"/>
              </a:rPr>
              <a:t> acknowledge an alarm, receive real-time alerts, log maintenance, view the dashboard</a:t>
            </a:r>
          </a:p>
          <a:p>
            <a:pPr algn="l" marL="201168" indent="-201168">
              <a:spcBef>
                <a:spcPts val="0"/>
              </a:spcBef>
              <a:spcAft>
                <a:spcPts val="900"/>
              </a:spcAft>
              <a:buFont typeface="Arial"/>
              <a:buChar char="•"/>
            </a:pPr>
            <a:r>
              <a:rPr sz="1400" b="1" i="0">
                <a:solidFill>
                  <a:srgbClr val="111827"/>
                </a:solidFill>
                <a:latin typeface="Times New Roman"/>
              </a:rPr>
              <a:t>Floor Manager:</a:t>
            </a:r>
            <a:r>
              <a:rPr sz="1400" b="0" i="0">
                <a:solidFill>
                  <a:srgbClr val="111827"/>
                </a:solidFill>
                <a:latin typeface="Times New Roman"/>
              </a:rPr>
              <a:t> view the dashboard, trigger a What-If scenario</a:t>
            </a:r>
          </a:p>
          <a:p>
            <a:pPr algn="l" marL="201168" indent="-201168">
              <a:spcBef>
                <a:spcPts val="0"/>
              </a:spcBef>
              <a:spcAft>
                <a:spcPts val="900"/>
              </a:spcAft>
              <a:buFont typeface="Arial"/>
              <a:buChar char="•"/>
            </a:pPr>
            <a:r>
              <a:rPr sz="1400" b="1" i="0">
                <a:solidFill>
                  <a:srgbClr val="111827"/>
                </a:solidFill>
                <a:latin typeface="Times New Roman"/>
              </a:rPr>
              <a:t>Production Analyst:</a:t>
            </a:r>
            <a:r>
              <a:rPr sz="1400" b="0" i="0">
                <a:solidFill>
                  <a:srgbClr val="111827"/>
                </a:solidFill>
                <a:latin typeface="Times New Roman"/>
              </a:rPr>
              <a:t> view historical reports</a:t>
            </a:r>
          </a:p>
          <a:p>
            <a:pPr algn="l" marL="201168" indent="-201168">
              <a:spcBef>
                <a:spcPts val="0"/>
              </a:spcBef>
              <a:spcAft>
                <a:spcPts val="900"/>
              </a:spcAft>
              <a:buFont typeface="Arial"/>
              <a:buChar char="•"/>
            </a:pPr>
            <a:r>
              <a:rPr sz="1400" b="1" i="0">
                <a:solidFill>
                  <a:srgbClr val="111827"/>
                </a:solidFill>
                <a:latin typeface="Times New Roman"/>
              </a:rPr>
              <a:t>System Administrator:</a:t>
            </a:r>
            <a:r>
              <a:rPr sz="1400" b="0" i="0">
                <a:solidFill>
                  <a:srgbClr val="111827"/>
                </a:solidFill>
                <a:latin typeface="Times New Roman"/>
              </a:rPr>
              <a:t> deploy the system, scale simulated machines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Data Flow Diagram – Level 1 (Seven Processes)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pic>
        <p:nvPicPr>
          <p:cNvPr id="4" name="Picture 3" descr="dfd_level1.png"/>
          <p:cNvPicPr>
            <a:picLocks noChangeAspect="1"/>
          </p:cNvPicPr>
          <p:nvPr/>
        </p:nvPicPr>
        <p:blipFill>
          <a:blip r:embed="rId3"/>
          <a:stretch>
            <a:fillRect/>
          </a:stretch>
        </p:blipFill>
        <p:spPr>
          <a:xfrm>
            <a:off x="2965025" y="1005840"/>
            <a:ext cx="7648788" cy="4572000"/>
          </a:xfrm>
          <a:prstGeom prst="rect">
            <a:avLst/>
          </a:prstGeom>
          <a:ln w="12700">
            <a:solidFill>
              <a:srgbClr val="CBD5E1"/>
            </a:solidFill>
          </a:ln>
        </p:spPr>
      </p:pic>
      <p:sp>
        <p:nvSpPr>
          <p:cNvPr id="5" name="TextBox 4"/>
          <p:cNvSpPr txBox="1"/>
          <p:nvPr/>
        </p:nvSpPr>
        <p:spPr>
          <a:xfrm>
            <a:off x="1783080" y="5715000"/>
            <a:ext cx="10012680" cy="54864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P1</a:t>
            </a:r>
            <a:r>
              <a:rPr sz="1400" b="0" i="0">
                <a:solidFill>
                  <a:srgbClr val="111827"/>
                </a:solidFill>
                <a:latin typeface="Times New Roman"/>
              </a:rPr>
              <a:t> simulate → MQTT broker </a:t>
            </a:r>
            <a:r>
              <a:rPr sz="1400" b="1" i="0">
                <a:solidFill>
                  <a:srgbClr val="111827"/>
                </a:solidFill>
                <a:latin typeface="Times New Roman"/>
              </a:rPr>
              <a:t>D3</a:t>
            </a:r>
            <a:r>
              <a:rPr sz="1400" b="0" i="0">
                <a:solidFill>
                  <a:srgbClr val="111827"/>
                </a:solidFill>
                <a:latin typeface="Times New Roman"/>
              </a:rPr>
              <a:t> → </a:t>
            </a:r>
            <a:r>
              <a:rPr sz="1400" b="1" i="0">
                <a:solidFill>
                  <a:srgbClr val="111827"/>
                </a:solidFill>
                <a:latin typeface="Times New Roman"/>
              </a:rPr>
              <a:t>P2</a:t>
            </a:r>
            <a:r>
              <a:rPr sz="1400" b="0" i="0">
                <a:solidFill>
                  <a:srgbClr val="111827"/>
                </a:solidFill>
                <a:latin typeface="Times New Roman"/>
              </a:rPr>
              <a:t> validate + store in InfluxDB </a:t>
            </a:r>
            <a:r>
              <a:rPr sz="1400" b="1" i="0">
                <a:solidFill>
                  <a:srgbClr val="111827"/>
                </a:solidFill>
                <a:latin typeface="Times New Roman"/>
              </a:rPr>
              <a:t>D1</a:t>
            </a:r>
            <a:r>
              <a:rPr sz="1400" b="0" i="0">
                <a:solidFill>
                  <a:srgbClr val="111827"/>
                </a:solidFill>
                <a:latin typeface="Times New Roman"/>
              </a:rPr>
              <a:t> → </a:t>
            </a:r>
            <a:r>
              <a:rPr sz="1400" b="1" i="0">
                <a:solidFill>
                  <a:srgbClr val="111827"/>
                </a:solidFill>
                <a:latin typeface="Times New Roman"/>
              </a:rPr>
              <a:t>P3</a:t>
            </a:r>
            <a:r>
              <a:rPr sz="1400" b="0" i="0">
                <a:solidFill>
                  <a:srgbClr val="111827"/>
                </a:solidFill>
                <a:latin typeface="Times New Roman"/>
              </a:rPr>
              <a:t> OEE · </a:t>
            </a:r>
            <a:r>
              <a:rPr sz="1400" b="1" i="0">
                <a:solidFill>
                  <a:srgbClr val="111827"/>
                </a:solidFill>
                <a:latin typeface="Times New Roman"/>
              </a:rPr>
              <a:t>P4</a:t>
            </a:r>
            <a:r>
              <a:rPr sz="1400" b="0" i="0">
                <a:solidFill>
                  <a:srgbClr val="111827"/>
                </a:solidFill>
                <a:latin typeface="Times New Roman"/>
              </a:rPr>
              <a:t> rules (Red) · </a:t>
            </a:r>
            <a:r>
              <a:rPr sz="1400" b="1" i="0">
                <a:solidFill>
                  <a:srgbClr val="111827"/>
                </a:solidFill>
                <a:latin typeface="Times New Roman"/>
              </a:rPr>
              <a:t>P5</a:t>
            </a:r>
            <a:r>
              <a:rPr sz="1400" b="0" i="0">
                <a:solidFill>
                  <a:srgbClr val="111827"/>
                </a:solidFill>
                <a:latin typeface="Times New Roman"/>
              </a:rPr>
              <a:t> ML (Yellow) → </a:t>
            </a:r>
            <a:r>
              <a:rPr sz="1400" b="1" i="0">
                <a:solidFill>
                  <a:srgbClr val="111827"/>
                </a:solidFill>
                <a:latin typeface="Times New Roman"/>
              </a:rPr>
              <a:t>P6</a:t>
            </a:r>
            <a:r>
              <a:rPr sz="1400" b="0" i="0">
                <a:solidFill>
                  <a:srgbClr val="111827"/>
                </a:solidFill>
                <a:latin typeface="Times New Roman"/>
              </a:rPr>
              <a:t> dashboard · </a:t>
            </a:r>
            <a:r>
              <a:rPr sz="1400" b="1" i="0">
                <a:solidFill>
                  <a:srgbClr val="111827"/>
                </a:solidFill>
                <a:latin typeface="Times New Roman"/>
              </a:rPr>
              <a:t>P7</a:t>
            </a:r>
            <a:r>
              <a:rPr sz="1400" b="0" i="0">
                <a:solidFill>
                  <a:srgbClr val="111827"/>
                </a:solidFill>
                <a:latin typeface="Times New Roman"/>
              </a:rPr>
              <a:t> maintenance &amp; feedback in PostgreSQL </a:t>
            </a:r>
            <a:r>
              <a:rPr sz="1400" b="1" i="0">
                <a:solidFill>
                  <a:srgbClr val="111827"/>
                </a:solidFill>
                <a:latin typeface="Times New Roman"/>
              </a:rPr>
              <a:t>D2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UML – Class Diagram: 12 Domain Classes (SRS §8.3)</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pic>
        <p:nvPicPr>
          <p:cNvPr id="4" name="Picture 3" descr="class_diagram.png"/>
          <p:cNvPicPr>
            <a:picLocks noChangeAspect="1"/>
          </p:cNvPicPr>
          <p:nvPr/>
        </p:nvPicPr>
        <p:blipFill>
          <a:blip r:embed="rId3"/>
          <a:stretch>
            <a:fillRect/>
          </a:stretch>
        </p:blipFill>
        <p:spPr>
          <a:xfrm>
            <a:off x="1783080" y="1005840"/>
            <a:ext cx="6858000" cy="4921558"/>
          </a:xfrm>
          <a:prstGeom prst="rect">
            <a:avLst/>
          </a:prstGeom>
          <a:ln w="12700">
            <a:solidFill>
              <a:srgbClr val="CBD5E1"/>
            </a:solidFill>
          </a:ln>
        </p:spPr>
      </p:pic>
      <p:sp>
        <p:nvSpPr>
          <p:cNvPr id="5" name="TextBox 4"/>
          <p:cNvSpPr txBox="1"/>
          <p:nvPr/>
        </p:nvSpPr>
        <p:spPr>
          <a:xfrm>
            <a:off x="1783080" y="6035040"/>
            <a:ext cx="6858000" cy="256032"/>
          </a:xfrm>
          <a:prstGeom prst="rect">
            <a:avLst/>
          </a:prstGeom>
          <a:noFill/>
        </p:spPr>
        <p:txBody>
          <a:bodyPr wrap="square" lIns="0" rIns="0" tIns="0" bIns="0" anchor="t">
            <a:noAutofit/>
          </a:bodyPr>
          <a:lstStyle/>
          <a:p>
            <a:pPr algn="l">
              <a:spcBef>
                <a:spcPts val="0"/>
              </a:spcBef>
              <a:spcAft>
                <a:spcPts val="0"/>
              </a:spcAft>
            </a:pPr>
            <a:r>
              <a:rPr sz="1200" b="0" i="1">
                <a:solidFill>
                  <a:srgbClr val="475569"/>
                </a:solidFill>
                <a:latin typeface="Times New Roman"/>
              </a:rPr>
              <a:t>Source: SRS §8.3 / §9.1 – class diagram</a:t>
            </a:r>
          </a:p>
        </p:txBody>
      </p:sp>
      <p:sp>
        <p:nvSpPr>
          <p:cNvPr id="6" name="Rounded Rectangle 5"/>
          <p:cNvSpPr/>
          <p:nvPr/>
        </p:nvSpPr>
        <p:spPr>
          <a:xfrm>
            <a:off x="8869680" y="1005840"/>
            <a:ext cx="2926079" cy="5303520"/>
          </a:xfrm>
          <a:prstGeom prst="roundRect">
            <a:avLst>
              <a:gd name="adj" fmla="val 4375"/>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7" name="TextBox 6"/>
          <p:cNvSpPr txBox="1"/>
          <p:nvPr/>
        </p:nvSpPr>
        <p:spPr>
          <a:xfrm>
            <a:off x="9034272" y="1133856"/>
            <a:ext cx="2596895" cy="5084064"/>
          </a:xfrm>
          <a:prstGeom prst="rect">
            <a:avLst/>
          </a:prstGeom>
          <a:noFill/>
        </p:spPr>
        <p:txBody>
          <a:bodyPr wrap="square" lIns="0" rIns="0" tIns="0" bIns="0" anchor="t">
            <a:noAutofit/>
          </a:bodyPr>
          <a:lstStyle/>
          <a:p>
            <a:pPr algn="l">
              <a:spcBef>
                <a:spcPts val="0"/>
              </a:spcBef>
              <a:spcAft>
                <a:spcPts val="600"/>
              </a:spcAft>
            </a:pPr>
            <a:r>
              <a:rPr sz="1700" b="1" i="0">
                <a:solidFill>
                  <a:srgbClr val="111827"/>
                </a:solidFill>
                <a:latin typeface="Times New Roman"/>
              </a:rPr>
              <a:t>How to read it</a:t>
            </a:r>
          </a:p>
          <a:p>
            <a:pPr algn="l" marL="201168" indent="-201168">
              <a:spcBef>
                <a:spcPts val="0"/>
              </a:spcBef>
              <a:spcAft>
                <a:spcPts val="900"/>
              </a:spcAft>
              <a:buFont typeface="Arial"/>
              <a:buChar char="•"/>
            </a:pPr>
            <a:r>
              <a:rPr sz="1400" b="1" i="0">
                <a:solidFill>
                  <a:srgbClr val="111827"/>
                </a:solidFill>
                <a:latin typeface="Times New Roman"/>
              </a:rPr>
              <a:t>Simulator</a:t>
            </a:r>
            <a:r>
              <a:rPr sz="1400" b="0" i="0">
                <a:solidFill>
                  <a:srgbClr val="111827"/>
                </a:solidFill>
                <a:latin typeface="Times New Roman"/>
              </a:rPr>
              <a:t> creates 1..* </a:t>
            </a:r>
            <a:r>
              <a:rPr sz="1400" b="1" i="0">
                <a:solidFill>
                  <a:srgbClr val="111827"/>
                </a:solidFill>
                <a:latin typeface="Times New Roman"/>
              </a:rPr>
              <a:t>Machines</a:t>
            </a:r>
          </a:p>
          <a:p>
            <a:pPr algn="l" marL="201168" indent="-201168">
              <a:spcBef>
                <a:spcPts val="0"/>
              </a:spcBef>
              <a:spcAft>
                <a:spcPts val="900"/>
              </a:spcAft>
              <a:buFont typeface="Arial"/>
              <a:buChar char="•"/>
            </a:pPr>
            <a:r>
              <a:rPr sz="1400" b="0" i="0">
                <a:solidFill>
                  <a:srgbClr val="111827"/>
                </a:solidFill>
                <a:latin typeface="Times New Roman"/>
              </a:rPr>
              <a:t>A </a:t>
            </a:r>
            <a:r>
              <a:rPr sz="1400" b="1" i="0">
                <a:solidFill>
                  <a:srgbClr val="111827"/>
                </a:solidFill>
                <a:latin typeface="Times New Roman"/>
              </a:rPr>
              <a:t>Machine</a:t>
            </a:r>
            <a:r>
              <a:rPr sz="1400" b="0" i="0">
                <a:solidFill>
                  <a:srgbClr val="111827"/>
                </a:solidFill>
                <a:latin typeface="Times New Roman"/>
              </a:rPr>
              <a:t> has 0..* </a:t>
            </a:r>
            <a:r>
              <a:rPr sz="1400" b="1" i="0">
                <a:solidFill>
                  <a:srgbClr val="111827"/>
                </a:solidFill>
                <a:latin typeface="Times New Roman"/>
              </a:rPr>
              <a:t>TelemetryData</a:t>
            </a:r>
            <a:r>
              <a:rPr sz="1400" b="0" i="0">
                <a:solidFill>
                  <a:srgbClr val="111827"/>
                </a:solidFill>
                <a:latin typeface="Times New Roman"/>
              </a:rPr>
              <a:t>, </a:t>
            </a:r>
            <a:r>
              <a:rPr sz="1400" b="1" i="0">
                <a:solidFill>
                  <a:srgbClr val="111827"/>
                </a:solidFill>
                <a:latin typeface="Times New Roman"/>
              </a:rPr>
              <a:t>Alerts</a:t>
            </a:r>
            <a:r>
              <a:rPr sz="1400" b="0" i="0">
                <a:solidFill>
                  <a:srgbClr val="111827"/>
                </a:solidFill>
                <a:latin typeface="Times New Roman"/>
              </a:rPr>
              <a:t> and </a:t>
            </a:r>
            <a:r>
              <a:rPr sz="1400" b="1" i="0">
                <a:solidFill>
                  <a:srgbClr val="111827"/>
                </a:solidFill>
                <a:latin typeface="Times New Roman"/>
              </a:rPr>
              <a:t>OEE</a:t>
            </a:r>
            <a:r>
              <a:rPr sz="1400" b="0" i="0">
                <a:solidFill>
                  <a:srgbClr val="111827"/>
                </a:solidFill>
                <a:latin typeface="Times New Roman"/>
              </a:rPr>
              <a:t> records</a:t>
            </a:r>
          </a:p>
          <a:p>
            <a:pPr algn="l" marL="201168" indent="-201168">
              <a:spcBef>
                <a:spcPts val="0"/>
              </a:spcBef>
              <a:spcAft>
                <a:spcPts val="900"/>
              </a:spcAft>
              <a:buFont typeface="Arial"/>
              <a:buChar char="•"/>
            </a:pPr>
            <a:r>
              <a:rPr sz="1400" b="1" i="0">
                <a:solidFill>
                  <a:srgbClr val="111827"/>
                </a:solidFill>
                <a:latin typeface="Times New Roman"/>
              </a:rPr>
              <a:t>RuleEngine</a:t>
            </a:r>
            <a:r>
              <a:rPr sz="1400" b="0" i="0">
                <a:solidFill>
                  <a:srgbClr val="111827"/>
                </a:solidFill>
                <a:latin typeface="Times New Roman"/>
              </a:rPr>
              <a:t> and </a:t>
            </a:r>
            <a:r>
              <a:rPr sz="1400" b="1" i="0">
                <a:solidFill>
                  <a:srgbClr val="111827"/>
                </a:solidFill>
                <a:latin typeface="Times New Roman"/>
              </a:rPr>
              <a:t>MLAnomalyScorer</a:t>
            </a:r>
            <a:r>
              <a:rPr sz="1400" b="0" i="0">
                <a:solidFill>
                  <a:srgbClr val="111827"/>
                </a:solidFill>
                <a:latin typeface="Times New Roman"/>
              </a:rPr>
              <a:t> raise </a:t>
            </a:r>
            <a:r>
              <a:rPr sz="1400" b="1" i="0">
                <a:solidFill>
                  <a:srgbClr val="111827"/>
                </a:solidFill>
                <a:latin typeface="Times New Roman"/>
              </a:rPr>
              <a:t>Alerts</a:t>
            </a:r>
            <a:r>
              <a:rPr sz="1400" b="0" i="0">
                <a:solidFill>
                  <a:srgbClr val="111827"/>
                </a:solidFill>
                <a:latin typeface="Times New Roman"/>
              </a:rPr>
              <a:t>; </a:t>
            </a:r>
            <a:r>
              <a:rPr sz="1400" b="1" i="0">
                <a:solidFill>
                  <a:srgbClr val="111827"/>
                </a:solidFill>
                <a:latin typeface="Times New Roman"/>
              </a:rPr>
              <a:t>OEEEngine</a:t>
            </a:r>
            <a:r>
              <a:rPr sz="1400" b="0" i="0">
                <a:solidFill>
                  <a:srgbClr val="111827"/>
                </a:solidFill>
                <a:latin typeface="Times New Roman"/>
              </a:rPr>
              <a:t> produces </a:t>
            </a:r>
            <a:r>
              <a:rPr sz="1400" b="1" i="0">
                <a:solidFill>
                  <a:srgbClr val="111827"/>
                </a:solidFill>
                <a:latin typeface="Times New Roman"/>
              </a:rPr>
              <a:t>OEE</a:t>
            </a:r>
          </a:p>
          <a:p>
            <a:pPr algn="l" marL="201168" indent="-201168">
              <a:spcBef>
                <a:spcPts val="0"/>
              </a:spcBef>
              <a:spcAft>
                <a:spcPts val="900"/>
              </a:spcAft>
              <a:buFont typeface="Arial"/>
              <a:buChar char="•"/>
            </a:pPr>
            <a:r>
              <a:rPr sz="1400" b="0" i="0">
                <a:solidFill>
                  <a:srgbClr val="111827"/>
                </a:solidFill>
                <a:latin typeface="Times New Roman"/>
              </a:rPr>
              <a:t>An </a:t>
            </a:r>
            <a:r>
              <a:rPr sz="1400" b="1" i="0">
                <a:solidFill>
                  <a:srgbClr val="111827"/>
                </a:solidFill>
                <a:latin typeface="Times New Roman"/>
              </a:rPr>
              <a:t>Alert</a:t>
            </a:r>
            <a:r>
              <a:rPr sz="1400" b="0" i="0">
                <a:solidFill>
                  <a:srgbClr val="111827"/>
                </a:solidFill>
                <a:latin typeface="Times New Roman"/>
              </a:rPr>
              <a:t> composes 0..* </a:t>
            </a:r>
            <a:r>
              <a:rPr sz="1400" b="1" i="0">
                <a:solidFill>
                  <a:srgbClr val="111827"/>
                </a:solidFill>
                <a:latin typeface="Times New Roman"/>
              </a:rPr>
              <a:t>MaintenanceRecords</a:t>
            </a:r>
            <a:r>
              <a:rPr sz="1400" b="0" i="0">
                <a:solidFill>
                  <a:srgbClr val="111827"/>
                </a:solidFill>
                <a:latin typeface="Times New Roman"/>
              </a:rPr>
              <a:t> and has 0..1 </a:t>
            </a:r>
            <a:r>
              <a:rPr sz="1400" b="1" i="0">
                <a:solidFill>
                  <a:srgbClr val="111827"/>
                </a:solidFill>
                <a:latin typeface="Times New Roman"/>
              </a:rPr>
              <a:t>MLAccuracyFeedback</a:t>
            </a:r>
          </a:p>
          <a:p>
            <a:pPr algn="l" marL="201168" indent="-201168">
              <a:spcBef>
                <a:spcPts val="0"/>
              </a:spcBef>
              <a:spcAft>
                <a:spcPts val="900"/>
              </a:spcAft>
              <a:buFont typeface="Arial"/>
              <a:buChar char="•"/>
            </a:pPr>
            <a:r>
              <a:rPr sz="1400" b="0" i="0">
                <a:solidFill>
                  <a:srgbClr val="111827"/>
                </a:solidFill>
                <a:latin typeface="Times New Roman"/>
              </a:rPr>
              <a:t>A </a:t>
            </a:r>
            <a:r>
              <a:rPr sz="1400" b="1" i="0">
                <a:solidFill>
                  <a:srgbClr val="111827"/>
                </a:solidFill>
                <a:latin typeface="Times New Roman"/>
              </a:rPr>
              <a:t>User</a:t>
            </a:r>
            <a:r>
              <a:rPr sz="1400" b="0" i="0">
                <a:solidFill>
                  <a:srgbClr val="111827"/>
                </a:solidFill>
                <a:latin typeface="Times New Roman"/>
              </a:rPr>
              <a:t> works with maintenance records and feedback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UML – Sequence Diagram (SRS §9.2)</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pic>
        <p:nvPicPr>
          <p:cNvPr id="4" name="Picture 3" descr="sequence.png"/>
          <p:cNvPicPr>
            <a:picLocks noChangeAspect="1"/>
          </p:cNvPicPr>
          <p:nvPr/>
        </p:nvPicPr>
        <p:blipFill>
          <a:blip r:embed="rId3"/>
          <a:stretch>
            <a:fillRect/>
          </a:stretch>
        </p:blipFill>
        <p:spPr>
          <a:xfrm>
            <a:off x="2756715" y="1005840"/>
            <a:ext cx="4910728" cy="4983480"/>
          </a:xfrm>
          <a:prstGeom prst="rect">
            <a:avLst/>
          </a:prstGeom>
          <a:ln w="12700">
            <a:solidFill>
              <a:srgbClr val="CBD5E1"/>
            </a:solidFill>
          </a:ln>
        </p:spPr>
      </p:pic>
      <p:sp>
        <p:nvSpPr>
          <p:cNvPr id="5" name="TextBox 4"/>
          <p:cNvSpPr txBox="1"/>
          <p:nvPr/>
        </p:nvSpPr>
        <p:spPr>
          <a:xfrm>
            <a:off x="1783080" y="6035040"/>
            <a:ext cx="6858000" cy="256032"/>
          </a:xfrm>
          <a:prstGeom prst="rect">
            <a:avLst/>
          </a:prstGeom>
          <a:noFill/>
        </p:spPr>
        <p:txBody>
          <a:bodyPr wrap="square" lIns="0" rIns="0" tIns="0" bIns="0" anchor="t">
            <a:noAutofit/>
          </a:bodyPr>
          <a:lstStyle/>
          <a:p>
            <a:pPr algn="l">
              <a:spcBef>
                <a:spcPts val="0"/>
              </a:spcBef>
              <a:spcAft>
                <a:spcPts val="0"/>
              </a:spcAft>
            </a:pPr>
            <a:r>
              <a:rPr sz="1200" b="0" i="1">
                <a:solidFill>
                  <a:srgbClr val="475569"/>
                </a:solidFill>
                <a:latin typeface="Times New Roman"/>
              </a:rPr>
              <a:t>Source: SRS §9.2 – sequence diagram</a:t>
            </a:r>
          </a:p>
        </p:txBody>
      </p:sp>
      <p:sp>
        <p:nvSpPr>
          <p:cNvPr id="6" name="Rounded Rectangle 5"/>
          <p:cNvSpPr/>
          <p:nvPr/>
        </p:nvSpPr>
        <p:spPr>
          <a:xfrm>
            <a:off x="8869680" y="1005840"/>
            <a:ext cx="2926079" cy="5303520"/>
          </a:xfrm>
          <a:prstGeom prst="roundRect">
            <a:avLst>
              <a:gd name="adj" fmla="val 4375"/>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7" name="TextBox 6"/>
          <p:cNvSpPr txBox="1"/>
          <p:nvPr/>
        </p:nvSpPr>
        <p:spPr>
          <a:xfrm>
            <a:off x="9034272" y="1133856"/>
            <a:ext cx="2596895" cy="5084064"/>
          </a:xfrm>
          <a:prstGeom prst="rect">
            <a:avLst/>
          </a:prstGeom>
          <a:noFill/>
        </p:spPr>
        <p:txBody>
          <a:bodyPr wrap="square" lIns="0" rIns="0" tIns="0" bIns="0" anchor="t">
            <a:noAutofit/>
          </a:bodyPr>
          <a:lstStyle/>
          <a:p>
            <a:pPr algn="l">
              <a:spcBef>
                <a:spcPts val="0"/>
              </a:spcBef>
              <a:spcAft>
                <a:spcPts val="600"/>
              </a:spcAft>
            </a:pPr>
            <a:r>
              <a:rPr sz="1700" b="1" i="0">
                <a:solidFill>
                  <a:srgbClr val="111827"/>
                </a:solidFill>
                <a:latin typeface="Times New Roman"/>
              </a:rPr>
              <a:t>How to read it</a:t>
            </a:r>
          </a:p>
          <a:p>
            <a:pPr algn="l" marL="201168" indent="-201168">
              <a:spcBef>
                <a:spcPts val="0"/>
              </a:spcBef>
              <a:spcAft>
                <a:spcPts val="900"/>
              </a:spcAft>
              <a:buFont typeface="Arial"/>
              <a:buChar char="•"/>
            </a:pPr>
            <a:r>
              <a:rPr sz="1400" b="1" i="0">
                <a:solidFill>
                  <a:srgbClr val="111827"/>
                </a:solidFill>
                <a:latin typeface="Times New Roman"/>
              </a:rPr>
              <a:t>Steps 1 – 6:</a:t>
            </a:r>
            <a:r>
              <a:rPr sz="1400" b="0" i="0">
                <a:solidFill>
                  <a:srgbClr val="111827"/>
                </a:solidFill>
                <a:latin typeface="Times New Roman"/>
              </a:rPr>
              <a:t> open the dashboard and log in</a:t>
            </a:r>
          </a:p>
          <a:p>
            <a:pPr algn="l" marL="201168" indent="-201168">
              <a:spcBef>
                <a:spcPts val="0"/>
              </a:spcBef>
              <a:spcAft>
                <a:spcPts val="900"/>
              </a:spcAft>
              <a:buFont typeface="Arial"/>
              <a:buChar char="•"/>
            </a:pPr>
            <a:r>
              <a:rPr sz="1400" b="1" i="0">
                <a:solidFill>
                  <a:srgbClr val="111827"/>
                </a:solidFill>
                <a:latin typeface="Times New Roman"/>
              </a:rPr>
              <a:t>Steps 7 – 14:</a:t>
            </a:r>
            <a:r>
              <a:rPr sz="1400" b="0" i="0">
                <a:solidFill>
                  <a:srgbClr val="111827"/>
                </a:solidFill>
                <a:latin typeface="Times New Roman"/>
              </a:rPr>
              <a:t> repeat every </a:t>
            </a:r>
            <a:r>
              <a:rPr sz="1400" b="1" i="0">
                <a:solidFill>
                  <a:srgbClr val="111827"/>
                </a:solidFill>
                <a:latin typeface="Times New Roman"/>
              </a:rPr>
              <a:t>500 ms</a:t>
            </a:r>
            <a:r>
              <a:rPr sz="1400" b="0" i="0">
                <a:solidFill>
                  <a:srgbClr val="111827"/>
                </a:solidFill>
                <a:latin typeface="Times New Roman"/>
              </a:rPr>
              <a:t> – publish telemetry, validate, calculate OEE, ask the ML service for a score, save, push a live update</a:t>
            </a:r>
          </a:p>
          <a:p>
            <a:pPr algn="l" marL="201168" indent="-201168">
              <a:spcBef>
                <a:spcPts val="0"/>
              </a:spcBef>
              <a:spcAft>
                <a:spcPts val="900"/>
              </a:spcAft>
              <a:buFont typeface="Arial"/>
              <a:buChar char="•"/>
            </a:pPr>
            <a:r>
              <a:rPr sz="1400" b="1" i="0">
                <a:solidFill>
                  <a:srgbClr val="111827"/>
                </a:solidFill>
                <a:latin typeface="Times New Roman"/>
              </a:rPr>
              <a:t>Steps 15 – 20:</a:t>
            </a:r>
            <a:r>
              <a:rPr sz="1400" b="0" i="0">
                <a:solidFill>
                  <a:srgbClr val="111827"/>
                </a:solidFill>
                <a:latin typeface="Times New Roman"/>
              </a:rPr>
              <a:t> an authenticated user acknowledges an alert and logs maintenance; the alert is marked In Progress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Implementation – Dashboard Screens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pic>
        <p:nvPicPr>
          <p:cNvPr id="4" name="Picture 3" descr="ov.png"/>
          <p:cNvPicPr>
            <a:picLocks noChangeAspect="1"/>
          </p:cNvPicPr>
          <p:nvPr/>
        </p:nvPicPr>
        <p:blipFill>
          <a:blip r:embed="rId3"/>
          <a:stretch>
            <a:fillRect/>
          </a:stretch>
        </p:blipFill>
        <p:spPr>
          <a:xfrm>
            <a:off x="1783080" y="1005840"/>
            <a:ext cx="4754880" cy="2245360"/>
          </a:xfrm>
          <a:prstGeom prst="rect">
            <a:avLst/>
          </a:prstGeom>
          <a:ln w="12700">
            <a:solidFill>
              <a:srgbClr val="CBD5E1"/>
            </a:solidFill>
          </a:ln>
        </p:spPr>
      </p:pic>
      <p:sp>
        <p:nvSpPr>
          <p:cNvPr id="5" name="TextBox 4"/>
          <p:cNvSpPr txBox="1"/>
          <p:nvPr/>
        </p:nvSpPr>
        <p:spPr>
          <a:xfrm>
            <a:off x="1783080" y="3306064"/>
            <a:ext cx="4754880" cy="256032"/>
          </a:xfrm>
          <a:prstGeom prst="rect">
            <a:avLst/>
          </a:prstGeom>
          <a:noFill/>
        </p:spPr>
        <p:txBody>
          <a:bodyPr wrap="square" lIns="0" rIns="0" tIns="0" bIns="0" anchor="t">
            <a:noAutofit/>
          </a:bodyPr>
          <a:lstStyle/>
          <a:p>
            <a:pPr algn="ctr">
              <a:spcBef>
                <a:spcPts val="0"/>
              </a:spcBef>
              <a:spcAft>
                <a:spcPts val="0"/>
              </a:spcAft>
            </a:pPr>
            <a:r>
              <a:rPr sz="1400" b="0" i="0">
                <a:solidFill>
                  <a:srgbClr val="475569"/>
                </a:solidFill>
                <a:latin typeface="Times New Roman"/>
              </a:rPr>
              <a:t>Plant overview: OEE gauge, A / P / Q, KPIs</a:t>
            </a:r>
          </a:p>
        </p:txBody>
      </p:sp>
      <p:pic>
        <p:nvPicPr>
          <p:cNvPr id="6" name="Picture 5" descr="ma.png"/>
          <p:cNvPicPr>
            <a:picLocks noChangeAspect="1"/>
          </p:cNvPicPr>
          <p:nvPr/>
        </p:nvPicPr>
        <p:blipFill>
          <a:blip r:embed="rId4"/>
          <a:stretch>
            <a:fillRect/>
          </a:stretch>
        </p:blipFill>
        <p:spPr>
          <a:xfrm>
            <a:off x="7040879" y="1005840"/>
            <a:ext cx="4754880" cy="2245360"/>
          </a:xfrm>
          <a:prstGeom prst="rect">
            <a:avLst/>
          </a:prstGeom>
          <a:ln w="12700">
            <a:solidFill>
              <a:srgbClr val="CBD5E1"/>
            </a:solidFill>
          </a:ln>
        </p:spPr>
      </p:pic>
      <p:sp>
        <p:nvSpPr>
          <p:cNvPr id="7" name="TextBox 6"/>
          <p:cNvSpPr txBox="1"/>
          <p:nvPr/>
        </p:nvSpPr>
        <p:spPr>
          <a:xfrm>
            <a:off x="7040879" y="3306064"/>
            <a:ext cx="4754880" cy="256032"/>
          </a:xfrm>
          <a:prstGeom prst="rect">
            <a:avLst/>
          </a:prstGeom>
          <a:noFill/>
        </p:spPr>
        <p:txBody>
          <a:bodyPr wrap="square" lIns="0" rIns="0" tIns="0" bIns="0" anchor="t">
            <a:noAutofit/>
          </a:bodyPr>
          <a:lstStyle/>
          <a:p>
            <a:pPr algn="ctr">
              <a:spcBef>
                <a:spcPts val="0"/>
              </a:spcBef>
              <a:spcAft>
                <a:spcPts val="0"/>
              </a:spcAft>
            </a:pPr>
            <a:r>
              <a:rPr sz="1400" b="0" i="0">
                <a:solidFill>
                  <a:srgbClr val="475569"/>
                </a:solidFill>
                <a:latin typeface="Times New Roman"/>
              </a:rPr>
              <a:t>Machine grid: Red · Orange (ETA) · Green</a:t>
            </a:r>
          </a:p>
        </p:txBody>
      </p:sp>
      <p:pic>
        <p:nvPicPr>
          <p:cNvPr id="8" name="Picture 7" descr="det.png"/>
          <p:cNvPicPr>
            <a:picLocks noChangeAspect="1"/>
          </p:cNvPicPr>
          <p:nvPr/>
        </p:nvPicPr>
        <p:blipFill>
          <a:blip r:embed="rId5"/>
          <a:stretch>
            <a:fillRect/>
          </a:stretch>
        </p:blipFill>
        <p:spPr>
          <a:xfrm>
            <a:off x="1783080" y="3763264"/>
            <a:ext cx="4754880" cy="2245360"/>
          </a:xfrm>
          <a:prstGeom prst="rect">
            <a:avLst/>
          </a:prstGeom>
          <a:ln w="12700">
            <a:solidFill>
              <a:srgbClr val="CBD5E1"/>
            </a:solidFill>
          </a:ln>
        </p:spPr>
      </p:pic>
      <p:sp>
        <p:nvSpPr>
          <p:cNvPr id="9" name="TextBox 8"/>
          <p:cNvSpPr txBox="1"/>
          <p:nvPr/>
        </p:nvSpPr>
        <p:spPr>
          <a:xfrm>
            <a:off x="1783080" y="6063488"/>
            <a:ext cx="4754880" cy="256032"/>
          </a:xfrm>
          <a:prstGeom prst="rect">
            <a:avLst/>
          </a:prstGeom>
          <a:noFill/>
        </p:spPr>
        <p:txBody>
          <a:bodyPr wrap="square" lIns="0" rIns="0" tIns="0" bIns="0" anchor="t">
            <a:noAutofit/>
          </a:bodyPr>
          <a:lstStyle/>
          <a:p>
            <a:pPr algn="ctr">
              <a:spcBef>
                <a:spcPts val="0"/>
              </a:spcBef>
              <a:spcAft>
                <a:spcPts val="0"/>
              </a:spcAft>
            </a:pPr>
            <a:r>
              <a:rPr sz="1400" b="0" i="0">
                <a:solidFill>
                  <a:srgbClr val="475569"/>
                </a:solidFill>
                <a:latin typeface="Times New Roman"/>
              </a:rPr>
              <a:t>Machine detail with What-If regression</a:t>
            </a:r>
          </a:p>
        </p:txBody>
      </p:sp>
      <p:pic>
        <p:nvPicPr>
          <p:cNvPr id="10" name="Picture 9" descr="al.png"/>
          <p:cNvPicPr>
            <a:picLocks noChangeAspect="1"/>
          </p:cNvPicPr>
          <p:nvPr/>
        </p:nvPicPr>
        <p:blipFill>
          <a:blip r:embed="rId6"/>
          <a:stretch>
            <a:fillRect/>
          </a:stretch>
        </p:blipFill>
        <p:spPr>
          <a:xfrm>
            <a:off x="7040879" y="3763264"/>
            <a:ext cx="4754880" cy="2245360"/>
          </a:xfrm>
          <a:prstGeom prst="rect">
            <a:avLst/>
          </a:prstGeom>
          <a:ln w="12700">
            <a:solidFill>
              <a:srgbClr val="CBD5E1"/>
            </a:solidFill>
          </a:ln>
        </p:spPr>
      </p:pic>
      <p:sp>
        <p:nvSpPr>
          <p:cNvPr id="11" name="TextBox 10"/>
          <p:cNvSpPr txBox="1"/>
          <p:nvPr/>
        </p:nvSpPr>
        <p:spPr>
          <a:xfrm>
            <a:off x="7040879" y="6063488"/>
            <a:ext cx="4754880" cy="256032"/>
          </a:xfrm>
          <a:prstGeom prst="rect">
            <a:avLst/>
          </a:prstGeom>
          <a:noFill/>
        </p:spPr>
        <p:txBody>
          <a:bodyPr wrap="square" lIns="0" rIns="0" tIns="0" bIns="0" anchor="t">
            <a:noAutofit/>
          </a:bodyPr>
          <a:lstStyle/>
          <a:p>
            <a:pPr algn="ctr">
              <a:spcBef>
                <a:spcPts val="0"/>
              </a:spcBef>
              <a:spcAft>
                <a:spcPts val="0"/>
              </a:spcAft>
            </a:pPr>
            <a:r>
              <a:rPr sz="1400" b="0" i="0">
                <a:solidFill>
                  <a:srgbClr val="475569"/>
                </a:solidFill>
                <a:latin typeface="Times New Roman"/>
              </a:rPr>
              <a:t>Alert centre: acknowledge · assign · feedback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Live Demo – Seven Steps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97280"/>
            <a:ext cx="2228850" cy="2331720"/>
          </a:xfrm>
          <a:prstGeom prst="roundRect">
            <a:avLst>
              <a:gd name="adj" fmla="val 4923"/>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Oval 4"/>
          <p:cNvSpPr/>
          <p:nvPr/>
        </p:nvSpPr>
        <p:spPr>
          <a:xfrm>
            <a:off x="1920240" y="1252728"/>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1</a:t>
            </a:r>
          </a:p>
        </p:txBody>
      </p:sp>
      <p:sp>
        <p:nvSpPr>
          <p:cNvPr id="6" name="TextBox 5"/>
          <p:cNvSpPr txBox="1"/>
          <p:nvPr/>
        </p:nvSpPr>
        <p:spPr>
          <a:xfrm>
            <a:off x="2514600" y="1234439"/>
            <a:ext cx="1360170" cy="502920"/>
          </a:xfrm>
          <a:prstGeom prst="rect">
            <a:avLst/>
          </a:prstGeom>
          <a:noFill/>
        </p:spPr>
        <p:txBody>
          <a:bodyPr wrap="square" lIns="0" rIns="0" tIns="0" bIns="0" anchor="ctr">
            <a:noAutofit/>
          </a:bodyPr>
          <a:lstStyle/>
          <a:p>
            <a:pPr algn="l">
              <a:spcBef>
                <a:spcPts val="0"/>
              </a:spcBef>
              <a:spcAft>
                <a:spcPts val="0"/>
              </a:spcAft>
            </a:pPr>
            <a:r>
              <a:rPr sz="1600" b="1" i="0">
                <a:solidFill>
                  <a:srgbClr val="111827"/>
                </a:solidFill>
                <a:latin typeface="Times New Roman"/>
              </a:rPr>
              <a:t>Sign in</a:t>
            </a:r>
          </a:p>
        </p:txBody>
      </p:sp>
      <p:sp>
        <p:nvSpPr>
          <p:cNvPr id="7" name="TextBox 6"/>
          <p:cNvSpPr txBox="1"/>
          <p:nvPr/>
        </p:nvSpPr>
        <p:spPr>
          <a:xfrm>
            <a:off x="1965960" y="1965960"/>
            <a:ext cx="1863090"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Open </a:t>
            </a:r>
            <a:r>
              <a:rPr sz="1400" b="1" i="0">
                <a:solidFill>
                  <a:srgbClr val="111827"/>
                </a:solidFill>
                <a:latin typeface="Times New Roman"/>
              </a:rPr>
              <a:t>Control</a:t>
            </a:r>
            <a:r>
              <a:rPr sz="1400" b="0" i="0">
                <a:solidFill>
                  <a:srgbClr val="111827"/>
                </a:solidFill>
                <a:latin typeface="Times New Roman"/>
              </a:rPr>
              <a:t> and sign in as the Floor Manager</a:t>
            </a:r>
          </a:p>
        </p:txBody>
      </p:sp>
      <p:cxnSp>
        <p:nvCxnSpPr>
          <p:cNvPr id="8" name="Connector 7"/>
          <p:cNvCxnSpPr/>
          <p:nvPr/>
        </p:nvCxnSpPr>
        <p:spPr>
          <a:xfrm>
            <a:off x="4048506" y="2263139"/>
            <a:ext cx="292608"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377690" y="1097280"/>
            <a:ext cx="2228850" cy="2331720"/>
          </a:xfrm>
          <a:prstGeom prst="roundRect">
            <a:avLst>
              <a:gd name="adj" fmla="val 4923"/>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0" name="Oval 9"/>
          <p:cNvSpPr/>
          <p:nvPr/>
        </p:nvSpPr>
        <p:spPr>
          <a:xfrm>
            <a:off x="4514850" y="1252728"/>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2</a:t>
            </a:r>
          </a:p>
        </p:txBody>
      </p:sp>
      <p:sp>
        <p:nvSpPr>
          <p:cNvPr id="11" name="TextBox 10"/>
          <p:cNvSpPr txBox="1"/>
          <p:nvPr/>
        </p:nvSpPr>
        <p:spPr>
          <a:xfrm>
            <a:off x="5109209" y="1234439"/>
            <a:ext cx="1360170" cy="502920"/>
          </a:xfrm>
          <a:prstGeom prst="rect">
            <a:avLst/>
          </a:prstGeom>
          <a:noFill/>
        </p:spPr>
        <p:txBody>
          <a:bodyPr wrap="square" lIns="0" rIns="0" tIns="0" bIns="0" anchor="ctr">
            <a:noAutofit/>
          </a:bodyPr>
          <a:lstStyle/>
          <a:p>
            <a:pPr algn="l">
              <a:spcBef>
                <a:spcPts val="0"/>
              </a:spcBef>
              <a:spcAft>
                <a:spcPts val="0"/>
              </a:spcAft>
            </a:pPr>
            <a:r>
              <a:rPr sz="1600" b="1" i="0">
                <a:solidFill>
                  <a:srgbClr val="111827"/>
                </a:solidFill>
                <a:latin typeface="Times New Roman"/>
              </a:rPr>
              <a:t>ML caution</a:t>
            </a:r>
          </a:p>
        </p:txBody>
      </p:sp>
      <p:sp>
        <p:nvSpPr>
          <p:cNvPr id="12" name="TextBox 11"/>
          <p:cNvSpPr txBox="1"/>
          <p:nvPr/>
        </p:nvSpPr>
        <p:spPr>
          <a:xfrm>
            <a:off x="4560570" y="1965960"/>
            <a:ext cx="1863090"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Inject an </a:t>
            </a:r>
            <a:r>
              <a:rPr sz="1400" b="1" i="0">
                <a:solidFill>
                  <a:srgbClr val="111827"/>
                </a:solidFill>
                <a:latin typeface="Times New Roman"/>
              </a:rPr>
              <a:t>ML anomaly</a:t>
            </a:r>
            <a:r>
              <a:rPr sz="1400" b="0" i="0">
                <a:solidFill>
                  <a:srgbClr val="111827"/>
                </a:solidFill>
                <a:latin typeface="Times New Roman"/>
              </a:rPr>
              <a:t> on Welder-04 → the tile turns </a:t>
            </a:r>
            <a:r>
              <a:rPr sz="1400" b="1" i="0">
                <a:solidFill>
                  <a:srgbClr val="111827"/>
                </a:solidFill>
                <a:latin typeface="Times New Roman"/>
              </a:rPr>
              <a:t>Yellow</a:t>
            </a:r>
          </a:p>
        </p:txBody>
      </p:sp>
      <p:cxnSp>
        <p:nvCxnSpPr>
          <p:cNvPr id="13" name="Connector 12"/>
          <p:cNvCxnSpPr/>
          <p:nvPr/>
        </p:nvCxnSpPr>
        <p:spPr>
          <a:xfrm>
            <a:off x="6643116" y="2263139"/>
            <a:ext cx="292608"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972300" y="1097280"/>
            <a:ext cx="2228850" cy="2331720"/>
          </a:xfrm>
          <a:prstGeom prst="roundRect">
            <a:avLst>
              <a:gd name="adj" fmla="val 4923"/>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5" name="Oval 14"/>
          <p:cNvSpPr/>
          <p:nvPr/>
        </p:nvSpPr>
        <p:spPr>
          <a:xfrm>
            <a:off x="7109460" y="1252728"/>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3</a:t>
            </a:r>
          </a:p>
        </p:txBody>
      </p:sp>
      <p:sp>
        <p:nvSpPr>
          <p:cNvPr id="16" name="TextBox 15"/>
          <p:cNvSpPr txBox="1"/>
          <p:nvPr/>
        </p:nvSpPr>
        <p:spPr>
          <a:xfrm>
            <a:off x="7703820" y="1234439"/>
            <a:ext cx="1360170" cy="502920"/>
          </a:xfrm>
          <a:prstGeom prst="rect">
            <a:avLst/>
          </a:prstGeom>
          <a:noFill/>
        </p:spPr>
        <p:txBody>
          <a:bodyPr wrap="square" lIns="0" rIns="0" tIns="0" bIns="0" anchor="ctr">
            <a:noAutofit/>
          </a:bodyPr>
          <a:lstStyle/>
          <a:p>
            <a:pPr algn="l">
              <a:spcBef>
                <a:spcPts val="0"/>
              </a:spcBef>
              <a:spcAft>
                <a:spcPts val="0"/>
              </a:spcAft>
            </a:pPr>
            <a:r>
              <a:rPr sz="1600" b="1" i="0">
                <a:solidFill>
                  <a:srgbClr val="111827"/>
                </a:solidFill>
                <a:latin typeface="Times New Roman"/>
              </a:rPr>
              <a:t>Projected fault</a:t>
            </a:r>
          </a:p>
        </p:txBody>
      </p:sp>
      <p:sp>
        <p:nvSpPr>
          <p:cNvPr id="17" name="TextBox 16"/>
          <p:cNvSpPr txBox="1"/>
          <p:nvPr/>
        </p:nvSpPr>
        <p:spPr>
          <a:xfrm>
            <a:off x="7155180" y="1965960"/>
            <a:ext cx="1863090"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Speed ×6, </a:t>
            </a:r>
            <a:r>
              <a:rPr sz="1400" b="1" i="0">
                <a:solidFill>
                  <a:srgbClr val="111827"/>
                </a:solidFill>
                <a:latin typeface="Times New Roman"/>
              </a:rPr>
              <a:t>temperature ramp</a:t>
            </a:r>
            <a:r>
              <a:rPr sz="1400" b="0" i="0">
                <a:solidFill>
                  <a:srgbClr val="111827"/>
                </a:solidFill>
                <a:latin typeface="Times New Roman"/>
              </a:rPr>
              <a:t> on CNC-01 → </a:t>
            </a:r>
            <a:r>
              <a:rPr sz="1400" b="1" i="0">
                <a:solidFill>
                  <a:srgbClr val="111827"/>
                </a:solidFill>
                <a:latin typeface="Times New Roman"/>
              </a:rPr>
              <a:t>Orange</a:t>
            </a:r>
            <a:r>
              <a:rPr sz="1400" b="0" i="0">
                <a:solidFill>
                  <a:srgbClr val="111827"/>
                </a:solidFill>
                <a:latin typeface="Times New Roman"/>
              </a:rPr>
              <a:t> with ETA, then </a:t>
            </a:r>
            <a:r>
              <a:rPr sz="1400" b="1" i="0">
                <a:solidFill>
                  <a:srgbClr val="111827"/>
                </a:solidFill>
                <a:latin typeface="Times New Roman"/>
              </a:rPr>
              <a:t>Red</a:t>
            </a:r>
          </a:p>
        </p:txBody>
      </p:sp>
      <p:cxnSp>
        <p:nvCxnSpPr>
          <p:cNvPr id="18" name="Connector 17"/>
          <p:cNvCxnSpPr/>
          <p:nvPr/>
        </p:nvCxnSpPr>
        <p:spPr>
          <a:xfrm>
            <a:off x="9237726" y="2263139"/>
            <a:ext cx="292608"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566909" y="1097280"/>
            <a:ext cx="2228850" cy="2331720"/>
          </a:xfrm>
          <a:prstGeom prst="roundRect">
            <a:avLst>
              <a:gd name="adj" fmla="val 4923"/>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0" name="Oval 19"/>
          <p:cNvSpPr/>
          <p:nvPr/>
        </p:nvSpPr>
        <p:spPr>
          <a:xfrm>
            <a:off x="9704069" y="1252728"/>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4</a:t>
            </a:r>
          </a:p>
        </p:txBody>
      </p:sp>
      <p:sp>
        <p:nvSpPr>
          <p:cNvPr id="21" name="TextBox 20"/>
          <p:cNvSpPr txBox="1"/>
          <p:nvPr/>
        </p:nvSpPr>
        <p:spPr>
          <a:xfrm>
            <a:off x="10298430" y="1234439"/>
            <a:ext cx="1360170" cy="502920"/>
          </a:xfrm>
          <a:prstGeom prst="rect">
            <a:avLst/>
          </a:prstGeom>
          <a:noFill/>
        </p:spPr>
        <p:txBody>
          <a:bodyPr wrap="square" lIns="0" rIns="0" tIns="0" bIns="0" anchor="ctr">
            <a:noAutofit/>
          </a:bodyPr>
          <a:lstStyle/>
          <a:p>
            <a:pPr algn="l">
              <a:spcBef>
                <a:spcPts val="0"/>
              </a:spcBef>
              <a:spcAft>
                <a:spcPts val="0"/>
              </a:spcAft>
            </a:pPr>
            <a:r>
              <a:rPr sz="1600" b="1" i="0">
                <a:solidFill>
                  <a:srgbClr val="111827"/>
                </a:solidFill>
                <a:latin typeface="Times New Roman"/>
              </a:rPr>
              <a:t>Hard fault</a:t>
            </a:r>
          </a:p>
        </p:txBody>
      </p:sp>
      <p:sp>
        <p:nvSpPr>
          <p:cNvPr id="22" name="TextBox 21"/>
          <p:cNvSpPr txBox="1"/>
          <p:nvPr/>
        </p:nvSpPr>
        <p:spPr>
          <a:xfrm>
            <a:off x="9749789" y="1965960"/>
            <a:ext cx="1863090" cy="137160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Vibration spike</a:t>
            </a:r>
            <a:r>
              <a:rPr sz="1400" b="0" i="0">
                <a:solidFill>
                  <a:srgbClr val="111827"/>
                </a:solidFill>
                <a:latin typeface="Times New Roman"/>
              </a:rPr>
              <a:t> on Press-02 → instant </a:t>
            </a:r>
            <a:r>
              <a:rPr sz="1400" b="1" i="0">
                <a:solidFill>
                  <a:srgbClr val="111827"/>
                </a:solidFill>
                <a:latin typeface="Times New Roman"/>
              </a:rPr>
              <a:t>Red</a:t>
            </a:r>
          </a:p>
        </p:txBody>
      </p:sp>
      <p:sp>
        <p:nvSpPr>
          <p:cNvPr id="23" name="Rounded Rectangle 22"/>
          <p:cNvSpPr/>
          <p:nvPr/>
        </p:nvSpPr>
        <p:spPr>
          <a:xfrm>
            <a:off x="1783080" y="3840480"/>
            <a:ext cx="2228850" cy="2331720"/>
          </a:xfrm>
          <a:prstGeom prst="roundRect">
            <a:avLst>
              <a:gd name="adj" fmla="val 4923"/>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4" name="Oval 23"/>
          <p:cNvSpPr/>
          <p:nvPr/>
        </p:nvSpPr>
        <p:spPr>
          <a:xfrm>
            <a:off x="1920240" y="3995928"/>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5</a:t>
            </a:r>
          </a:p>
        </p:txBody>
      </p:sp>
      <p:sp>
        <p:nvSpPr>
          <p:cNvPr id="25" name="TextBox 24"/>
          <p:cNvSpPr txBox="1"/>
          <p:nvPr/>
        </p:nvSpPr>
        <p:spPr>
          <a:xfrm>
            <a:off x="2514600" y="3977640"/>
            <a:ext cx="1360170" cy="502920"/>
          </a:xfrm>
          <a:prstGeom prst="rect">
            <a:avLst/>
          </a:prstGeom>
          <a:noFill/>
        </p:spPr>
        <p:txBody>
          <a:bodyPr wrap="square" lIns="0" rIns="0" tIns="0" bIns="0" anchor="ctr">
            <a:noAutofit/>
          </a:bodyPr>
          <a:lstStyle/>
          <a:p>
            <a:pPr algn="l">
              <a:spcBef>
                <a:spcPts val="0"/>
              </a:spcBef>
              <a:spcAft>
                <a:spcPts val="0"/>
              </a:spcAft>
            </a:pPr>
            <a:r>
              <a:rPr sz="1600" b="1" i="0">
                <a:solidFill>
                  <a:srgbClr val="111827"/>
                </a:solidFill>
                <a:latin typeface="Times New Roman"/>
              </a:rPr>
              <a:t>Operator actions</a:t>
            </a:r>
          </a:p>
        </p:txBody>
      </p:sp>
      <p:sp>
        <p:nvSpPr>
          <p:cNvPr id="26" name="TextBox 25"/>
          <p:cNvSpPr txBox="1"/>
          <p:nvPr/>
        </p:nvSpPr>
        <p:spPr>
          <a:xfrm>
            <a:off x="1965960" y="4709160"/>
            <a:ext cx="1863090" cy="137160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Alerts</a:t>
            </a:r>
            <a:r>
              <a:rPr sz="1400" b="0" i="0">
                <a:solidFill>
                  <a:srgbClr val="111827"/>
                </a:solidFill>
                <a:latin typeface="Times New Roman"/>
              </a:rPr>
              <a:t>: acknowledge · assign technician · resolve · feedback</a:t>
            </a:r>
          </a:p>
        </p:txBody>
      </p:sp>
      <p:cxnSp>
        <p:nvCxnSpPr>
          <p:cNvPr id="27" name="Connector 26"/>
          <p:cNvCxnSpPr/>
          <p:nvPr/>
        </p:nvCxnSpPr>
        <p:spPr>
          <a:xfrm>
            <a:off x="4048506" y="5006340"/>
            <a:ext cx="292608"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77690" y="3840480"/>
            <a:ext cx="2228850" cy="2331720"/>
          </a:xfrm>
          <a:prstGeom prst="roundRect">
            <a:avLst>
              <a:gd name="adj" fmla="val 4923"/>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9" name="Oval 28"/>
          <p:cNvSpPr/>
          <p:nvPr/>
        </p:nvSpPr>
        <p:spPr>
          <a:xfrm>
            <a:off x="4514850" y="3995928"/>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6</a:t>
            </a:r>
          </a:p>
        </p:txBody>
      </p:sp>
      <p:sp>
        <p:nvSpPr>
          <p:cNvPr id="30" name="TextBox 29"/>
          <p:cNvSpPr txBox="1"/>
          <p:nvPr/>
        </p:nvSpPr>
        <p:spPr>
          <a:xfrm>
            <a:off x="5109209" y="3977640"/>
            <a:ext cx="1360170" cy="502920"/>
          </a:xfrm>
          <a:prstGeom prst="rect">
            <a:avLst/>
          </a:prstGeom>
          <a:noFill/>
        </p:spPr>
        <p:txBody>
          <a:bodyPr wrap="square" lIns="0" rIns="0" tIns="0" bIns="0" anchor="ctr">
            <a:noAutofit/>
          </a:bodyPr>
          <a:lstStyle/>
          <a:p>
            <a:pPr algn="l">
              <a:spcBef>
                <a:spcPts val="0"/>
              </a:spcBef>
              <a:spcAft>
                <a:spcPts val="0"/>
              </a:spcAft>
            </a:pPr>
            <a:r>
              <a:rPr sz="1600" b="1" i="0">
                <a:solidFill>
                  <a:srgbClr val="111827"/>
                </a:solidFill>
                <a:latin typeface="Times New Roman"/>
              </a:rPr>
              <a:t>Records</a:t>
            </a:r>
          </a:p>
        </p:txBody>
      </p:sp>
      <p:sp>
        <p:nvSpPr>
          <p:cNvPr id="31" name="TextBox 30"/>
          <p:cNvSpPr txBox="1"/>
          <p:nvPr/>
        </p:nvSpPr>
        <p:spPr>
          <a:xfrm>
            <a:off x="4560570" y="4709160"/>
            <a:ext cx="1863090" cy="137160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Maintenance</a:t>
            </a:r>
            <a:r>
              <a:rPr sz="1400" b="0" i="0">
                <a:solidFill>
                  <a:srgbClr val="111827"/>
                </a:solidFill>
                <a:latin typeface="Times New Roman"/>
              </a:rPr>
              <a:t> log linked to the alert; </a:t>
            </a:r>
            <a:r>
              <a:rPr sz="1400" b="1" i="0">
                <a:solidFill>
                  <a:srgbClr val="111827"/>
                </a:solidFill>
                <a:latin typeface="Times New Roman"/>
              </a:rPr>
              <a:t>Reports</a:t>
            </a:r>
            <a:r>
              <a:rPr sz="1400" b="0" i="0">
                <a:solidFill>
                  <a:srgbClr val="111827"/>
                </a:solidFill>
                <a:latin typeface="Times New Roman"/>
              </a:rPr>
              <a:t> page</a:t>
            </a:r>
          </a:p>
        </p:txBody>
      </p:sp>
      <p:cxnSp>
        <p:nvCxnSpPr>
          <p:cNvPr id="32" name="Connector 31"/>
          <p:cNvCxnSpPr/>
          <p:nvPr/>
        </p:nvCxnSpPr>
        <p:spPr>
          <a:xfrm>
            <a:off x="6643116" y="5006340"/>
            <a:ext cx="292608"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972300" y="3840480"/>
            <a:ext cx="2228850" cy="2331720"/>
          </a:xfrm>
          <a:prstGeom prst="roundRect">
            <a:avLst>
              <a:gd name="adj" fmla="val 4923"/>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4" name="Oval 33"/>
          <p:cNvSpPr/>
          <p:nvPr/>
        </p:nvSpPr>
        <p:spPr>
          <a:xfrm>
            <a:off x="7109460" y="3995928"/>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7</a:t>
            </a:r>
          </a:p>
        </p:txBody>
      </p:sp>
      <p:sp>
        <p:nvSpPr>
          <p:cNvPr id="35" name="TextBox 34"/>
          <p:cNvSpPr txBox="1"/>
          <p:nvPr/>
        </p:nvSpPr>
        <p:spPr>
          <a:xfrm>
            <a:off x="7703820" y="3977640"/>
            <a:ext cx="1360170" cy="502920"/>
          </a:xfrm>
          <a:prstGeom prst="rect">
            <a:avLst/>
          </a:prstGeom>
          <a:noFill/>
        </p:spPr>
        <p:txBody>
          <a:bodyPr wrap="square" lIns="0" rIns="0" tIns="0" bIns="0" anchor="ctr">
            <a:noAutofit/>
          </a:bodyPr>
          <a:lstStyle/>
          <a:p>
            <a:pPr algn="l">
              <a:spcBef>
                <a:spcPts val="0"/>
              </a:spcBef>
              <a:spcAft>
                <a:spcPts val="0"/>
              </a:spcAft>
            </a:pPr>
            <a:r>
              <a:rPr sz="1600" b="1" i="0">
                <a:solidFill>
                  <a:srgbClr val="111827"/>
                </a:solidFill>
                <a:latin typeface="Times New Roman"/>
              </a:rPr>
              <a:t>Resilience</a:t>
            </a:r>
          </a:p>
        </p:txBody>
      </p:sp>
      <p:sp>
        <p:nvSpPr>
          <p:cNvPr id="36" name="TextBox 35"/>
          <p:cNvSpPr txBox="1"/>
          <p:nvPr/>
        </p:nvSpPr>
        <p:spPr>
          <a:xfrm>
            <a:off x="7155180" y="4709160"/>
            <a:ext cx="1863090"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Simulate </a:t>
            </a:r>
            <a:r>
              <a:rPr sz="1400" b="1" i="0">
                <a:solidFill>
                  <a:srgbClr val="111827"/>
                </a:solidFill>
                <a:latin typeface="Times New Roman"/>
              </a:rPr>
              <a:t>ML outage</a:t>
            </a:r>
            <a:r>
              <a:rPr sz="1400" b="0" i="0">
                <a:solidFill>
                  <a:srgbClr val="111827"/>
                </a:solidFill>
                <a:latin typeface="Times New Roman"/>
              </a:rPr>
              <a:t> → score held, Red rules still alert</a:t>
            </a:r>
          </a:p>
        </p:txBody>
      </p:sp>
      <p:cxnSp>
        <p:nvCxnSpPr>
          <p:cNvPr id="37" name="Connector 36"/>
          <p:cNvCxnSpPr/>
          <p:nvPr/>
        </p:nvCxnSpPr>
        <p:spPr>
          <a:xfrm>
            <a:off x="9237726" y="5006340"/>
            <a:ext cx="292608"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66909" y="3840480"/>
            <a:ext cx="2228850" cy="2331720"/>
          </a:xfrm>
          <a:prstGeom prst="roundRect">
            <a:avLst>
              <a:gd name="adj" fmla="val 4923"/>
            </a:avLst>
          </a:prstGeom>
          <a:solidFill>
            <a:srgbClr val="FFFFFF"/>
          </a:solidFill>
          <a:ln w="19050">
            <a:solidFill>
              <a:srgbClr val="64748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9" name="Oval 38"/>
          <p:cNvSpPr/>
          <p:nvPr/>
        </p:nvSpPr>
        <p:spPr>
          <a:xfrm>
            <a:off x="9704069" y="3995928"/>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8</a:t>
            </a:r>
          </a:p>
        </p:txBody>
      </p:sp>
      <p:sp>
        <p:nvSpPr>
          <p:cNvPr id="40" name="TextBox 39"/>
          <p:cNvSpPr txBox="1"/>
          <p:nvPr/>
        </p:nvSpPr>
        <p:spPr>
          <a:xfrm>
            <a:off x="10298430" y="3977640"/>
            <a:ext cx="1360170" cy="502920"/>
          </a:xfrm>
          <a:prstGeom prst="rect">
            <a:avLst/>
          </a:prstGeom>
          <a:noFill/>
        </p:spPr>
        <p:txBody>
          <a:bodyPr wrap="square" lIns="0" rIns="0" tIns="0" bIns="0" anchor="ctr">
            <a:noAutofit/>
          </a:bodyPr>
          <a:lstStyle/>
          <a:p>
            <a:pPr algn="l">
              <a:spcBef>
                <a:spcPts val="0"/>
              </a:spcBef>
              <a:spcAft>
                <a:spcPts val="0"/>
              </a:spcAft>
            </a:pPr>
            <a:r>
              <a:rPr sz="1600" b="1" i="0">
                <a:solidFill>
                  <a:srgbClr val="111827"/>
                </a:solidFill>
                <a:latin typeface="Times New Roman"/>
              </a:rPr>
              <a:t>Optional</a:t>
            </a:r>
          </a:p>
        </p:txBody>
      </p:sp>
      <p:sp>
        <p:nvSpPr>
          <p:cNvPr id="41" name="TextBox 40"/>
          <p:cNvSpPr txBox="1"/>
          <p:nvPr/>
        </p:nvSpPr>
        <p:spPr>
          <a:xfrm>
            <a:off x="9749789" y="4709160"/>
            <a:ext cx="1863090"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Restart the backend → alerts are </a:t>
            </a:r>
            <a:r>
              <a:rPr sz="1400" b="1" i="0">
                <a:solidFill>
                  <a:srgbClr val="111827"/>
                </a:solidFill>
                <a:latin typeface="Times New Roman"/>
              </a:rPr>
              <a:t>still there</a:t>
            </a:r>
            <a:r>
              <a:rPr sz="1400" b="0" i="0">
                <a:solidFill>
                  <a:srgbClr val="111827"/>
                </a:solidFill>
                <a:latin typeface="Times New Roman"/>
              </a:rPr>
              <a:t> (PostgreSQL)</a:t>
            </a:r>
          </a:p>
        </p:txBody>
      </p:sp>
      <p:cxnSp>
        <p:nvCxnSpPr>
          <p:cNvPr id="42" name="Connector 41"/>
          <p:cNvCxnSpPr/>
          <p:nvPr/>
        </p:nvCxnSpPr>
        <p:spPr>
          <a:xfrm>
            <a:off x="10681334" y="3447288"/>
            <a:ext cx="0" cy="187452"/>
          </a:xfrm>
          <a:prstGeom prst="line">
            <a:avLst/>
          </a:prstGeom>
          <a:ln w="28575">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2897505" y="3634740"/>
            <a:ext cx="7783829" cy="0"/>
          </a:xfrm>
          <a:prstGeom prst="line">
            <a:avLst/>
          </a:prstGeom>
          <a:ln w="28575">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2897505" y="3634740"/>
            <a:ext cx="0" cy="178308"/>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Testing &amp; Results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51560"/>
            <a:ext cx="2331720" cy="1463040"/>
          </a:xfrm>
          <a:prstGeom prst="roundRect">
            <a:avLst>
              <a:gd name="adj" fmla="val 7500"/>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TextBox 4"/>
          <p:cNvSpPr txBox="1"/>
          <p:nvPr/>
        </p:nvSpPr>
        <p:spPr>
          <a:xfrm>
            <a:off x="1947672" y="1115568"/>
            <a:ext cx="2002536" cy="640080"/>
          </a:xfrm>
          <a:prstGeom prst="rect">
            <a:avLst/>
          </a:prstGeom>
          <a:noFill/>
        </p:spPr>
        <p:txBody>
          <a:bodyPr wrap="square" lIns="0" rIns="0" tIns="0" bIns="0" anchor="ctr">
            <a:noAutofit/>
          </a:bodyPr>
          <a:lstStyle/>
          <a:p>
            <a:pPr algn="l">
              <a:spcBef>
                <a:spcPts val="0"/>
              </a:spcBef>
              <a:spcAft>
                <a:spcPts val="0"/>
              </a:spcAft>
            </a:pPr>
            <a:r>
              <a:rPr sz="3400" b="1" i="0">
                <a:solidFill>
                  <a:srgbClr val="375623"/>
                </a:solidFill>
                <a:latin typeface="Times New Roman"/>
              </a:rPr>
              <a:t>45</a:t>
            </a:r>
          </a:p>
        </p:txBody>
      </p:sp>
      <p:sp>
        <p:nvSpPr>
          <p:cNvPr id="6" name="TextBox 5"/>
          <p:cNvSpPr txBox="1"/>
          <p:nvPr/>
        </p:nvSpPr>
        <p:spPr>
          <a:xfrm>
            <a:off x="1947672" y="1755648"/>
            <a:ext cx="2002536" cy="27432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automated tests passed</a:t>
            </a:r>
          </a:p>
        </p:txBody>
      </p:sp>
      <p:sp>
        <p:nvSpPr>
          <p:cNvPr id="7" name="TextBox 6"/>
          <p:cNvSpPr txBox="1"/>
          <p:nvPr/>
        </p:nvSpPr>
        <p:spPr>
          <a:xfrm>
            <a:off x="1947672" y="2057400"/>
            <a:ext cx="2002536" cy="365760"/>
          </a:xfrm>
          <a:prstGeom prst="rect">
            <a:avLst/>
          </a:prstGeom>
          <a:noFill/>
        </p:spPr>
        <p:txBody>
          <a:bodyPr wrap="square" lIns="0" rIns="0" tIns="0" bIns="0" anchor="t">
            <a:noAutofit/>
          </a:bodyPr>
          <a:lstStyle/>
          <a:p>
            <a:pPr algn="l">
              <a:spcBef>
                <a:spcPts val="0"/>
              </a:spcBef>
              <a:spcAft>
                <a:spcPts val="0"/>
              </a:spcAft>
            </a:pPr>
            <a:r>
              <a:rPr sz="1200" b="0" i="0">
                <a:solidFill>
                  <a:srgbClr val="475569"/>
                </a:solidFill>
                <a:latin typeface="Times New Roman"/>
              </a:rPr>
              <a:t>38 pytest + 7 Vitest</a:t>
            </a:r>
          </a:p>
        </p:txBody>
      </p:sp>
      <p:sp>
        <p:nvSpPr>
          <p:cNvPr id="8" name="Rounded Rectangle 7"/>
          <p:cNvSpPr/>
          <p:nvPr/>
        </p:nvSpPr>
        <p:spPr>
          <a:xfrm>
            <a:off x="4343400" y="1051560"/>
            <a:ext cx="2331720" cy="1463040"/>
          </a:xfrm>
          <a:prstGeom prst="roundRect">
            <a:avLst>
              <a:gd name="adj" fmla="val 7500"/>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9" name="TextBox 8"/>
          <p:cNvSpPr txBox="1"/>
          <p:nvPr/>
        </p:nvSpPr>
        <p:spPr>
          <a:xfrm>
            <a:off x="4507992" y="1115568"/>
            <a:ext cx="2002536" cy="640080"/>
          </a:xfrm>
          <a:prstGeom prst="rect">
            <a:avLst/>
          </a:prstGeom>
          <a:noFill/>
        </p:spPr>
        <p:txBody>
          <a:bodyPr wrap="square" lIns="0" rIns="0" tIns="0" bIns="0" anchor="ctr">
            <a:noAutofit/>
          </a:bodyPr>
          <a:lstStyle/>
          <a:p>
            <a:pPr algn="l">
              <a:spcBef>
                <a:spcPts val="0"/>
              </a:spcBef>
              <a:spcAft>
                <a:spcPts val="0"/>
              </a:spcAft>
            </a:pPr>
            <a:r>
              <a:rPr sz="3400" b="1" i="0">
                <a:solidFill>
                  <a:srgbClr val="375623"/>
                </a:solidFill>
                <a:latin typeface="Times New Roman"/>
              </a:rPr>
              <a:t>13 / 13</a:t>
            </a:r>
          </a:p>
        </p:txBody>
      </p:sp>
      <p:sp>
        <p:nvSpPr>
          <p:cNvPr id="10" name="TextBox 9"/>
          <p:cNvSpPr txBox="1"/>
          <p:nvPr/>
        </p:nvSpPr>
        <p:spPr>
          <a:xfrm>
            <a:off x="4507992" y="1755648"/>
            <a:ext cx="2002536" cy="27432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end-to-end checks passed</a:t>
            </a:r>
          </a:p>
        </p:txBody>
      </p:sp>
      <p:sp>
        <p:nvSpPr>
          <p:cNvPr id="11" name="TextBox 10"/>
          <p:cNvSpPr txBox="1"/>
          <p:nvPr/>
        </p:nvSpPr>
        <p:spPr>
          <a:xfrm>
            <a:off x="4507992" y="2057400"/>
            <a:ext cx="2002536" cy="365760"/>
          </a:xfrm>
          <a:prstGeom prst="rect">
            <a:avLst/>
          </a:prstGeom>
          <a:noFill/>
        </p:spPr>
        <p:txBody>
          <a:bodyPr wrap="square" lIns="0" rIns="0" tIns="0" bIns="0" anchor="t">
            <a:noAutofit/>
          </a:bodyPr>
          <a:lstStyle/>
          <a:p>
            <a:pPr algn="l">
              <a:spcBef>
                <a:spcPts val="0"/>
              </a:spcBef>
              <a:spcAft>
                <a:spcPts val="0"/>
              </a:spcAft>
            </a:pPr>
            <a:r>
              <a:rPr sz="1200" b="0" i="0">
                <a:solidFill>
                  <a:srgbClr val="475569"/>
                </a:solidFill>
                <a:latin typeface="Times New Roman"/>
              </a:rPr>
              <a:t>5 machines, 50 simultaneous clients</a:t>
            </a:r>
          </a:p>
        </p:txBody>
      </p:sp>
      <p:sp>
        <p:nvSpPr>
          <p:cNvPr id="12" name="Rounded Rectangle 11"/>
          <p:cNvSpPr/>
          <p:nvPr/>
        </p:nvSpPr>
        <p:spPr>
          <a:xfrm>
            <a:off x="6903720" y="1051560"/>
            <a:ext cx="2331720" cy="1463040"/>
          </a:xfrm>
          <a:prstGeom prst="roundRect">
            <a:avLst>
              <a:gd name="adj" fmla="val 7500"/>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3" name="TextBox 12"/>
          <p:cNvSpPr txBox="1"/>
          <p:nvPr/>
        </p:nvSpPr>
        <p:spPr>
          <a:xfrm>
            <a:off x="7068312" y="1115568"/>
            <a:ext cx="2002536" cy="640080"/>
          </a:xfrm>
          <a:prstGeom prst="rect">
            <a:avLst/>
          </a:prstGeom>
          <a:noFill/>
        </p:spPr>
        <p:txBody>
          <a:bodyPr wrap="square" lIns="0" rIns="0" tIns="0" bIns="0" anchor="ctr">
            <a:noAutofit/>
          </a:bodyPr>
          <a:lstStyle/>
          <a:p>
            <a:pPr algn="l">
              <a:spcBef>
                <a:spcPts val="0"/>
              </a:spcBef>
              <a:spcAft>
                <a:spcPts val="0"/>
              </a:spcAft>
            </a:pPr>
            <a:r>
              <a:rPr sz="3400" b="1" i="0">
                <a:solidFill>
                  <a:srgbClr val="375623"/>
                </a:solidFill>
                <a:latin typeface="Times New Roman"/>
              </a:rPr>
              <a:t>0</a:t>
            </a:r>
          </a:p>
        </p:txBody>
      </p:sp>
      <p:sp>
        <p:nvSpPr>
          <p:cNvPr id="14" name="TextBox 13"/>
          <p:cNvSpPr txBox="1"/>
          <p:nvPr/>
        </p:nvSpPr>
        <p:spPr>
          <a:xfrm>
            <a:off x="7068312" y="1755648"/>
            <a:ext cx="2002536" cy="27432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accessibility violations</a:t>
            </a:r>
          </a:p>
        </p:txBody>
      </p:sp>
      <p:sp>
        <p:nvSpPr>
          <p:cNvPr id="15" name="TextBox 14"/>
          <p:cNvSpPr txBox="1"/>
          <p:nvPr/>
        </p:nvSpPr>
        <p:spPr>
          <a:xfrm>
            <a:off x="7068312" y="2057400"/>
            <a:ext cx="2002536" cy="365760"/>
          </a:xfrm>
          <a:prstGeom prst="rect">
            <a:avLst/>
          </a:prstGeom>
          <a:noFill/>
        </p:spPr>
        <p:txBody>
          <a:bodyPr wrap="square" lIns="0" rIns="0" tIns="0" bIns="0" anchor="t">
            <a:noAutofit/>
          </a:bodyPr>
          <a:lstStyle/>
          <a:p>
            <a:pPr algn="l">
              <a:spcBef>
                <a:spcPts val="0"/>
              </a:spcBef>
              <a:spcAft>
                <a:spcPts val="0"/>
              </a:spcAft>
            </a:pPr>
            <a:r>
              <a:rPr sz="1200" b="0" i="0">
                <a:solidFill>
                  <a:srgbClr val="475569"/>
                </a:solidFill>
                <a:latin typeface="Times New Roman"/>
              </a:rPr>
              <a:t>axe-core, WCAG 2 A / AA</a:t>
            </a:r>
          </a:p>
        </p:txBody>
      </p:sp>
      <p:sp>
        <p:nvSpPr>
          <p:cNvPr id="16" name="Rounded Rectangle 15"/>
          <p:cNvSpPr/>
          <p:nvPr/>
        </p:nvSpPr>
        <p:spPr>
          <a:xfrm>
            <a:off x="9464039" y="1051560"/>
            <a:ext cx="2331720" cy="1463040"/>
          </a:xfrm>
          <a:prstGeom prst="roundRect">
            <a:avLst>
              <a:gd name="adj" fmla="val 7500"/>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7" name="TextBox 16"/>
          <p:cNvSpPr txBox="1"/>
          <p:nvPr/>
        </p:nvSpPr>
        <p:spPr>
          <a:xfrm>
            <a:off x="9628631" y="1115568"/>
            <a:ext cx="2002536" cy="640080"/>
          </a:xfrm>
          <a:prstGeom prst="rect">
            <a:avLst/>
          </a:prstGeom>
          <a:noFill/>
        </p:spPr>
        <p:txBody>
          <a:bodyPr wrap="square" lIns="0" rIns="0" tIns="0" bIns="0" anchor="ctr">
            <a:noAutofit/>
          </a:bodyPr>
          <a:lstStyle/>
          <a:p>
            <a:pPr algn="l">
              <a:spcBef>
                <a:spcPts val="0"/>
              </a:spcBef>
              <a:spcAft>
                <a:spcPts val="0"/>
              </a:spcAft>
            </a:pPr>
            <a:r>
              <a:rPr sz="3400" b="1" i="0">
                <a:solidFill>
                  <a:srgbClr val="375623"/>
                </a:solidFill>
                <a:latin typeface="Times New Roman"/>
              </a:rPr>
              <a:t>3 / 3</a:t>
            </a:r>
          </a:p>
        </p:txBody>
      </p:sp>
      <p:sp>
        <p:nvSpPr>
          <p:cNvPr id="18" name="TextBox 17"/>
          <p:cNvSpPr txBox="1"/>
          <p:nvPr/>
        </p:nvSpPr>
        <p:spPr>
          <a:xfrm>
            <a:off x="9628631" y="1755648"/>
            <a:ext cx="2002536" cy="27432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browser engines clean</a:t>
            </a:r>
          </a:p>
        </p:txBody>
      </p:sp>
      <p:sp>
        <p:nvSpPr>
          <p:cNvPr id="19" name="TextBox 18"/>
          <p:cNvSpPr txBox="1"/>
          <p:nvPr/>
        </p:nvSpPr>
        <p:spPr>
          <a:xfrm>
            <a:off x="9628631" y="2057400"/>
            <a:ext cx="2002536" cy="365760"/>
          </a:xfrm>
          <a:prstGeom prst="rect">
            <a:avLst/>
          </a:prstGeom>
          <a:noFill/>
        </p:spPr>
        <p:txBody>
          <a:bodyPr wrap="square" lIns="0" rIns="0" tIns="0" bIns="0" anchor="t">
            <a:noAutofit/>
          </a:bodyPr>
          <a:lstStyle/>
          <a:p>
            <a:pPr algn="l">
              <a:spcBef>
                <a:spcPts val="0"/>
              </a:spcBef>
              <a:spcAft>
                <a:spcPts val="0"/>
              </a:spcAft>
            </a:pPr>
            <a:r>
              <a:rPr sz="1200" b="0" i="0">
                <a:solidFill>
                  <a:srgbClr val="475569"/>
                </a:solidFill>
                <a:latin typeface="Times New Roman"/>
              </a:rPr>
              <a:t>Chromium · Firefox · WebKit</a:t>
            </a:r>
          </a:p>
        </p:txBody>
      </p:sp>
      <p:graphicFrame>
        <p:nvGraphicFramePr>
          <p:cNvPr id="20" name="Chart 19"/>
          <p:cNvGraphicFramePr>
            <a:graphicFrameLocks noGrp="1"/>
          </p:cNvGraphicFramePr>
          <p:nvPr/>
        </p:nvGraphicFramePr>
        <p:xfrm>
          <a:off x="1783080" y="2743200"/>
          <a:ext cx="10012680" cy="3520440"/>
        </p:xfrm>
        <a:graphic>
          <a:graphicData uri="http://schemas.openxmlformats.org/drawingml/2006/chart">
            <c:chart xmlns:c="http://schemas.openxmlformats.org/drawingml/2006/chart" r:id="rId3"/>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Requirement-to-Test Traceability (SRS §13.3)</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graphicFrame>
        <p:nvGraphicFramePr>
          <p:cNvPr id="4" name="Table 3"/>
          <p:cNvGraphicFramePr>
            <a:graphicFrameLocks noGrp="1"/>
          </p:cNvGraphicFramePr>
          <p:nvPr/>
        </p:nvGraphicFramePr>
        <p:xfrm>
          <a:off x="1783080" y="1005840"/>
          <a:ext cx="10012680" cy="4869180"/>
        </p:xfrm>
        <a:graphic>
          <a:graphicData uri="http://schemas.openxmlformats.org/drawingml/2006/table">
            <a:tbl>
              <a:tblPr firstRow="1" bandRow="1">
                <a:tableStyleId>{5C22544A-7EE6-4342-B048-85BDC9FD1C3A}</a:tableStyleId>
              </a:tblPr>
              <a:tblGrid>
                <a:gridCol w="1600200"/>
                <a:gridCol w="2514600"/>
                <a:gridCol w="4892040"/>
                <a:gridCol w="1005840"/>
              </a:tblGrid>
              <a:tr h="324612">
                <a:tc>
                  <a:txBody>
                    <a:bodyPr/>
                    <a:lstStyle/>
                    <a:p>
                      <a:pPr algn="l"/>
                      <a:r>
                        <a:rPr sz="1200" b="1">
                          <a:solidFill>
                            <a:srgbClr val="FFFFFF"/>
                          </a:solidFill>
                          <a:latin typeface="Times New Roman"/>
                        </a:rPr>
                        <a:t>ID</a:t>
                      </a:r>
                    </a:p>
                  </a:txBody>
                  <a:tcPr marL="73152" marR="73152" marT="18288" marB="18288" anchor="ctr">
                    <a:solidFill>
                      <a:srgbClr val="C00000"/>
                    </a:solidFill>
                  </a:tcPr>
                </a:tc>
                <a:tc>
                  <a:txBody>
                    <a:bodyPr/>
                    <a:lstStyle/>
                    <a:p>
                      <a:pPr algn="l"/>
                      <a:r>
                        <a:rPr sz="1200" b="1">
                          <a:solidFill>
                            <a:srgbClr val="FFFFFF"/>
                          </a:solidFill>
                          <a:latin typeface="Times New Roman"/>
                        </a:rPr>
                        <a:t>Requirement</a:t>
                      </a:r>
                    </a:p>
                  </a:txBody>
                  <a:tcPr marL="73152" marR="73152" marT="18288" marB="18288" anchor="ctr">
                    <a:solidFill>
                      <a:srgbClr val="C00000"/>
                    </a:solidFill>
                  </a:tcPr>
                </a:tc>
                <a:tc>
                  <a:txBody>
                    <a:bodyPr/>
                    <a:lstStyle/>
                    <a:p>
                      <a:pPr algn="l"/>
                      <a:r>
                        <a:rPr sz="1200" b="1">
                          <a:solidFill>
                            <a:srgbClr val="FFFFFF"/>
                          </a:solidFill>
                          <a:latin typeface="Times New Roman"/>
                        </a:rPr>
                        <a:t>Verified by</a:t>
                      </a:r>
                    </a:p>
                  </a:txBody>
                  <a:tcPr marL="73152" marR="73152" marT="18288" marB="18288" anchor="ctr">
                    <a:solidFill>
                      <a:srgbClr val="C00000"/>
                    </a:solidFill>
                  </a:tcPr>
                </a:tc>
                <a:tc>
                  <a:txBody>
                    <a:bodyPr/>
                    <a:lstStyle/>
                    <a:p>
                      <a:pPr algn="l"/>
                      <a:r>
                        <a:rPr sz="1200" b="1">
                          <a:solidFill>
                            <a:srgbClr val="FFFFFF"/>
                          </a:solidFill>
                          <a:latin typeface="Times New Roman"/>
                        </a:rPr>
                        <a:t>Result</a:t>
                      </a:r>
                    </a:p>
                  </a:txBody>
                  <a:tcPr marL="73152" marR="73152" marT="18288" marB="18288" anchor="ctr">
                    <a:solidFill>
                      <a:srgbClr val="C00000"/>
                    </a:solidFill>
                  </a:tcPr>
                </a:tc>
              </a:tr>
              <a:tr h="324612">
                <a:tc>
                  <a:txBody>
                    <a:bodyPr/>
                    <a:lstStyle/>
                    <a:p>
                      <a:pPr algn="l"/>
                      <a:r>
                        <a:rPr sz="1200" b="1">
                          <a:solidFill>
                            <a:srgbClr val="111827"/>
                          </a:solidFill>
                          <a:latin typeface="Times New Roman"/>
                        </a:rPr>
                        <a:t>FR-01</a:t>
                      </a:r>
                    </a:p>
                  </a:txBody>
                  <a:tcPr marL="73152" marR="73152" marT="18288" marB="18288" anchor="ctr">
                    <a:solidFill>
                      <a:srgbClr val="F1F5F9"/>
                    </a:solidFill>
                  </a:tcPr>
                </a:tc>
                <a:tc>
                  <a:txBody>
                    <a:bodyPr/>
                    <a:lstStyle/>
                    <a:p>
                      <a:pPr algn="l"/>
                      <a:r>
                        <a:rPr sz="1200" b="0">
                          <a:solidFill>
                            <a:srgbClr val="111827"/>
                          </a:solidFill>
                          <a:latin typeface="Times New Roman"/>
                        </a:rPr>
                        <a:t>Virtual factory simulation</a:t>
                      </a:r>
                    </a:p>
                  </a:txBody>
                  <a:tcPr marL="73152" marR="73152" marT="18288" marB="18288" anchor="ctr">
                    <a:solidFill>
                      <a:srgbClr val="F1F5F9"/>
                    </a:solidFill>
                  </a:tcPr>
                </a:tc>
                <a:tc>
                  <a:txBody>
                    <a:bodyPr/>
                    <a:lstStyle/>
                    <a:p>
                      <a:pPr algn="l"/>
                      <a:r>
                        <a:rPr sz="1200" b="0">
                          <a:solidFill>
                            <a:srgbClr val="111827"/>
                          </a:solidFill>
                          <a:latin typeface="Times New Roman"/>
                        </a:rPr>
                        <a:t>Smoke test: 5 machines streaming; MQTT test: telemetry flows</a:t>
                      </a:r>
                    </a:p>
                  </a:txBody>
                  <a:tcPr marL="73152" marR="73152" marT="18288" marB="18288" anchor="ctr">
                    <a:solidFill>
                      <a:srgbClr val="F1F5F9"/>
                    </a:solidFill>
                  </a:tcPr>
                </a:tc>
                <a:tc>
                  <a:txBody>
                    <a:bodyPr/>
                    <a:lstStyle/>
                    <a:p>
                      <a:pPr algn="l"/>
                      <a:r>
                        <a:rPr sz="1200" b="1">
                          <a:solidFill>
                            <a:srgbClr val="375623"/>
                          </a:solidFill>
                          <a:latin typeface="Times New Roman"/>
                        </a:rPr>
                        <a:t>Pass</a:t>
                      </a:r>
                    </a:p>
                  </a:txBody>
                  <a:tcPr marL="73152" marR="73152" marT="18288" marB="18288" anchor="ctr">
                    <a:solidFill>
                      <a:srgbClr val="F1F5F9"/>
                    </a:solidFill>
                  </a:tcPr>
                </a:tc>
              </a:tr>
              <a:tr h="324612">
                <a:tc>
                  <a:txBody>
                    <a:bodyPr/>
                    <a:lstStyle/>
                    <a:p>
                      <a:pPr algn="l"/>
                      <a:r>
                        <a:rPr sz="1200" b="1">
                          <a:solidFill>
                            <a:srgbClr val="111827"/>
                          </a:solidFill>
                          <a:latin typeface="Times New Roman"/>
                        </a:rPr>
                        <a:t>FR-02</a:t>
                      </a:r>
                    </a:p>
                  </a:txBody>
                  <a:tcPr marL="73152" marR="73152" marT="18288" marB="18288" anchor="ctr">
                    <a:solidFill>
                      <a:srgbClr val="FFFFFF"/>
                    </a:solidFill>
                  </a:tcPr>
                </a:tc>
                <a:tc>
                  <a:txBody>
                    <a:bodyPr/>
                    <a:lstStyle/>
                    <a:p>
                      <a:pPr algn="l"/>
                      <a:r>
                        <a:rPr sz="1200" b="0">
                          <a:solidFill>
                            <a:srgbClr val="111827"/>
                          </a:solidFill>
                          <a:latin typeface="Times New Roman"/>
                        </a:rPr>
                        <a:t>OEE calculation</a:t>
                      </a:r>
                    </a:p>
                  </a:txBody>
                  <a:tcPr marL="73152" marR="73152" marT="18288" marB="18288" anchor="ctr">
                    <a:solidFill>
                      <a:srgbClr val="FFFFFF"/>
                    </a:solidFill>
                  </a:tcPr>
                </a:tc>
                <a:tc>
                  <a:txBody>
                    <a:bodyPr/>
                    <a:lstStyle/>
                    <a:p>
                      <a:pPr algn="l"/>
                      <a:r>
                        <a:rPr sz="1200" b="0">
                          <a:solidFill>
                            <a:srgbClr val="111827"/>
                          </a:solidFill>
                          <a:latin typeface="Times New Roman"/>
                        </a:rPr>
                        <a:t>Unit tests: exact formula, window roll-off, counter reset</a:t>
                      </a:r>
                    </a:p>
                  </a:txBody>
                  <a:tcPr marL="73152" marR="73152" marT="18288" marB="18288" anchor="ctr">
                    <a:solidFill>
                      <a:srgbClr val="FFFFFF"/>
                    </a:solidFill>
                  </a:tcPr>
                </a:tc>
                <a:tc>
                  <a:txBody>
                    <a:bodyPr/>
                    <a:lstStyle/>
                    <a:p>
                      <a:pPr algn="l"/>
                      <a:r>
                        <a:rPr sz="1200" b="1">
                          <a:solidFill>
                            <a:srgbClr val="375623"/>
                          </a:solidFill>
                          <a:latin typeface="Times New Roman"/>
                        </a:rPr>
                        <a:t>Pass</a:t>
                      </a:r>
                    </a:p>
                  </a:txBody>
                  <a:tcPr marL="73152" marR="73152" marT="18288" marB="18288" anchor="ctr">
                    <a:solidFill>
                      <a:srgbClr val="FFFFFF"/>
                    </a:solidFill>
                  </a:tcPr>
                </a:tc>
              </a:tr>
              <a:tr h="324612">
                <a:tc>
                  <a:txBody>
                    <a:bodyPr/>
                    <a:lstStyle/>
                    <a:p>
                      <a:pPr algn="l"/>
                      <a:r>
                        <a:rPr sz="1200" b="1">
                          <a:solidFill>
                            <a:srgbClr val="111827"/>
                          </a:solidFill>
                          <a:latin typeface="Times New Roman"/>
                        </a:rPr>
                        <a:t>FR-03</a:t>
                      </a:r>
                    </a:p>
                  </a:txBody>
                  <a:tcPr marL="73152" marR="73152" marT="18288" marB="18288" anchor="ctr">
                    <a:solidFill>
                      <a:srgbClr val="F1F5F9"/>
                    </a:solidFill>
                  </a:tcPr>
                </a:tc>
                <a:tc>
                  <a:txBody>
                    <a:bodyPr/>
                    <a:lstStyle/>
                    <a:p>
                      <a:pPr algn="l"/>
                      <a:r>
                        <a:rPr sz="1200" b="0">
                          <a:solidFill>
                            <a:srgbClr val="111827"/>
                          </a:solidFill>
                          <a:latin typeface="Times New Roman"/>
                        </a:rPr>
                        <a:t>Rule-based alerting</a:t>
                      </a:r>
                    </a:p>
                  </a:txBody>
                  <a:tcPr marL="73152" marR="73152" marT="18288" marB="18288" anchor="ctr">
                    <a:solidFill>
                      <a:srgbClr val="F1F5F9"/>
                    </a:solidFill>
                  </a:tcPr>
                </a:tc>
                <a:tc>
                  <a:txBody>
                    <a:bodyPr/>
                    <a:lstStyle/>
                    <a:p>
                      <a:pPr algn="l"/>
                      <a:r>
                        <a:rPr sz="1200" b="0">
                          <a:solidFill>
                            <a:srgbClr val="111827"/>
                          </a:solidFill>
                          <a:latin typeface="Times New Roman"/>
                        </a:rPr>
                        <a:t>Unit test on limits; smoke: Red when temperature &gt; 85 °C</a:t>
                      </a:r>
                    </a:p>
                  </a:txBody>
                  <a:tcPr marL="73152" marR="73152" marT="18288" marB="18288" anchor="ctr">
                    <a:solidFill>
                      <a:srgbClr val="F1F5F9"/>
                    </a:solidFill>
                  </a:tcPr>
                </a:tc>
                <a:tc>
                  <a:txBody>
                    <a:bodyPr/>
                    <a:lstStyle/>
                    <a:p>
                      <a:pPr algn="l"/>
                      <a:r>
                        <a:rPr sz="1200" b="1">
                          <a:solidFill>
                            <a:srgbClr val="375623"/>
                          </a:solidFill>
                          <a:latin typeface="Times New Roman"/>
                        </a:rPr>
                        <a:t>Pass</a:t>
                      </a:r>
                    </a:p>
                  </a:txBody>
                  <a:tcPr marL="73152" marR="73152" marT="18288" marB="18288" anchor="ctr">
                    <a:solidFill>
                      <a:srgbClr val="F1F5F9"/>
                    </a:solidFill>
                  </a:tcPr>
                </a:tc>
              </a:tr>
              <a:tr h="324612">
                <a:tc>
                  <a:txBody>
                    <a:bodyPr/>
                    <a:lstStyle/>
                    <a:p>
                      <a:pPr algn="l"/>
                      <a:r>
                        <a:rPr sz="1200" b="1">
                          <a:solidFill>
                            <a:srgbClr val="111827"/>
                          </a:solidFill>
                          <a:latin typeface="Times New Roman"/>
                        </a:rPr>
                        <a:t>FR-04</a:t>
                      </a:r>
                    </a:p>
                  </a:txBody>
                  <a:tcPr marL="73152" marR="73152" marT="18288" marB="18288" anchor="ctr">
                    <a:solidFill>
                      <a:srgbClr val="FFFFFF"/>
                    </a:solidFill>
                  </a:tcPr>
                </a:tc>
                <a:tc>
                  <a:txBody>
                    <a:bodyPr/>
                    <a:lstStyle/>
                    <a:p>
                      <a:pPr algn="l"/>
                      <a:r>
                        <a:rPr sz="1200" b="0">
                          <a:solidFill>
                            <a:srgbClr val="111827"/>
                          </a:solidFill>
                          <a:latin typeface="Times New Roman"/>
                        </a:rPr>
                        <a:t>ML anomaly scoring</a:t>
                      </a:r>
                    </a:p>
                  </a:txBody>
                  <a:tcPr marL="73152" marR="73152" marT="18288" marB="18288" anchor="ctr">
                    <a:solidFill>
                      <a:srgbClr val="FFFFFF"/>
                    </a:solidFill>
                  </a:tcPr>
                </a:tc>
                <a:tc>
                  <a:txBody>
                    <a:bodyPr/>
                    <a:lstStyle/>
                    <a:p>
                      <a:pPr algn="l"/>
                      <a:r>
                        <a:rPr sz="1200" b="0">
                          <a:solidFill>
                            <a:srgbClr val="111827"/>
                          </a:solidFill>
                          <a:latin typeface="Times New Roman"/>
                        </a:rPr>
                        <a:t>Unit test: normal low, fault high, fast; smoke: Yellow</a:t>
                      </a:r>
                    </a:p>
                  </a:txBody>
                  <a:tcPr marL="73152" marR="73152" marT="18288" marB="18288" anchor="ctr">
                    <a:solidFill>
                      <a:srgbClr val="FFFFFF"/>
                    </a:solidFill>
                  </a:tcPr>
                </a:tc>
                <a:tc>
                  <a:txBody>
                    <a:bodyPr/>
                    <a:lstStyle/>
                    <a:p>
                      <a:pPr algn="l"/>
                      <a:r>
                        <a:rPr sz="1200" b="1">
                          <a:solidFill>
                            <a:srgbClr val="375623"/>
                          </a:solidFill>
                          <a:latin typeface="Times New Roman"/>
                        </a:rPr>
                        <a:t>Pass</a:t>
                      </a:r>
                    </a:p>
                  </a:txBody>
                  <a:tcPr marL="73152" marR="73152" marT="18288" marB="18288" anchor="ctr">
                    <a:solidFill>
                      <a:srgbClr val="FFFFFF"/>
                    </a:solidFill>
                  </a:tcPr>
                </a:tc>
              </a:tr>
              <a:tr h="324612">
                <a:tc>
                  <a:txBody>
                    <a:bodyPr/>
                    <a:lstStyle/>
                    <a:p>
                      <a:pPr algn="l"/>
                      <a:r>
                        <a:rPr sz="1200" b="1">
                          <a:solidFill>
                            <a:srgbClr val="111827"/>
                          </a:solidFill>
                          <a:latin typeface="Times New Roman"/>
                        </a:rPr>
                        <a:t>FR-05</a:t>
                      </a:r>
                    </a:p>
                  </a:txBody>
                  <a:tcPr marL="73152" marR="73152" marT="18288" marB="18288" anchor="ctr">
                    <a:solidFill>
                      <a:srgbClr val="F1F5F9"/>
                    </a:solidFill>
                  </a:tcPr>
                </a:tc>
                <a:tc>
                  <a:txBody>
                    <a:bodyPr/>
                    <a:lstStyle/>
                    <a:p>
                      <a:pPr algn="l"/>
                      <a:r>
                        <a:rPr sz="1200" b="0">
                          <a:solidFill>
                            <a:srgbClr val="111827"/>
                          </a:solidFill>
                          <a:latin typeface="Times New Roman"/>
                        </a:rPr>
                        <a:t>Interactive dashboard</a:t>
                      </a:r>
                    </a:p>
                  </a:txBody>
                  <a:tcPr marL="73152" marR="73152" marT="18288" marB="18288" anchor="ctr">
                    <a:solidFill>
                      <a:srgbClr val="F1F5F9"/>
                    </a:solidFill>
                  </a:tcPr>
                </a:tc>
                <a:tc>
                  <a:txBody>
                    <a:bodyPr/>
                    <a:lstStyle/>
                    <a:p>
                      <a:pPr algn="l"/>
                      <a:r>
                        <a:rPr sz="1200" b="0">
                          <a:solidFill>
                            <a:srgbClr val="111827"/>
                          </a:solidFill>
                          <a:latin typeface="Times New Roman"/>
                        </a:rPr>
                        <a:t>3-browser check, axe audit, screenshots of every page</a:t>
                      </a:r>
                    </a:p>
                  </a:txBody>
                  <a:tcPr marL="73152" marR="73152" marT="18288" marB="18288" anchor="ctr">
                    <a:solidFill>
                      <a:srgbClr val="F1F5F9"/>
                    </a:solidFill>
                  </a:tcPr>
                </a:tc>
                <a:tc>
                  <a:txBody>
                    <a:bodyPr/>
                    <a:lstStyle/>
                    <a:p>
                      <a:pPr algn="l"/>
                      <a:r>
                        <a:rPr sz="1200" b="1">
                          <a:solidFill>
                            <a:srgbClr val="375623"/>
                          </a:solidFill>
                          <a:latin typeface="Times New Roman"/>
                        </a:rPr>
                        <a:t>Pass</a:t>
                      </a:r>
                    </a:p>
                  </a:txBody>
                  <a:tcPr marL="73152" marR="73152" marT="18288" marB="18288" anchor="ctr">
                    <a:solidFill>
                      <a:srgbClr val="F1F5F9"/>
                    </a:solidFill>
                  </a:tcPr>
                </a:tc>
              </a:tr>
              <a:tr h="324612">
                <a:tc>
                  <a:txBody>
                    <a:bodyPr/>
                    <a:lstStyle/>
                    <a:p>
                      <a:pPr algn="l"/>
                      <a:r>
                        <a:rPr sz="1200" b="1">
                          <a:solidFill>
                            <a:srgbClr val="111827"/>
                          </a:solidFill>
                          <a:latin typeface="Times New Roman"/>
                        </a:rPr>
                        <a:t>FR-06</a:t>
                      </a:r>
                    </a:p>
                  </a:txBody>
                  <a:tcPr marL="73152" marR="73152" marT="18288" marB="18288" anchor="ctr">
                    <a:solidFill>
                      <a:srgbClr val="FFFFFF"/>
                    </a:solidFill>
                  </a:tcPr>
                </a:tc>
                <a:tc>
                  <a:txBody>
                    <a:bodyPr/>
                    <a:lstStyle/>
                    <a:p>
                      <a:pPr algn="l"/>
                      <a:r>
                        <a:rPr sz="1200" b="0">
                          <a:solidFill>
                            <a:srgbClr val="111827"/>
                          </a:solidFill>
                          <a:latin typeface="Times New Roman"/>
                        </a:rPr>
                        <a:t>Maintenance logging</a:t>
                      </a:r>
                    </a:p>
                  </a:txBody>
                  <a:tcPr marL="73152" marR="73152" marT="18288" marB="18288" anchor="ctr">
                    <a:solidFill>
                      <a:srgbClr val="FFFFFF"/>
                    </a:solidFill>
                  </a:tcPr>
                </a:tc>
                <a:tc>
                  <a:txBody>
                    <a:bodyPr/>
                    <a:lstStyle/>
                    <a:p>
                      <a:pPr algn="l"/>
                      <a:r>
                        <a:rPr sz="1200" b="0">
                          <a:solidFill>
                            <a:srgbClr val="111827"/>
                          </a:solidFill>
                          <a:latin typeface="Times New Roman"/>
                        </a:rPr>
                        <a:t>API tests (CRUD, acknowledge, feedback); live PostgreSQL round-trip</a:t>
                      </a:r>
                    </a:p>
                  </a:txBody>
                  <a:tcPr marL="73152" marR="73152" marT="18288" marB="18288" anchor="ctr">
                    <a:solidFill>
                      <a:srgbClr val="FFFFFF"/>
                    </a:solidFill>
                  </a:tcPr>
                </a:tc>
                <a:tc>
                  <a:txBody>
                    <a:bodyPr/>
                    <a:lstStyle/>
                    <a:p>
                      <a:pPr algn="l"/>
                      <a:r>
                        <a:rPr sz="1200" b="1">
                          <a:solidFill>
                            <a:srgbClr val="375623"/>
                          </a:solidFill>
                          <a:latin typeface="Times New Roman"/>
                        </a:rPr>
                        <a:t>Pass</a:t>
                      </a:r>
                    </a:p>
                  </a:txBody>
                  <a:tcPr marL="73152" marR="73152" marT="18288" marB="18288" anchor="ctr">
                    <a:solidFill>
                      <a:srgbClr val="FFFFFF"/>
                    </a:solidFill>
                  </a:tcPr>
                </a:tc>
              </a:tr>
              <a:tr h="324612">
                <a:tc>
                  <a:txBody>
                    <a:bodyPr/>
                    <a:lstStyle/>
                    <a:p>
                      <a:pPr algn="l"/>
                      <a:r>
                        <a:rPr sz="1200" b="1">
                          <a:solidFill>
                            <a:srgbClr val="111827"/>
                          </a:solidFill>
                          <a:latin typeface="Times New Roman"/>
                        </a:rPr>
                        <a:t>FR-07</a:t>
                      </a:r>
                    </a:p>
                  </a:txBody>
                  <a:tcPr marL="73152" marR="73152" marT="18288" marB="18288" anchor="ctr">
                    <a:solidFill>
                      <a:srgbClr val="F1F5F9"/>
                    </a:solidFill>
                  </a:tcPr>
                </a:tc>
                <a:tc>
                  <a:txBody>
                    <a:bodyPr/>
                    <a:lstStyle/>
                    <a:p>
                      <a:pPr algn="l"/>
                      <a:r>
                        <a:rPr sz="1200" b="0">
                          <a:solidFill>
                            <a:srgbClr val="111827"/>
                          </a:solidFill>
                          <a:latin typeface="Times New Roman"/>
                        </a:rPr>
                        <a:t>What-If simulator</a:t>
                      </a:r>
                    </a:p>
                  </a:txBody>
                  <a:tcPr marL="73152" marR="73152" marT="18288" marB="18288" anchor="ctr">
                    <a:solidFill>
                      <a:srgbClr val="F1F5F9"/>
                    </a:solidFill>
                  </a:tcPr>
                </a:tc>
                <a:tc>
                  <a:txBody>
                    <a:bodyPr/>
                    <a:lstStyle/>
                    <a:p>
                      <a:pPr algn="l"/>
                      <a:r>
                        <a:rPr sz="1200" b="0">
                          <a:solidFill>
                            <a:srgbClr val="111827"/>
                          </a:solidFill>
                          <a:latin typeface="Times New Roman"/>
                        </a:rPr>
                        <a:t>Unit tests (slope, projection); smoke: Orange with ETA before Red</a:t>
                      </a:r>
                    </a:p>
                  </a:txBody>
                  <a:tcPr marL="73152" marR="73152" marT="18288" marB="18288" anchor="ctr">
                    <a:solidFill>
                      <a:srgbClr val="F1F5F9"/>
                    </a:solidFill>
                  </a:tcPr>
                </a:tc>
                <a:tc>
                  <a:txBody>
                    <a:bodyPr/>
                    <a:lstStyle/>
                    <a:p>
                      <a:pPr algn="l"/>
                      <a:r>
                        <a:rPr sz="1200" b="1">
                          <a:solidFill>
                            <a:srgbClr val="375623"/>
                          </a:solidFill>
                          <a:latin typeface="Times New Roman"/>
                        </a:rPr>
                        <a:t>Pass</a:t>
                      </a:r>
                    </a:p>
                  </a:txBody>
                  <a:tcPr marL="73152" marR="73152" marT="18288" marB="18288" anchor="ctr">
                    <a:solidFill>
                      <a:srgbClr val="F1F5F9"/>
                    </a:solidFill>
                  </a:tcPr>
                </a:tc>
              </a:tr>
              <a:tr h="324612">
                <a:tc>
                  <a:txBody>
                    <a:bodyPr/>
                    <a:lstStyle/>
                    <a:p>
                      <a:pPr algn="l"/>
                      <a:r>
                        <a:rPr sz="1200" b="1">
                          <a:solidFill>
                            <a:srgbClr val="111827"/>
                          </a:solidFill>
                          <a:latin typeface="Times New Roman"/>
                        </a:rPr>
                        <a:t>FR-08</a:t>
                      </a:r>
                    </a:p>
                  </a:txBody>
                  <a:tcPr marL="73152" marR="73152" marT="18288" marB="18288" anchor="ctr">
                    <a:solidFill>
                      <a:srgbClr val="FFFFFF"/>
                    </a:solidFill>
                  </a:tcPr>
                </a:tc>
                <a:tc>
                  <a:txBody>
                    <a:bodyPr/>
                    <a:lstStyle/>
                    <a:p>
                      <a:pPr algn="l"/>
                      <a:r>
                        <a:rPr sz="1200" b="0">
                          <a:solidFill>
                            <a:srgbClr val="111827"/>
                          </a:solidFill>
                          <a:latin typeface="Times New Roman"/>
                        </a:rPr>
                        <a:t>Historical reporting</a:t>
                      </a:r>
                    </a:p>
                  </a:txBody>
                  <a:tcPr marL="73152" marR="73152" marT="18288" marB="18288" anchor="ctr">
                    <a:solidFill>
                      <a:srgbClr val="FFFFFF"/>
                    </a:solidFill>
                  </a:tcPr>
                </a:tc>
                <a:tc>
                  <a:txBody>
                    <a:bodyPr/>
                    <a:lstStyle/>
                    <a:p>
                      <a:pPr algn="l"/>
                      <a:r>
                        <a:rPr sz="1200" b="0">
                          <a:solidFill>
                            <a:srgbClr val="111827"/>
                          </a:solidFill>
                          <a:latin typeface="Times New Roman"/>
                        </a:rPr>
                        <a:t>API test: OEE trend, downtime and ML-accuracy reports</a:t>
                      </a:r>
                    </a:p>
                  </a:txBody>
                  <a:tcPr marL="73152" marR="73152" marT="18288" marB="18288" anchor="ctr">
                    <a:solidFill>
                      <a:srgbClr val="FFFFFF"/>
                    </a:solidFill>
                  </a:tcPr>
                </a:tc>
                <a:tc>
                  <a:txBody>
                    <a:bodyPr/>
                    <a:lstStyle/>
                    <a:p>
                      <a:pPr algn="l"/>
                      <a:r>
                        <a:rPr sz="1200" b="1">
                          <a:solidFill>
                            <a:srgbClr val="375623"/>
                          </a:solidFill>
                          <a:latin typeface="Times New Roman"/>
                        </a:rPr>
                        <a:t>Pass</a:t>
                      </a:r>
                    </a:p>
                  </a:txBody>
                  <a:tcPr marL="73152" marR="73152" marT="18288" marB="18288" anchor="ctr">
                    <a:solidFill>
                      <a:srgbClr val="FFFFFF"/>
                    </a:solidFill>
                  </a:tcPr>
                </a:tc>
              </a:tr>
              <a:tr h="324612">
                <a:tc>
                  <a:txBody>
                    <a:bodyPr/>
                    <a:lstStyle/>
                    <a:p>
                      <a:pPr algn="l"/>
                      <a:r>
                        <a:rPr sz="1200" b="1">
                          <a:solidFill>
                            <a:srgbClr val="111827"/>
                          </a:solidFill>
                          <a:latin typeface="Times New Roman"/>
                        </a:rPr>
                        <a:t>FR-09</a:t>
                      </a:r>
                    </a:p>
                  </a:txBody>
                  <a:tcPr marL="73152" marR="73152" marT="18288" marB="18288" anchor="ctr">
                    <a:solidFill>
                      <a:srgbClr val="F1F5F9"/>
                    </a:solidFill>
                  </a:tcPr>
                </a:tc>
                <a:tc>
                  <a:txBody>
                    <a:bodyPr/>
                    <a:lstStyle/>
                    <a:p>
                      <a:pPr algn="l"/>
                      <a:r>
                        <a:rPr sz="1200" b="0">
                          <a:solidFill>
                            <a:srgbClr val="111827"/>
                          </a:solidFill>
                          <a:latin typeface="Times New Roman"/>
                        </a:rPr>
                        <a:t>Telemetry validation</a:t>
                      </a:r>
                    </a:p>
                  </a:txBody>
                  <a:tcPr marL="73152" marR="73152" marT="18288" marB="18288" anchor="ctr">
                    <a:solidFill>
                      <a:srgbClr val="F1F5F9"/>
                    </a:solidFill>
                  </a:tcPr>
                </a:tc>
                <a:tc>
                  <a:txBody>
                    <a:bodyPr/>
                    <a:lstStyle/>
                    <a:p>
                      <a:pPr algn="l"/>
                      <a:r>
                        <a:rPr sz="1200" b="0">
                          <a:solidFill>
                            <a:srgbClr val="111827"/>
                          </a:solidFill>
                          <a:latin typeface="Times New Roman"/>
                        </a:rPr>
                        <a:t>Unit and API tests reject bad payloads</a:t>
                      </a:r>
                    </a:p>
                  </a:txBody>
                  <a:tcPr marL="73152" marR="73152" marT="18288" marB="18288" anchor="ctr">
                    <a:solidFill>
                      <a:srgbClr val="F1F5F9"/>
                    </a:solidFill>
                  </a:tcPr>
                </a:tc>
                <a:tc>
                  <a:txBody>
                    <a:bodyPr/>
                    <a:lstStyle/>
                    <a:p>
                      <a:pPr algn="l"/>
                      <a:r>
                        <a:rPr sz="1200" b="1">
                          <a:solidFill>
                            <a:srgbClr val="375623"/>
                          </a:solidFill>
                          <a:latin typeface="Times New Roman"/>
                        </a:rPr>
                        <a:t>Pass</a:t>
                      </a:r>
                    </a:p>
                  </a:txBody>
                  <a:tcPr marL="73152" marR="73152" marT="18288" marB="18288" anchor="ctr">
                    <a:solidFill>
                      <a:srgbClr val="F1F5F9"/>
                    </a:solidFill>
                  </a:tcPr>
                </a:tc>
              </a:tr>
              <a:tr h="324612">
                <a:tc>
                  <a:txBody>
                    <a:bodyPr/>
                    <a:lstStyle/>
                    <a:p>
                      <a:pPr algn="l"/>
                      <a:r>
                        <a:rPr sz="1200" b="1">
                          <a:solidFill>
                            <a:srgbClr val="111827"/>
                          </a:solidFill>
                          <a:latin typeface="Times New Roman"/>
                        </a:rPr>
                        <a:t>FR-10</a:t>
                      </a:r>
                    </a:p>
                  </a:txBody>
                  <a:tcPr marL="73152" marR="73152" marT="18288" marB="18288" anchor="ctr">
                    <a:solidFill>
                      <a:srgbClr val="FFFFFF"/>
                    </a:solidFill>
                  </a:tcPr>
                </a:tc>
                <a:tc>
                  <a:txBody>
                    <a:bodyPr/>
                    <a:lstStyle/>
                    <a:p>
                      <a:pPr algn="l"/>
                      <a:r>
                        <a:rPr sz="1200" b="0">
                          <a:solidFill>
                            <a:srgbClr val="111827"/>
                          </a:solidFill>
                          <a:latin typeface="Times New Roman"/>
                        </a:rPr>
                        <a:t>Authentication</a:t>
                      </a:r>
                    </a:p>
                  </a:txBody>
                  <a:tcPr marL="73152" marR="73152" marT="18288" marB="18288" anchor="ctr">
                    <a:solidFill>
                      <a:srgbClr val="FFFFFF"/>
                    </a:solidFill>
                  </a:tcPr>
                </a:tc>
                <a:tc>
                  <a:txBody>
                    <a:bodyPr/>
                    <a:lstStyle/>
                    <a:p>
                      <a:pPr algn="l"/>
                      <a:r>
                        <a:rPr sz="1200" b="0">
                          <a:solidFill>
                            <a:srgbClr val="111827"/>
                          </a:solidFill>
                          <a:latin typeface="Times New Roman"/>
                        </a:rPr>
                        <a:t>Smoke: HTTP 401 without login; role and throttle tests</a:t>
                      </a:r>
                    </a:p>
                  </a:txBody>
                  <a:tcPr marL="73152" marR="73152" marT="18288" marB="18288" anchor="ctr">
                    <a:solidFill>
                      <a:srgbClr val="FFFFFF"/>
                    </a:solidFill>
                  </a:tcPr>
                </a:tc>
                <a:tc>
                  <a:txBody>
                    <a:bodyPr/>
                    <a:lstStyle/>
                    <a:p>
                      <a:pPr algn="l"/>
                      <a:r>
                        <a:rPr sz="1200" b="1">
                          <a:solidFill>
                            <a:srgbClr val="375623"/>
                          </a:solidFill>
                          <a:latin typeface="Times New Roman"/>
                        </a:rPr>
                        <a:t>Pass</a:t>
                      </a:r>
                    </a:p>
                  </a:txBody>
                  <a:tcPr marL="73152" marR="73152" marT="18288" marB="18288" anchor="ctr">
                    <a:solidFill>
                      <a:srgbClr val="FFFFFF"/>
                    </a:solidFill>
                  </a:tcPr>
                </a:tc>
              </a:tr>
              <a:tr h="324612">
                <a:tc>
                  <a:txBody>
                    <a:bodyPr/>
                    <a:lstStyle/>
                    <a:p>
                      <a:pPr algn="l"/>
                      <a:r>
                        <a:rPr sz="1200" b="1">
                          <a:solidFill>
                            <a:srgbClr val="111827"/>
                          </a:solidFill>
                          <a:latin typeface="Times New Roman"/>
                        </a:rPr>
                        <a:t>FR-11</a:t>
                      </a:r>
                    </a:p>
                  </a:txBody>
                  <a:tcPr marL="73152" marR="73152" marT="18288" marB="18288" anchor="ctr">
                    <a:solidFill>
                      <a:srgbClr val="F1F5F9"/>
                    </a:solidFill>
                  </a:tcPr>
                </a:tc>
                <a:tc>
                  <a:txBody>
                    <a:bodyPr/>
                    <a:lstStyle/>
                    <a:p>
                      <a:pPr algn="l"/>
                      <a:r>
                        <a:rPr sz="1200" b="0">
                          <a:solidFill>
                            <a:srgbClr val="111827"/>
                          </a:solidFill>
                          <a:latin typeface="Times New Roman"/>
                        </a:rPr>
                        <a:t>Scalability 5 → 20</a:t>
                      </a:r>
                    </a:p>
                  </a:txBody>
                  <a:tcPr marL="73152" marR="73152" marT="18288" marB="18288" anchor="ctr">
                    <a:solidFill>
                      <a:srgbClr val="F1F5F9"/>
                    </a:solidFill>
                  </a:tcPr>
                </a:tc>
                <a:tc>
                  <a:txBody>
                    <a:bodyPr/>
                    <a:lstStyle/>
                    <a:p>
                      <a:pPr algn="l"/>
                      <a:r>
                        <a:rPr sz="1200" b="0">
                          <a:solidFill>
                            <a:srgbClr val="111827"/>
                          </a:solidFill>
                          <a:latin typeface="Times New Roman"/>
                        </a:rPr>
                        <a:t>Run with 20 machines: all live, p95 update 0.51 s</a:t>
                      </a:r>
                    </a:p>
                  </a:txBody>
                  <a:tcPr marL="73152" marR="73152" marT="18288" marB="18288" anchor="ctr">
                    <a:solidFill>
                      <a:srgbClr val="F1F5F9"/>
                    </a:solidFill>
                  </a:tcPr>
                </a:tc>
                <a:tc>
                  <a:txBody>
                    <a:bodyPr/>
                    <a:lstStyle/>
                    <a:p>
                      <a:pPr algn="l"/>
                      <a:r>
                        <a:rPr sz="1200" b="1">
                          <a:solidFill>
                            <a:srgbClr val="375623"/>
                          </a:solidFill>
                          <a:latin typeface="Times New Roman"/>
                        </a:rPr>
                        <a:t>Pass</a:t>
                      </a:r>
                    </a:p>
                  </a:txBody>
                  <a:tcPr marL="73152" marR="73152" marT="18288" marB="18288" anchor="ctr">
                    <a:solidFill>
                      <a:srgbClr val="F1F5F9"/>
                    </a:solidFill>
                  </a:tcPr>
                </a:tc>
              </a:tr>
              <a:tr h="324612">
                <a:tc>
                  <a:txBody>
                    <a:bodyPr/>
                    <a:lstStyle/>
                    <a:p>
                      <a:pPr algn="l"/>
                      <a:r>
                        <a:rPr sz="1200" b="1">
                          <a:solidFill>
                            <a:srgbClr val="111827"/>
                          </a:solidFill>
                          <a:latin typeface="Times New Roman"/>
                        </a:rPr>
                        <a:t>FR-12</a:t>
                      </a:r>
                    </a:p>
                  </a:txBody>
                  <a:tcPr marL="73152" marR="73152" marT="18288" marB="18288" anchor="ctr">
                    <a:solidFill>
                      <a:srgbClr val="FFFFFF"/>
                    </a:solidFill>
                  </a:tcPr>
                </a:tc>
                <a:tc>
                  <a:txBody>
                    <a:bodyPr/>
                    <a:lstStyle/>
                    <a:p>
                      <a:pPr algn="l"/>
                      <a:r>
                        <a:rPr sz="1200" b="0">
                          <a:solidFill>
                            <a:srgbClr val="111827"/>
                          </a:solidFill>
                          <a:latin typeface="Times New Roman"/>
                        </a:rPr>
                        <a:t>Auto-documentation</a:t>
                      </a:r>
                    </a:p>
                  </a:txBody>
                  <a:tcPr marL="73152" marR="73152" marT="18288" marB="18288" anchor="ctr">
                    <a:solidFill>
                      <a:srgbClr val="FFFFFF"/>
                    </a:solidFill>
                  </a:tcPr>
                </a:tc>
                <a:tc>
                  <a:txBody>
                    <a:bodyPr/>
                    <a:lstStyle/>
                    <a:p>
                      <a:pPr algn="l"/>
                      <a:r>
                        <a:rPr sz="1200" b="0">
                          <a:solidFill>
                            <a:srgbClr val="111827"/>
                          </a:solidFill>
                          <a:latin typeface="Times New Roman"/>
                        </a:rPr>
                        <a:t>API test: /docs and OpenAPI schema served</a:t>
                      </a:r>
                    </a:p>
                  </a:txBody>
                  <a:tcPr marL="73152" marR="73152" marT="18288" marB="18288" anchor="ctr">
                    <a:solidFill>
                      <a:srgbClr val="FFFFFF"/>
                    </a:solidFill>
                  </a:tcPr>
                </a:tc>
                <a:tc>
                  <a:txBody>
                    <a:bodyPr/>
                    <a:lstStyle/>
                    <a:p>
                      <a:pPr algn="l"/>
                      <a:r>
                        <a:rPr sz="1200" b="1">
                          <a:solidFill>
                            <a:srgbClr val="375623"/>
                          </a:solidFill>
                          <a:latin typeface="Times New Roman"/>
                        </a:rPr>
                        <a:t>Pass</a:t>
                      </a:r>
                    </a:p>
                  </a:txBody>
                  <a:tcPr marL="73152" marR="73152" marT="18288" marB="18288" anchor="ctr">
                    <a:solidFill>
                      <a:srgbClr val="FFFFFF"/>
                    </a:solidFill>
                  </a:tcPr>
                </a:tc>
              </a:tr>
              <a:tr h="324612">
                <a:tc>
                  <a:txBody>
                    <a:bodyPr/>
                    <a:lstStyle/>
                    <a:p>
                      <a:pPr algn="l"/>
                      <a:r>
                        <a:rPr sz="1200" b="1">
                          <a:solidFill>
                            <a:srgbClr val="111827"/>
                          </a:solidFill>
                          <a:latin typeface="Times New Roman"/>
                        </a:rPr>
                        <a:t>NFR-P · R · SC</a:t>
                      </a:r>
                    </a:p>
                  </a:txBody>
                  <a:tcPr marL="73152" marR="73152" marT="18288" marB="18288" anchor="ctr">
                    <a:solidFill>
                      <a:srgbClr val="F1F5F9"/>
                    </a:solidFill>
                  </a:tcPr>
                </a:tc>
                <a:tc>
                  <a:txBody>
                    <a:bodyPr/>
                    <a:lstStyle/>
                    <a:p>
                      <a:pPr algn="l"/>
                      <a:r>
                        <a:rPr sz="1200" b="0">
                          <a:solidFill>
                            <a:srgbClr val="111827"/>
                          </a:solidFill>
                          <a:latin typeface="Times New Roman"/>
                        </a:rPr>
                        <a:t>Speed, resilience, scale</a:t>
                      </a:r>
                    </a:p>
                  </a:txBody>
                  <a:tcPr marL="73152" marR="73152" marT="18288" marB="18288" anchor="ctr">
                    <a:solidFill>
                      <a:srgbClr val="F1F5F9"/>
                    </a:solidFill>
                  </a:tcPr>
                </a:tc>
                <a:tc>
                  <a:txBody>
                    <a:bodyPr/>
                    <a:lstStyle/>
                    <a:p>
                      <a:pPr algn="l"/>
                      <a:r>
                        <a:rPr sz="1200" b="0">
                          <a:solidFill>
                            <a:srgbClr val="111827"/>
                          </a:solidFill>
                          <a:latin typeface="Times New Roman"/>
                        </a:rPr>
                        <a:t>p95 0.51 s · ML ≤ 25 ms · ML outage test · reconnect 1.9 s · 50 / 50 clients</a:t>
                      </a:r>
                    </a:p>
                  </a:txBody>
                  <a:tcPr marL="73152" marR="73152" marT="18288" marB="18288" anchor="ctr">
                    <a:solidFill>
                      <a:srgbClr val="F1F5F9"/>
                    </a:solidFill>
                  </a:tcPr>
                </a:tc>
                <a:tc>
                  <a:txBody>
                    <a:bodyPr/>
                    <a:lstStyle/>
                    <a:p>
                      <a:pPr algn="l"/>
                      <a:r>
                        <a:rPr sz="1200" b="1">
                          <a:solidFill>
                            <a:srgbClr val="375623"/>
                          </a:solidFill>
                          <a:latin typeface="Times New Roman"/>
                        </a:rPr>
                        <a:t>Pass</a:t>
                      </a:r>
                    </a:p>
                  </a:txBody>
                  <a:tcPr marL="73152" marR="73152" marT="18288" marB="18288" anchor="ctr">
                    <a:solidFill>
                      <a:srgbClr val="F1F5F9"/>
                    </a:solidFill>
                  </a:tcPr>
                </a:tc>
              </a:tr>
              <a:tr h="324612">
                <a:tc>
                  <a:txBody>
                    <a:bodyPr/>
                    <a:lstStyle/>
                    <a:p>
                      <a:pPr algn="l"/>
                      <a:r>
                        <a:rPr sz="1200" b="1">
                          <a:solidFill>
                            <a:srgbClr val="111827"/>
                          </a:solidFill>
                          <a:latin typeface="Times New Roman"/>
                        </a:rPr>
                        <a:t>NFR-M1, R3</a:t>
                      </a:r>
                    </a:p>
                  </a:txBody>
                  <a:tcPr marL="73152" marR="73152" marT="18288" marB="18288" anchor="ctr">
                    <a:solidFill>
                      <a:srgbClr val="FFFFFF"/>
                    </a:solidFill>
                  </a:tcPr>
                </a:tc>
                <a:tc>
                  <a:txBody>
                    <a:bodyPr/>
                    <a:lstStyle/>
                    <a:p>
                      <a:pPr algn="l"/>
                      <a:r>
                        <a:rPr sz="1200" b="0">
                          <a:solidFill>
                            <a:srgbClr val="111827"/>
                          </a:solidFill>
                          <a:latin typeface="Times New Roman"/>
                        </a:rPr>
                        <a:t>One command, persistent volumes</a:t>
                      </a:r>
                    </a:p>
                  </a:txBody>
                  <a:tcPr marL="73152" marR="73152" marT="18288" marB="18288" anchor="ctr">
                    <a:solidFill>
                      <a:srgbClr val="FFFFFF"/>
                    </a:solidFill>
                  </a:tcPr>
                </a:tc>
                <a:tc>
                  <a:txBody>
                    <a:bodyPr/>
                    <a:lstStyle/>
                    <a:p>
                      <a:pPr algn="l"/>
                      <a:r>
                        <a:rPr sz="1200" b="0">
                          <a:solidFill>
                            <a:srgbClr val="111827"/>
                          </a:solidFill>
                          <a:latin typeface="Times New Roman"/>
                        </a:rPr>
                        <a:t>Compose files and volumes written; full-stack run to be confirmed</a:t>
                      </a:r>
                    </a:p>
                  </a:txBody>
                  <a:tcPr marL="73152" marR="73152" marT="18288" marB="18288" anchor="ctr">
                    <a:solidFill>
                      <a:srgbClr val="FFFFFF"/>
                    </a:solidFill>
                  </a:tcPr>
                </a:tc>
                <a:tc>
                  <a:txBody>
                    <a:bodyPr/>
                    <a:lstStyle/>
                    <a:p>
                      <a:pPr algn="l"/>
                      <a:r>
                        <a:rPr sz="1200" b="1">
                          <a:solidFill>
                            <a:srgbClr val="C00000"/>
                          </a:solidFill>
                          <a:latin typeface="Times New Roman"/>
                        </a:rPr>
                        <a:t>To confirm</a:t>
                      </a:r>
                    </a:p>
                  </a:txBody>
                  <a:tcPr marL="73152" marR="73152" marT="18288" marB="18288"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Advantages, Limitations &amp; Applications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97280"/>
            <a:ext cx="3185159" cy="4526280"/>
          </a:xfrm>
          <a:prstGeom prst="roundRect">
            <a:avLst>
              <a:gd name="adj" fmla="val 4019"/>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TextBox 4"/>
          <p:cNvSpPr txBox="1"/>
          <p:nvPr/>
        </p:nvSpPr>
        <p:spPr>
          <a:xfrm>
            <a:off x="1947672" y="1225295"/>
            <a:ext cx="2855975" cy="4306824"/>
          </a:xfrm>
          <a:prstGeom prst="rect">
            <a:avLst/>
          </a:prstGeom>
          <a:noFill/>
        </p:spPr>
        <p:txBody>
          <a:bodyPr wrap="square" lIns="0" rIns="0" tIns="0" bIns="0" anchor="t">
            <a:noAutofit/>
          </a:bodyPr>
          <a:lstStyle/>
          <a:p>
            <a:pPr algn="l">
              <a:spcBef>
                <a:spcPts val="0"/>
              </a:spcBef>
              <a:spcAft>
                <a:spcPts val="600"/>
              </a:spcAft>
            </a:pPr>
            <a:r>
              <a:rPr sz="2200" b="1" i="0">
                <a:solidFill>
                  <a:srgbClr val="111827"/>
                </a:solidFill>
                <a:latin typeface="Times New Roman"/>
              </a:rPr>
              <a:t>Advantages</a:t>
            </a:r>
          </a:p>
          <a:p>
            <a:pPr algn="l" marL="201168" indent="-201168">
              <a:spcBef>
                <a:spcPts val="0"/>
              </a:spcBef>
              <a:spcAft>
                <a:spcPts val="1600"/>
              </a:spcAft>
              <a:buFont typeface="Arial"/>
              <a:buChar char="•"/>
            </a:pPr>
            <a:r>
              <a:rPr sz="1800" b="0" i="0">
                <a:solidFill>
                  <a:srgbClr val="111827"/>
                </a:solidFill>
                <a:latin typeface="Times New Roman"/>
              </a:rPr>
              <a:t>Three detection layers: rules, ML and trend line</a:t>
            </a:r>
          </a:p>
          <a:p>
            <a:pPr algn="l" marL="201168" indent="-201168">
              <a:spcBef>
                <a:spcPts val="0"/>
              </a:spcBef>
              <a:spcAft>
                <a:spcPts val="1600"/>
              </a:spcAft>
              <a:buFont typeface="Arial"/>
              <a:buChar char="•"/>
            </a:pPr>
            <a:r>
              <a:rPr sz="1800" b="0" i="0">
                <a:solidFill>
                  <a:srgbClr val="111827"/>
                </a:solidFill>
                <a:latin typeface="Times New Roman"/>
              </a:rPr>
              <a:t>Explainable alerts with an ETA countdown</a:t>
            </a:r>
          </a:p>
          <a:p>
            <a:pPr algn="l" marL="201168" indent="-201168">
              <a:spcBef>
                <a:spcPts val="0"/>
              </a:spcBef>
              <a:spcAft>
                <a:spcPts val="1600"/>
              </a:spcAft>
              <a:buFont typeface="Arial"/>
              <a:buChar char="•"/>
            </a:pPr>
            <a:r>
              <a:rPr sz="1800" b="0" i="0">
                <a:solidFill>
                  <a:srgbClr val="111827"/>
                </a:solidFill>
                <a:latin typeface="Times New Roman"/>
              </a:rPr>
              <a:t>Runs with or without Docker and databases</a:t>
            </a:r>
          </a:p>
          <a:p>
            <a:pPr algn="l" marL="201168" indent="-201168">
              <a:spcBef>
                <a:spcPts val="0"/>
              </a:spcBef>
              <a:spcAft>
                <a:spcPts val="1600"/>
              </a:spcAft>
              <a:buFont typeface="Arial"/>
              <a:buChar char="•"/>
            </a:pPr>
            <a:r>
              <a:rPr sz="1800" b="0" i="0">
                <a:solidFill>
                  <a:srgbClr val="111827"/>
                </a:solidFill>
                <a:latin typeface="Times New Roman"/>
              </a:rPr>
              <a:t>Operator workflow with an audit trail</a:t>
            </a:r>
          </a:p>
          <a:p>
            <a:pPr algn="l" marL="201168" indent="-201168">
              <a:spcBef>
                <a:spcPts val="0"/>
              </a:spcBef>
              <a:spcAft>
                <a:spcPts val="1600"/>
              </a:spcAft>
              <a:buFont typeface="Arial"/>
              <a:buChar char="•"/>
            </a:pPr>
            <a:r>
              <a:rPr sz="1800" b="0" i="0">
                <a:solidFill>
                  <a:srgbClr val="111827"/>
                </a:solidFill>
                <a:latin typeface="Times New Roman"/>
              </a:rPr>
              <a:t>Tested, accessible, documented API</a:t>
            </a:r>
          </a:p>
        </p:txBody>
      </p:sp>
      <p:sp>
        <p:nvSpPr>
          <p:cNvPr id="6" name="Rounded Rectangle 5"/>
          <p:cNvSpPr/>
          <p:nvPr/>
        </p:nvSpPr>
        <p:spPr>
          <a:xfrm>
            <a:off x="5196839" y="1097280"/>
            <a:ext cx="3185159" cy="4526280"/>
          </a:xfrm>
          <a:prstGeom prst="roundRect">
            <a:avLst>
              <a:gd name="adj" fmla="val 4019"/>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7" name="TextBox 6"/>
          <p:cNvSpPr txBox="1"/>
          <p:nvPr/>
        </p:nvSpPr>
        <p:spPr>
          <a:xfrm>
            <a:off x="5361431" y="1225295"/>
            <a:ext cx="2855975" cy="4306824"/>
          </a:xfrm>
          <a:prstGeom prst="rect">
            <a:avLst/>
          </a:prstGeom>
          <a:noFill/>
        </p:spPr>
        <p:txBody>
          <a:bodyPr wrap="square" lIns="0" rIns="0" tIns="0" bIns="0" anchor="t">
            <a:noAutofit/>
          </a:bodyPr>
          <a:lstStyle/>
          <a:p>
            <a:pPr algn="l">
              <a:spcBef>
                <a:spcPts val="0"/>
              </a:spcBef>
              <a:spcAft>
                <a:spcPts val="600"/>
              </a:spcAft>
            </a:pPr>
            <a:r>
              <a:rPr sz="2200" b="1" i="0">
                <a:solidFill>
                  <a:srgbClr val="111827"/>
                </a:solidFill>
                <a:latin typeface="Times New Roman"/>
              </a:rPr>
              <a:t>Limitations</a:t>
            </a:r>
          </a:p>
          <a:p>
            <a:pPr algn="l" marL="201168" indent="-201168">
              <a:spcBef>
                <a:spcPts val="0"/>
              </a:spcBef>
              <a:spcAft>
                <a:spcPts val="1600"/>
              </a:spcAft>
              <a:buFont typeface="Arial"/>
              <a:buChar char="•"/>
            </a:pPr>
            <a:r>
              <a:rPr sz="1800" b="0" i="0">
                <a:solidFill>
                  <a:srgbClr val="111827"/>
                </a:solidFill>
                <a:latin typeface="Times New Roman"/>
              </a:rPr>
              <a:t>Simulated telemetry only (C-01)</a:t>
            </a:r>
          </a:p>
          <a:p>
            <a:pPr algn="l" marL="201168" indent="-201168">
              <a:spcBef>
                <a:spcPts val="0"/>
              </a:spcBef>
              <a:spcAft>
                <a:spcPts val="1600"/>
              </a:spcAft>
              <a:buFont typeface="Arial"/>
              <a:buChar char="•"/>
            </a:pPr>
            <a:r>
              <a:rPr sz="1800" b="0" i="0">
                <a:solidFill>
                  <a:srgbClr val="111827"/>
                </a:solidFill>
                <a:latin typeface="Times New Roman"/>
              </a:rPr>
              <a:t>Model trained once – no online learning (C-04)</a:t>
            </a:r>
          </a:p>
          <a:p>
            <a:pPr algn="l" marL="201168" indent="-201168">
              <a:spcBef>
                <a:spcPts val="0"/>
              </a:spcBef>
              <a:spcAft>
                <a:spcPts val="1600"/>
              </a:spcAft>
              <a:buFont typeface="Arial"/>
              <a:buChar char="•"/>
            </a:pPr>
            <a:r>
              <a:rPr sz="1800" b="0" i="0">
                <a:solidFill>
                  <a:srgbClr val="111827"/>
                </a:solidFill>
                <a:latin typeface="Times New Roman"/>
              </a:rPr>
              <a:t>Single-tenant basic authentication (C-05)</a:t>
            </a:r>
          </a:p>
          <a:p>
            <a:pPr algn="l" marL="201168" indent="-201168">
              <a:spcBef>
                <a:spcPts val="0"/>
              </a:spcBef>
              <a:spcAft>
                <a:spcPts val="1600"/>
              </a:spcAft>
              <a:buFont typeface="Arial"/>
              <a:buChar char="•"/>
            </a:pPr>
            <a:r>
              <a:rPr sz="1800" b="0" i="0">
                <a:solidFill>
                  <a:srgbClr val="111827"/>
                </a:solidFill>
                <a:latin typeface="Times New Roman"/>
              </a:rPr>
              <a:t>What-If assumes a linear rise</a:t>
            </a:r>
          </a:p>
          <a:p>
            <a:pPr algn="l" marL="201168" indent="-201168">
              <a:spcBef>
                <a:spcPts val="0"/>
              </a:spcBef>
              <a:spcAft>
                <a:spcPts val="1600"/>
              </a:spcAft>
              <a:buFont typeface="Arial"/>
              <a:buChar char="•"/>
            </a:pPr>
            <a:r>
              <a:rPr sz="1800" b="0" i="0">
                <a:solidFill>
                  <a:srgbClr val="111827"/>
                </a:solidFill>
                <a:latin typeface="Times New Roman"/>
              </a:rPr>
              <a:t>2D web app, no native mobile app (C-06)</a:t>
            </a:r>
          </a:p>
        </p:txBody>
      </p:sp>
      <p:sp>
        <p:nvSpPr>
          <p:cNvPr id="8" name="Rounded Rectangle 7"/>
          <p:cNvSpPr/>
          <p:nvPr/>
        </p:nvSpPr>
        <p:spPr>
          <a:xfrm>
            <a:off x="8610600" y="1097280"/>
            <a:ext cx="3185159" cy="4526280"/>
          </a:xfrm>
          <a:prstGeom prst="roundRect">
            <a:avLst>
              <a:gd name="adj" fmla="val 4019"/>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9" name="TextBox 8"/>
          <p:cNvSpPr txBox="1"/>
          <p:nvPr/>
        </p:nvSpPr>
        <p:spPr>
          <a:xfrm>
            <a:off x="8775192" y="1225295"/>
            <a:ext cx="2855975" cy="4306824"/>
          </a:xfrm>
          <a:prstGeom prst="rect">
            <a:avLst/>
          </a:prstGeom>
          <a:noFill/>
        </p:spPr>
        <p:txBody>
          <a:bodyPr wrap="square" lIns="0" rIns="0" tIns="0" bIns="0" anchor="t">
            <a:noAutofit/>
          </a:bodyPr>
          <a:lstStyle/>
          <a:p>
            <a:pPr algn="l">
              <a:spcBef>
                <a:spcPts val="0"/>
              </a:spcBef>
              <a:spcAft>
                <a:spcPts val="600"/>
              </a:spcAft>
            </a:pPr>
            <a:r>
              <a:rPr sz="2200" b="1" i="0">
                <a:solidFill>
                  <a:srgbClr val="111827"/>
                </a:solidFill>
                <a:latin typeface="Times New Roman"/>
              </a:rPr>
              <a:t>Applications</a:t>
            </a:r>
          </a:p>
          <a:p>
            <a:pPr algn="l" marL="201168" indent="-201168">
              <a:spcBef>
                <a:spcPts val="0"/>
              </a:spcBef>
              <a:spcAft>
                <a:spcPts val="1600"/>
              </a:spcAft>
              <a:buFont typeface="Arial"/>
              <a:buChar char="•"/>
            </a:pPr>
            <a:r>
              <a:rPr sz="1800" b="0" i="0">
                <a:solidFill>
                  <a:srgbClr val="111827"/>
                </a:solidFill>
                <a:latin typeface="Times New Roman"/>
              </a:rPr>
              <a:t>OEE and condition-monitoring pilots</a:t>
            </a:r>
          </a:p>
          <a:p>
            <a:pPr algn="l" marL="201168" indent="-201168">
              <a:spcBef>
                <a:spcPts val="0"/>
              </a:spcBef>
              <a:spcAft>
                <a:spcPts val="1600"/>
              </a:spcAft>
              <a:buFont typeface="Arial"/>
              <a:buChar char="•"/>
            </a:pPr>
            <a:r>
              <a:rPr sz="1800" b="0" i="0">
                <a:solidFill>
                  <a:srgbClr val="111827"/>
                </a:solidFill>
                <a:latin typeface="Times New Roman"/>
              </a:rPr>
              <a:t>Industry 4.0 teaching lab</a:t>
            </a:r>
          </a:p>
          <a:p>
            <a:pPr algn="l" marL="201168" indent="-201168">
              <a:spcBef>
                <a:spcPts val="0"/>
              </a:spcBef>
              <a:spcAft>
                <a:spcPts val="1600"/>
              </a:spcAft>
              <a:buFont typeface="Arial"/>
              <a:buChar char="•"/>
            </a:pPr>
            <a:r>
              <a:rPr sz="1800" b="0" i="0">
                <a:solidFill>
                  <a:srgbClr val="111827"/>
                </a:solidFill>
                <a:latin typeface="Times New Roman"/>
              </a:rPr>
              <a:t>Test bench for anomaly-detection models</a:t>
            </a:r>
          </a:p>
          <a:p>
            <a:pPr algn="l" marL="201168" indent="-201168">
              <a:spcBef>
                <a:spcPts val="0"/>
              </a:spcBef>
              <a:spcAft>
                <a:spcPts val="1600"/>
              </a:spcAft>
              <a:buFont typeface="Arial"/>
              <a:buChar char="•"/>
            </a:pPr>
            <a:r>
              <a:rPr sz="1800" b="0" i="0">
                <a:solidFill>
                  <a:srgbClr val="111827"/>
                </a:solidFill>
                <a:latin typeface="Times New Roman"/>
              </a:rPr>
              <a:t>Starting point for real PLC / OPC UA gateways</a:t>
            </a:r>
          </a:p>
        </p:txBody>
      </p:sp>
      <p:sp>
        <p:nvSpPr>
          <p:cNvPr id="10" name="Rounded Rectangle 9"/>
          <p:cNvSpPr/>
          <p:nvPr/>
        </p:nvSpPr>
        <p:spPr>
          <a:xfrm>
            <a:off x="1783080" y="5760720"/>
            <a:ext cx="10012680" cy="548640"/>
          </a:xfrm>
          <a:prstGeom prst="roundRect">
            <a:avLst>
              <a:gd name="adj" fmla="val 2000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700" b="1" i="0">
                <a:solidFill>
                  <a:srgbClr val="375623"/>
                </a:solidFill>
                <a:latin typeface="Times New Roman"/>
              </a:rPr>
              <a:t>The limitations are by design – they are the SRS constraints C-01 … C-07, not accidents.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Future Scope</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188720"/>
            <a:ext cx="1819655" cy="3840480"/>
          </a:xfrm>
          <a:prstGeom prst="roundRect">
            <a:avLst>
              <a:gd name="adj" fmla="val 603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Oval 4"/>
          <p:cNvSpPr/>
          <p:nvPr/>
        </p:nvSpPr>
        <p:spPr>
          <a:xfrm>
            <a:off x="2372868" y="1508760"/>
            <a:ext cx="640080" cy="6400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2200" b="1" i="0">
                <a:solidFill>
                  <a:srgbClr val="FFFFFF"/>
                </a:solidFill>
                <a:latin typeface="Times New Roman"/>
              </a:rPr>
              <a:t>1</a:t>
            </a:r>
          </a:p>
        </p:txBody>
      </p:sp>
      <p:sp>
        <p:nvSpPr>
          <p:cNvPr id="6" name="TextBox 5"/>
          <p:cNvSpPr txBox="1"/>
          <p:nvPr/>
        </p:nvSpPr>
        <p:spPr>
          <a:xfrm>
            <a:off x="1920240" y="2423160"/>
            <a:ext cx="1545335" cy="822960"/>
          </a:xfrm>
          <a:prstGeom prst="rect">
            <a:avLst/>
          </a:prstGeom>
          <a:noFill/>
        </p:spPr>
        <p:txBody>
          <a:bodyPr wrap="square" lIns="0" rIns="0" tIns="0" bIns="0" anchor="ctr">
            <a:noAutofit/>
          </a:bodyPr>
          <a:lstStyle/>
          <a:p>
            <a:pPr algn="ctr">
              <a:spcBef>
                <a:spcPts val="0"/>
              </a:spcBef>
              <a:spcAft>
                <a:spcPts val="0"/>
              </a:spcAft>
            </a:pPr>
            <a:r>
              <a:rPr sz="1800" b="1" i="0">
                <a:solidFill>
                  <a:srgbClr val="111827"/>
                </a:solidFill>
                <a:latin typeface="Times New Roman"/>
              </a:rPr>
              <a:t>Real machines</a:t>
            </a:r>
          </a:p>
        </p:txBody>
      </p:sp>
      <p:sp>
        <p:nvSpPr>
          <p:cNvPr id="7" name="TextBox 6"/>
          <p:cNvSpPr txBox="1"/>
          <p:nvPr/>
        </p:nvSpPr>
        <p:spPr>
          <a:xfrm>
            <a:off x="1920240" y="3337560"/>
            <a:ext cx="1545335" cy="1554480"/>
          </a:xfrm>
          <a:prstGeom prst="rect">
            <a:avLst/>
          </a:prstGeom>
          <a:noFill/>
        </p:spPr>
        <p:txBody>
          <a:bodyPr wrap="square" lIns="0" rIns="0" tIns="0" bIns="0" anchor="t">
            <a:noAutofit/>
          </a:bodyPr>
          <a:lstStyle/>
          <a:p>
            <a:pPr algn="ctr">
              <a:spcBef>
                <a:spcPts val="0"/>
              </a:spcBef>
              <a:spcAft>
                <a:spcPts val="0"/>
              </a:spcAft>
            </a:pPr>
            <a:r>
              <a:rPr sz="1500" b="0" i="0">
                <a:solidFill>
                  <a:srgbClr val="111827"/>
                </a:solidFill>
                <a:latin typeface="Times New Roman"/>
              </a:rPr>
              <a:t>Connect real equipment through OPC UA / Modbus → MQTT</a:t>
            </a:r>
          </a:p>
        </p:txBody>
      </p:sp>
      <p:cxnSp>
        <p:nvCxnSpPr>
          <p:cNvPr id="8" name="Connector 7"/>
          <p:cNvCxnSpPr/>
          <p:nvPr/>
        </p:nvCxnSpPr>
        <p:spPr>
          <a:xfrm>
            <a:off x="3621023" y="3108960"/>
            <a:ext cx="192025"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831335" y="1188720"/>
            <a:ext cx="1819655" cy="3840480"/>
          </a:xfrm>
          <a:prstGeom prst="roundRect">
            <a:avLst>
              <a:gd name="adj" fmla="val 603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0" name="Oval 9"/>
          <p:cNvSpPr/>
          <p:nvPr/>
        </p:nvSpPr>
        <p:spPr>
          <a:xfrm>
            <a:off x="4421124" y="1508760"/>
            <a:ext cx="640080" cy="6400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2200" b="1" i="0">
                <a:solidFill>
                  <a:srgbClr val="FFFFFF"/>
                </a:solidFill>
                <a:latin typeface="Times New Roman"/>
              </a:rPr>
              <a:t>2</a:t>
            </a:r>
          </a:p>
        </p:txBody>
      </p:sp>
      <p:sp>
        <p:nvSpPr>
          <p:cNvPr id="11" name="TextBox 10"/>
          <p:cNvSpPr txBox="1"/>
          <p:nvPr/>
        </p:nvSpPr>
        <p:spPr>
          <a:xfrm>
            <a:off x="3968496" y="2423160"/>
            <a:ext cx="1545335" cy="822960"/>
          </a:xfrm>
          <a:prstGeom prst="rect">
            <a:avLst/>
          </a:prstGeom>
          <a:noFill/>
        </p:spPr>
        <p:txBody>
          <a:bodyPr wrap="square" lIns="0" rIns="0" tIns="0" bIns="0" anchor="ctr">
            <a:noAutofit/>
          </a:bodyPr>
          <a:lstStyle/>
          <a:p>
            <a:pPr algn="ctr">
              <a:spcBef>
                <a:spcPts val="0"/>
              </a:spcBef>
              <a:spcAft>
                <a:spcPts val="0"/>
              </a:spcAft>
            </a:pPr>
            <a:r>
              <a:rPr sz="1800" b="1" i="0">
                <a:solidFill>
                  <a:srgbClr val="111827"/>
                </a:solidFill>
                <a:latin typeface="Times New Roman"/>
              </a:rPr>
              <a:t>Learn from feedback</a:t>
            </a:r>
          </a:p>
        </p:txBody>
      </p:sp>
      <p:sp>
        <p:nvSpPr>
          <p:cNvPr id="12" name="TextBox 11"/>
          <p:cNvSpPr txBox="1"/>
          <p:nvPr/>
        </p:nvSpPr>
        <p:spPr>
          <a:xfrm>
            <a:off x="3968496" y="3337560"/>
            <a:ext cx="1545335" cy="1554480"/>
          </a:xfrm>
          <a:prstGeom prst="rect">
            <a:avLst/>
          </a:prstGeom>
          <a:noFill/>
        </p:spPr>
        <p:txBody>
          <a:bodyPr wrap="square" lIns="0" rIns="0" tIns="0" bIns="0" anchor="t">
            <a:noAutofit/>
          </a:bodyPr>
          <a:lstStyle/>
          <a:p>
            <a:pPr algn="ctr">
              <a:spcBef>
                <a:spcPts val="0"/>
              </a:spcBef>
              <a:spcAft>
                <a:spcPts val="0"/>
              </a:spcAft>
            </a:pPr>
            <a:r>
              <a:rPr sz="1500" b="0" i="0">
                <a:solidFill>
                  <a:srgbClr val="111827"/>
                </a:solidFill>
                <a:latin typeface="Times New Roman"/>
              </a:rPr>
              <a:t>Retrain the model from the operators' true / false-positive feedback</a:t>
            </a:r>
          </a:p>
        </p:txBody>
      </p:sp>
      <p:cxnSp>
        <p:nvCxnSpPr>
          <p:cNvPr id="13" name="Connector 12"/>
          <p:cNvCxnSpPr/>
          <p:nvPr/>
        </p:nvCxnSpPr>
        <p:spPr>
          <a:xfrm>
            <a:off x="5669279" y="3108960"/>
            <a:ext cx="192025"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879592" y="1188720"/>
            <a:ext cx="1819655" cy="3840480"/>
          </a:xfrm>
          <a:prstGeom prst="roundRect">
            <a:avLst>
              <a:gd name="adj" fmla="val 603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5" name="Oval 14"/>
          <p:cNvSpPr/>
          <p:nvPr/>
        </p:nvSpPr>
        <p:spPr>
          <a:xfrm>
            <a:off x="6469380" y="1508760"/>
            <a:ext cx="640080" cy="6400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2200" b="1" i="0">
                <a:solidFill>
                  <a:srgbClr val="FFFFFF"/>
                </a:solidFill>
                <a:latin typeface="Times New Roman"/>
              </a:rPr>
              <a:t>3</a:t>
            </a:r>
          </a:p>
        </p:txBody>
      </p:sp>
      <p:sp>
        <p:nvSpPr>
          <p:cNvPr id="16" name="TextBox 15"/>
          <p:cNvSpPr txBox="1"/>
          <p:nvPr/>
        </p:nvSpPr>
        <p:spPr>
          <a:xfrm>
            <a:off x="6016752" y="2423160"/>
            <a:ext cx="1545335" cy="822960"/>
          </a:xfrm>
          <a:prstGeom prst="rect">
            <a:avLst/>
          </a:prstGeom>
          <a:noFill/>
        </p:spPr>
        <p:txBody>
          <a:bodyPr wrap="square" lIns="0" rIns="0" tIns="0" bIns="0" anchor="ctr">
            <a:noAutofit/>
          </a:bodyPr>
          <a:lstStyle/>
          <a:p>
            <a:pPr algn="ctr">
              <a:spcBef>
                <a:spcPts val="0"/>
              </a:spcBef>
              <a:spcAft>
                <a:spcPts val="0"/>
              </a:spcAft>
            </a:pPr>
            <a:r>
              <a:rPr sz="1800" b="1" i="0">
                <a:solidFill>
                  <a:srgbClr val="111827"/>
                </a:solidFill>
                <a:latin typeface="Times New Roman"/>
              </a:rPr>
              <a:t>Notifications</a:t>
            </a:r>
          </a:p>
        </p:txBody>
      </p:sp>
      <p:sp>
        <p:nvSpPr>
          <p:cNvPr id="17" name="TextBox 16"/>
          <p:cNvSpPr txBox="1"/>
          <p:nvPr/>
        </p:nvSpPr>
        <p:spPr>
          <a:xfrm>
            <a:off x="6016752" y="3337560"/>
            <a:ext cx="1545335" cy="1554480"/>
          </a:xfrm>
          <a:prstGeom prst="rect">
            <a:avLst/>
          </a:prstGeom>
          <a:noFill/>
        </p:spPr>
        <p:txBody>
          <a:bodyPr wrap="square" lIns="0" rIns="0" tIns="0" bIns="0" anchor="t">
            <a:noAutofit/>
          </a:bodyPr>
          <a:lstStyle/>
          <a:p>
            <a:pPr algn="ctr">
              <a:spcBef>
                <a:spcPts val="0"/>
              </a:spcBef>
              <a:spcAft>
                <a:spcPts val="0"/>
              </a:spcAft>
            </a:pPr>
            <a:r>
              <a:rPr sz="1500" b="0" i="0">
                <a:solidFill>
                  <a:srgbClr val="111827"/>
                </a:solidFill>
                <a:latin typeface="Times New Roman"/>
              </a:rPr>
              <a:t>Email and SMS alerts, audit export</a:t>
            </a:r>
          </a:p>
        </p:txBody>
      </p:sp>
      <p:cxnSp>
        <p:nvCxnSpPr>
          <p:cNvPr id="18" name="Connector 17"/>
          <p:cNvCxnSpPr/>
          <p:nvPr/>
        </p:nvCxnSpPr>
        <p:spPr>
          <a:xfrm>
            <a:off x="7717536" y="3108960"/>
            <a:ext cx="19202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927847" y="1188720"/>
            <a:ext cx="1819655" cy="3840480"/>
          </a:xfrm>
          <a:prstGeom prst="roundRect">
            <a:avLst>
              <a:gd name="adj" fmla="val 603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0" name="Oval 19"/>
          <p:cNvSpPr/>
          <p:nvPr/>
        </p:nvSpPr>
        <p:spPr>
          <a:xfrm>
            <a:off x="8517635" y="1508760"/>
            <a:ext cx="640080" cy="6400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2200" b="1" i="0">
                <a:solidFill>
                  <a:srgbClr val="FFFFFF"/>
                </a:solidFill>
                <a:latin typeface="Times New Roman"/>
              </a:rPr>
              <a:t>4</a:t>
            </a:r>
          </a:p>
        </p:txBody>
      </p:sp>
      <p:sp>
        <p:nvSpPr>
          <p:cNvPr id="21" name="TextBox 20"/>
          <p:cNvSpPr txBox="1"/>
          <p:nvPr/>
        </p:nvSpPr>
        <p:spPr>
          <a:xfrm>
            <a:off x="8065007" y="2423160"/>
            <a:ext cx="1545335" cy="822960"/>
          </a:xfrm>
          <a:prstGeom prst="rect">
            <a:avLst/>
          </a:prstGeom>
          <a:noFill/>
        </p:spPr>
        <p:txBody>
          <a:bodyPr wrap="square" lIns="0" rIns="0" tIns="0" bIns="0" anchor="ctr">
            <a:noAutofit/>
          </a:bodyPr>
          <a:lstStyle/>
          <a:p>
            <a:pPr algn="ctr">
              <a:spcBef>
                <a:spcPts val="0"/>
              </a:spcBef>
              <a:spcAft>
                <a:spcPts val="0"/>
              </a:spcAft>
            </a:pPr>
            <a:r>
              <a:rPr sz="1800" b="1" i="0">
                <a:solidFill>
                  <a:srgbClr val="111827"/>
                </a:solidFill>
                <a:latin typeface="Times New Roman"/>
              </a:rPr>
              <a:t>Predict wear</a:t>
            </a:r>
          </a:p>
        </p:txBody>
      </p:sp>
      <p:sp>
        <p:nvSpPr>
          <p:cNvPr id="22" name="TextBox 21"/>
          <p:cNvSpPr txBox="1"/>
          <p:nvPr/>
        </p:nvSpPr>
        <p:spPr>
          <a:xfrm>
            <a:off x="8065007" y="3337560"/>
            <a:ext cx="1545335" cy="1554480"/>
          </a:xfrm>
          <a:prstGeom prst="rect">
            <a:avLst/>
          </a:prstGeom>
          <a:noFill/>
        </p:spPr>
        <p:txBody>
          <a:bodyPr wrap="square" lIns="0" rIns="0" tIns="0" bIns="0" anchor="t">
            <a:noAutofit/>
          </a:bodyPr>
          <a:lstStyle/>
          <a:p>
            <a:pPr algn="ctr">
              <a:spcBef>
                <a:spcPts val="0"/>
              </a:spcBef>
              <a:spcAft>
                <a:spcPts val="0"/>
              </a:spcAft>
            </a:pPr>
            <a:r>
              <a:rPr sz="1500" b="0" i="0">
                <a:solidFill>
                  <a:srgbClr val="111827"/>
                </a:solidFill>
                <a:latin typeface="Times New Roman"/>
              </a:rPr>
              <a:t>Remaining useful life with non-linear models</a:t>
            </a:r>
          </a:p>
        </p:txBody>
      </p:sp>
      <p:cxnSp>
        <p:nvCxnSpPr>
          <p:cNvPr id="23" name="Connector 22"/>
          <p:cNvCxnSpPr/>
          <p:nvPr/>
        </p:nvCxnSpPr>
        <p:spPr>
          <a:xfrm>
            <a:off x="9765791" y="3108960"/>
            <a:ext cx="19202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976103" y="1188720"/>
            <a:ext cx="1819655" cy="3840480"/>
          </a:xfrm>
          <a:prstGeom prst="roundRect">
            <a:avLst>
              <a:gd name="adj" fmla="val 603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5" name="Oval 24"/>
          <p:cNvSpPr/>
          <p:nvPr/>
        </p:nvSpPr>
        <p:spPr>
          <a:xfrm>
            <a:off x="10565891" y="1508760"/>
            <a:ext cx="640080" cy="6400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2200" b="1" i="0">
                <a:solidFill>
                  <a:srgbClr val="FFFFFF"/>
                </a:solidFill>
                <a:latin typeface="Times New Roman"/>
              </a:rPr>
              <a:t>5</a:t>
            </a:r>
          </a:p>
        </p:txBody>
      </p:sp>
      <p:sp>
        <p:nvSpPr>
          <p:cNvPr id="26" name="TextBox 25"/>
          <p:cNvSpPr txBox="1"/>
          <p:nvPr/>
        </p:nvSpPr>
        <p:spPr>
          <a:xfrm>
            <a:off x="10113263" y="2423160"/>
            <a:ext cx="1545335" cy="822960"/>
          </a:xfrm>
          <a:prstGeom prst="rect">
            <a:avLst/>
          </a:prstGeom>
          <a:noFill/>
        </p:spPr>
        <p:txBody>
          <a:bodyPr wrap="square" lIns="0" rIns="0" tIns="0" bIns="0" anchor="ctr">
            <a:noAutofit/>
          </a:bodyPr>
          <a:lstStyle/>
          <a:p>
            <a:pPr algn="ctr">
              <a:spcBef>
                <a:spcPts val="0"/>
              </a:spcBef>
              <a:spcAft>
                <a:spcPts val="0"/>
              </a:spcAft>
            </a:pPr>
            <a:r>
              <a:rPr sz="1800" b="1" i="0">
                <a:solidFill>
                  <a:srgbClr val="111827"/>
                </a:solidFill>
                <a:latin typeface="Times New Roman"/>
              </a:rPr>
              <a:t>Scale out</a:t>
            </a:r>
          </a:p>
        </p:txBody>
      </p:sp>
      <p:sp>
        <p:nvSpPr>
          <p:cNvPr id="27" name="TextBox 26"/>
          <p:cNvSpPr txBox="1"/>
          <p:nvPr/>
        </p:nvSpPr>
        <p:spPr>
          <a:xfrm>
            <a:off x="10113263" y="3337560"/>
            <a:ext cx="1545335" cy="1554480"/>
          </a:xfrm>
          <a:prstGeom prst="rect">
            <a:avLst/>
          </a:prstGeom>
          <a:noFill/>
        </p:spPr>
        <p:txBody>
          <a:bodyPr wrap="square" lIns="0" rIns="0" tIns="0" bIns="0" anchor="t">
            <a:noAutofit/>
          </a:bodyPr>
          <a:lstStyle/>
          <a:p>
            <a:pPr algn="ctr">
              <a:spcBef>
                <a:spcPts val="0"/>
              </a:spcBef>
              <a:spcAft>
                <a:spcPts val="0"/>
              </a:spcAft>
            </a:pPr>
            <a:r>
              <a:rPr sz="1500" b="0" i="0">
                <a:solidFill>
                  <a:srgbClr val="111827"/>
                </a:solidFill>
                <a:latin typeface="Times New Roman"/>
              </a:rPr>
              <a:t>Multi-site deployment and Grafana dashboards</a:t>
            </a:r>
          </a:p>
        </p:txBody>
      </p:sp>
      <p:sp>
        <p:nvSpPr>
          <p:cNvPr id="28" name="Rounded Rectangle 27"/>
          <p:cNvSpPr/>
          <p:nvPr/>
        </p:nvSpPr>
        <p:spPr>
          <a:xfrm>
            <a:off x="1783080" y="5349240"/>
            <a:ext cx="10012680" cy="731520"/>
          </a:xfrm>
          <a:prstGeom prst="roundRect">
            <a:avLst>
              <a:gd name="adj" fmla="val 1500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800" b="1" i="0">
                <a:solidFill>
                  <a:srgbClr val="375623"/>
                </a:solidFill>
                <a:latin typeface="Times New Roman"/>
              </a:rPr>
              <a:t>Next milestone: connect one real machine and compare its OEE with the simulator.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Conclusion</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188720"/>
            <a:ext cx="2331720" cy="3200400"/>
          </a:xfrm>
          <a:prstGeom prst="roundRect">
            <a:avLst>
              <a:gd name="adj" fmla="val 4705"/>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TextBox 4"/>
          <p:cNvSpPr txBox="1"/>
          <p:nvPr/>
        </p:nvSpPr>
        <p:spPr>
          <a:xfrm>
            <a:off x="1965960" y="1371600"/>
            <a:ext cx="1965960" cy="731520"/>
          </a:xfrm>
          <a:prstGeom prst="rect">
            <a:avLst/>
          </a:prstGeom>
          <a:noFill/>
        </p:spPr>
        <p:txBody>
          <a:bodyPr wrap="square" lIns="0" rIns="0" tIns="0" bIns="0" anchor="ctr">
            <a:noAutofit/>
          </a:bodyPr>
          <a:lstStyle/>
          <a:p>
            <a:pPr algn="l">
              <a:spcBef>
                <a:spcPts val="0"/>
              </a:spcBef>
              <a:spcAft>
                <a:spcPts val="0"/>
              </a:spcAft>
            </a:pPr>
            <a:r>
              <a:rPr sz="2200" b="1" i="0">
                <a:solidFill>
                  <a:srgbClr val="111827"/>
                </a:solidFill>
                <a:latin typeface="Times New Roman"/>
              </a:rPr>
              <a:t>Live and early</a:t>
            </a:r>
          </a:p>
        </p:txBody>
      </p:sp>
      <p:sp>
        <p:nvSpPr>
          <p:cNvPr id="6" name="TextBox 5"/>
          <p:cNvSpPr txBox="1"/>
          <p:nvPr/>
        </p:nvSpPr>
        <p:spPr>
          <a:xfrm>
            <a:off x="1965960" y="2240280"/>
            <a:ext cx="1965960" cy="2011680"/>
          </a:xfrm>
          <a:prstGeom prst="rect">
            <a:avLst/>
          </a:prstGeom>
          <a:noFill/>
        </p:spPr>
        <p:txBody>
          <a:bodyPr wrap="square" lIns="0" rIns="0" tIns="0" bIns="0" anchor="t">
            <a:noAutofit/>
          </a:bodyPr>
          <a:lstStyle/>
          <a:p>
            <a:pPr algn="l">
              <a:spcBef>
                <a:spcPts val="0"/>
              </a:spcBef>
              <a:spcAft>
                <a:spcPts val="0"/>
              </a:spcAft>
            </a:pPr>
            <a:r>
              <a:rPr sz="1800" b="0" i="0">
                <a:solidFill>
                  <a:srgbClr val="111827"/>
                </a:solidFill>
                <a:latin typeface="Times New Roman"/>
              </a:rPr>
              <a:t>Live OEE and Red / Orange / Yellow alerts within about half a second</a:t>
            </a:r>
          </a:p>
        </p:txBody>
      </p:sp>
      <p:sp>
        <p:nvSpPr>
          <p:cNvPr id="7" name="Rounded Rectangle 6"/>
          <p:cNvSpPr/>
          <p:nvPr/>
        </p:nvSpPr>
        <p:spPr>
          <a:xfrm>
            <a:off x="4343400" y="1188720"/>
            <a:ext cx="2331720" cy="3200400"/>
          </a:xfrm>
          <a:prstGeom prst="roundRect">
            <a:avLst>
              <a:gd name="adj" fmla="val 4705"/>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8" name="TextBox 7"/>
          <p:cNvSpPr txBox="1"/>
          <p:nvPr/>
        </p:nvSpPr>
        <p:spPr>
          <a:xfrm>
            <a:off x="4526280" y="1371600"/>
            <a:ext cx="1965960" cy="731520"/>
          </a:xfrm>
          <a:prstGeom prst="rect">
            <a:avLst/>
          </a:prstGeom>
          <a:noFill/>
        </p:spPr>
        <p:txBody>
          <a:bodyPr wrap="square" lIns="0" rIns="0" tIns="0" bIns="0" anchor="ctr">
            <a:noAutofit/>
          </a:bodyPr>
          <a:lstStyle/>
          <a:p>
            <a:pPr algn="l">
              <a:spcBef>
                <a:spcPts val="0"/>
              </a:spcBef>
              <a:spcAft>
                <a:spcPts val="0"/>
              </a:spcAft>
            </a:pPr>
            <a:r>
              <a:rPr sz="2200" b="1" i="0">
                <a:solidFill>
                  <a:srgbClr val="111827"/>
                </a:solidFill>
                <a:latin typeface="Times New Roman"/>
              </a:rPr>
              <a:t>Targets met</a:t>
            </a:r>
          </a:p>
        </p:txBody>
      </p:sp>
      <p:sp>
        <p:nvSpPr>
          <p:cNvPr id="9" name="TextBox 8"/>
          <p:cNvSpPr txBox="1"/>
          <p:nvPr/>
        </p:nvSpPr>
        <p:spPr>
          <a:xfrm>
            <a:off x="4526280" y="2240280"/>
            <a:ext cx="1965960" cy="2011680"/>
          </a:xfrm>
          <a:prstGeom prst="rect">
            <a:avLst/>
          </a:prstGeom>
          <a:noFill/>
        </p:spPr>
        <p:txBody>
          <a:bodyPr wrap="square" lIns="0" rIns="0" tIns="0" bIns="0" anchor="t">
            <a:noAutofit/>
          </a:bodyPr>
          <a:lstStyle/>
          <a:p>
            <a:pPr algn="l">
              <a:spcBef>
                <a:spcPts val="0"/>
              </a:spcBef>
              <a:spcAft>
                <a:spcPts val="0"/>
              </a:spcAft>
            </a:pPr>
            <a:r>
              <a:rPr sz="1800" b="0" i="0">
                <a:solidFill>
                  <a:srgbClr val="111827"/>
                </a:solidFill>
                <a:latin typeface="Times New Roman"/>
              </a:rPr>
              <a:t>Every numeric SRS target met, with measured evidence</a:t>
            </a:r>
          </a:p>
        </p:txBody>
      </p:sp>
      <p:sp>
        <p:nvSpPr>
          <p:cNvPr id="10" name="Rounded Rectangle 9"/>
          <p:cNvSpPr/>
          <p:nvPr/>
        </p:nvSpPr>
        <p:spPr>
          <a:xfrm>
            <a:off x="6903720" y="1188720"/>
            <a:ext cx="2331720" cy="3200400"/>
          </a:xfrm>
          <a:prstGeom prst="roundRect">
            <a:avLst>
              <a:gd name="adj" fmla="val 4705"/>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1" name="TextBox 10"/>
          <p:cNvSpPr txBox="1"/>
          <p:nvPr/>
        </p:nvSpPr>
        <p:spPr>
          <a:xfrm>
            <a:off x="7086600" y="1371600"/>
            <a:ext cx="1965960" cy="731520"/>
          </a:xfrm>
          <a:prstGeom prst="rect">
            <a:avLst/>
          </a:prstGeom>
          <a:noFill/>
        </p:spPr>
        <p:txBody>
          <a:bodyPr wrap="square" lIns="0" rIns="0" tIns="0" bIns="0" anchor="ctr">
            <a:noAutofit/>
          </a:bodyPr>
          <a:lstStyle/>
          <a:p>
            <a:pPr algn="l">
              <a:spcBef>
                <a:spcPts val="0"/>
              </a:spcBef>
              <a:spcAft>
                <a:spcPts val="0"/>
              </a:spcAft>
            </a:pPr>
            <a:r>
              <a:rPr sz="2200" b="1" i="0">
                <a:solidFill>
                  <a:srgbClr val="111827"/>
                </a:solidFill>
                <a:latin typeface="Times New Roman"/>
              </a:rPr>
              <a:t>ML validated</a:t>
            </a:r>
          </a:p>
        </p:txBody>
      </p:sp>
      <p:sp>
        <p:nvSpPr>
          <p:cNvPr id="12" name="TextBox 11"/>
          <p:cNvSpPr txBox="1"/>
          <p:nvPr/>
        </p:nvSpPr>
        <p:spPr>
          <a:xfrm>
            <a:off x="7086600" y="2240280"/>
            <a:ext cx="1965960" cy="2011680"/>
          </a:xfrm>
          <a:prstGeom prst="rect">
            <a:avLst/>
          </a:prstGeom>
          <a:noFill/>
        </p:spPr>
        <p:txBody>
          <a:bodyPr wrap="square" lIns="0" rIns="0" tIns="0" bIns="0" anchor="t">
            <a:noAutofit/>
          </a:bodyPr>
          <a:lstStyle/>
          <a:p>
            <a:pPr algn="l">
              <a:spcBef>
                <a:spcPts val="0"/>
              </a:spcBef>
              <a:spcAft>
                <a:spcPts val="0"/>
              </a:spcAft>
            </a:pPr>
            <a:r>
              <a:rPr sz="1800" b="0" i="0">
                <a:solidFill>
                  <a:srgbClr val="111827"/>
                </a:solidFill>
                <a:latin typeface="Times New Roman"/>
              </a:rPr>
              <a:t>6 / 6 injected faults detected, no false alarms</a:t>
            </a:r>
          </a:p>
        </p:txBody>
      </p:sp>
      <p:sp>
        <p:nvSpPr>
          <p:cNvPr id="13" name="Rounded Rectangle 12"/>
          <p:cNvSpPr/>
          <p:nvPr/>
        </p:nvSpPr>
        <p:spPr>
          <a:xfrm>
            <a:off x="9464039" y="1188720"/>
            <a:ext cx="2331720" cy="3200400"/>
          </a:xfrm>
          <a:prstGeom prst="roundRect">
            <a:avLst>
              <a:gd name="adj" fmla="val 4705"/>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4" name="TextBox 13"/>
          <p:cNvSpPr txBox="1"/>
          <p:nvPr/>
        </p:nvSpPr>
        <p:spPr>
          <a:xfrm>
            <a:off x="9646919" y="1371600"/>
            <a:ext cx="1965960" cy="731520"/>
          </a:xfrm>
          <a:prstGeom prst="rect">
            <a:avLst/>
          </a:prstGeom>
          <a:noFill/>
        </p:spPr>
        <p:txBody>
          <a:bodyPr wrap="square" lIns="0" rIns="0" tIns="0" bIns="0" anchor="ctr">
            <a:noAutofit/>
          </a:bodyPr>
          <a:lstStyle/>
          <a:p>
            <a:pPr algn="l">
              <a:spcBef>
                <a:spcPts val="0"/>
              </a:spcBef>
              <a:spcAft>
                <a:spcPts val="0"/>
              </a:spcAft>
            </a:pPr>
            <a:r>
              <a:rPr sz="2200" b="1" i="0">
                <a:solidFill>
                  <a:srgbClr val="111827"/>
                </a:solidFill>
                <a:latin typeface="Times New Roman"/>
              </a:rPr>
              <a:t>Reproducible</a:t>
            </a:r>
          </a:p>
        </p:txBody>
      </p:sp>
      <p:sp>
        <p:nvSpPr>
          <p:cNvPr id="15" name="TextBox 14"/>
          <p:cNvSpPr txBox="1"/>
          <p:nvPr/>
        </p:nvSpPr>
        <p:spPr>
          <a:xfrm>
            <a:off x="9646919" y="2240280"/>
            <a:ext cx="1965960" cy="2011680"/>
          </a:xfrm>
          <a:prstGeom prst="rect">
            <a:avLst/>
          </a:prstGeom>
          <a:noFill/>
        </p:spPr>
        <p:txBody>
          <a:bodyPr wrap="square" lIns="0" rIns="0" tIns="0" bIns="0" anchor="t">
            <a:noAutofit/>
          </a:bodyPr>
          <a:lstStyle/>
          <a:p>
            <a:pPr algn="l">
              <a:spcBef>
                <a:spcPts val="0"/>
              </a:spcBef>
              <a:spcAft>
                <a:spcPts val="0"/>
              </a:spcAft>
            </a:pPr>
            <a:r>
              <a:rPr sz="1800" b="0" i="0">
                <a:solidFill>
                  <a:srgbClr val="111827"/>
                </a:solidFill>
                <a:latin typeface="Times New Roman"/>
              </a:rPr>
              <a:t>One command, 45 tests, databases verified live</a:t>
            </a:r>
          </a:p>
        </p:txBody>
      </p:sp>
      <p:sp>
        <p:nvSpPr>
          <p:cNvPr id="16" name="Rounded Rectangle 15"/>
          <p:cNvSpPr/>
          <p:nvPr/>
        </p:nvSpPr>
        <p:spPr>
          <a:xfrm>
            <a:off x="1783080" y="4754880"/>
            <a:ext cx="10012680" cy="1280160"/>
          </a:xfrm>
          <a:prstGeom prst="roundRect">
            <a:avLst>
              <a:gd name="adj" fmla="val 8571"/>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2000" b="1" i="0">
                <a:solidFill>
                  <a:srgbClr val="375623"/>
                </a:solidFill>
                <a:latin typeface="Times New Roman"/>
              </a:rPr>
              <a:t>Take-home: live OEE and a three-layer early warning – built to the SRS and verified by measurement.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References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97280"/>
            <a:ext cx="10012680" cy="5120640"/>
          </a:xfrm>
          <a:prstGeom prst="roundRect">
            <a:avLst>
              <a:gd name="adj" fmla="val 2142"/>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TextBox 4"/>
          <p:cNvSpPr txBox="1"/>
          <p:nvPr/>
        </p:nvSpPr>
        <p:spPr>
          <a:xfrm>
            <a:off x="2057400" y="1280160"/>
            <a:ext cx="9464040" cy="4754880"/>
          </a:xfrm>
          <a:prstGeom prst="rect">
            <a:avLst/>
          </a:prstGeom>
          <a:noFill/>
        </p:spPr>
        <p:txBody>
          <a:bodyPr wrap="square" lIns="0" rIns="0" tIns="0" bIns="0" anchor="t">
            <a:noAutofit/>
          </a:bodyPr>
          <a:lstStyle/>
          <a:p>
            <a:pPr algn="l">
              <a:spcBef>
                <a:spcPts val="0"/>
              </a:spcBef>
              <a:spcAft>
                <a:spcPts val="1000"/>
              </a:spcAft>
            </a:pPr>
            <a:r>
              <a:rPr sz="1600" b="0" i="0">
                <a:solidFill>
                  <a:srgbClr val="111827"/>
                </a:solidFill>
                <a:latin typeface="Times New Roman"/>
              </a:rPr>
              <a:t>[1]  S. Nakajima, Introduction to TPM: Total Productive Maintenance, Productivity Press, 1988.</a:t>
            </a:r>
          </a:p>
          <a:p>
            <a:pPr algn="l">
              <a:spcBef>
                <a:spcPts val="0"/>
              </a:spcBef>
              <a:spcAft>
                <a:spcPts val="1000"/>
              </a:spcAft>
            </a:pPr>
            <a:r>
              <a:rPr sz="1600" b="0" i="0">
                <a:solidFill>
                  <a:srgbClr val="111827"/>
                </a:solidFill>
                <a:latin typeface="Times New Roman"/>
              </a:rPr>
              <a:t>[2]  ISO 22400-2:2014, Automation systems and integration – Key performance indicators for manufacturing operations management.</a:t>
            </a:r>
          </a:p>
          <a:p>
            <a:pPr algn="l">
              <a:spcBef>
                <a:spcPts val="0"/>
              </a:spcBef>
              <a:spcAft>
                <a:spcPts val="1000"/>
              </a:spcAft>
            </a:pPr>
            <a:r>
              <a:rPr sz="1600" b="0" i="0">
                <a:solidFill>
                  <a:srgbClr val="111827"/>
                </a:solidFill>
                <a:latin typeface="Times New Roman"/>
              </a:rPr>
              <a:t>[3]  P. Muchiri and L. Pintelon, “Performance measurement using overall equipment effectiveness (OEE)”, Int. J. Production Research, 46(13), 2008.</a:t>
            </a:r>
          </a:p>
          <a:p>
            <a:pPr algn="l">
              <a:spcBef>
                <a:spcPts val="0"/>
              </a:spcBef>
              <a:spcAft>
                <a:spcPts val="1000"/>
              </a:spcAft>
            </a:pPr>
            <a:r>
              <a:rPr sz="1600" b="0" i="0">
                <a:solidFill>
                  <a:srgbClr val="111827"/>
                </a:solidFill>
                <a:latin typeface="Times New Roman"/>
              </a:rPr>
              <a:t>[4]  F. T. Liu, K. M. Ting and Z.-H. Zhou, “Isolation Forest”, IEEE International Conference on Data Mining (ICDM), 2008.</a:t>
            </a:r>
          </a:p>
          <a:p>
            <a:pPr algn="l">
              <a:spcBef>
                <a:spcPts val="0"/>
              </a:spcBef>
              <a:spcAft>
                <a:spcPts val="1000"/>
              </a:spcAft>
            </a:pPr>
            <a:r>
              <a:rPr sz="1600" b="0" i="0">
                <a:solidFill>
                  <a:srgbClr val="111827"/>
                </a:solidFill>
                <a:latin typeface="Times New Roman"/>
              </a:rPr>
              <a:t>[5]  V. Chandola, A. Banerjee and V. Kumar, “Anomaly detection: a survey”, ACM Computing Surveys, 2009.</a:t>
            </a:r>
          </a:p>
          <a:p>
            <a:pPr algn="l">
              <a:spcBef>
                <a:spcPts val="0"/>
              </a:spcBef>
              <a:spcAft>
                <a:spcPts val="1000"/>
              </a:spcAft>
            </a:pPr>
            <a:r>
              <a:rPr sz="1600" b="0" i="0">
                <a:solidFill>
                  <a:srgbClr val="111827"/>
                </a:solidFill>
                <a:latin typeface="Times New Roman"/>
              </a:rPr>
              <a:t>[6]  F. Pedregosa et al., “Scikit-learn: Machine learning in Python”, Journal of Machine Learning Research, 12, 2011.</a:t>
            </a:r>
          </a:p>
          <a:p>
            <a:pPr algn="l">
              <a:spcBef>
                <a:spcPts val="0"/>
              </a:spcBef>
              <a:spcAft>
                <a:spcPts val="1000"/>
              </a:spcAft>
            </a:pPr>
            <a:r>
              <a:rPr sz="1600" b="0" i="0">
                <a:solidFill>
                  <a:srgbClr val="111827"/>
                </a:solidFill>
                <a:latin typeface="Times New Roman"/>
              </a:rPr>
              <a:t>[7]  OASIS, MQTT Version 3.1.1, 2014.</a:t>
            </a:r>
          </a:p>
          <a:p>
            <a:pPr algn="l">
              <a:spcBef>
                <a:spcPts val="0"/>
              </a:spcBef>
              <a:spcAft>
                <a:spcPts val="1000"/>
              </a:spcAft>
            </a:pPr>
            <a:r>
              <a:rPr sz="1600" b="0" i="0">
                <a:solidFill>
                  <a:srgbClr val="111827"/>
                </a:solidFill>
                <a:latin typeface="Times New Roman"/>
              </a:rPr>
              <a:t>[8]  J. Lee, B. Bagheri and H.-A. Kao, “A cyber-physical systems architecture for Industry 4.0-based manufacturing systems”, Manufacturing Letters, 3, 2015.</a:t>
            </a:r>
          </a:p>
          <a:p>
            <a:pPr algn="l">
              <a:spcBef>
                <a:spcPts val="0"/>
              </a:spcBef>
              <a:spcAft>
                <a:spcPts val="1000"/>
              </a:spcAft>
            </a:pPr>
            <a:r>
              <a:rPr sz="1600" b="0" i="0">
                <a:solidFill>
                  <a:srgbClr val="111827"/>
                </a:solidFill>
                <a:latin typeface="Times New Roman"/>
              </a:rPr>
              <a:t>[9]  S. Jamadar, Software Requirements Specification: Real-Time OEE and Anomaly Dashboard for a Smart Factory System, 12/09/2026.</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96812894AF27C4B9BEA242A5F6FBAEB" ma:contentTypeVersion="9" ma:contentTypeDescription="Create a new document." ma:contentTypeScope="" ma:versionID="fe7e8ca8f5bc98bc55ce144b2ab84caa">
  <xsd:schema xmlns:xsd="http://www.w3.org/2001/XMLSchema" xmlns:xs="http://www.w3.org/2001/XMLSchema" xmlns:p="http://schemas.microsoft.com/office/2006/metadata/properties" xmlns:ns2="7bca1dba-6ac6-41dc-89fe-ef4b674b2d91" xmlns:ns3="0e4db8ff-121a-41d3-920b-5da9b93e742e" targetNamespace="http://schemas.microsoft.com/office/2006/metadata/properties" ma:root="true" ma:fieldsID="b61c7a6b43afd4f1849f52e764489931" ns2:_="" ns3:_="">
    <xsd:import namespace="7bca1dba-6ac6-41dc-89fe-ef4b674b2d91"/>
    <xsd:import namespace="0e4db8ff-121a-41d3-920b-5da9b93e742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bca1dba-6ac6-41dc-89fe-ef4b674b2d9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765a431-9415-4219-9cd0-5363948861b2"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e4db8ff-121a-41d3-920b-5da9b93e742e"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a0f7a2de-0acc-4c5a-996d-a92c6eb64016}" ma:internalName="TaxCatchAll" ma:showField="CatchAllData" ma:web="0e4db8ff-121a-41d3-920b-5da9b93e742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0e4db8ff-121a-41d3-920b-5da9b93e742e" xsi:nil="true"/>
    <lcf76f155ced4ddcb4097134ff3c332f xmlns="7bca1dba-6ac6-41dc-89fe-ef4b674b2d9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65D7223F-B7D1-484C-BF79-EE510B738CEA}"/>
</file>

<file path=customXml/itemProps2.xml><?xml version="1.0" encoding="utf-8"?>
<ds:datastoreItem xmlns:ds="http://schemas.openxmlformats.org/officeDocument/2006/customXml" ds:itemID="{8B5E7A0C-C3D8-4E3D-B722-6AC077FBB61B}"/>
</file>

<file path=customXml/itemProps3.xml><?xml version="1.0" encoding="utf-8"?>
<ds:datastoreItem xmlns:ds="http://schemas.openxmlformats.org/officeDocument/2006/customXml" ds:itemID="{A7A88748-F08C-44FE-836C-B5AED848663B}"/>
</file>

<file path=docProps/app.xml><?xml version="1.0" encoding="utf-8"?>
<Properties xmlns="http://schemas.openxmlformats.org/officeDocument/2006/extended-properties" xmlns:vt="http://schemas.openxmlformats.org/officeDocument/2006/docPropsVTypes">
  <Template>Office Theme</Template>
  <TotalTime>0</TotalTime>
  <Words>73</Words>
  <Application>Microsoft Office PowerPoint</Application>
  <PresentationFormat>Widescreen</PresentationFormat>
  <Paragraphs>23</Paragraphs>
  <Slides>3</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vt:i4>
      </vt:variant>
    </vt:vector>
  </HeadingPairs>
  <TitlesOfParts>
    <vt:vector size="10" baseType="lpstr">
      <vt:lpstr>Aller</vt:lpstr>
      <vt:lpstr>Arial</vt:lpstr>
      <vt:lpstr>Book Antiqua</vt:lpstr>
      <vt:lpstr>Calibri</vt:lpstr>
      <vt:lpstr>Calibri Light</vt:lpstr>
      <vt:lpstr>Times New Roman</vt:lpstr>
      <vt:lpstr>Theme1</vt:lpstr>
      <vt:lpstr>A  Presentation on “TITLE OF PROJECT”  By Name of Students    Under the Guidance of Name of Guide </vt:lpstr>
      <vt:lpstr>PowerPoint Presentation</vt:lpstr>
      <vt:lpstr>Thank You !!!</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Discipline in the School</dc:title>
  <dc:creator>Amit Page</dc:creator>
  <cp:lastModifiedBy>Naziya Hussain</cp:lastModifiedBy>
  <cp:revision>3</cp:revision>
  <dcterms:created xsi:type="dcterms:W3CDTF">2018-06-30T10:51:01Z</dcterms:created>
  <dcterms:modified xsi:type="dcterms:W3CDTF">2026-10-08T08:05:44Z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0x010100896812894AF27C4B9BEA242A5F6FBAEB</vt:lpwstr>
  </property>
</Properties>
</file>