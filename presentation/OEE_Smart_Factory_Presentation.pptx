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8" r:id="rId2"/>
    <p:sldId id="392" r:id="rId3"/>
    <p:sldId id="393" r:id="rId14"/>
    <p:sldId id="394" r:id="rId15"/>
    <p:sldId id="395" r:id="rId16"/>
    <p:sldId id="396" r:id="rId17"/>
    <p:sldId id="397" r:id="rId18"/>
    <p:sldId id="398" r:id="rId19"/>
    <p:sldId id="399" r:id="rId20"/>
    <p:sldId id="400" r:id="rId21"/>
    <p:sldId id="401" r:id="rId22"/>
    <p:sldId id="402" r:id="rId23"/>
    <p:sldId id="403" r:id="rId24"/>
    <p:sldId id="404" r:id="rId25"/>
    <p:sldId id="405" r:id="rId26"/>
    <p:sldId id="406" r:id="rId27"/>
    <p:sldId id="407" r:id="rId28"/>
    <p:sldId id="408" r:id="rId29"/>
    <p:sldId id="409" r:id="rId30"/>
    <p:sldId id="410" r:id="rId31"/>
    <p:sldId id="411" r:id="rId32"/>
    <p:sldId id="412" r:id="rId33"/>
    <p:sldId id="413" r:id="rId34"/>
    <p:sldId id="414" r:id="rId35"/>
    <p:sldId id="415" r:id="rId36"/>
    <p:sldId id="416" r:id="rId37"/>
    <p:sldId id="417" r:id="rId38"/>
    <p:sldId id="418" r:id="rId39"/>
    <p:sldId id="419" r:id="rId40"/>
    <p:sldId id="420" r:id="rId41"/>
    <p:sldId id="421" r:id="rId42"/>
    <p:sldId id="422" r:id="rId43"/>
    <p:sldId id="423" r:id="rId44"/>
    <p:sldId id="424" r:id="rId45"/>
    <p:sldId id="425" r:id="rId46"/>
    <p:sldId id="426" r:id="rId47"/>
    <p:sldId id="427" r:id="rId48"/>
    <p:sldId id="300"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D60000"/>
    <a:srgbClr val="660066"/>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C94E37-74BD-725C-630D-F4B1C7B84340}" v="31" dt="2026-01-29T09:13:41.566"/>
    <p1510:client id="{7EB43320-B940-95BE-46D5-A88D6CD6EA47}" v="4" dt="2026-01-28T12:50:25.9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976"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OEE</c:v>
                </c:pt>
              </c:strCache>
            </c:strRef>
          </c:tx>
          <c:dPt>
            <c:idx val="0"/>
            <c:spPr>
              <a:solidFill>
                <a:srgbClr val="22C55E"/>
              </a:solidFill>
              <a:ln>
                <a:noFill/>
              </a:ln>
            </c:spPr>
          </c:dPt>
          <c:dPt>
            <c:idx val="1"/>
            <c:spPr>
              <a:solidFill>
                <a:srgbClr val="E2E8F0"/>
              </a:solidFill>
              <a:ln>
                <a:noFill/>
              </a:ln>
            </c:spPr>
          </c:dPt>
          <c:cat>
            <c:strRef>
              <c:f>Sheet1!$A$2:$A$3</c:f>
              <c:strCache>
                <c:ptCount val="2"/>
                <c:pt idx="0">
                  <c:v>value</c:v>
                </c:pt>
                <c:pt idx="1">
                  <c:v>rest</c:v>
                </c:pt>
              </c:strCache>
            </c:strRef>
          </c:cat>
          <c:val>
            <c:numRef>
              <c:f>Sheet1!$B$2:$B$3</c:f>
              <c:numCache>
                <c:formatCode>General</c:formatCode>
                <c:ptCount val="2"/>
                <c:pt idx="0">
                  <c:v>83.1</c:v>
                </c:pt>
                <c:pt idx="1">
                  <c:v>16.900000000000006</c:v>
                </c:pt>
              </c:numCache>
            </c:numRef>
          </c:val>
        </c:ser>
        <c:firstSliceAng val="0"/>
        <c:holeSize val="72"/>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Availability</c:v>
                </c:pt>
              </c:strCache>
            </c:strRef>
          </c:tx>
          <c:dPt>
            <c:idx val="0"/>
            <c:spPr>
              <a:solidFill>
                <a:srgbClr val="2563EB"/>
              </a:solidFill>
              <a:ln>
                <a:noFill/>
              </a:ln>
            </c:spPr>
          </c:dPt>
          <c:dPt>
            <c:idx val="1"/>
            <c:spPr>
              <a:solidFill>
                <a:srgbClr val="E2E8F0"/>
              </a:solidFill>
              <a:ln>
                <a:noFill/>
              </a:ln>
            </c:spPr>
          </c:dPt>
          <c:cat>
            <c:strRef>
              <c:f>Sheet1!$A$2:$A$3</c:f>
              <c:strCache>
                <c:ptCount val="2"/>
                <c:pt idx="0">
                  <c:v>value</c:v>
                </c:pt>
                <c:pt idx="1">
                  <c:v>rest</c:v>
                </c:pt>
              </c:strCache>
            </c:strRef>
          </c:cat>
          <c:val>
            <c:numRef>
              <c:f>Sheet1!$B$2:$B$3</c:f>
              <c:numCache>
                <c:formatCode>General</c:formatCode>
                <c:ptCount val="2"/>
                <c:pt idx="0">
                  <c:v>97.9</c:v>
                </c:pt>
                <c:pt idx="1">
                  <c:v>2.0999999999999943</c:v>
                </c:pt>
              </c:numCache>
            </c:numRef>
          </c:val>
        </c:ser>
        <c:firstSliceAng val="0"/>
        <c:holeSize val="72"/>
      </c:doughnutChart>
    </c:plotArea>
    <c:plotVisOnly val="1"/>
    <c:dispBlanksAs val="gap"/>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Performance</c:v>
                </c:pt>
              </c:strCache>
            </c:strRef>
          </c:tx>
          <c:dPt>
            <c:idx val="0"/>
            <c:spPr>
              <a:solidFill>
                <a:srgbClr val="0891B2"/>
              </a:solidFill>
              <a:ln>
                <a:noFill/>
              </a:ln>
            </c:spPr>
          </c:dPt>
          <c:dPt>
            <c:idx val="1"/>
            <c:spPr>
              <a:solidFill>
                <a:srgbClr val="E2E8F0"/>
              </a:solidFill>
              <a:ln>
                <a:noFill/>
              </a:ln>
            </c:spPr>
          </c:dPt>
          <c:cat>
            <c:strRef>
              <c:f>Sheet1!$A$2:$A$3</c:f>
              <c:strCache>
                <c:ptCount val="2"/>
                <c:pt idx="0">
                  <c:v>value</c:v>
                </c:pt>
                <c:pt idx="1">
                  <c:v>rest</c:v>
                </c:pt>
              </c:strCache>
            </c:strRef>
          </c:cat>
          <c:val>
            <c:numRef>
              <c:f>Sheet1!$B$2:$B$3</c:f>
              <c:numCache>
                <c:formatCode>General</c:formatCode>
                <c:ptCount val="2"/>
                <c:pt idx="0">
                  <c:v>86.1</c:v>
                </c:pt>
                <c:pt idx="1">
                  <c:v>13.900000000000006</c:v>
                </c:pt>
              </c:numCache>
            </c:numRef>
          </c:val>
        </c:ser>
        <c:firstSliceAng val="0"/>
        <c:holeSize val="72"/>
      </c:doughnutChart>
    </c:plotArea>
    <c:plotVisOnly val="1"/>
    <c:dispBlanksAs val="gap"/>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Quality</c:v>
                </c:pt>
              </c:strCache>
            </c:strRef>
          </c:tx>
          <c:dPt>
            <c:idx val="0"/>
            <c:spPr>
              <a:solidFill>
                <a:srgbClr val="7C3AED"/>
              </a:solidFill>
              <a:ln>
                <a:noFill/>
              </a:ln>
            </c:spPr>
          </c:dPt>
          <c:dPt>
            <c:idx val="1"/>
            <c:spPr>
              <a:solidFill>
                <a:srgbClr val="E2E8F0"/>
              </a:solidFill>
              <a:ln>
                <a:noFill/>
              </a:ln>
            </c:spPr>
          </c:dPt>
          <c:cat>
            <c:strRef>
              <c:f>Sheet1!$A$2:$A$3</c:f>
              <c:strCache>
                <c:ptCount val="2"/>
                <c:pt idx="0">
                  <c:v>value</c:v>
                </c:pt>
                <c:pt idx="1">
                  <c:v>rest</c:v>
                </c:pt>
              </c:strCache>
            </c:strRef>
          </c:cat>
          <c:val>
            <c:numRef>
              <c:f>Sheet1!$B$2:$B$3</c:f>
              <c:numCache>
                <c:formatCode>General</c:formatCode>
                <c:ptCount val="2"/>
                <c:pt idx="0">
                  <c:v>98.6</c:v>
                </c:pt>
                <c:pt idx="1">
                  <c:v>1.4000000000000057</c:v>
                </c:pt>
              </c:numCache>
            </c:numRef>
          </c:val>
        </c:ser>
        <c:firstSliceAng val="0"/>
        <c:holeSize val="72"/>
      </c:doughnutChart>
    </c:plotArea>
    <c:plotVisOnly val="1"/>
    <c:dispBlanksAs val="gap"/>
    <c:showDLblsOverMax val="0"/>
  </c:chart>
  <c:txPr>
    <a:bodyPr/>
    <a:lstStyle/>
    <a:p>
      <a:pPr>
        <a:defRPr sz="1800"/>
      </a:pPr>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Temperature readings</c:v>
                </c:pt>
              </c:strCache>
            </c:strRef>
          </c:tx>
          <c:spPr>
            <a:ln>
              <a:noFill/>
            </a:ln>
          </c:spPr>
          <c:marker>
            <c:symbol val="circle"/>
            <c:size val="7"/>
            <c:spPr>
              <a:solidFill>
                <a:srgbClr val="2563EB"/>
              </a:solidFill>
              <a:ln>
                <a:noFill/>
              </a:ln>
            </c:spPr>
          </c:marker>
          <c:xVal>
            <c:numRef>
              <c:f>Sheet1!$A$2:$A$20</c:f>
              <c:numCache>
                <c:formatCode>General</c:formatCode>
                <c:ptCount val="19"/>
                <c:pt idx="0">
                  <c:v>-180</c:v>
                </c:pt>
                <c:pt idx="1">
                  <c:v>-170</c:v>
                </c:pt>
                <c:pt idx="2">
                  <c:v>-160</c:v>
                </c:pt>
                <c:pt idx="3">
                  <c:v>-150</c:v>
                </c:pt>
                <c:pt idx="4">
                  <c:v>-140</c:v>
                </c:pt>
                <c:pt idx="5">
                  <c:v>-130</c:v>
                </c:pt>
                <c:pt idx="6">
                  <c:v>-120</c:v>
                </c:pt>
                <c:pt idx="7">
                  <c:v>-110</c:v>
                </c:pt>
                <c:pt idx="8">
                  <c:v>-100</c:v>
                </c:pt>
                <c:pt idx="9">
                  <c:v>-90</c:v>
                </c:pt>
                <c:pt idx="10">
                  <c:v>-80</c:v>
                </c:pt>
                <c:pt idx="11">
                  <c:v>-70</c:v>
                </c:pt>
                <c:pt idx="12">
                  <c:v>-60</c:v>
                </c:pt>
                <c:pt idx="13">
                  <c:v>-50</c:v>
                </c:pt>
                <c:pt idx="14">
                  <c:v>-40</c:v>
                </c:pt>
                <c:pt idx="15">
                  <c:v>-30</c:v>
                </c:pt>
                <c:pt idx="16">
                  <c:v>-20</c:v>
                </c:pt>
                <c:pt idx="17">
                  <c:v>-10</c:v>
                </c:pt>
                <c:pt idx="18">
                  <c:v>0</c:v>
                </c:pt>
              </c:numCache>
            </c:numRef>
          </c:xVal>
          <c:yVal>
            <c:numRef>
              <c:f>Sheet1!$B$2:$B$20</c:f>
              <c:numCache>
                <c:formatCode>General</c:formatCode>
                <c:ptCount val="19"/>
                <c:pt idx="0">
                  <c:v>62.69</c:v>
                </c:pt>
                <c:pt idx="1">
                  <c:v>63.04</c:v>
                </c:pt>
                <c:pt idx="2">
                  <c:v>63.3</c:v>
                </c:pt>
                <c:pt idx="3">
                  <c:v>65.09</c:v>
                </c:pt>
                <c:pt idx="4">
                  <c:v>66.68</c:v>
                </c:pt>
                <c:pt idx="5">
                  <c:v>66.78</c:v>
                </c:pt>
                <c:pt idx="6">
                  <c:v>67.36</c:v>
                </c:pt>
                <c:pt idx="7">
                  <c:v>69.35</c:v>
                </c:pt>
                <c:pt idx="8">
                  <c:v>70.57</c:v>
                </c:pt>
                <c:pt idx="9">
                  <c:v>70.54</c:v>
                </c:pt>
                <c:pt idx="10">
                  <c:v>71.51</c:v>
                </c:pt>
                <c:pt idx="11">
                  <c:v>73.55</c:v>
                </c:pt>
                <c:pt idx="12">
                  <c:v>74.38</c:v>
                </c:pt>
                <c:pt idx="13">
                  <c:v>74.38</c:v>
                </c:pt>
                <c:pt idx="14">
                  <c:v>75.74</c:v>
                </c:pt>
                <c:pt idx="15">
                  <c:v>77.67</c:v>
                </c:pt>
                <c:pt idx="16">
                  <c:v>78.13</c:v>
                </c:pt>
                <c:pt idx="17">
                  <c:v>78.3</c:v>
                </c:pt>
                <c:pt idx="18">
                  <c:v>80.0</c:v>
                </c:pt>
              </c:numCache>
            </c:numRef>
          </c:yVal>
          <c:smooth val="0"/>
        </c:ser>
        <c:ser>
          <c:idx val="1"/>
          <c:order val="1"/>
          <c:tx>
            <c:strRef>
              <c:f>Sheet1!$B$22</c:f>
              <c:strCache>
                <c:ptCount val="1"/>
                <c:pt idx="0">
                  <c:v>Fitted line  y = m·x + c</c:v>
                </c:pt>
              </c:strCache>
            </c:strRef>
          </c:tx>
          <c:spPr>
            <a:ln w="31750">
              <a:solidFill>
                <a:srgbClr val="EA580C"/>
              </a:solidFill>
            </a:ln>
          </c:spPr>
          <c:marker>
            <c:symbol val="none"/>
          </c:marker>
          <c:xVal>
            <c:numRef>
              <c:f>Sheet1!$A$23:$A$24</c:f>
              <c:numCache>
                <c:formatCode>General</c:formatCode>
                <c:ptCount val="2"/>
                <c:pt idx="0">
                  <c:v>-180</c:v>
                </c:pt>
                <c:pt idx="1">
                  <c:v>60</c:v>
                </c:pt>
              </c:numCache>
            </c:numRef>
          </c:xVal>
          <c:yVal>
            <c:numRef>
              <c:f>Sheet1!$B$23:$B$24</c:f>
              <c:numCache>
                <c:formatCode>General</c:formatCode>
                <c:ptCount val="2"/>
                <c:pt idx="0">
                  <c:v>62.0</c:v>
                </c:pt>
                <c:pt idx="1">
                  <c:v>86.0</c:v>
                </c:pt>
              </c:numCache>
            </c:numRef>
          </c:yVal>
          <c:smooth val="0"/>
        </c:ser>
        <c:ser>
          <c:idx val="2"/>
          <c:order val="2"/>
          <c:tx>
            <c:strRef>
              <c:f>Sheet1!$B$26</c:f>
              <c:strCache>
                <c:ptCount val="1"/>
                <c:pt idx="0">
                  <c:v>Hard limit 85 °C</c:v>
                </c:pt>
              </c:strCache>
            </c:strRef>
          </c:tx>
          <c:spPr>
            <a:ln w="31750">
              <a:solidFill>
                <a:srgbClr val="DC2626"/>
              </a:solidFill>
            </a:ln>
          </c:spPr>
          <c:marker>
            <c:symbol val="none"/>
          </c:marker>
          <c:xVal>
            <c:numRef>
              <c:f>Sheet1!$A$27:$A$28</c:f>
              <c:numCache>
                <c:formatCode>General</c:formatCode>
                <c:ptCount val="2"/>
                <c:pt idx="0">
                  <c:v>-180</c:v>
                </c:pt>
                <c:pt idx="1">
                  <c:v>60</c:v>
                </c:pt>
              </c:numCache>
            </c:numRef>
          </c:xVal>
          <c:yVal>
            <c:numRef>
              <c:f>Sheet1!$B$27:$B$28</c:f>
              <c:numCache>
                <c:formatCode>General</c:formatCode>
                <c:ptCount val="2"/>
                <c:pt idx="0">
                  <c:v>85</c:v>
                </c:pt>
                <c:pt idx="1">
                  <c:v>85</c:v>
                </c:pt>
              </c:numCache>
            </c:numRef>
          </c:yVal>
          <c:smooth val="0"/>
        </c:ser>
        <c:ser>
          <c:idx val="3"/>
          <c:order val="3"/>
          <c:tx>
            <c:strRef>
              <c:f>Sheet1!$B$30</c:f>
              <c:strCache>
                <c:ptCount val="1"/>
                <c:pt idx="0">
                  <c:v>Now</c:v>
                </c:pt>
              </c:strCache>
            </c:strRef>
          </c:tx>
          <c:spPr>
            <a:ln w="19050">
              <a:solidFill>
                <a:srgbClr val="64748B"/>
              </a:solidFill>
              <a:prstDash val="dash"/>
            </a:ln>
          </c:spPr>
          <c:marker>
            <c:symbol val="none"/>
          </c:marker>
          <c:xVal>
            <c:numRef>
              <c:f>Sheet1!$A$31:$A$32</c:f>
              <c:numCache>
                <c:formatCode>General</c:formatCode>
                <c:ptCount val="2"/>
                <c:pt idx="0">
                  <c:v>0</c:v>
                </c:pt>
                <c:pt idx="1">
                  <c:v>0</c:v>
                </c:pt>
              </c:numCache>
            </c:numRef>
          </c:xVal>
          <c:yVal>
            <c:numRef>
              <c:f>Sheet1!$B$31:$B$32</c:f>
              <c:numCache>
                <c:formatCode>General</c:formatCode>
                <c:ptCount val="2"/>
                <c:pt idx="0">
                  <c:v>55</c:v>
                </c:pt>
                <c:pt idx="1">
                  <c:v>95</c:v>
                </c:pt>
              </c:numCache>
            </c:numRef>
          </c:yVal>
          <c:smooth val="0"/>
        </c:ser>
        <c:ser>
          <c:idx val="4"/>
          <c:order val="4"/>
          <c:tx>
            <c:strRef>
              <c:f>Sheet1!$B$34</c:f>
              <c:strCache>
                <c:ptCount val="1"/>
                <c:pt idx="0">
                  <c:v>Predicted crossing (ETA ≈ 50 s)</c:v>
                </c:pt>
              </c:strCache>
            </c:strRef>
          </c:tx>
          <c:spPr>
            <a:ln>
              <a:noFill/>
            </a:ln>
          </c:spPr>
          <c:marker>
            <c:symbol val="diamond"/>
            <c:size val="12"/>
            <c:spPr>
              <a:solidFill>
                <a:srgbClr val="DC2626"/>
              </a:solidFill>
            </c:spPr>
          </c:marker>
          <c:xVal>
            <c:numRef>
              <c:f>Sheet1!$A$35:$A$35</c:f>
              <c:numCache>
                <c:formatCode>General</c:formatCode>
                <c:ptCount val="1"/>
                <c:pt idx="0">
                  <c:v>50</c:v>
                </c:pt>
              </c:numCache>
            </c:numRef>
          </c:xVal>
          <c:yVal>
            <c:numRef>
              <c:f>Sheet1!$B$35:$B$35</c:f>
              <c:numCache>
                <c:formatCode>General</c:formatCode>
                <c:ptCount val="1"/>
                <c:pt idx="0">
                  <c:v>85</c:v>
                </c:pt>
              </c:numCache>
            </c:numRef>
          </c:yVal>
          <c:smooth val="0"/>
        </c:ser>
        <c:axId val="-2128940872"/>
        <c:axId val="-2129643912"/>
      </c:scatterChart>
      <c:valAx>
        <c:axId val="-2128940872"/>
        <c:scaling>
          <c:orientation val="minMax"/>
          <c:max val="60.0"/>
          <c:min val="-180.0"/>
        </c:scaling>
        <c:delete val="0"/>
        <c:axPos val="b"/>
        <c:title>
          <c:tx>
            <c:rich>
              <a:bodyPr/>
              <a:lstStyle/>
              <a:p>
                <a:r>
                  <a:rPr sz="1200" b="0"/>
                  <a:t>Time relative to now (s)</a:t>
                </a:r>
              </a:p>
            </c:rich>
          </c:tx>
          <c:layout/>
          <c:overlay val="0"/>
        </c:title>
        <c:numFmt formatCode="General" sourceLinked="1"/>
        <c:majorTickMark val="out"/>
        <c:minorTickMark val="none"/>
        <c:tickLblPos val="nextTo"/>
        <c:txPr>
          <a:bodyPr/>
          <a:lstStyle/>
          <a:p>
            <a:pPr>
              <a:defRPr sz="1200"/>
            </a:pPr>
          </a:p>
        </c:txPr>
        <c:crossAx val="-2129643912"/>
        <c:crosses val="min"/>
        <c:crossBetween val="midCat"/>
        <c:majorUnit val="30.0"/>
      </c:valAx>
      <c:valAx>
        <c:axId val="-2129643912"/>
        <c:scaling>
          <c:orientation val="minMax"/>
          <c:max val="95.0"/>
          <c:min val="55.0"/>
        </c:scaling>
        <c:delete val="0"/>
        <c:axPos val="l"/>
        <c:majorGridlines>
          <c:spPr>
            <a:ln>
              <a:solidFill>
                <a:srgbClr val="E2E8F0"/>
              </a:solidFill>
            </a:ln>
          </c:spPr>
        </c:majorGridlines>
        <c:title>
          <c:tx>
            <c:rich>
              <a:bodyPr/>
              <a:lstStyle/>
              <a:p>
                <a:r>
                  <a:rPr sz="1200" b="0"/>
                  <a:t>Temperature (°C)</a:t>
                </a:r>
              </a:p>
            </c:rich>
          </c:tx>
          <c:layout/>
          <c:overlay val="0"/>
        </c:title>
        <c:numFmt formatCode="General" sourceLinked="1"/>
        <c:majorTickMark val="out"/>
        <c:minorTickMark val="none"/>
        <c:tickLblPos val="nextTo"/>
        <c:txPr>
          <a:bodyPr/>
          <a:lstStyle/>
          <a:p>
            <a:pPr>
              <a:defRPr sz="1200"/>
            </a:pPr>
          </a:p>
        </c:txPr>
        <c:crossAx val="-2128940872"/>
        <c:crosses val="min"/>
        <c:crossBetween val="midCat"/>
        <c:majorUnit val="5.0"/>
      </c:valAx>
    </c:plotArea>
    <c:legend>
      <c:legendPos val="b"/>
      <c:layout/>
      <c:overlay val="0"/>
      <c:txPr>
        <a:bodyPr/>
        <a:lstStyle/>
        <a:p>
          <a:pPr>
            <a:defRPr sz="1100"/>
          </a:pPr>
        </a:p>
      </c:txPr>
    </c:legend>
    <c:plotVisOnly val="1"/>
    <c:dispBlanksAs val="gap"/>
    <c:showDLblsOverMax val="0"/>
  </c:chart>
  <c:txPr>
    <a:bodyPr/>
    <a:lstStyle/>
    <a:p>
      <a:pPr>
        <a:defRPr sz="1200">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Measured as a share of the SRS limit (lower is better)</a:t>
            </a:r>
          </a:p>
        </c:rich>
      </c:tx>
      <c:layout/>
      <c:overlay val="0"/>
    </c:title>
    <c:autoTitleDeleted val="0"/>
    <c:plotArea>
      <c:barChart>
        <c:barDir val="bar"/>
        <c:grouping val="clustered"/>
        <c:ser>
          <c:idx val="0"/>
          <c:order val="0"/>
          <c:tx>
            <c:strRef>
              <c:f>Sheet1!$B$1</c:f>
              <c:strCache>
                <c:ptCount val="1"/>
                <c:pt idx="0">
                  <c:v>Share of the SRS limit used</c:v>
                </c:pt>
              </c:strCache>
            </c:strRef>
          </c:tx>
          <c:spPr>
            <a:solidFill>
              <a:srgbClr val="16A34A"/>
            </a:solidFill>
          </c:spPr>
          <c:cat>
            <c:strRef>
              <c:f>Sheet1!$A$2:$A$4</c:f>
              <c:strCache>
                <c:ptCount val="3"/>
                <c:pt idx="0">
                  <c:v>Dashboard update, p95
0.51 s of 1 s</c:v>
                </c:pt>
                <c:pt idx="1">
                  <c:v>ML inference, worst case
19 ms of 200 ms</c:v>
                </c:pt>
                <c:pt idx="2">
                  <c:v>MQTT recovery
1.9 s of 5 s</c:v>
                </c:pt>
              </c:strCache>
            </c:strRef>
          </c:cat>
          <c:val>
            <c:numRef>
              <c:f>Sheet1!$B$2:$B$4</c:f>
              <c:numCache>
                <c:formatCode>General</c:formatCode>
                <c:ptCount val="3"/>
                <c:pt idx="0">
                  <c:v>51</c:v>
                </c:pt>
                <c:pt idx="1">
                  <c:v>9.5</c:v>
                </c:pt>
                <c:pt idx="2">
                  <c:v>38</c:v>
                </c:pt>
              </c:numCache>
            </c:numRef>
          </c:val>
        </c:ser>
        <c:dLbls>
          <c:numFmt formatCode="0.0&quot;%&quot;"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b"/>
        <c:majorGridlines>
          <c:spPr>
            <a:ln>
              <a:solidFill>
                <a:srgbClr val="E2E8F0"/>
              </a:solidFill>
            </a:ln>
          </c:spPr>
        </c:majorGridlines>
        <c:numFmt formatCode="0&quot;%&quot;" sourceLinked="0"/>
        <c:majorTickMark val="out"/>
        <c:minorTickMark val="none"/>
        <c:tickLblPos val="nextTo"/>
        <c:txPr>
          <a:bodyPr/>
          <a:lstStyle/>
          <a:p>
            <a:pPr>
              <a:defRPr sz="1200"/>
            </a:pPr>
          </a:p>
        </c:txPr>
        <c:crossAx val="-2068027336"/>
        <c:crosses val="autoZero"/>
        <c:majorUnit val="25.0"/>
      </c:valAx>
    </c:plotArea>
    <c:dispBlanksAs val="gap"/>
  </c:chart>
  <c:txPr>
    <a:bodyPr/>
    <a:lstStyle/>
    <a:p>
      <a:pPr>
        <a:defRPr sz="1200">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AD5C3C-9762-47FC-8162-DB9387D82497}" type="datetimeFigureOut">
              <a:rPr lang="en-IN" smtClean="0"/>
              <a:t>08-10-2026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B58062-A31C-4F74-AAC8-1017D63BF7F0}" type="slidenum">
              <a:rPr lang="en-IN" smtClean="0"/>
              <a:t>‹#›</a:t>
            </a:fld>
            <a:endParaRPr lang="en-IN"/>
          </a:p>
        </p:txBody>
      </p:sp>
    </p:spTree>
    <p:extLst>
      <p:ext uri="{BB962C8B-B14F-4D97-AF65-F5344CB8AC3E}">
        <p14:creationId xmlns:p14="http://schemas.microsoft.com/office/powerpoint/2010/main" val="2834400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 name="Google Shape;9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r>
              <a:t>Roadmap in the order of the SRS: requirements first, then design (architecture, UML, data flow), then how it was built, then how it was verified. About 15 minutes plus a 3-minute live demo.</a:t>
            </a:r>
          </a:p>
        </p:txBody>
      </p:sp>
      <p:sp>
        <p:nvSpPr>
          <p:cNvPr id="96" name="Google Shape;9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2</a:t>
            </a:fld>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project in one sentence: a software-only smart-factory monitor that shows OEE live and warns operators three different ways - rules, a machine-learning model and a trend projection - before a machine fails. It is built exactly from my SRS.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faculty remembers one slide, it should be this one. A car dashboard shows speed and warns you before the engine overheats. Our software does that for a factory: virtual machines send readings, a smart backend computes productivity (OEE) and watches for trouble in three different ways, and the operator sees a four-colour status and can act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OEE - Overall Equipment Effectiveness - is the standard productivity number in manufacturing (ISO 22400). It multiplies three simple questions: was the machine running, was it fast, and were the parts good? The worked example at the bottom is easy to follow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what plants live with today - OEE computed after the shift, alarms only when a limit is already crossed, slow drifts unnoticed. Right: the four things a manager or engineer actually needs. The green banner is the numeric targets from the SRS that we later prove with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objectives; each maps to requirements in the SRS (FR-01 to FR-12) shown in small print, and each is verified by a test - see the traceability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 OEE is retrospective and alarms are fixed thresholds. Our system is live, layered and explainable, and runs with no hardware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user classes from the SRS. Each card shows the user stories (UR-01 to UR-06) that drive the features. The access line shows what each role may do in the app: everyone can view; operating (acknowledge, maintenance, feedback) needs a login with the right role; control (What-If, simulator) is for the floor manager and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functional requirements FR-01 to FR-12 from the SRS on one slide. The strip at the bottom is the non-functional targets. Later slides prove each one with a test or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simulator publishes JSON over MQTT (WebSockets) to Mosquitto; the FastAPI backend validates, computes OEE and runs the three detectors, stores data and pushes a snapshot every 500 ms to the React dashboard. Two switches in .env choose the ingest path (direct or mqtt) and the storage (memory or db).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reading. It is generated, published, validated, then OEE is updated, the ML model scores it, rules and trend are checked, alerts are raised or cleared, the data is stored and a snapshot is pushed to the browser. The whole loop is measured at about half a second at the 95th percentile - well under the 1 second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one process. External entities are the four user classes from the SRS and the virtual factory. Arrows show what data crosses the system boundary.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process decomposed into seven processes P1 to P7 and three data stores. Telemetry enters through the MQTT broker, is validated, turned into OEE, checked by the detectors, and finally shown, stored and reported. Processes and stores follow the SRS section 9.4.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incremental, requirements-driven approach: SRS first, then design, then build in ten milestones, verify, and deploy and document. Each milestone ended with working code and passing tests - that is the Definition of Done from SRS section 13.2.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modules from the SRS, each with the file where it lives, so every module can be shown in the code if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 and the tool chosen for it, all taken from the SRS technology stack.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rings: plant OEE and its three factors, measured in the end-to-end test over the rolling one-hour window on five machines. Reading the rings tells you WHY OEE is low: here performance is the weakest factor. Bottom left explains how it is computed efficiently; bottom right the measured figures.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system. Each reading goes through three questions in strict priority. Red is certain and immediate. Orange uses a regression line to predict a crossing within 60 seconds. Yellow comes from the Isolation Forest when the score stays above 85 percent. Higher levels suppress lower ones, and every alert is handed to the alert manager.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reference table for the four colours. Each has a trigger, a detector and what the operator should do. Colour is never the only cue: every state also has an icon and a text label (a usability and accessibility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lane: done once, offline. A synthetic dataset of normal behaviour trains an Isolation Forest; the raw model output is calibrated to a 0 to 100 percent score and saved as model.pkl. Bottom lane: every 500 ms the live reading is converted to the same features and scored; two readings above 85 percent raise a Yellow caution. Validated on injected faults: six of six detected, no false alarms. If the ML service fails, the last score is held and the red rules keep working.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manager injects a controlled temperature rise over three minutes. The backend fits a straight line y = m x + c through the last three minutes of readings and predicts when the hard limit will be crossed. If that is within 60 seconds and the fit is good, the machine turns Orange with a countdown. The chart is an illustration with a slope of 0.1 degrees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use cases from the SRS catalogue and four actors. The Maintenance Engineer reacts to alerts; the Floor Manager watches and plans with What-If; the Production Analyst reads reports; the System Administrator deploys and scales. A login is required for the write operations (acknowledge, log maintenance, What-If).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domain classes from the SRS, with the main attributes and operations. Row one is the data path (Simulator, Machine, TelemetryData, OEEEngine). Row two is detection: the ML scorer and the rule engine raise Alerts; OEEEngine produces OEE. Row three is the people side: maintenance records belong to alerts, feedback rates alerts.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Login first, then a loop that repeats every 500 ms: the simulator publishes, the backend validates and calculates OEE, asks the ML service for a score, saves telemetry and alerts, and pushes a live update to the dashboard. At the bottom an authenticated user acknowledges an alert and logs maintenance; the alert is marked In Progress.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activity flow from the SRS. Data is monitored and checked against the hard rules first: a hard fault is a Red alert. Otherwise the ML anomaly detector decides between a Yellow caution and normal status. Every outcome is displayed; the engineer views the alert and either starts maintenance or carries on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tables. Machines own alerts and maintenance records; each alert can have one ML feedback row and several maintenance records. Users and ML model metadata are standalone. Time-series telemetry lives separately in InfluxDB (30 days raw, 1 year aggregated).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alert is born Open when a detector fires. An operator acknowledges it (or assigns a technician, which acknowledges it) and later resolves it with notes. If the condition disappears on its own for 3 to 4 seconds, an unacknowledged alert becomes Cleared and an acknowledged one becomes Resolved. ML feedback and maintenance records can be added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code runs in four combinations by changing two lines in the .env file. The quick start needs nothing installed except Python and Node: direct ingest and memory storage. The full path from the SRS uses MQTT through Mosquitto and the two databases.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starts the stack: Mosquitto, simulator, backend and the nginx-served React frontend. The two databases are an optional compose profile. The databases were verified live in Docker containers. The right panel is the hardware and software requirement table from the SRS.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screenshots of the running application at 1440 pixels. Top left: plant overview with the OEE gauge and the three factors. Top right: the machine grid with red, orange and green tiles. Bottom left: machine detail with the What-If regression line and countdown. Bottom right: the alert centre after operator actions.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dashboard works on a phone, with dark and light themes. It was audited with axe-core for WCAG 2 A and AA on every page, both themes, desktop and phone: zero violations. It was also loaded in Chromium, Firefox and WebKit: all pages clean with no console errors and no sideways scrolling.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and follow the numbered steps; the whole demo takes about three minutes. Start the app first with scripts/dev.ps1 or docker compose up, then sign in as the Floor Manager. Step 8 is optional and only works when the databases are running.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real runs of the final code. Top: 45 automated tests, a 13-check end-to-end test with 50 simultaneous clients, zero accessibility violations and three browser engines clean. Bottom left: each performance target from the SRS compared with what we measured - every bar is far below its limit. Bottom right: further checks, including the live databases.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SRS asks that every requirement maps to a test. Each functional requirement is shown with the evidence that proves it. The last two rows group the non-functional targets and one item that is configured but still to be confirmed by a full Docker Compose run.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balanced. Advantages: layered detection, explainable alerts, runs without infrastructure. Limitations come straight from the SRS constraints: simulated data, one-off training, basic authentication, 2D web only. Applications: monitoring pilots, teaching, a test bench for anomaly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the system meets every numeric SRS target with measured evidence and is reproducible. Future scope: connect real equipment through OPC UA or Modbus, learn from operator feedback, add notifications, predict remaining useful life with non-linear models, and support multiple sites.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as listed in the project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Likely ones: Why Isolation Forest? (unsupervised, no fault labels needed, very fast inference). How is the 85 percent calibrated? (normal tail about 70 percent, median anomaly about 95 percent). What if the broker or ML fails? (automatic reconnect; last score held; red rules keep working). What was verified on real databases? (PostgreSQL and InfluxDB in Docker: data written, read back and still there after a restart).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717395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61819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22568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62326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825429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9056422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873097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435609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63035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626870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392645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1_Title Slide">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21" name="Title Placeholder 1"/>
          <p:cNvSpPr>
            <a:spLocks noGrp="1"/>
          </p:cNvSpPr>
          <p:nvPr>
            <p:ph type="title"/>
          </p:nvPr>
        </p:nvSpPr>
        <p:spPr>
          <a:xfrm>
            <a:off x="609600" y="1855079"/>
            <a:ext cx="10972800" cy="1143000"/>
          </a:xfrm>
          <a:prstGeom prst="rect">
            <a:avLst/>
          </a:prstGeom>
        </p:spPr>
        <p:txBody>
          <a:bodyPr vert="horz" lIns="91440" tIns="45720" rIns="91440" bIns="45720" rtlCol="0" anchor="ctr">
            <a:normAutofit/>
          </a:bodyPr>
          <a:lstStyle>
            <a:lvl1pPr>
              <a:defRPr b="1"/>
            </a:lvl1pPr>
          </a:lstStyle>
          <a:p>
            <a:r>
              <a:rPr lang="en-US"/>
              <a:t>PRESENTATON TITLE</a:t>
            </a:r>
          </a:p>
        </p:txBody>
      </p:sp>
      <p:sp>
        <p:nvSpPr>
          <p:cNvPr id="23" name="Date Placeholder 3"/>
          <p:cNvSpPr>
            <a:spLocks noGrp="1"/>
          </p:cNvSpPr>
          <p:nvPr>
            <p:ph type="dt" sz="half" idx="2"/>
          </p:nvPr>
        </p:nvSpPr>
        <p:spPr>
          <a:xfrm>
            <a:off x="11582400" y="6301259"/>
            <a:ext cx="508000" cy="365125"/>
          </a:xfrm>
          <a:prstGeom prst="rect">
            <a:avLst/>
          </a:prstGeom>
        </p:spPr>
        <p:txBody>
          <a:bodyPr vert="horz" lIns="91440" tIns="45720" rIns="91440" bIns="45720" rtlCol="0" anchor="ctr"/>
          <a:lstStyle>
            <a:lvl1pPr marL="0" marR="0" indent="0" algn="ctr" defTabSz="457200" rtl="0" eaLnBrk="1" fontAlgn="auto" latinLnBrk="0" hangingPunct="1">
              <a:lnSpc>
                <a:spcPct val="100000"/>
              </a:lnSpc>
              <a:spcBef>
                <a:spcPts val="0"/>
              </a:spcBef>
              <a:spcAft>
                <a:spcPts val="0"/>
              </a:spcAft>
              <a:buClrTx/>
              <a:buSzTx/>
              <a:buFontTx/>
              <a:buNone/>
              <a:tabLst/>
              <a:defRPr sz="1400" b="1">
                <a:solidFill>
                  <a:schemeClr val="tx1"/>
                </a:solidFill>
                <a:latin typeface="Aller"/>
                <a:cs typeface="Aller"/>
              </a:defRPr>
            </a:lvl1pPr>
          </a:lstStyle>
          <a:p>
            <a:r>
              <a:rPr lang="en-US"/>
              <a:t>‹#›</a:t>
            </a:r>
          </a:p>
        </p:txBody>
      </p:sp>
    </p:spTree>
    <p:extLst>
      <p:ext uri="{BB962C8B-B14F-4D97-AF65-F5344CB8AC3E}">
        <p14:creationId xmlns:p14="http://schemas.microsoft.com/office/powerpoint/2010/main" val="4244089601"/>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 name="Rectangle 14"/>
          <p:cNvSpPr/>
          <p:nvPr/>
        </p:nvSpPr>
        <p:spPr>
          <a:xfrm>
            <a:off x="1788" y="604228"/>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
        <p:nvSpPr>
          <p:cNvPr id="7" name="Rectangle 6"/>
          <p:cNvSpPr/>
          <p:nvPr/>
        </p:nvSpPr>
        <p:spPr>
          <a:xfrm>
            <a:off x="0" y="0"/>
            <a:ext cx="12192000" cy="623944"/>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9" name="Round Same Side Corner Rectangle 8"/>
          <p:cNvSpPr/>
          <p:nvPr/>
        </p:nvSpPr>
        <p:spPr>
          <a:xfrm rot="10800000">
            <a:off x="311972" y="2"/>
            <a:ext cx="1258645" cy="1065007"/>
          </a:xfrm>
          <a:prstGeom prst="round2SameRect">
            <a:avLst/>
          </a:prstGeom>
          <a:solidFill>
            <a:schemeClr val="bg1"/>
          </a:solidFill>
          <a:effectLst>
            <a:outerShdw blurRad="50800" dist="38100" dir="5400000" algn="t" rotWithShape="0">
              <a:prstClr val="black">
                <a:alpha val="40000"/>
              </a:prstClr>
            </a:outerShdw>
          </a:effectLst>
        </p:spPr>
        <p:style>
          <a:lnRef idx="0">
            <a:schemeClr val="dk1"/>
          </a:lnRef>
          <a:fillRef idx="3">
            <a:schemeClr val="dk1"/>
          </a:fillRef>
          <a:effectRef idx="3">
            <a:schemeClr val="dk1"/>
          </a:effectRef>
          <a:fontRef idx="minor">
            <a:schemeClr val="lt1"/>
          </a:fontRef>
        </p:style>
        <p:txBody>
          <a:bodyPr rtlCol="0" anchor="ctr"/>
          <a:lstStyle/>
          <a:p>
            <a:pPr algn="ctr"/>
            <a:endParaRPr lang="en-IN" sz="1800">
              <a:solidFill>
                <a:prstClr val="white"/>
              </a:solidFill>
            </a:endParaRPr>
          </a:p>
        </p:txBody>
      </p:sp>
      <p:pic>
        <p:nvPicPr>
          <p:cNvPr id="10" name="Picture 9"/>
          <p:cNvPicPr>
            <a:picLocks noChangeAspect="1"/>
          </p:cNvPicPr>
          <p:nvPr/>
        </p:nvPicPr>
        <p:blipFill>
          <a:blip r:embed="rId14"/>
          <a:stretch>
            <a:fillRect/>
          </a:stretch>
        </p:blipFill>
        <p:spPr>
          <a:xfrm>
            <a:off x="429947" y="0"/>
            <a:ext cx="1039847" cy="1039846"/>
          </a:xfrm>
          <a:prstGeom prst="rect">
            <a:avLst/>
          </a:prstGeom>
        </p:spPr>
      </p:pic>
      <p:sp>
        <p:nvSpPr>
          <p:cNvPr id="11" name="Rectangle 10"/>
          <p:cNvSpPr/>
          <p:nvPr/>
        </p:nvSpPr>
        <p:spPr>
          <a:xfrm>
            <a:off x="0" y="6712771"/>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12" name="Rectangle 11"/>
          <p:cNvSpPr/>
          <p:nvPr/>
        </p:nvSpPr>
        <p:spPr>
          <a:xfrm>
            <a:off x="0" y="6777634"/>
            <a:ext cx="12192000" cy="10789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Tree>
    <p:extLst>
      <p:ext uri="{BB962C8B-B14F-4D97-AF65-F5344CB8AC3E}">
        <p14:creationId xmlns:p14="http://schemas.microsoft.com/office/powerpoint/2010/main" val="41838820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chart" Target="../charts/char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chart" Target="../charts/char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3480797"/>
            <a:ext cx="7696200" cy="810228"/>
          </a:xfrm>
        </p:spPr>
        <p:txBody>
          <a:bodyPr>
            <a:noAutofit/>
          </a:bodyPr>
          <a:lstStyle/>
          <a:p>
            <a:pPr algn="ct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r>
              <a:rPr b="1" sz="2000">
                <a:solidFill>
                  <a:srgbClr val="111827"/>
                </a:solidFill>
                <a:latin typeface="Times New Roman"/>
              </a:rPr>
              <a:t>A Presentation on</a:t>
            </a:r>
            <a:endParaRPr lang="en-IN" sz="2000" b="1" dirty="0">
              <a:latin typeface="Times New Roman" pitchFamily="18" charset="0"/>
              <a:cs typeface="Times New Roman" pitchFamily="18" charset="0"/>
            </a:endParaRPr>
          </a:p>
          <a:p>
            <a:pPr algn="ctr"/>
            <a:r>
              <a:rPr b="1" sz="2600">
                <a:solidFill>
                  <a:srgbClr val="111827"/>
                </a:solidFill>
                <a:latin typeface="Times New Roman"/>
              </a:rPr>
              <a:t>“Real-Time OEE and Anomaly Dashboard for a Smart Factory System”</a:t>
            </a:r>
          </a:p>
          <a:p>
            <a:pPr algn="ctr"/>
            <a:r>
              <a:rPr b="1" sz="2000">
                <a:solidFill>
                  <a:srgbClr val="111827"/>
                </a:solidFill>
                <a:latin typeface="Times New Roman"/>
              </a:rPr>
              <a:t/>
            </a:r>
          </a:p>
          <a:p>
            <a:pPr algn="ctr"/>
            <a:r>
              <a:rPr b="1" sz="2000">
                <a:solidFill>
                  <a:srgbClr val="111827"/>
                </a:solidFill>
                <a:latin typeface="Times New Roman"/>
              </a:rPr>
              <a:t>By</a:t>
            </a:r>
          </a:p>
          <a:p>
            <a:pPr algn="ctr"/>
            <a:r>
              <a:rPr b="1" sz="2000">
                <a:solidFill>
                  <a:srgbClr val="111827"/>
                </a:solidFill>
                <a:latin typeface="Times New Roman"/>
              </a:rPr>
              <a:t>Sanika Jamadar  (Roll No. B291 · 70022400523, Batch A2)</a:t>
            </a:r>
          </a:p>
          <a:p>
            <a:pPr algn="ctr"/>
            <a:r>
              <a:rPr b="1" sz="2000">
                <a:solidFill>
                  <a:srgbClr val="111827"/>
                </a:solidFill>
                <a:latin typeface="Times New Roman"/>
              </a:rPr>
              <a:t/>
            </a:r>
          </a:p>
          <a:p>
            <a:pPr algn="ctr"/>
            <a:r>
              <a:rPr b="1" sz="2000">
                <a:solidFill>
                  <a:srgbClr val="111827"/>
                </a:solidFill>
                <a:latin typeface="Times New Roman"/>
              </a:rPr>
              <a:t>Subject: Software Engineering</a:t>
            </a:r>
          </a:p>
          <a:p>
            <a:pPr algn="ctr"/>
            <a:r>
              <a:rPr b="1" sz="2000">
                <a:solidFill>
                  <a:srgbClr val="111827"/>
                </a:solidFill>
                <a:latin typeface="Times New Roman"/>
              </a:rPr>
              <a:t>Under the Guidance of  Dr. Naziya Hussain</a:t>
            </a:r>
          </a:p>
        </p:txBody>
      </p:sp>
      <p:sp>
        <p:nvSpPr>
          <p:cNvPr id="7" name="Slide Number Placeholder 6"/>
          <p:cNvSpPr>
            <a:spLocks noGrp="1"/>
          </p:cNvSpPr>
          <p:nvPr>
            <p:ph type="sldNum" sz="quarter" idx="12"/>
          </p:nvPr>
        </p:nvSpPr>
        <p:spPr/>
        <p:txBody>
          <a:bodyPr/>
          <a:lstStyle/>
          <a:p>
            <a:fld id="{B6F15528-21DE-4FAA-801E-634DDDAF4B2B}" type="slidenum">
              <a:rPr lang="en-US" smtClean="0"/>
              <a:pPr/>
              <a:t>1</a:t>
            </a:fld>
            <a:endParaRPr lang="en-US"/>
          </a:p>
        </p:txBody>
      </p:sp>
      <p:pic>
        <p:nvPicPr>
          <p:cNvPr id="1027" name="Picture 3" descr="C:\Users\kunal\Pictures\nmims.png"/>
          <p:cNvPicPr>
            <a:picLocks noChangeAspect="1" noChangeArrowheads="1"/>
          </p:cNvPicPr>
          <p:nvPr/>
        </p:nvPicPr>
        <p:blipFill>
          <a:blip r:embed="rId2" cstate="print"/>
          <a:srcRect/>
          <a:stretch>
            <a:fillRect/>
          </a:stretch>
        </p:blipFill>
        <p:spPr bwMode="auto">
          <a:xfrm>
            <a:off x="5605463" y="4435637"/>
            <a:ext cx="1057275" cy="1209675"/>
          </a:xfrm>
          <a:prstGeom prst="rect">
            <a:avLst/>
          </a:prstGeom>
          <a:noFill/>
        </p:spPr>
      </p:pic>
      <p:sp>
        <p:nvSpPr>
          <p:cNvPr id="6" name="TextBox 5"/>
          <p:cNvSpPr txBox="1"/>
          <p:nvPr/>
        </p:nvSpPr>
        <p:spPr>
          <a:xfrm>
            <a:off x="3048000" y="5380673"/>
            <a:ext cx="6248400" cy="1200329"/>
          </a:xfrm>
          <a:prstGeom prst="rect">
            <a:avLst/>
          </a:prstGeom>
          <a:noFill/>
        </p:spPr>
        <p:txBody>
          <a:bodyPr wrap="square" lIns="91440" tIns="45720" rIns="91440" bIns="45720" rtlCol="0" anchor="t">
            <a:spAutoFit/>
          </a:bodyPr>
          <a:lstStyle/>
          <a:p>
            <a:pPr algn="ctr"/>
            <a:endParaRPr lang="en-IN" b="1" dirty="0">
              <a:latin typeface="Times New Roman" pitchFamily="18" charset="0"/>
              <a:cs typeface="Times New Roman" pitchFamily="18" charset="0"/>
            </a:endParaRPr>
          </a:p>
          <a:p>
            <a:pPr algn="ctr"/>
            <a:r>
              <a:rPr lang="en-IN" b="1" dirty="0">
                <a:latin typeface="Times New Roman" pitchFamily="18" charset="0"/>
                <a:cs typeface="Times New Roman" pitchFamily="18" charset="0"/>
              </a:rPr>
              <a:t>Department of AIML</a:t>
            </a:r>
          </a:p>
          <a:p>
            <a:pPr algn="ctr"/>
            <a:r>
              <a:rPr lang="en-IN" b="1" dirty="0">
                <a:latin typeface="Times New Roman" pitchFamily="18" charset="0"/>
                <a:cs typeface="Times New Roman" pitchFamily="18" charset="0"/>
              </a:rPr>
              <a:t>MPSTME, Shirpur Campus</a:t>
            </a:r>
          </a:p>
          <a:p>
            <a:pPr algn="ctr"/>
            <a:r>
              <a:rPr lang="en-IN" b="1" dirty="0">
                <a:latin typeface="Times New Roman"/>
                <a:cs typeface="Times New Roman"/>
              </a:rPr>
              <a:t>2026-27</a:t>
            </a:r>
            <a:endParaRPr lang="en-IN" b="1"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102" name="Google Shape;102;p2"/>
          <p:cNvSpPr txBox="1">
            <a:spLocks noGrp="1"/>
          </p:cNvSpPr>
          <p:nvPr>
            <p:ph type="sldNum" idx="12"/>
          </p:nvPr>
        </p:nvSpPr>
        <p:spPr>
          <a:xfrm>
            <a:off x="8077200" y="6373547"/>
            <a:ext cx="2133600" cy="365125"/>
          </a:xfrm>
          <a:prstGeom prst="rect">
            <a:avLst/>
          </a:prstGeom>
          <a:noFill/>
          <a:ln>
            <a:noFill/>
          </a:ln>
        </p:spPr>
        <p:txBody>
          <a:bodyPr spcFirstLastPara="1" vert="horz" wrap="square" lIns="91425" tIns="45700" rIns="91425" bIns="45700" rtlCol="0" anchor="ctr" anchorCtr="0">
            <a:noAutofit/>
          </a:bodyPr>
          <a:lstStyle/>
          <a:p>
            <a:fld id="{00000000-1234-1234-1234-123412341234}" type="slidenum">
              <a:rPr lang="en-IN"/>
              <a:pPr/>
              <a:t>2</a:t>
            </a:fld>
            <a:endParaRPr/>
          </a:p>
        </p:txBody>
      </p:sp>
      <p:sp>
        <p:nvSpPr>
          <p:cNvPr id="103" name="TextBox 102"/>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Agenda</a:t>
            </a:r>
          </a:p>
        </p:txBody>
      </p:sp>
      <p:sp>
        <p:nvSpPr>
          <p:cNvPr id="104" name="Rounded Rectangle 103"/>
          <p:cNvSpPr/>
          <p:nvPr/>
        </p:nvSpPr>
        <p:spPr>
          <a:xfrm>
            <a:off x="1783080" y="1143000"/>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5" name="Oval 104"/>
          <p:cNvSpPr/>
          <p:nvPr/>
        </p:nvSpPr>
        <p:spPr>
          <a:xfrm>
            <a:off x="1920240" y="1237705"/>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a:t>
            </a:r>
          </a:p>
        </p:txBody>
      </p:sp>
      <p:sp>
        <p:nvSpPr>
          <p:cNvPr id="106" name="TextBox 105"/>
          <p:cNvSpPr txBox="1"/>
          <p:nvPr/>
        </p:nvSpPr>
        <p:spPr>
          <a:xfrm>
            <a:off x="2514600" y="1207008"/>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Introduction &amp; Problem Statement</a:t>
            </a:r>
          </a:p>
        </p:txBody>
      </p:sp>
      <p:sp>
        <p:nvSpPr>
          <p:cNvPr id="107" name="TextBox 106"/>
          <p:cNvSpPr txBox="1"/>
          <p:nvPr/>
        </p:nvSpPr>
        <p:spPr>
          <a:xfrm>
            <a:off x="2514600" y="1527048"/>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3 – 5</a:t>
            </a:r>
          </a:p>
        </p:txBody>
      </p:sp>
      <p:sp>
        <p:nvSpPr>
          <p:cNvPr id="108" name="Rounded Rectangle 107"/>
          <p:cNvSpPr/>
          <p:nvPr/>
        </p:nvSpPr>
        <p:spPr>
          <a:xfrm>
            <a:off x="1783080" y="1881051"/>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9" name="Oval 108"/>
          <p:cNvSpPr/>
          <p:nvPr/>
        </p:nvSpPr>
        <p:spPr>
          <a:xfrm>
            <a:off x="1920240" y="1975757"/>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2</a:t>
            </a:r>
          </a:p>
        </p:txBody>
      </p:sp>
      <p:sp>
        <p:nvSpPr>
          <p:cNvPr id="110" name="TextBox 109"/>
          <p:cNvSpPr txBox="1"/>
          <p:nvPr/>
        </p:nvSpPr>
        <p:spPr>
          <a:xfrm>
            <a:off x="2514600" y="1945059"/>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Objectives &amp; Existing vs. Proposed</a:t>
            </a:r>
          </a:p>
        </p:txBody>
      </p:sp>
      <p:sp>
        <p:nvSpPr>
          <p:cNvPr id="111" name="TextBox 110"/>
          <p:cNvSpPr txBox="1"/>
          <p:nvPr/>
        </p:nvSpPr>
        <p:spPr>
          <a:xfrm>
            <a:off x="2514600" y="2265099"/>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6 – 7</a:t>
            </a:r>
          </a:p>
        </p:txBody>
      </p:sp>
      <p:sp>
        <p:nvSpPr>
          <p:cNvPr id="112" name="Rounded Rectangle 111"/>
          <p:cNvSpPr/>
          <p:nvPr/>
        </p:nvSpPr>
        <p:spPr>
          <a:xfrm>
            <a:off x="1783080" y="2619102"/>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3" name="Oval 112"/>
          <p:cNvSpPr/>
          <p:nvPr/>
        </p:nvSpPr>
        <p:spPr>
          <a:xfrm>
            <a:off x="1920240" y="2713808"/>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3</a:t>
            </a:r>
          </a:p>
        </p:txBody>
      </p:sp>
      <p:sp>
        <p:nvSpPr>
          <p:cNvPr id="114" name="TextBox 113"/>
          <p:cNvSpPr txBox="1"/>
          <p:nvPr/>
        </p:nvSpPr>
        <p:spPr>
          <a:xfrm>
            <a:off x="2514600" y="2683110"/>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Users &amp; Requirements (SRS)</a:t>
            </a:r>
          </a:p>
        </p:txBody>
      </p:sp>
      <p:sp>
        <p:nvSpPr>
          <p:cNvPr id="115" name="TextBox 114"/>
          <p:cNvSpPr txBox="1"/>
          <p:nvPr/>
        </p:nvSpPr>
        <p:spPr>
          <a:xfrm>
            <a:off x="2514600" y="3003150"/>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8 – 9</a:t>
            </a:r>
          </a:p>
        </p:txBody>
      </p:sp>
      <p:sp>
        <p:nvSpPr>
          <p:cNvPr id="116" name="Rounded Rectangle 115"/>
          <p:cNvSpPr/>
          <p:nvPr/>
        </p:nvSpPr>
        <p:spPr>
          <a:xfrm>
            <a:off x="1783080" y="3357154"/>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7" name="Oval 116"/>
          <p:cNvSpPr/>
          <p:nvPr/>
        </p:nvSpPr>
        <p:spPr>
          <a:xfrm>
            <a:off x="1920240" y="3451860"/>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4</a:t>
            </a:r>
          </a:p>
        </p:txBody>
      </p:sp>
      <p:sp>
        <p:nvSpPr>
          <p:cNvPr id="118" name="TextBox 117"/>
          <p:cNvSpPr txBox="1"/>
          <p:nvPr/>
        </p:nvSpPr>
        <p:spPr>
          <a:xfrm>
            <a:off x="2514600" y="3421162"/>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System Architecture &amp; Data Flow</a:t>
            </a:r>
          </a:p>
        </p:txBody>
      </p:sp>
      <p:sp>
        <p:nvSpPr>
          <p:cNvPr id="119" name="TextBox 118"/>
          <p:cNvSpPr txBox="1"/>
          <p:nvPr/>
        </p:nvSpPr>
        <p:spPr>
          <a:xfrm>
            <a:off x="2514600" y="3741202"/>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10 – 13</a:t>
            </a:r>
          </a:p>
        </p:txBody>
      </p:sp>
      <p:sp>
        <p:nvSpPr>
          <p:cNvPr id="120" name="Rounded Rectangle 119"/>
          <p:cNvSpPr/>
          <p:nvPr/>
        </p:nvSpPr>
        <p:spPr>
          <a:xfrm>
            <a:off x="1783080" y="4095205"/>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1" name="Oval 120"/>
          <p:cNvSpPr/>
          <p:nvPr/>
        </p:nvSpPr>
        <p:spPr>
          <a:xfrm>
            <a:off x="1920240" y="4189911"/>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5</a:t>
            </a:r>
          </a:p>
        </p:txBody>
      </p:sp>
      <p:sp>
        <p:nvSpPr>
          <p:cNvPr id="122" name="TextBox 121"/>
          <p:cNvSpPr txBox="1"/>
          <p:nvPr/>
        </p:nvSpPr>
        <p:spPr>
          <a:xfrm>
            <a:off x="2514600" y="4159213"/>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Methodology &amp; Modules</a:t>
            </a:r>
          </a:p>
        </p:txBody>
      </p:sp>
      <p:sp>
        <p:nvSpPr>
          <p:cNvPr id="123" name="TextBox 122"/>
          <p:cNvSpPr txBox="1"/>
          <p:nvPr/>
        </p:nvSpPr>
        <p:spPr>
          <a:xfrm>
            <a:off x="2514600" y="4479253"/>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14 – 15</a:t>
            </a:r>
          </a:p>
        </p:txBody>
      </p:sp>
      <p:sp>
        <p:nvSpPr>
          <p:cNvPr id="124" name="Rounded Rectangle 123"/>
          <p:cNvSpPr/>
          <p:nvPr/>
        </p:nvSpPr>
        <p:spPr>
          <a:xfrm>
            <a:off x="1783080" y="4833257"/>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5" name="Oval 124"/>
          <p:cNvSpPr/>
          <p:nvPr/>
        </p:nvSpPr>
        <p:spPr>
          <a:xfrm>
            <a:off x="1920240" y="4927962"/>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6</a:t>
            </a:r>
          </a:p>
        </p:txBody>
      </p:sp>
      <p:sp>
        <p:nvSpPr>
          <p:cNvPr id="126" name="TextBox 125"/>
          <p:cNvSpPr txBox="1"/>
          <p:nvPr/>
        </p:nvSpPr>
        <p:spPr>
          <a:xfrm>
            <a:off x="2514600" y="4897265"/>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Technologies Used</a:t>
            </a:r>
          </a:p>
        </p:txBody>
      </p:sp>
      <p:sp>
        <p:nvSpPr>
          <p:cNvPr id="127" name="TextBox 126"/>
          <p:cNvSpPr txBox="1"/>
          <p:nvPr/>
        </p:nvSpPr>
        <p:spPr>
          <a:xfrm>
            <a:off x="2514600" y="5217305"/>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16</a:t>
            </a:r>
          </a:p>
        </p:txBody>
      </p:sp>
      <p:sp>
        <p:nvSpPr>
          <p:cNvPr id="128" name="Rounded Rectangle 127"/>
          <p:cNvSpPr/>
          <p:nvPr/>
        </p:nvSpPr>
        <p:spPr>
          <a:xfrm>
            <a:off x="1783080" y="5571308"/>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9" name="Oval 128"/>
          <p:cNvSpPr/>
          <p:nvPr/>
        </p:nvSpPr>
        <p:spPr>
          <a:xfrm>
            <a:off x="1920240" y="5666014"/>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7</a:t>
            </a:r>
          </a:p>
        </p:txBody>
      </p:sp>
      <p:sp>
        <p:nvSpPr>
          <p:cNvPr id="130" name="TextBox 129"/>
          <p:cNvSpPr txBox="1"/>
          <p:nvPr/>
        </p:nvSpPr>
        <p:spPr>
          <a:xfrm>
            <a:off x="2514600" y="5635316"/>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OEE, Alerts, ML &amp; What-If</a:t>
            </a:r>
          </a:p>
        </p:txBody>
      </p:sp>
      <p:sp>
        <p:nvSpPr>
          <p:cNvPr id="131" name="TextBox 130"/>
          <p:cNvSpPr txBox="1"/>
          <p:nvPr/>
        </p:nvSpPr>
        <p:spPr>
          <a:xfrm>
            <a:off x="2514600" y="5955356"/>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17 – 21</a:t>
            </a:r>
          </a:p>
        </p:txBody>
      </p:sp>
      <p:sp>
        <p:nvSpPr>
          <p:cNvPr id="132" name="Rounded Rectangle 131"/>
          <p:cNvSpPr/>
          <p:nvPr/>
        </p:nvSpPr>
        <p:spPr>
          <a:xfrm>
            <a:off x="6972300" y="1143000"/>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3" name="Oval 132"/>
          <p:cNvSpPr/>
          <p:nvPr/>
        </p:nvSpPr>
        <p:spPr>
          <a:xfrm>
            <a:off x="7109460" y="1237705"/>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8</a:t>
            </a:r>
          </a:p>
        </p:txBody>
      </p:sp>
      <p:sp>
        <p:nvSpPr>
          <p:cNvPr id="134" name="TextBox 133"/>
          <p:cNvSpPr txBox="1"/>
          <p:nvPr/>
        </p:nvSpPr>
        <p:spPr>
          <a:xfrm>
            <a:off x="7703820" y="1207008"/>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UML &amp; Database Design</a:t>
            </a:r>
          </a:p>
        </p:txBody>
      </p:sp>
      <p:sp>
        <p:nvSpPr>
          <p:cNvPr id="135" name="TextBox 134"/>
          <p:cNvSpPr txBox="1"/>
          <p:nvPr/>
        </p:nvSpPr>
        <p:spPr>
          <a:xfrm>
            <a:off x="7703820" y="1527048"/>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22 – 27</a:t>
            </a:r>
          </a:p>
        </p:txBody>
      </p:sp>
      <p:sp>
        <p:nvSpPr>
          <p:cNvPr id="136" name="Rounded Rectangle 135"/>
          <p:cNvSpPr/>
          <p:nvPr/>
        </p:nvSpPr>
        <p:spPr>
          <a:xfrm>
            <a:off x="6972300" y="1881051"/>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7" name="Oval 136"/>
          <p:cNvSpPr/>
          <p:nvPr/>
        </p:nvSpPr>
        <p:spPr>
          <a:xfrm>
            <a:off x="7109460" y="1975757"/>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9</a:t>
            </a:r>
          </a:p>
        </p:txBody>
      </p:sp>
      <p:sp>
        <p:nvSpPr>
          <p:cNvPr id="138" name="TextBox 137"/>
          <p:cNvSpPr txBox="1"/>
          <p:nvPr/>
        </p:nvSpPr>
        <p:spPr>
          <a:xfrm>
            <a:off x="7703820" y="1945059"/>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Deployment &amp; Run Modes</a:t>
            </a:r>
          </a:p>
        </p:txBody>
      </p:sp>
      <p:sp>
        <p:nvSpPr>
          <p:cNvPr id="139" name="TextBox 138"/>
          <p:cNvSpPr txBox="1"/>
          <p:nvPr/>
        </p:nvSpPr>
        <p:spPr>
          <a:xfrm>
            <a:off x="7703820" y="2265099"/>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28 – 29</a:t>
            </a:r>
          </a:p>
        </p:txBody>
      </p:sp>
      <p:sp>
        <p:nvSpPr>
          <p:cNvPr id="140" name="Rounded Rectangle 139"/>
          <p:cNvSpPr/>
          <p:nvPr/>
        </p:nvSpPr>
        <p:spPr>
          <a:xfrm>
            <a:off x="6972300" y="2619102"/>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1" name="Oval 140"/>
          <p:cNvSpPr/>
          <p:nvPr/>
        </p:nvSpPr>
        <p:spPr>
          <a:xfrm>
            <a:off x="7109460" y="2713808"/>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10</a:t>
            </a:r>
          </a:p>
        </p:txBody>
      </p:sp>
      <p:sp>
        <p:nvSpPr>
          <p:cNvPr id="142" name="TextBox 141"/>
          <p:cNvSpPr txBox="1"/>
          <p:nvPr/>
        </p:nvSpPr>
        <p:spPr>
          <a:xfrm>
            <a:off x="7703820" y="2683110"/>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Implementation / Screenshots</a:t>
            </a:r>
          </a:p>
        </p:txBody>
      </p:sp>
      <p:sp>
        <p:nvSpPr>
          <p:cNvPr id="143" name="TextBox 142"/>
          <p:cNvSpPr txBox="1"/>
          <p:nvPr/>
        </p:nvSpPr>
        <p:spPr>
          <a:xfrm>
            <a:off x="7703820" y="3003150"/>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30 – 31</a:t>
            </a:r>
          </a:p>
        </p:txBody>
      </p:sp>
      <p:sp>
        <p:nvSpPr>
          <p:cNvPr id="144" name="Rounded Rectangle 143"/>
          <p:cNvSpPr/>
          <p:nvPr/>
        </p:nvSpPr>
        <p:spPr>
          <a:xfrm>
            <a:off x="6972300" y="3357154"/>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5" name="Oval 144"/>
          <p:cNvSpPr/>
          <p:nvPr/>
        </p:nvSpPr>
        <p:spPr>
          <a:xfrm>
            <a:off x="7109460" y="3451860"/>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11</a:t>
            </a:r>
          </a:p>
        </p:txBody>
      </p:sp>
      <p:sp>
        <p:nvSpPr>
          <p:cNvPr id="146" name="TextBox 145"/>
          <p:cNvSpPr txBox="1"/>
          <p:nvPr/>
        </p:nvSpPr>
        <p:spPr>
          <a:xfrm>
            <a:off x="7703820" y="3421162"/>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Live Demo</a:t>
            </a:r>
          </a:p>
        </p:txBody>
      </p:sp>
      <p:sp>
        <p:nvSpPr>
          <p:cNvPr id="147" name="TextBox 146"/>
          <p:cNvSpPr txBox="1"/>
          <p:nvPr/>
        </p:nvSpPr>
        <p:spPr>
          <a:xfrm>
            <a:off x="7703820" y="3741202"/>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32</a:t>
            </a:r>
          </a:p>
        </p:txBody>
      </p:sp>
      <p:sp>
        <p:nvSpPr>
          <p:cNvPr id="148" name="Rounded Rectangle 147"/>
          <p:cNvSpPr/>
          <p:nvPr/>
        </p:nvSpPr>
        <p:spPr>
          <a:xfrm>
            <a:off x="6972300" y="4095205"/>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9" name="Oval 148"/>
          <p:cNvSpPr/>
          <p:nvPr/>
        </p:nvSpPr>
        <p:spPr>
          <a:xfrm>
            <a:off x="7109460" y="4189911"/>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12</a:t>
            </a:r>
          </a:p>
        </p:txBody>
      </p:sp>
      <p:sp>
        <p:nvSpPr>
          <p:cNvPr id="150" name="TextBox 149"/>
          <p:cNvSpPr txBox="1"/>
          <p:nvPr/>
        </p:nvSpPr>
        <p:spPr>
          <a:xfrm>
            <a:off x="7703820" y="4159213"/>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Results, Testing &amp; Traceability</a:t>
            </a:r>
          </a:p>
        </p:txBody>
      </p:sp>
      <p:sp>
        <p:nvSpPr>
          <p:cNvPr id="151" name="TextBox 150"/>
          <p:cNvSpPr txBox="1"/>
          <p:nvPr/>
        </p:nvSpPr>
        <p:spPr>
          <a:xfrm>
            <a:off x="7703820" y="4479253"/>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33 – 34</a:t>
            </a:r>
          </a:p>
        </p:txBody>
      </p:sp>
      <p:sp>
        <p:nvSpPr>
          <p:cNvPr id="152" name="Rounded Rectangle 151"/>
          <p:cNvSpPr/>
          <p:nvPr/>
        </p:nvSpPr>
        <p:spPr>
          <a:xfrm>
            <a:off x="6972300" y="4833257"/>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3" name="Oval 152"/>
          <p:cNvSpPr/>
          <p:nvPr/>
        </p:nvSpPr>
        <p:spPr>
          <a:xfrm>
            <a:off x="7109460" y="4927962"/>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13</a:t>
            </a:r>
          </a:p>
        </p:txBody>
      </p:sp>
      <p:sp>
        <p:nvSpPr>
          <p:cNvPr id="154" name="TextBox 153"/>
          <p:cNvSpPr txBox="1"/>
          <p:nvPr/>
        </p:nvSpPr>
        <p:spPr>
          <a:xfrm>
            <a:off x="7703820" y="4897265"/>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Advantages, Limitations &amp; Applications</a:t>
            </a:r>
          </a:p>
        </p:txBody>
      </p:sp>
      <p:sp>
        <p:nvSpPr>
          <p:cNvPr id="155" name="TextBox 154"/>
          <p:cNvSpPr txBox="1"/>
          <p:nvPr/>
        </p:nvSpPr>
        <p:spPr>
          <a:xfrm>
            <a:off x="7703820" y="5217305"/>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 35</a:t>
            </a:r>
          </a:p>
        </p:txBody>
      </p:sp>
      <p:sp>
        <p:nvSpPr>
          <p:cNvPr id="156" name="Rounded Rectangle 155"/>
          <p:cNvSpPr/>
          <p:nvPr/>
        </p:nvSpPr>
        <p:spPr>
          <a:xfrm>
            <a:off x="6972300" y="5571308"/>
            <a:ext cx="4823459" cy="610035"/>
          </a:xfrm>
          <a:prstGeom prst="roundRect">
            <a:avLst>
              <a:gd name="adj" fmla="val 1498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7" name="Oval 156"/>
          <p:cNvSpPr/>
          <p:nvPr/>
        </p:nvSpPr>
        <p:spPr>
          <a:xfrm>
            <a:off x="7109460" y="5666014"/>
            <a:ext cx="420624" cy="42062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500" b="1" i="0">
                <a:solidFill>
                  <a:srgbClr val="FFFFFF"/>
                </a:solidFill>
                <a:latin typeface="Times New Roman"/>
              </a:rPr>
              <a:t>14</a:t>
            </a:r>
          </a:p>
        </p:txBody>
      </p:sp>
      <p:sp>
        <p:nvSpPr>
          <p:cNvPr id="158" name="TextBox 157"/>
          <p:cNvSpPr txBox="1"/>
          <p:nvPr/>
        </p:nvSpPr>
        <p:spPr>
          <a:xfrm>
            <a:off x="7703820" y="5635316"/>
            <a:ext cx="4000499" cy="329184"/>
          </a:xfrm>
          <a:prstGeom prst="rect">
            <a:avLst/>
          </a:prstGeom>
          <a:noFill/>
        </p:spPr>
        <p:txBody>
          <a:bodyPr wrap="square" lIns="0" rIns="0" tIns="0" bIns="0" anchor="ctr">
            <a:noAutofit/>
          </a:bodyPr>
          <a:lstStyle/>
          <a:p>
            <a:pPr algn="l">
              <a:spcBef>
                <a:spcPts val="0"/>
              </a:spcBef>
              <a:spcAft>
                <a:spcPts val="0"/>
              </a:spcAft>
            </a:pPr>
            <a:r>
              <a:rPr sz="1700" b="1" i="0">
                <a:solidFill>
                  <a:srgbClr val="111827"/>
                </a:solidFill>
                <a:latin typeface="Times New Roman"/>
              </a:rPr>
              <a:t>Conclusion, Future Scope &amp; References</a:t>
            </a:r>
          </a:p>
        </p:txBody>
      </p:sp>
      <p:sp>
        <p:nvSpPr>
          <p:cNvPr id="159" name="TextBox 158"/>
          <p:cNvSpPr txBox="1"/>
          <p:nvPr/>
        </p:nvSpPr>
        <p:spPr>
          <a:xfrm>
            <a:off x="7703820" y="5955356"/>
            <a:ext cx="4000499" cy="182880"/>
          </a:xfrm>
          <a:prstGeom prst="rect">
            <a:avLst/>
          </a:prstGeom>
          <a:noFill/>
        </p:spPr>
        <p:txBody>
          <a:bodyPr wrap="square" lIns="0" rIns="0" tIns="0" bIns="0" anchor="ctr">
            <a:noAutofit/>
          </a:bodyPr>
          <a:lstStyle/>
          <a:p>
            <a:pPr algn="l">
              <a:spcBef>
                <a:spcPts val="0"/>
              </a:spcBef>
              <a:spcAft>
                <a:spcPts val="0"/>
              </a:spcAft>
            </a:pPr>
            <a:r>
              <a:rPr sz="1200" b="0" i="0">
                <a:solidFill>
                  <a:srgbClr val="475569"/>
                </a:solidFill>
                <a:latin typeface="Times New Roman"/>
              </a:rPr>
              <a:t>slides 36 – 37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0325" y="774785"/>
            <a:ext cx="6932101" cy="1061829"/>
          </a:xfrm>
          <a:noFill/>
        </p:spPr>
        <p:txBody>
          <a:bodyPr wrap="square" rtlCol="0">
            <a:spAutoFit/>
          </a:bodyPr>
          <a:lstStyle/>
          <a:p>
            <a:pPr algn="ctr"/>
            <a:r>
              <a:rPr lang="en-US" sz="4000">
                <a:latin typeface="Book Antiqua" panose="02040602050305030304" pitchFamily="18" charset="0"/>
                <a:ea typeface="+mn-ea"/>
                <a:cs typeface="+mn-cs"/>
              </a:rPr>
              <a:t>Thank You !!!  Questions?</a:t>
            </a:r>
          </a:p>
        </p:txBody>
      </p:sp>
      <p:pic>
        <p:nvPicPr>
          <p:cNvPr id="3" name="Picture 2"/>
          <p:cNvPicPr>
            <a:picLocks noChangeAspect="1"/>
          </p:cNvPicPr>
          <p:nvPr/>
        </p:nvPicPr>
        <p:blipFill>
          <a:blip r:embed="rId2"/>
          <a:stretch>
            <a:fillRect/>
          </a:stretch>
        </p:blipFill>
        <p:spPr>
          <a:xfrm>
            <a:off x="3331224" y="1"/>
            <a:ext cx="5355575" cy="502920"/>
          </a:xfrm>
          <a:prstGeom prst="rect">
            <a:avLst/>
          </a:prstGeom>
        </p:spPr>
      </p:pic>
      <p:pic>
        <p:nvPicPr>
          <p:cNvPr id="5" name="Picture 4"/>
          <p:cNvPicPr>
            <a:picLocks noChangeAspect="1"/>
          </p:cNvPicPr>
          <p:nvPr/>
        </p:nvPicPr>
        <p:blipFill>
          <a:blip r:embed="rId3"/>
          <a:stretch>
            <a:fillRect/>
          </a:stretch>
        </p:blipFill>
        <p:spPr>
          <a:xfrm>
            <a:off x="442452" y="1836614"/>
            <a:ext cx="11366243" cy="4570002"/>
          </a:xfrm>
          <a:prstGeom prst="rect">
            <a:avLst/>
          </a:prstGeom>
        </p:spPr>
      </p:pic>
    </p:spTree>
    <p:extLst>
      <p:ext uri="{BB962C8B-B14F-4D97-AF65-F5344CB8AC3E}">
        <p14:creationId xmlns:p14="http://schemas.microsoft.com/office/powerpoint/2010/main" val="645505984"/>
      </p:ext>
    </p:extLst>
  </p:cSld>
  <p:clrMapOvr>
    <a:masterClrMapping/>
  </p:clrMapOvr>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The Project in 30 Seconds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TextBox 3"/>
          <p:cNvSpPr txBox="1"/>
          <p:nvPr/>
        </p:nvSpPr>
        <p:spPr>
          <a:xfrm>
            <a:off x="1783080" y="1005840"/>
            <a:ext cx="10012680" cy="731520"/>
          </a:xfrm>
          <a:prstGeom prst="rect">
            <a:avLst/>
          </a:prstGeom>
          <a:noFill/>
        </p:spPr>
        <p:txBody>
          <a:bodyPr wrap="square" lIns="0" rIns="0" tIns="0" bIns="0" anchor="t">
            <a:noAutofit/>
          </a:bodyPr>
          <a:lstStyle/>
          <a:p>
            <a:pPr algn="l">
              <a:spcBef>
                <a:spcPts val="0"/>
              </a:spcBef>
              <a:spcAft>
                <a:spcPts val="0"/>
              </a:spcAft>
            </a:pPr>
            <a:r>
              <a:rPr sz="2000" b="0" i="0">
                <a:solidFill>
                  <a:srgbClr val="111827"/>
                </a:solidFill>
                <a:latin typeface="Times New Roman"/>
              </a:rPr>
              <a:t>Think of a </a:t>
            </a:r>
            <a:r>
              <a:rPr sz="2000" b="1" i="0">
                <a:solidFill>
                  <a:srgbClr val="111827"/>
                </a:solidFill>
                <a:latin typeface="Times New Roman"/>
              </a:rPr>
              <a:t>car dashboard – for a factory.</a:t>
            </a:r>
            <a:r>
              <a:rPr sz="2000" b="0" i="0">
                <a:solidFill>
                  <a:srgbClr val="111827"/>
                </a:solidFill>
                <a:latin typeface="Times New Roman"/>
              </a:rPr>
              <a:t> It shows how well every machine is running and warns the operator </a:t>
            </a:r>
            <a:r>
              <a:rPr sz="2000" b="1" i="0">
                <a:solidFill>
                  <a:srgbClr val="111827"/>
                </a:solidFill>
                <a:latin typeface="Times New Roman"/>
              </a:rPr>
              <a:t>before</a:t>
            </a:r>
            <a:r>
              <a:rPr sz="2000" b="0" i="0">
                <a:solidFill>
                  <a:srgbClr val="111827"/>
                </a:solidFill>
                <a:latin typeface="Times New Roman"/>
              </a:rPr>
              <a:t> something breaks.</a:t>
            </a:r>
          </a:p>
        </p:txBody>
      </p:sp>
      <p:sp>
        <p:nvSpPr>
          <p:cNvPr id="5" name="Rounded Rectangle 4"/>
          <p:cNvSpPr/>
          <p:nvPr/>
        </p:nvSpPr>
        <p:spPr>
          <a:xfrm>
            <a:off x="1783080" y="1920240"/>
            <a:ext cx="1673351" cy="1005840"/>
          </a:xfrm>
          <a:prstGeom prst="roundRect">
            <a:avLst>
              <a:gd name="adj" fmla="val 1090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1</a:t>
            </a:r>
          </a:p>
          <a:p>
            <a:pPr algn="ctr">
              <a:spcBef>
                <a:spcPts val="0"/>
              </a:spcBef>
              <a:spcAft>
                <a:spcPts val="0"/>
              </a:spcAft>
            </a:pPr>
            <a:r>
              <a:rPr sz="1600" b="1" i="0">
                <a:solidFill>
                  <a:srgbClr val="111827"/>
                </a:solidFill>
                <a:latin typeface="Times New Roman"/>
              </a:rPr>
              <a:t>Virtual machines</a:t>
            </a:r>
          </a:p>
        </p:txBody>
      </p:sp>
      <p:sp>
        <p:nvSpPr>
          <p:cNvPr id="6" name="TextBox 5"/>
          <p:cNvSpPr txBox="1"/>
          <p:nvPr/>
        </p:nvSpPr>
        <p:spPr>
          <a:xfrm>
            <a:off x="1783080"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Five machines send temperature, vibration, status and cycle count every 0.5 s.</a:t>
            </a:r>
          </a:p>
        </p:txBody>
      </p:sp>
      <p:cxnSp>
        <p:nvCxnSpPr>
          <p:cNvPr id="7" name="Connector 6"/>
          <p:cNvCxnSpPr/>
          <p:nvPr/>
        </p:nvCxnSpPr>
        <p:spPr>
          <a:xfrm>
            <a:off x="3511295" y="2423160"/>
            <a:ext cx="301753"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67911" y="1920240"/>
            <a:ext cx="1673351" cy="1005840"/>
          </a:xfrm>
          <a:prstGeom prst="roundRect">
            <a:avLst>
              <a:gd name="adj" fmla="val 1090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2</a:t>
            </a:r>
          </a:p>
          <a:p>
            <a:pPr algn="ctr">
              <a:spcBef>
                <a:spcPts val="0"/>
              </a:spcBef>
              <a:spcAft>
                <a:spcPts val="0"/>
              </a:spcAft>
            </a:pPr>
            <a:r>
              <a:rPr sz="1600" b="1" i="0">
                <a:solidFill>
                  <a:srgbClr val="111827"/>
                </a:solidFill>
                <a:latin typeface="Times New Roman"/>
              </a:rPr>
              <a:t>MQTT broker</a:t>
            </a:r>
          </a:p>
        </p:txBody>
      </p:sp>
      <p:sp>
        <p:nvSpPr>
          <p:cNvPr id="9" name="TextBox 8"/>
          <p:cNvSpPr txBox="1"/>
          <p:nvPr/>
        </p:nvSpPr>
        <p:spPr>
          <a:xfrm>
            <a:off x="3867911"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 lightweight message broker (Mosquitto) carries every reading.</a:t>
            </a:r>
          </a:p>
        </p:txBody>
      </p:sp>
      <p:cxnSp>
        <p:nvCxnSpPr>
          <p:cNvPr id="10" name="Connector 9"/>
          <p:cNvCxnSpPr/>
          <p:nvPr/>
        </p:nvCxnSpPr>
        <p:spPr>
          <a:xfrm>
            <a:off x="5596127" y="2423160"/>
            <a:ext cx="301752"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52744" y="1920240"/>
            <a:ext cx="1673351" cy="1005840"/>
          </a:xfrm>
          <a:prstGeom prst="roundRect">
            <a:avLst>
              <a:gd name="adj" fmla="val 1090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3</a:t>
            </a:r>
          </a:p>
          <a:p>
            <a:pPr algn="ctr">
              <a:spcBef>
                <a:spcPts val="0"/>
              </a:spcBef>
              <a:spcAft>
                <a:spcPts val="0"/>
              </a:spcAft>
            </a:pPr>
            <a:r>
              <a:rPr sz="1600" b="1" i="0">
                <a:solidFill>
                  <a:srgbClr val="111827"/>
                </a:solidFill>
                <a:latin typeface="Times New Roman"/>
              </a:rPr>
              <a:t>Smart backend</a:t>
            </a:r>
          </a:p>
        </p:txBody>
      </p:sp>
      <p:sp>
        <p:nvSpPr>
          <p:cNvPr id="12" name="TextBox 11"/>
          <p:cNvSpPr txBox="1"/>
          <p:nvPr/>
        </p:nvSpPr>
        <p:spPr>
          <a:xfrm>
            <a:off x="5952744"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Computes OEE and checks three detectors: rules, machine learning, trend line.</a:t>
            </a:r>
          </a:p>
        </p:txBody>
      </p:sp>
      <p:cxnSp>
        <p:nvCxnSpPr>
          <p:cNvPr id="13" name="Connector 12"/>
          <p:cNvCxnSpPr/>
          <p:nvPr/>
        </p:nvCxnSpPr>
        <p:spPr>
          <a:xfrm>
            <a:off x="7680960" y="2423160"/>
            <a:ext cx="301751"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37575" y="1920240"/>
            <a:ext cx="1673351" cy="1005840"/>
          </a:xfrm>
          <a:prstGeom prst="roundRect">
            <a:avLst>
              <a:gd name="adj" fmla="val 10909"/>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4</a:t>
            </a:r>
          </a:p>
          <a:p>
            <a:pPr algn="ctr">
              <a:spcBef>
                <a:spcPts val="0"/>
              </a:spcBef>
              <a:spcAft>
                <a:spcPts val="0"/>
              </a:spcAft>
            </a:pPr>
            <a:r>
              <a:rPr sz="1600" b="1" i="0">
                <a:solidFill>
                  <a:srgbClr val="111827"/>
                </a:solidFill>
                <a:latin typeface="Times New Roman"/>
              </a:rPr>
              <a:t>Live dashboard</a:t>
            </a:r>
          </a:p>
        </p:txBody>
      </p:sp>
      <p:sp>
        <p:nvSpPr>
          <p:cNvPr id="15" name="TextBox 14"/>
          <p:cNvSpPr txBox="1"/>
          <p:nvPr/>
        </p:nvSpPr>
        <p:spPr>
          <a:xfrm>
            <a:off x="8037575"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Shows each machine Green, Yellow, Orange or Red – live, in under a second.</a:t>
            </a:r>
          </a:p>
        </p:txBody>
      </p:sp>
      <p:cxnSp>
        <p:nvCxnSpPr>
          <p:cNvPr id="16" name="Connector 15"/>
          <p:cNvCxnSpPr/>
          <p:nvPr/>
        </p:nvCxnSpPr>
        <p:spPr>
          <a:xfrm>
            <a:off x="9765792" y="2423160"/>
            <a:ext cx="301751"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22407" y="1920240"/>
            <a:ext cx="1673351" cy="1005840"/>
          </a:xfrm>
          <a:prstGeom prst="roundRect">
            <a:avLst>
              <a:gd name="adj" fmla="val 10909"/>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200" b="1" i="0">
                <a:solidFill>
                  <a:srgbClr val="475569"/>
                </a:solidFill>
                <a:latin typeface="Times New Roman"/>
              </a:rPr>
              <a:t>STEP 5</a:t>
            </a:r>
          </a:p>
          <a:p>
            <a:pPr algn="ctr">
              <a:spcBef>
                <a:spcPts val="0"/>
              </a:spcBef>
              <a:spcAft>
                <a:spcPts val="0"/>
              </a:spcAft>
            </a:pPr>
            <a:r>
              <a:rPr sz="1600" b="1" i="0">
                <a:solidFill>
                  <a:srgbClr val="111827"/>
                </a:solidFill>
                <a:latin typeface="Times New Roman"/>
              </a:rPr>
              <a:t>Operator</a:t>
            </a:r>
          </a:p>
        </p:txBody>
      </p:sp>
      <p:sp>
        <p:nvSpPr>
          <p:cNvPr id="18" name="TextBox 17"/>
          <p:cNvSpPr txBox="1"/>
          <p:nvPr/>
        </p:nvSpPr>
        <p:spPr>
          <a:xfrm>
            <a:off x="10122407" y="3090672"/>
            <a:ext cx="1673351"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Acknowledges, assigns a technician, resolves and logs the maintenance.</a:t>
            </a:r>
          </a:p>
        </p:txBody>
      </p:sp>
      <p:sp>
        <p:nvSpPr>
          <p:cNvPr id="19" name="TextBox 18"/>
          <p:cNvSpPr txBox="1"/>
          <p:nvPr/>
        </p:nvSpPr>
        <p:spPr>
          <a:xfrm>
            <a:off x="1783080" y="4572000"/>
            <a:ext cx="10012680"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What the operator sees on every machine tile</a:t>
            </a:r>
          </a:p>
        </p:txBody>
      </p:sp>
      <p:sp>
        <p:nvSpPr>
          <p:cNvPr id="20" name="Rounded Rectangle 19"/>
          <p:cNvSpPr/>
          <p:nvPr/>
        </p:nvSpPr>
        <p:spPr>
          <a:xfrm>
            <a:off x="1783080" y="5029200"/>
            <a:ext cx="2331720" cy="1097280"/>
          </a:xfrm>
          <a:prstGeom prst="roundRect">
            <a:avLst>
              <a:gd name="adj" fmla="val 10000"/>
            </a:avLst>
          </a:prstGeom>
          <a:solidFill>
            <a:srgbClr val="DCFCE7"/>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Green</a:t>
            </a:r>
          </a:p>
          <a:p>
            <a:pPr algn="ctr">
              <a:spcBef>
                <a:spcPts val="0"/>
              </a:spcBef>
              <a:spcAft>
                <a:spcPts val="0"/>
              </a:spcAft>
            </a:pPr>
            <a:r>
              <a:rPr sz="1400" b="0" i="0">
                <a:solidFill>
                  <a:srgbClr val="111827"/>
                </a:solidFill>
                <a:latin typeface="Times New Roman"/>
              </a:rPr>
              <a:t>Normal operation</a:t>
            </a:r>
          </a:p>
        </p:txBody>
      </p:sp>
      <p:sp>
        <p:nvSpPr>
          <p:cNvPr id="21" name="Rounded Rectangle 20"/>
          <p:cNvSpPr/>
          <p:nvPr/>
        </p:nvSpPr>
        <p:spPr>
          <a:xfrm>
            <a:off x="4343400" y="5029200"/>
            <a:ext cx="2331720" cy="1097280"/>
          </a:xfrm>
          <a:prstGeom prst="roundRect">
            <a:avLst>
              <a:gd name="adj" fmla="val 10000"/>
            </a:avLst>
          </a:prstGeom>
          <a:solidFill>
            <a:srgbClr val="FEF9C3"/>
          </a:solidFill>
          <a:ln w="2540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Yellow</a:t>
            </a:r>
          </a:p>
          <a:p>
            <a:pPr algn="ctr">
              <a:spcBef>
                <a:spcPts val="0"/>
              </a:spcBef>
              <a:spcAft>
                <a:spcPts val="0"/>
              </a:spcAft>
            </a:pPr>
            <a:r>
              <a:rPr sz="1400" b="0" i="0">
                <a:solidFill>
                  <a:srgbClr val="111827"/>
                </a:solidFill>
                <a:latin typeface="Times New Roman"/>
              </a:rPr>
              <a:t>ML caution: something looks unusual</a:t>
            </a:r>
          </a:p>
        </p:txBody>
      </p:sp>
      <p:sp>
        <p:nvSpPr>
          <p:cNvPr id="22" name="Rounded Rectangle 21"/>
          <p:cNvSpPr/>
          <p:nvPr/>
        </p:nvSpPr>
        <p:spPr>
          <a:xfrm>
            <a:off x="6903720" y="5029200"/>
            <a:ext cx="2331720" cy="1097280"/>
          </a:xfrm>
          <a:prstGeom prst="roundRect">
            <a:avLst>
              <a:gd name="adj" fmla="val 10000"/>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Orange</a:t>
            </a:r>
          </a:p>
          <a:p>
            <a:pPr algn="ctr">
              <a:spcBef>
                <a:spcPts val="0"/>
              </a:spcBef>
              <a:spcAft>
                <a:spcPts val="0"/>
              </a:spcAft>
            </a:pPr>
            <a:r>
              <a:rPr sz="1400" b="0" i="0">
                <a:solidFill>
                  <a:srgbClr val="111827"/>
                </a:solidFill>
                <a:latin typeface="Times New Roman"/>
              </a:rPr>
              <a:t>Projected fault: limit reached in ≤ 60 s</a:t>
            </a:r>
          </a:p>
        </p:txBody>
      </p:sp>
      <p:sp>
        <p:nvSpPr>
          <p:cNvPr id="23" name="Rounded Rectangle 22"/>
          <p:cNvSpPr/>
          <p:nvPr/>
        </p:nvSpPr>
        <p:spPr>
          <a:xfrm>
            <a:off x="9464039" y="5029200"/>
            <a:ext cx="2331720" cy="1097280"/>
          </a:xfrm>
          <a:prstGeom prst="roundRect">
            <a:avLst>
              <a:gd name="adj" fmla="val 10000"/>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111827"/>
                </a:solidFill>
                <a:latin typeface="Times New Roman"/>
              </a:rPr>
              <a:t>Red</a:t>
            </a:r>
          </a:p>
          <a:p>
            <a:pPr algn="ctr">
              <a:spcBef>
                <a:spcPts val="0"/>
              </a:spcBef>
              <a:spcAft>
                <a:spcPts val="0"/>
              </a:spcAft>
            </a:pPr>
            <a:r>
              <a:rPr sz="1400" b="0" i="0">
                <a:solidFill>
                  <a:srgbClr val="111827"/>
                </a:solidFill>
                <a:latin typeface="Times New Roman"/>
              </a:rPr>
              <a:t>Hard fault: limit crossed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Introduction – What is OEE?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194560" cy="1143000"/>
          </a:xfrm>
          <a:prstGeom prst="roundRect">
            <a:avLst>
              <a:gd name="adj" fmla="val 96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Availability</a:t>
            </a:r>
          </a:p>
          <a:p>
            <a:pPr algn="ctr">
              <a:spcBef>
                <a:spcPts val="0"/>
              </a:spcBef>
              <a:spcAft>
                <a:spcPts val="0"/>
              </a:spcAft>
            </a:pPr>
            <a:r>
              <a:rPr sz="1400" b="0" i="0">
                <a:solidFill>
                  <a:srgbClr val="111827"/>
                </a:solidFill>
                <a:latin typeface="Times New Roman"/>
              </a:rPr>
              <a:t>run time ÷ planned time</a:t>
            </a:r>
          </a:p>
        </p:txBody>
      </p:sp>
      <p:sp>
        <p:nvSpPr>
          <p:cNvPr id="5" name="Rounded Rectangle 4"/>
          <p:cNvSpPr/>
          <p:nvPr/>
        </p:nvSpPr>
        <p:spPr>
          <a:xfrm>
            <a:off x="4389120" y="1097280"/>
            <a:ext cx="2194560" cy="1143000"/>
          </a:xfrm>
          <a:prstGeom prst="roundRect">
            <a:avLst>
              <a:gd name="adj" fmla="val 9600"/>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Performance</a:t>
            </a:r>
          </a:p>
          <a:p>
            <a:pPr algn="ctr">
              <a:spcBef>
                <a:spcPts val="0"/>
              </a:spcBef>
              <a:spcAft>
                <a:spcPts val="0"/>
              </a:spcAft>
            </a:pPr>
            <a:r>
              <a:rPr sz="1400" b="0" i="0">
                <a:solidFill>
                  <a:srgbClr val="111827"/>
                </a:solidFill>
                <a:latin typeface="Times New Roman"/>
              </a:rPr>
              <a:t>actual speed ÷ ideal speed</a:t>
            </a:r>
          </a:p>
        </p:txBody>
      </p:sp>
      <p:sp>
        <p:nvSpPr>
          <p:cNvPr id="6" name="Rounded Rectangle 5"/>
          <p:cNvSpPr/>
          <p:nvPr/>
        </p:nvSpPr>
        <p:spPr>
          <a:xfrm>
            <a:off x="6995160" y="1097280"/>
            <a:ext cx="2194560" cy="1143000"/>
          </a:xfrm>
          <a:prstGeom prst="roundRect">
            <a:avLst>
              <a:gd name="adj" fmla="val 96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Quality</a:t>
            </a:r>
          </a:p>
          <a:p>
            <a:pPr algn="ctr">
              <a:spcBef>
                <a:spcPts val="0"/>
              </a:spcBef>
              <a:spcAft>
                <a:spcPts val="0"/>
              </a:spcAft>
            </a:pPr>
            <a:r>
              <a:rPr sz="1400" b="0" i="0">
                <a:solidFill>
                  <a:srgbClr val="111827"/>
                </a:solidFill>
                <a:latin typeface="Times New Roman"/>
              </a:rPr>
              <a:t>good parts ÷ all parts</a:t>
            </a:r>
          </a:p>
        </p:txBody>
      </p:sp>
      <p:sp>
        <p:nvSpPr>
          <p:cNvPr id="7" name="Rounded Rectangle 6"/>
          <p:cNvSpPr/>
          <p:nvPr/>
        </p:nvSpPr>
        <p:spPr>
          <a:xfrm>
            <a:off x="9601200" y="1097280"/>
            <a:ext cx="2194560" cy="1143000"/>
          </a:xfrm>
          <a:prstGeom prst="roundRect">
            <a:avLst>
              <a:gd name="adj" fmla="val 96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2200" b="1" i="0">
                <a:solidFill>
                  <a:srgbClr val="111827"/>
                </a:solidFill>
                <a:latin typeface="Times New Roman"/>
              </a:rPr>
              <a:t>OEE</a:t>
            </a:r>
          </a:p>
          <a:p>
            <a:pPr algn="ctr">
              <a:spcBef>
                <a:spcPts val="0"/>
              </a:spcBef>
              <a:spcAft>
                <a:spcPts val="0"/>
              </a:spcAft>
            </a:pPr>
            <a:r>
              <a:rPr sz="1400" b="0" i="0">
                <a:solidFill>
                  <a:srgbClr val="111827"/>
                </a:solidFill>
                <a:latin typeface="Times New Roman"/>
              </a:rPr>
              <a:t>overall effectiveness</a:t>
            </a:r>
          </a:p>
        </p:txBody>
      </p:sp>
      <p:sp>
        <p:nvSpPr>
          <p:cNvPr id="8" name="TextBox 7"/>
          <p:cNvSpPr txBox="1"/>
          <p:nvPr/>
        </p:nvSpPr>
        <p:spPr>
          <a:xfrm>
            <a:off x="3977639"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9" name="TextBox 8"/>
          <p:cNvSpPr txBox="1"/>
          <p:nvPr/>
        </p:nvSpPr>
        <p:spPr>
          <a:xfrm>
            <a:off x="6583679"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10" name="TextBox 9"/>
          <p:cNvSpPr txBox="1"/>
          <p:nvPr/>
        </p:nvSpPr>
        <p:spPr>
          <a:xfrm>
            <a:off x="9189720" y="1097280"/>
            <a:ext cx="411480" cy="1143000"/>
          </a:xfrm>
          <a:prstGeom prst="rect">
            <a:avLst/>
          </a:prstGeom>
          <a:noFill/>
        </p:spPr>
        <p:txBody>
          <a:bodyPr wrap="square" lIns="0" rIns="0" tIns="0" bIns="0" anchor="ctr">
            <a:noAutofit/>
          </a:bodyPr>
          <a:lstStyle/>
          <a:p>
            <a:pPr algn="ctr">
              <a:spcBef>
                <a:spcPts val="0"/>
              </a:spcBef>
              <a:spcAft>
                <a:spcPts val="0"/>
              </a:spcAft>
            </a:pPr>
            <a:r>
              <a:rPr sz="3000" b="1" i="0">
                <a:solidFill>
                  <a:srgbClr val="111827"/>
                </a:solidFill>
                <a:latin typeface="Times New Roman"/>
              </a:rPr>
              <a:t>=</a:t>
            </a:r>
          </a:p>
        </p:txBody>
      </p:sp>
      <p:sp>
        <p:nvSpPr>
          <p:cNvPr id="11" name="TextBox 10"/>
          <p:cNvSpPr txBox="1"/>
          <p:nvPr/>
        </p:nvSpPr>
        <p:spPr>
          <a:xfrm>
            <a:off x="178308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Was the machine running when it should? Stops lower it.</a:t>
            </a:r>
          </a:p>
        </p:txBody>
      </p:sp>
      <p:sp>
        <p:nvSpPr>
          <p:cNvPr id="12" name="TextBox 11"/>
          <p:cNvSpPr txBox="1"/>
          <p:nvPr/>
        </p:nvSpPr>
        <p:spPr>
          <a:xfrm>
            <a:off x="438912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Did it run at full speed? Slow cycles lower it.</a:t>
            </a:r>
          </a:p>
        </p:txBody>
      </p:sp>
      <p:sp>
        <p:nvSpPr>
          <p:cNvPr id="13" name="TextBox 12"/>
          <p:cNvSpPr txBox="1"/>
          <p:nvPr/>
        </p:nvSpPr>
        <p:spPr>
          <a:xfrm>
            <a:off x="699516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How many parts were good? Scrap and rework lower it.</a:t>
            </a:r>
          </a:p>
        </p:txBody>
      </p:sp>
      <p:sp>
        <p:nvSpPr>
          <p:cNvPr id="14" name="TextBox 13"/>
          <p:cNvSpPr txBox="1"/>
          <p:nvPr/>
        </p:nvSpPr>
        <p:spPr>
          <a:xfrm>
            <a:off x="9601200" y="2395728"/>
            <a:ext cx="2194560" cy="128016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One number from 0 to 100 % – the standard productivity KPI (ISO 22400).</a:t>
            </a:r>
          </a:p>
        </p:txBody>
      </p:sp>
      <p:sp>
        <p:nvSpPr>
          <p:cNvPr id="15" name="Rounded Rectangle 14"/>
          <p:cNvSpPr/>
          <p:nvPr/>
        </p:nvSpPr>
        <p:spPr>
          <a:xfrm>
            <a:off x="1783080" y="3886200"/>
            <a:ext cx="10012680" cy="2240280"/>
          </a:xfrm>
          <a:prstGeom prst="roundRect">
            <a:avLst>
              <a:gd name="adj" fmla="val 4897"/>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TextBox 15"/>
          <p:cNvSpPr txBox="1"/>
          <p:nvPr/>
        </p:nvSpPr>
        <p:spPr>
          <a:xfrm>
            <a:off x="2057400" y="4023360"/>
            <a:ext cx="2743200" cy="365760"/>
          </a:xfrm>
          <a:prstGeom prst="rect">
            <a:avLst/>
          </a:prstGeom>
          <a:noFill/>
        </p:spPr>
        <p:txBody>
          <a:bodyPr wrap="square" lIns="0" rIns="0" tIns="0" bIns="0" anchor="t">
            <a:noAutofit/>
          </a:bodyPr>
          <a:lstStyle/>
          <a:p>
            <a:pPr algn="l">
              <a:spcBef>
                <a:spcPts val="0"/>
              </a:spcBef>
              <a:spcAft>
                <a:spcPts val="0"/>
              </a:spcAft>
            </a:pPr>
            <a:r>
              <a:rPr sz="1800" b="1" i="0">
                <a:solidFill>
                  <a:srgbClr val="111827"/>
                </a:solidFill>
                <a:latin typeface="Times New Roman"/>
              </a:rPr>
              <a:t>Worked example</a:t>
            </a:r>
          </a:p>
        </p:txBody>
      </p:sp>
      <p:sp>
        <p:nvSpPr>
          <p:cNvPr id="17" name="TextBox 16"/>
          <p:cNvSpPr txBox="1"/>
          <p:nvPr/>
        </p:nvSpPr>
        <p:spPr>
          <a:xfrm>
            <a:off x="2057400" y="4434840"/>
            <a:ext cx="2468880" cy="109728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A machine that is up 90 % of the time, runs at 95 % of ideal speed and makes 98 % good parts is not “90 % productive”:</a:t>
            </a:r>
          </a:p>
        </p:txBody>
      </p:sp>
      <p:sp>
        <p:nvSpPr>
          <p:cNvPr id="18" name="TextBox 17"/>
          <p:cNvSpPr txBox="1"/>
          <p:nvPr/>
        </p:nvSpPr>
        <p:spPr>
          <a:xfrm>
            <a:off x="489204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90 %</a:t>
            </a:r>
          </a:p>
        </p:txBody>
      </p:sp>
      <p:sp>
        <p:nvSpPr>
          <p:cNvPr id="19" name="TextBox 18"/>
          <p:cNvSpPr txBox="1"/>
          <p:nvPr/>
        </p:nvSpPr>
        <p:spPr>
          <a:xfrm>
            <a:off x="489204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Availability</a:t>
            </a:r>
          </a:p>
        </p:txBody>
      </p:sp>
      <p:sp>
        <p:nvSpPr>
          <p:cNvPr id="20" name="TextBox 19"/>
          <p:cNvSpPr txBox="1"/>
          <p:nvPr/>
        </p:nvSpPr>
        <p:spPr>
          <a:xfrm>
            <a:off x="6126479"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1" name="TextBox 20"/>
          <p:cNvSpPr txBox="1"/>
          <p:nvPr/>
        </p:nvSpPr>
        <p:spPr>
          <a:xfrm>
            <a:off x="6629399"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95 %</a:t>
            </a:r>
          </a:p>
        </p:txBody>
      </p:sp>
      <p:sp>
        <p:nvSpPr>
          <p:cNvPr id="22" name="TextBox 21"/>
          <p:cNvSpPr txBox="1"/>
          <p:nvPr/>
        </p:nvSpPr>
        <p:spPr>
          <a:xfrm>
            <a:off x="6629399"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Performance</a:t>
            </a:r>
          </a:p>
        </p:txBody>
      </p:sp>
      <p:sp>
        <p:nvSpPr>
          <p:cNvPr id="23" name="TextBox 22"/>
          <p:cNvSpPr txBox="1"/>
          <p:nvPr/>
        </p:nvSpPr>
        <p:spPr>
          <a:xfrm>
            <a:off x="7863840"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4" name="TextBox 23"/>
          <p:cNvSpPr txBox="1"/>
          <p:nvPr/>
        </p:nvSpPr>
        <p:spPr>
          <a:xfrm>
            <a:off x="836676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111827"/>
                </a:solidFill>
                <a:latin typeface="Times New Roman"/>
              </a:rPr>
              <a:t>98 %</a:t>
            </a:r>
          </a:p>
        </p:txBody>
      </p:sp>
      <p:sp>
        <p:nvSpPr>
          <p:cNvPr id="25" name="TextBox 24"/>
          <p:cNvSpPr txBox="1"/>
          <p:nvPr/>
        </p:nvSpPr>
        <p:spPr>
          <a:xfrm>
            <a:off x="836676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Quality</a:t>
            </a:r>
          </a:p>
        </p:txBody>
      </p:sp>
      <p:sp>
        <p:nvSpPr>
          <p:cNvPr id="26" name="TextBox 25"/>
          <p:cNvSpPr txBox="1"/>
          <p:nvPr/>
        </p:nvSpPr>
        <p:spPr>
          <a:xfrm>
            <a:off x="9601200" y="4343400"/>
            <a:ext cx="502920" cy="640080"/>
          </a:xfrm>
          <a:prstGeom prst="rect">
            <a:avLst/>
          </a:prstGeom>
          <a:noFill/>
        </p:spPr>
        <p:txBody>
          <a:bodyPr wrap="square" lIns="0" rIns="0" tIns="0" bIns="0" anchor="ctr">
            <a:noAutofit/>
          </a:bodyPr>
          <a:lstStyle/>
          <a:p>
            <a:pPr algn="ctr">
              <a:spcBef>
                <a:spcPts val="0"/>
              </a:spcBef>
              <a:spcAft>
                <a:spcPts val="0"/>
              </a:spcAft>
            </a:pPr>
            <a:r>
              <a:rPr sz="3000" b="1" i="0">
                <a:solidFill>
                  <a:srgbClr val="64748B"/>
                </a:solidFill>
                <a:latin typeface="Times New Roman"/>
              </a:rPr>
              <a:t>=</a:t>
            </a:r>
          </a:p>
        </p:txBody>
      </p:sp>
      <p:sp>
        <p:nvSpPr>
          <p:cNvPr id="27" name="TextBox 26"/>
          <p:cNvSpPr txBox="1"/>
          <p:nvPr/>
        </p:nvSpPr>
        <p:spPr>
          <a:xfrm>
            <a:off x="10104120" y="4343400"/>
            <a:ext cx="1234440" cy="640080"/>
          </a:xfrm>
          <a:prstGeom prst="rect">
            <a:avLst/>
          </a:prstGeom>
          <a:noFill/>
        </p:spPr>
        <p:txBody>
          <a:bodyPr wrap="square" lIns="0" rIns="0" tIns="0" bIns="0" anchor="ctr">
            <a:noAutofit/>
          </a:bodyPr>
          <a:lstStyle/>
          <a:p>
            <a:pPr algn="ctr">
              <a:spcBef>
                <a:spcPts val="0"/>
              </a:spcBef>
              <a:spcAft>
                <a:spcPts val="0"/>
              </a:spcAft>
            </a:pPr>
            <a:r>
              <a:rPr sz="3200" b="1" i="0">
                <a:solidFill>
                  <a:srgbClr val="375623"/>
                </a:solidFill>
                <a:latin typeface="Times New Roman"/>
              </a:rPr>
              <a:t>83.8 %</a:t>
            </a:r>
          </a:p>
        </p:txBody>
      </p:sp>
      <p:sp>
        <p:nvSpPr>
          <p:cNvPr id="28" name="TextBox 27"/>
          <p:cNvSpPr txBox="1"/>
          <p:nvPr/>
        </p:nvSpPr>
        <p:spPr>
          <a:xfrm>
            <a:off x="10104120" y="5029200"/>
            <a:ext cx="123444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OEE</a:t>
            </a:r>
          </a:p>
        </p:txBody>
      </p:sp>
      <p:sp>
        <p:nvSpPr>
          <p:cNvPr id="29" name="TextBox 28"/>
          <p:cNvSpPr txBox="1"/>
          <p:nvPr/>
        </p:nvSpPr>
        <p:spPr>
          <a:xfrm>
            <a:off x="2057400" y="5623560"/>
            <a:ext cx="9464040" cy="320040"/>
          </a:xfrm>
          <a:prstGeom prst="rect">
            <a:avLst/>
          </a:prstGeom>
          <a:noFill/>
        </p:spPr>
        <p:txBody>
          <a:bodyPr wrap="square" lIns="0" rIns="0" tIns="0" bIns="0" anchor="t">
            <a:noAutofit/>
          </a:bodyPr>
          <a:lstStyle/>
          <a:p>
            <a:pPr algn="l">
              <a:spcBef>
                <a:spcPts val="0"/>
              </a:spcBef>
              <a:spcAft>
                <a:spcPts val="0"/>
              </a:spcAft>
            </a:pPr>
            <a:r>
              <a:rPr sz="1400" b="0" i="1">
                <a:solidFill>
                  <a:srgbClr val="475569"/>
                </a:solidFill>
                <a:latin typeface="Times New Roman"/>
              </a:rPr>
              <a:t>Reference point often quoted for “world-class” plants: about 85 % (Nakajima, TPM).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Problem Statement</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TextBox 3"/>
          <p:cNvSpPr txBox="1"/>
          <p:nvPr/>
        </p:nvSpPr>
        <p:spPr>
          <a:xfrm>
            <a:off x="1783080" y="1005840"/>
            <a:ext cx="4297680" cy="365760"/>
          </a:xfrm>
          <a:prstGeom prst="rect">
            <a:avLst/>
          </a:prstGeom>
          <a:noFill/>
        </p:spPr>
        <p:txBody>
          <a:bodyPr wrap="square" lIns="0" rIns="0" tIns="0" bIns="0" anchor="t">
            <a:noAutofit/>
          </a:bodyPr>
          <a:lstStyle/>
          <a:p>
            <a:pPr algn="l">
              <a:spcBef>
                <a:spcPts val="0"/>
              </a:spcBef>
              <a:spcAft>
                <a:spcPts val="0"/>
              </a:spcAft>
            </a:pPr>
            <a:r>
              <a:rPr sz="1900" b="1" i="0">
                <a:solidFill>
                  <a:srgbClr val="C00000"/>
                </a:solidFill>
                <a:latin typeface="Times New Roman"/>
              </a:rPr>
              <a:t>Today</a:t>
            </a:r>
          </a:p>
        </p:txBody>
      </p:sp>
      <p:sp>
        <p:nvSpPr>
          <p:cNvPr id="5" name="TextBox 4"/>
          <p:cNvSpPr txBox="1"/>
          <p:nvPr/>
        </p:nvSpPr>
        <p:spPr>
          <a:xfrm>
            <a:off x="6492240" y="1005840"/>
            <a:ext cx="5303519" cy="365760"/>
          </a:xfrm>
          <a:prstGeom prst="rect">
            <a:avLst/>
          </a:prstGeom>
          <a:noFill/>
        </p:spPr>
        <p:txBody>
          <a:bodyPr wrap="square" lIns="0" rIns="0" tIns="0" bIns="0" anchor="t">
            <a:noAutofit/>
          </a:bodyPr>
          <a:lstStyle/>
          <a:p>
            <a:pPr algn="l">
              <a:spcBef>
                <a:spcPts val="0"/>
              </a:spcBef>
              <a:spcAft>
                <a:spcPts val="0"/>
              </a:spcAft>
            </a:pPr>
            <a:r>
              <a:rPr sz="1900" b="1" i="0">
                <a:solidFill>
                  <a:srgbClr val="375623"/>
                </a:solidFill>
                <a:latin typeface="Times New Roman"/>
              </a:rPr>
              <a:t>What is needed</a:t>
            </a:r>
          </a:p>
        </p:txBody>
      </p:sp>
      <p:sp>
        <p:nvSpPr>
          <p:cNvPr id="6" name="Rounded Rectangle 5"/>
          <p:cNvSpPr/>
          <p:nvPr/>
        </p:nvSpPr>
        <p:spPr>
          <a:xfrm>
            <a:off x="1783080" y="14630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OEE is worked out </a:t>
            </a:r>
            <a:r>
              <a:rPr sz="1600" b="1" i="0">
                <a:solidFill>
                  <a:srgbClr val="111827"/>
                </a:solidFill>
                <a:latin typeface="Times New Roman"/>
              </a:rPr>
              <a:t>after</a:t>
            </a:r>
            <a:r>
              <a:rPr sz="1600" b="0" i="0">
                <a:solidFill>
                  <a:srgbClr val="111827"/>
                </a:solidFill>
                <a:latin typeface="Times New Roman"/>
              </a:rPr>
              <a:t> the shift, in spreadsheets</a:t>
            </a:r>
          </a:p>
        </p:txBody>
      </p:sp>
      <p:sp>
        <p:nvSpPr>
          <p:cNvPr id="7" name="Rounded Rectangle 6"/>
          <p:cNvSpPr/>
          <p:nvPr/>
        </p:nvSpPr>
        <p:spPr>
          <a:xfrm>
            <a:off x="1783080" y="28346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Alarms fire only when a fixed limit is </a:t>
            </a:r>
            <a:r>
              <a:rPr sz="1600" b="1" i="0">
                <a:solidFill>
                  <a:srgbClr val="111827"/>
                </a:solidFill>
                <a:latin typeface="Times New Roman"/>
              </a:rPr>
              <a:t>already crossed</a:t>
            </a:r>
          </a:p>
        </p:txBody>
      </p:sp>
      <p:sp>
        <p:nvSpPr>
          <p:cNvPr id="8" name="Rounded Rectangle 7"/>
          <p:cNvSpPr/>
          <p:nvPr/>
        </p:nvSpPr>
        <p:spPr>
          <a:xfrm>
            <a:off x="1783080" y="4206240"/>
            <a:ext cx="4297680" cy="1188720"/>
          </a:xfrm>
          <a:prstGeom prst="roundRect">
            <a:avLst>
              <a:gd name="adj" fmla="val 923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600" b="0" i="0">
                <a:solidFill>
                  <a:srgbClr val="111827"/>
                </a:solidFill>
                <a:latin typeface="Times New Roman"/>
              </a:rPr>
              <a:t>Slow drifts and unusual patterns go unnoticed until a breakdown</a:t>
            </a:r>
          </a:p>
        </p:txBody>
      </p:sp>
      <p:sp>
        <p:nvSpPr>
          <p:cNvPr id="9" name="Rounded Rectangle 8"/>
          <p:cNvSpPr/>
          <p:nvPr/>
        </p:nvSpPr>
        <p:spPr>
          <a:xfrm>
            <a:off x="6492240" y="14630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6675120" y="16779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11" name="TextBox 10"/>
          <p:cNvSpPr txBox="1"/>
          <p:nvPr/>
        </p:nvSpPr>
        <p:spPr>
          <a:xfrm>
            <a:off x="7360920" y="14630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Show </a:t>
            </a:r>
            <a:r>
              <a:rPr sz="1600" b="1" i="0">
                <a:solidFill>
                  <a:srgbClr val="111827"/>
                </a:solidFill>
                <a:latin typeface="Times New Roman"/>
              </a:rPr>
              <a:t>OEE</a:t>
            </a:r>
            <a:r>
              <a:rPr sz="1600" b="0" i="0">
                <a:solidFill>
                  <a:srgbClr val="111827"/>
                </a:solidFill>
                <a:latin typeface="Times New Roman"/>
              </a:rPr>
              <a:t> per machine and for the whole plant, live</a:t>
            </a:r>
          </a:p>
        </p:txBody>
      </p:sp>
      <p:sp>
        <p:nvSpPr>
          <p:cNvPr id="12" name="Rounded Rectangle 11"/>
          <p:cNvSpPr/>
          <p:nvPr/>
        </p:nvSpPr>
        <p:spPr>
          <a:xfrm>
            <a:off x="6492240" y="24917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Oval 12"/>
          <p:cNvSpPr/>
          <p:nvPr/>
        </p:nvSpPr>
        <p:spPr>
          <a:xfrm>
            <a:off x="6675120" y="27066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4" name="TextBox 13"/>
          <p:cNvSpPr txBox="1"/>
          <p:nvPr/>
        </p:nvSpPr>
        <p:spPr>
          <a:xfrm>
            <a:off x="7360920" y="24917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Flag </a:t>
            </a:r>
            <a:r>
              <a:rPr sz="1600" b="1" i="0">
                <a:solidFill>
                  <a:srgbClr val="111827"/>
                </a:solidFill>
                <a:latin typeface="Times New Roman"/>
              </a:rPr>
              <a:t>hard faults</a:t>
            </a:r>
            <a:r>
              <a:rPr sz="1600" b="0" i="0">
                <a:solidFill>
                  <a:srgbClr val="111827"/>
                </a:solidFill>
                <a:latin typeface="Times New Roman"/>
              </a:rPr>
              <a:t> instantly (Red)</a:t>
            </a:r>
          </a:p>
        </p:txBody>
      </p:sp>
      <p:sp>
        <p:nvSpPr>
          <p:cNvPr id="15" name="Rounded Rectangle 14"/>
          <p:cNvSpPr/>
          <p:nvPr/>
        </p:nvSpPr>
        <p:spPr>
          <a:xfrm>
            <a:off x="6492240" y="35204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Oval 15"/>
          <p:cNvSpPr/>
          <p:nvPr/>
        </p:nvSpPr>
        <p:spPr>
          <a:xfrm>
            <a:off x="6675120" y="37353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7" name="TextBox 16"/>
          <p:cNvSpPr txBox="1"/>
          <p:nvPr/>
        </p:nvSpPr>
        <p:spPr>
          <a:xfrm>
            <a:off x="7360920" y="3520440"/>
            <a:ext cx="4297679" cy="886968"/>
          </a:xfrm>
          <a:prstGeom prst="rect">
            <a:avLst/>
          </a:prstGeom>
          <a:noFill/>
        </p:spPr>
        <p:txBody>
          <a:bodyPr wrap="square" lIns="0" rIns="0" tIns="0" bIns="0" anchor="ctr">
            <a:noAutofit/>
          </a:bodyPr>
          <a:lstStyle/>
          <a:p>
            <a:pPr algn="l">
              <a:spcBef>
                <a:spcPts val="0"/>
              </a:spcBef>
              <a:spcAft>
                <a:spcPts val="0"/>
              </a:spcAft>
            </a:pPr>
            <a:r>
              <a:rPr sz="1600" b="0" i="0">
                <a:solidFill>
                  <a:srgbClr val="111827"/>
                </a:solidFill>
                <a:latin typeface="Times New Roman"/>
              </a:rPr>
              <a:t>Detect </a:t>
            </a:r>
            <a:r>
              <a:rPr sz="1600" b="1" i="0">
                <a:solidFill>
                  <a:srgbClr val="111827"/>
                </a:solidFill>
                <a:latin typeface="Times New Roman"/>
              </a:rPr>
              <a:t>subtle anomalies</a:t>
            </a:r>
            <a:r>
              <a:rPr sz="1600" b="0" i="0">
                <a:solidFill>
                  <a:srgbClr val="111827"/>
                </a:solidFill>
                <a:latin typeface="Times New Roman"/>
              </a:rPr>
              <a:t> that limits miss (Yellow)</a:t>
            </a:r>
          </a:p>
        </p:txBody>
      </p:sp>
      <p:sp>
        <p:nvSpPr>
          <p:cNvPr id="18" name="Rounded Rectangle 17"/>
          <p:cNvSpPr/>
          <p:nvPr/>
        </p:nvSpPr>
        <p:spPr>
          <a:xfrm>
            <a:off x="6492240" y="4549140"/>
            <a:ext cx="5303519" cy="886968"/>
          </a:xfrm>
          <a:prstGeom prst="roundRect">
            <a:avLst>
              <a:gd name="adj" fmla="val 1237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9" name="Oval 18"/>
          <p:cNvSpPr/>
          <p:nvPr/>
        </p:nvSpPr>
        <p:spPr>
          <a:xfrm>
            <a:off x="6675120" y="4764024"/>
            <a:ext cx="457200" cy="457200"/>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0" name="TextBox 19"/>
          <p:cNvSpPr txBox="1"/>
          <p:nvPr/>
        </p:nvSpPr>
        <p:spPr>
          <a:xfrm>
            <a:off x="7360920" y="4549140"/>
            <a:ext cx="4297679" cy="886968"/>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Predict</a:t>
            </a:r>
            <a:r>
              <a:rPr sz="1600" b="0" i="0">
                <a:solidFill>
                  <a:srgbClr val="111827"/>
                </a:solidFill>
                <a:latin typeface="Times New Roman"/>
              </a:rPr>
              <a:t> a breach early enough to act (Orange)</a:t>
            </a:r>
          </a:p>
        </p:txBody>
      </p:sp>
      <p:sp>
        <p:nvSpPr>
          <p:cNvPr id="21" name="Right Arrow 20"/>
          <p:cNvSpPr/>
          <p:nvPr/>
        </p:nvSpPr>
        <p:spPr>
          <a:xfrm>
            <a:off x="6144768" y="3246120"/>
            <a:ext cx="301752" cy="548640"/>
          </a:xfrm>
          <a:prstGeom prst="rightArrow">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83080" y="5669280"/>
            <a:ext cx="10012680" cy="566928"/>
          </a:xfrm>
          <a:prstGeom prst="roundRect">
            <a:avLst>
              <a:gd name="adj" fmla="val 19354"/>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375623"/>
                </a:solidFill>
                <a:latin typeface="Times New Roman"/>
              </a:rPr>
              <a:t>SRS targets:  updates ≤ 1 s  ·  ML ≤ 200 ms  ·  MQTT reconnect ≤ 5 s  ·  50 clients  ·  5 → 20 machines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Objectives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1943100"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6" name="TextBox 5"/>
          <p:cNvSpPr txBox="1"/>
          <p:nvPr/>
        </p:nvSpPr>
        <p:spPr>
          <a:xfrm>
            <a:off x="260604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Simulate</a:t>
            </a:r>
          </a:p>
        </p:txBody>
      </p:sp>
      <p:sp>
        <p:nvSpPr>
          <p:cNvPr id="7" name="TextBox 6"/>
          <p:cNvSpPr txBox="1"/>
          <p:nvPr/>
        </p:nvSpPr>
        <p:spPr>
          <a:xfrm>
            <a:off x="2011680"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5 virtual machines (scalable to 20) send telemetry every 500 ms.</a:t>
            </a:r>
          </a:p>
        </p:txBody>
      </p:sp>
      <p:sp>
        <p:nvSpPr>
          <p:cNvPr id="8" name="TextBox 7"/>
          <p:cNvSpPr txBox="1"/>
          <p:nvPr/>
        </p:nvSpPr>
        <p:spPr>
          <a:xfrm>
            <a:off x="2011680"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FR-01 · FR-11</a:t>
            </a:r>
          </a:p>
        </p:txBody>
      </p:sp>
      <p:sp>
        <p:nvSpPr>
          <p:cNvPr id="9" name="Rounded Rectangle 8"/>
          <p:cNvSpPr/>
          <p:nvPr/>
        </p:nvSpPr>
        <p:spPr>
          <a:xfrm>
            <a:off x="5196839"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5356859"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601980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Measure</a:t>
            </a:r>
          </a:p>
        </p:txBody>
      </p:sp>
      <p:sp>
        <p:nvSpPr>
          <p:cNvPr id="12" name="TextBox 11"/>
          <p:cNvSpPr txBox="1"/>
          <p:nvPr/>
        </p:nvSpPr>
        <p:spPr>
          <a:xfrm>
            <a:off x="5425439"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OEE = Availability × Performance × Quality over rolling 1 h and 8 h windows.</a:t>
            </a:r>
          </a:p>
        </p:txBody>
      </p:sp>
      <p:sp>
        <p:nvSpPr>
          <p:cNvPr id="13" name="TextBox 12"/>
          <p:cNvSpPr txBox="1"/>
          <p:nvPr/>
        </p:nvSpPr>
        <p:spPr>
          <a:xfrm>
            <a:off x="5425439"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FR-02</a:t>
            </a:r>
          </a:p>
        </p:txBody>
      </p:sp>
      <p:sp>
        <p:nvSpPr>
          <p:cNvPr id="14" name="Rounded Rectangle 13"/>
          <p:cNvSpPr/>
          <p:nvPr/>
        </p:nvSpPr>
        <p:spPr>
          <a:xfrm>
            <a:off x="8610600" y="109728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8770619" y="1257300"/>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6" name="TextBox 15"/>
          <p:cNvSpPr txBox="1"/>
          <p:nvPr/>
        </p:nvSpPr>
        <p:spPr>
          <a:xfrm>
            <a:off x="9433560" y="128016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Detect</a:t>
            </a:r>
          </a:p>
        </p:txBody>
      </p:sp>
      <p:sp>
        <p:nvSpPr>
          <p:cNvPr id="17" name="TextBox 16"/>
          <p:cNvSpPr txBox="1"/>
          <p:nvPr/>
        </p:nvSpPr>
        <p:spPr>
          <a:xfrm>
            <a:off x="8839200" y="196596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Red by rules, Yellow by machine learning (&gt; 85 %), Orange by What-If trend.</a:t>
            </a:r>
          </a:p>
        </p:txBody>
      </p:sp>
      <p:sp>
        <p:nvSpPr>
          <p:cNvPr id="18" name="TextBox 17"/>
          <p:cNvSpPr txBox="1"/>
          <p:nvPr/>
        </p:nvSpPr>
        <p:spPr>
          <a:xfrm>
            <a:off x="8839200" y="310896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FR-03 · FR-04 · FR-07</a:t>
            </a:r>
          </a:p>
        </p:txBody>
      </p:sp>
      <p:sp>
        <p:nvSpPr>
          <p:cNvPr id="19" name="Rounded Rectangle 18"/>
          <p:cNvSpPr/>
          <p:nvPr/>
        </p:nvSpPr>
        <p:spPr>
          <a:xfrm>
            <a:off x="1783080"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1943100"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1" name="TextBox 20"/>
          <p:cNvSpPr txBox="1"/>
          <p:nvPr/>
        </p:nvSpPr>
        <p:spPr>
          <a:xfrm>
            <a:off x="260604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Act</a:t>
            </a:r>
          </a:p>
        </p:txBody>
      </p:sp>
      <p:sp>
        <p:nvSpPr>
          <p:cNvPr id="22" name="TextBox 21"/>
          <p:cNvSpPr txBox="1"/>
          <p:nvPr/>
        </p:nvSpPr>
        <p:spPr>
          <a:xfrm>
            <a:off x="2011680"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Acknowledge, assign a technician, resolve, log maintenance, give ML feedback.</a:t>
            </a:r>
          </a:p>
        </p:txBody>
      </p:sp>
      <p:sp>
        <p:nvSpPr>
          <p:cNvPr id="23" name="TextBox 22"/>
          <p:cNvSpPr txBox="1"/>
          <p:nvPr/>
        </p:nvSpPr>
        <p:spPr>
          <a:xfrm>
            <a:off x="2011680"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FR-06</a:t>
            </a:r>
          </a:p>
        </p:txBody>
      </p:sp>
      <p:sp>
        <p:nvSpPr>
          <p:cNvPr id="24" name="Rounded Rectangle 23"/>
          <p:cNvSpPr/>
          <p:nvPr/>
        </p:nvSpPr>
        <p:spPr>
          <a:xfrm>
            <a:off x="5196839"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Oval 24"/>
          <p:cNvSpPr/>
          <p:nvPr/>
        </p:nvSpPr>
        <p:spPr>
          <a:xfrm>
            <a:off x="5356859"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5</a:t>
            </a:r>
          </a:p>
        </p:txBody>
      </p:sp>
      <p:sp>
        <p:nvSpPr>
          <p:cNvPr id="26" name="TextBox 25"/>
          <p:cNvSpPr txBox="1"/>
          <p:nvPr/>
        </p:nvSpPr>
        <p:spPr>
          <a:xfrm>
            <a:off x="601980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Report</a:t>
            </a:r>
          </a:p>
        </p:txBody>
      </p:sp>
      <p:sp>
        <p:nvSpPr>
          <p:cNvPr id="27" name="TextBox 26"/>
          <p:cNvSpPr txBox="1"/>
          <p:nvPr/>
        </p:nvSpPr>
        <p:spPr>
          <a:xfrm>
            <a:off x="5425439"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7-day OEE trend, downtime per shift and ML accuracy.</a:t>
            </a:r>
          </a:p>
        </p:txBody>
      </p:sp>
      <p:sp>
        <p:nvSpPr>
          <p:cNvPr id="28" name="TextBox 27"/>
          <p:cNvSpPr txBox="1"/>
          <p:nvPr/>
        </p:nvSpPr>
        <p:spPr>
          <a:xfrm>
            <a:off x="5425439"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FR-08</a:t>
            </a:r>
          </a:p>
        </p:txBody>
      </p:sp>
      <p:sp>
        <p:nvSpPr>
          <p:cNvPr id="29" name="Rounded Rectangle 28"/>
          <p:cNvSpPr/>
          <p:nvPr/>
        </p:nvSpPr>
        <p:spPr>
          <a:xfrm>
            <a:off x="8610600" y="3703320"/>
            <a:ext cx="3185159" cy="2377440"/>
          </a:xfrm>
          <a:prstGeom prst="roundRect">
            <a:avLst>
              <a:gd name="adj" fmla="val 4615"/>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0" name="Oval 29"/>
          <p:cNvSpPr/>
          <p:nvPr/>
        </p:nvSpPr>
        <p:spPr>
          <a:xfrm>
            <a:off x="8770619" y="3863339"/>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6</a:t>
            </a:r>
          </a:p>
        </p:txBody>
      </p:sp>
      <p:sp>
        <p:nvSpPr>
          <p:cNvPr id="31" name="TextBox 30"/>
          <p:cNvSpPr txBox="1"/>
          <p:nvPr/>
        </p:nvSpPr>
        <p:spPr>
          <a:xfrm>
            <a:off x="9433560" y="3886200"/>
            <a:ext cx="2179319" cy="457200"/>
          </a:xfrm>
          <a:prstGeom prst="rect">
            <a:avLst/>
          </a:prstGeom>
          <a:noFill/>
        </p:spPr>
        <p:txBody>
          <a:bodyPr wrap="square" lIns="0" rIns="0" tIns="0" bIns="0" anchor="ctr">
            <a:noAutofit/>
          </a:bodyPr>
          <a:lstStyle/>
          <a:p>
            <a:pPr algn="l">
              <a:spcBef>
                <a:spcPts val="0"/>
              </a:spcBef>
              <a:spcAft>
                <a:spcPts val="0"/>
              </a:spcAft>
            </a:pPr>
            <a:r>
              <a:rPr sz="2000" b="1" i="0">
                <a:solidFill>
                  <a:srgbClr val="111827"/>
                </a:solidFill>
                <a:latin typeface="Times New Roman"/>
              </a:rPr>
              <a:t>Run anywhere</a:t>
            </a:r>
          </a:p>
        </p:txBody>
      </p:sp>
      <p:sp>
        <p:nvSpPr>
          <p:cNvPr id="32" name="TextBox 31"/>
          <p:cNvSpPr txBox="1"/>
          <p:nvPr/>
        </p:nvSpPr>
        <p:spPr>
          <a:xfrm>
            <a:off x="8839200" y="4572000"/>
            <a:ext cx="2727959" cy="1097280"/>
          </a:xfrm>
          <a:prstGeom prst="rect">
            <a:avLst/>
          </a:prstGeom>
          <a:noFill/>
        </p:spPr>
        <p:txBody>
          <a:bodyPr wrap="square" lIns="0" rIns="0" tIns="0" bIns="0" anchor="t">
            <a:noAutofit/>
          </a:bodyPr>
          <a:lstStyle/>
          <a:p>
            <a:pPr algn="l">
              <a:spcBef>
                <a:spcPts val="0"/>
              </a:spcBef>
              <a:spcAft>
                <a:spcPts val="0"/>
              </a:spcAft>
            </a:pPr>
            <a:r>
              <a:rPr sz="1600" b="0" i="0">
                <a:solidFill>
                  <a:srgbClr val="111827"/>
                </a:solidFill>
                <a:latin typeface="Times New Roman"/>
              </a:rPr>
              <a:t>One command to start; validated input, login for writes, documented API.</a:t>
            </a:r>
          </a:p>
        </p:txBody>
      </p:sp>
      <p:sp>
        <p:nvSpPr>
          <p:cNvPr id="33" name="TextBox 32"/>
          <p:cNvSpPr txBox="1"/>
          <p:nvPr/>
        </p:nvSpPr>
        <p:spPr>
          <a:xfrm>
            <a:off x="8839200" y="5715000"/>
            <a:ext cx="2727959" cy="274320"/>
          </a:xfrm>
          <a:prstGeom prst="rect">
            <a:avLst/>
          </a:prstGeom>
          <a:noFill/>
        </p:spPr>
        <p:txBody>
          <a:bodyPr wrap="square" lIns="0" rIns="0" tIns="0" bIns="0" anchor="t">
            <a:noAutofit/>
          </a:bodyPr>
          <a:lstStyle/>
          <a:p>
            <a:pPr algn="l">
              <a:spcBef>
                <a:spcPts val="0"/>
              </a:spcBef>
              <a:spcAft>
                <a:spcPts val="0"/>
              </a:spcAft>
            </a:pPr>
            <a:r>
              <a:rPr sz="1200" b="1" i="0">
                <a:solidFill>
                  <a:srgbClr val="C00000"/>
                </a:solidFill>
                <a:latin typeface="Times New Roman"/>
              </a:rPr>
              <a:t>FR-09 · FR-10 · FR-12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Existing vs. Proposed System</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Table 3"/>
          <p:cNvGraphicFramePr>
            <a:graphicFrameLocks noGrp="1"/>
          </p:cNvGraphicFramePr>
          <p:nvPr/>
        </p:nvGraphicFramePr>
        <p:xfrm>
          <a:off x="1783080" y="1097280"/>
          <a:ext cx="10012680" cy="4297680"/>
        </p:xfrm>
        <a:graphic>
          <a:graphicData uri="http://schemas.openxmlformats.org/drawingml/2006/table">
            <a:tbl>
              <a:tblPr firstRow="1" bandRow="1">
                <a:tableStyleId>{5C22544A-7EE6-4342-B048-85BDC9FD1C3A}</a:tableStyleId>
              </a:tblPr>
              <a:tblGrid>
                <a:gridCol w="2240280"/>
                <a:gridCol w="3566160"/>
                <a:gridCol w="4206240"/>
              </a:tblGrid>
              <a:tr h="548640">
                <a:tc>
                  <a:txBody>
                    <a:bodyPr/>
                    <a:lstStyle/>
                    <a:p>
                      <a:pPr algn="l"/>
                      <a:r>
                        <a:rPr sz="1700" b="1">
                          <a:solidFill>
                            <a:srgbClr val="FFFFFF"/>
                          </a:solidFill>
                          <a:latin typeface="Times New Roman"/>
                        </a:rPr>
                        <a:t/>
                      </a:r>
                    </a:p>
                  </a:txBody>
                  <a:tcPr marL="164592" marR="164592" anchor="ctr">
                    <a:solidFill>
                      <a:srgbClr val="C00000"/>
                    </a:solidFill>
                  </a:tcPr>
                </a:tc>
                <a:tc>
                  <a:txBody>
                    <a:bodyPr/>
                    <a:lstStyle/>
                    <a:p>
                      <a:pPr algn="l"/>
                      <a:r>
                        <a:rPr sz="1700" b="1">
                          <a:solidFill>
                            <a:srgbClr val="FFFFFF"/>
                          </a:solidFill>
                          <a:latin typeface="Times New Roman"/>
                        </a:rPr>
                        <a:t>Existing practice</a:t>
                      </a:r>
                    </a:p>
                  </a:txBody>
                  <a:tcPr marL="164592" marR="164592" anchor="ctr">
                    <a:solidFill>
                      <a:srgbClr val="C00000"/>
                    </a:solidFill>
                  </a:tcPr>
                </a:tc>
                <a:tc>
                  <a:txBody>
                    <a:bodyPr/>
                    <a:lstStyle/>
                    <a:p>
                      <a:pPr algn="l"/>
                      <a:r>
                        <a:rPr sz="1700" b="1">
                          <a:solidFill>
                            <a:srgbClr val="FFFFFF"/>
                          </a:solidFill>
                          <a:latin typeface="Times New Roman"/>
                        </a:rPr>
                        <a:t>Proposed system</a:t>
                      </a:r>
                    </a:p>
                  </a:txBody>
                  <a:tcPr marL="164592" marR="164592" anchor="ctr">
                    <a:solidFill>
                      <a:srgbClr val="C00000"/>
                    </a:solidFill>
                  </a:tcPr>
                </a:tc>
              </a:tr>
              <a:tr h="749808">
                <a:tc>
                  <a:txBody>
                    <a:bodyPr/>
                    <a:lstStyle/>
                    <a:p>
                      <a:pPr algn="l"/>
                      <a:r>
                        <a:rPr sz="1700" b="1">
                          <a:solidFill>
                            <a:srgbClr val="111827"/>
                          </a:solidFill>
                          <a:latin typeface="Times New Roman"/>
                        </a:rPr>
                        <a:t>OEE</a:t>
                      </a:r>
                    </a:p>
                  </a:txBody>
                  <a:tcPr marL="164592" marR="164592" anchor="ctr">
                    <a:solidFill>
                      <a:srgbClr val="F1F5F9"/>
                    </a:solidFill>
                  </a:tcPr>
                </a:tc>
                <a:tc>
                  <a:txBody>
                    <a:bodyPr/>
                    <a:lstStyle/>
                    <a:p>
                      <a:pPr algn="l"/>
                      <a:r>
                        <a:rPr sz="1700" b="0">
                          <a:solidFill>
                            <a:srgbClr val="111827"/>
                          </a:solidFill>
                          <a:latin typeface="Times New Roman"/>
                        </a:rPr>
                        <a:t>Spreadsheets after the shift</a:t>
                      </a:r>
                    </a:p>
                  </a:txBody>
                  <a:tcPr marL="164592" marR="164592" anchor="ctr">
                    <a:solidFill>
                      <a:srgbClr val="F1F5F9"/>
                    </a:solidFill>
                  </a:tcPr>
                </a:tc>
                <a:tc>
                  <a:txBody>
                    <a:bodyPr/>
                    <a:lstStyle/>
                    <a:p>
                      <a:pPr algn="l"/>
                      <a:r>
                        <a:rPr sz="1700" b="0">
                          <a:solidFill>
                            <a:srgbClr val="111827"/>
                          </a:solidFill>
                          <a:latin typeface="Times New Roman"/>
                        </a:rPr>
                        <a:t>Live 1 h / 8 h, with A, P and Q shown separately</a:t>
                      </a:r>
                    </a:p>
                  </a:txBody>
                  <a:tcPr marL="164592" marR="164592" anchor="ctr">
                    <a:solidFill>
                      <a:srgbClr val="DCFCE7"/>
                    </a:solidFill>
                  </a:tcPr>
                </a:tc>
              </a:tr>
              <a:tr h="749808">
                <a:tc>
                  <a:txBody>
                    <a:bodyPr/>
                    <a:lstStyle/>
                    <a:p>
                      <a:pPr algn="l"/>
                      <a:r>
                        <a:rPr sz="1700" b="1">
                          <a:solidFill>
                            <a:srgbClr val="111827"/>
                          </a:solidFill>
                          <a:latin typeface="Times New Roman"/>
                        </a:rPr>
                        <a:t>Fault detection</a:t>
                      </a:r>
                    </a:p>
                  </a:txBody>
                  <a:tcPr marL="164592" marR="164592" anchor="ctr">
                    <a:solidFill>
                      <a:srgbClr val="F1F5F9"/>
                    </a:solidFill>
                  </a:tcPr>
                </a:tc>
                <a:tc>
                  <a:txBody>
                    <a:bodyPr/>
                    <a:lstStyle/>
                    <a:p>
                      <a:pPr algn="l"/>
                      <a:r>
                        <a:rPr sz="1700" b="0">
                          <a:solidFill>
                            <a:srgbClr val="111827"/>
                          </a:solidFill>
                          <a:latin typeface="Times New Roman"/>
                        </a:rPr>
                        <a:t>Fixed alarm limits only</a:t>
                      </a:r>
                    </a:p>
                  </a:txBody>
                  <a:tcPr marL="164592" marR="164592" anchor="ctr">
                    <a:solidFill>
                      <a:srgbClr val="F1F5F9"/>
                    </a:solidFill>
                  </a:tcPr>
                </a:tc>
                <a:tc>
                  <a:txBody>
                    <a:bodyPr/>
                    <a:lstStyle/>
                    <a:p>
                      <a:pPr algn="l"/>
                      <a:r>
                        <a:rPr sz="1700" b="0">
                          <a:solidFill>
                            <a:srgbClr val="111827"/>
                          </a:solidFill>
                          <a:latin typeface="Times New Roman"/>
                        </a:rPr>
                        <a:t>Rules + Isolation Forest + What-If projection</a:t>
                      </a:r>
                    </a:p>
                  </a:txBody>
                  <a:tcPr marL="164592" marR="164592" anchor="ctr">
                    <a:solidFill>
                      <a:srgbClr val="DCFCE7"/>
                    </a:solidFill>
                  </a:tcPr>
                </a:tc>
              </a:tr>
              <a:tr h="749808">
                <a:tc>
                  <a:txBody>
                    <a:bodyPr/>
                    <a:lstStyle/>
                    <a:p>
                      <a:pPr algn="l"/>
                      <a:r>
                        <a:rPr sz="1700" b="1">
                          <a:solidFill>
                            <a:srgbClr val="111827"/>
                          </a:solidFill>
                          <a:latin typeface="Times New Roman"/>
                        </a:rPr>
                        <a:t>Warning time</a:t>
                      </a:r>
                    </a:p>
                  </a:txBody>
                  <a:tcPr marL="164592" marR="164592" anchor="ctr">
                    <a:solidFill>
                      <a:srgbClr val="F1F5F9"/>
                    </a:solidFill>
                  </a:tcPr>
                </a:tc>
                <a:tc>
                  <a:txBody>
                    <a:bodyPr/>
                    <a:lstStyle/>
                    <a:p>
                      <a:pPr algn="l"/>
                      <a:r>
                        <a:rPr sz="1700" b="0">
                          <a:solidFill>
                            <a:srgbClr val="111827"/>
                          </a:solidFill>
                          <a:latin typeface="Times New Roman"/>
                        </a:rPr>
                        <a:t>None – the alarm sounds at the breach</a:t>
                      </a:r>
                    </a:p>
                  </a:txBody>
                  <a:tcPr marL="164592" marR="164592" anchor="ctr">
                    <a:solidFill>
                      <a:srgbClr val="F1F5F9"/>
                    </a:solidFill>
                  </a:tcPr>
                </a:tc>
                <a:tc>
                  <a:txBody>
                    <a:bodyPr/>
                    <a:lstStyle/>
                    <a:p>
                      <a:pPr algn="l"/>
                      <a:r>
                        <a:rPr sz="1700" b="0">
                          <a:solidFill>
                            <a:srgbClr val="111827"/>
                          </a:solidFill>
                          <a:latin typeface="Times New Roman"/>
                        </a:rPr>
                        <a:t>Orange up to 60 s ahead, with an ETA countdown</a:t>
                      </a:r>
                    </a:p>
                  </a:txBody>
                  <a:tcPr marL="164592" marR="164592" anchor="ctr">
                    <a:solidFill>
                      <a:srgbClr val="DCFCE7"/>
                    </a:solidFill>
                  </a:tcPr>
                </a:tc>
              </a:tr>
              <a:tr h="749808">
                <a:tc>
                  <a:txBody>
                    <a:bodyPr/>
                    <a:lstStyle/>
                    <a:p>
                      <a:pPr algn="l"/>
                      <a:r>
                        <a:rPr sz="1700" b="1">
                          <a:solidFill>
                            <a:srgbClr val="111827"/>
                          </a:solidFill>
                          <a:latin typeface="Times New Roman"/>
                        </a:rPr>
                        <a:t>Operator workflow</a:t>
                      </a:r>
                    </a:p>
                  </a:txBody>
                  <a:tcPr marL="164592" marR="164592" anchor="ctr">
                    <a:solidFill>
                      <a:srgbClr val="F1F5F9"/>
                    </a:solidFill>
                  </a:tcPr>
                </a:tc>
                <a:tc>
                  <a:txBody>
                    <a:bodyPr/>
                    <a:lstStyle/>
                    <a:p>
                      <a:pPr algn="l"/>
                      <a:r>
                        <a:rPr sz="1700" b="0">
                          <a:solidFill>
                            <a:srgbClr val="111827"/>
                          </a:solidFill>
                          <a:latin typeface="Times New Roman"/>
                        </a:rPr>
                        <a:t>Paper notes / chat</a:t>
                      </a:r>
                    </a:p>
                  </a:txBody>
                  <a:tcPr marL="164592" marR="164592" anchor="ctr">
                    <a:solidFill>
                      <a:srgbClr val="F1F5F9"/>
                    </a:solidFill>
                  </a:tcPr>
                </a:tc>
                <a:tc>
                  <a:txBody>
                    <a:bodyPr/>
                    <a:lstStyle/>
                    <a:p>
                      <a:pPr algn="l"/>
                      <a:r>
                        <a:rPr sz="1700" b="0">
                          <a:solidFill>
                            <a:srgbClr val="111827"/>
                          </a:solidFill>
                          <a:latin typeface="Times New Roman"/>
                        </a:rPr>
                        <a:t>Acknowledge, assign, resolve, feedback, maintenance log</a:t>
                      </a:r>
                    </a:p>
                  </a:txBody>
                  <a:tcPr marL="164592" marR="164592" anchor="ctr">
                    <a:solidFill>
                      <a:srgbClr val="DCFCE7"/>
                    </a:solidFill>
                  </a:tcPr>
                </a:tc>
              </a:tr>
              <a:tr h="749808">
                <a:tc>
                  <a:txBody>
                    <a:bodyPr/>
                    <a:lstStyle/>
                    <a:p>
                      <a:pPr algn="l"/>
                      <a:r>
                        <a:rPr sz="1700" b="1">
                          <a:solidFill>
                            <a:srgbClr val="111827"/>
                          </a:solidFill>
                          <a:latin typeface="Times New Roman"/>
                        </a:rPr>
                        <a:t>Deployment</a:t>
                      </a:r>
                    </a:p>
                  </a:txBody>
                  <a:tcPr marL="164592" marR="164592" anchor="ctr">
                    <a:solidFill>
                      <a:srgbClr val="F1F5F9"/>
                    </a:solidFill>
                  </a:tcPr>
                </a:tc>
                <a:tc>
                  <a:txBody>
                    <a:bodyPr/>
                    <a:lstStyle/>
                    <a:p>
                      <a:pPr algn="l"/>
                      <a:r>
                        <a:rPr sz="1700" b="0">
                          <a:solidFill>
                            <a:srgbClr val="111827"/>
                          </a:solidFill>
                          <a:latin typeface="Times New Roman"/>
                        </a:rPr>
                        <a:t>Vendor systems, hardware needed</a:t>
                      </a:r>
                    </a:p>
                  </a:txBody>
                  <a:tcPr marL="164592" marR="164592" anchor="ctr">
                    <a:solidFill>
                      <a:srgbClr val="F1F5F9"/>
                    </a:solidFill>
                  </a:tcPr>
                </a:tc>
                <a:tc>
                  <a:txBody>
                    <a:bodyPr/>
                    <a:lstStyle/>
                    <a:p>
                      <a:pPr algn="l"/>
                      <a:r>
                        <a:rPr sz="1700" b="0">
                          <a:solidFill>
                            <a:srgbClr val="111827"/>
                          </a:solidFill>
                          <a:latin typeface="Times New Roman"/>
                        </a:rPr>
                        <a:t>Open-source stack, one command, no hardware</a:t>
                      </a:r>
                    </a:p>
                  </a:txBody>
                  <a:tcPr marL="164592" marR="164592" anchor="ctr">
                    <a:solidFill>
                      <a:srgbClr val="DCFCE7"/>
                    </a:solidFill>
                  </a:tcPr>
                </a:tc>
              </a:tr>
            </a:tbl>
          </a:graphicData>
        </a:graphic>
      </p:graphicFrame>
      <p:sp>
        <p:nvSpPr>
          <p:cNvPr id="5" name="TextBox 4"/>
          <p:cNvSpPr txBox="1"/>
          <p:nvPr/>
        </p:nvSpPr>
        <p:spPr>
          <a:xfrm>
            <a:off x="1783080" y="5715000"/>
            <a:ext cx="10012680" cy="457200"/>
          </a:xfrm>
          <a:prstGeom prst="rect">
            <a:avLst/>
          </a:prstGeom>
          <a:noFill/>
        </p:spPr>
        <p:txBody>
          <a:bodyPr wrap="square" lIns="0" rIns="0" tIns="0" bIns="0" anchor="t">
            <a:noAutofit/>
          </a:bodyPr>
          <a:lstStyle/>
          <a:p>
            <a:pPr algn="l">
              <a:spcBef>
                <a:spcPts val="0"/>
              </a:spcBef>
              <a:spcAft>
                <a:spcPts val="0"/>
              </a:spcAft>
            </a:pPr>
            <a:r>
              <a:rPr sz="1900" b="0" i="0">
                <a:solidFill>
                  <a:srgbClr val="375623"/>
                </a:solidFill>
                <a:latin typeface="Times New Roman"/>
              </a:rPr>
              <a:t>Key idea:  warn </a:t>
            </a:r>
            <a:r>
              <a:rPr sz="1900" b="1" i="0">
                <a:solidFill>
                  <a:srgbClr val="375623"/>
                </a:solidFill>
                <a:latin typeface="Times New Roman"/>
              </a:rPr>
              <a:t>before</a:t>
            </a:r>
            <a:r>
              <a:rPr sz="1900" b="0" i="0">
                <a:solidFill>
                  <a:srgbClr val="375623"/>
                </a:solidFill>
                <a:latin typeface="Times New Roman"/>
              </a:rPr>
              <a:t> the limit is crossed – and make every warning explainable.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Users &amp; User Requirements (SRS §3.3, §7.1)</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331720" cy="3886200"/>
          </a:xfrm>
          <a:prstGeom prst="roundRect">
            <a:avLst>
              <a:gd name="adj" fmla="val 4705"/>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234440"/>
            <a:ext cx="2002536" cy="640080"/>
          </a:xfrm>
          <a:prstGeom prst="rect">
            <a:avLst/>
          </a:prstGeom>
          <a:noFill/>
        </p:spPr>
        <p:txBody>
          <a:bodyPr wrap="square" lIns="0" rIns="0" tIns="0" bIns="0" anchor="t">
            <a:noAutofit/>
          </a:bodyPr>
          <a:lstStyle/>
          <a:p>
            <a:pPr algn="l">
              <a:spcBef>
                <a:spcPts val="0"/>
              </a:spcBef>
              <a:spcAft>
                <a:spcPts val="0"/>
              </a:spcAft>
            </a:pPr>
            <a:r>
              <a:rPr sz="1900" b="1" i="0">
                <a:solidFill>
                  <a:srgbClr val="111827"/>
                </a:solidFill>
                <a:latin typeface="Times New Roman"/>
              </a:rPr>
              <a:t>Floor Manager</a:t>
            </a:r>
          </a:p>
        </p:txBody>
      </p:sp>
      <p:sp>
        <p:nvSpPr>
          <p:cNvPr id="6" name="TextBox 5"/>
          <p:cNvSpPr txBox="1"/>
          <p:nvPr/>
        </p:nvSpPr>
        <p:spPr>
          <a:xfrm>
            <a:off x="1947672" y="1874519"/>
            <a:ext cx="2002536"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UR-01 · UR-04</a:t>
            </a:r>
          </a:p>
        </p:txBody>
      </p:sp>
      <p:sp>
        <p:nvSpPr>
          <p:cNvPr id="7" name="TextBox 6"/>
          <p:cNvSpPr txBox="1"/>
          <p:nvPr/>
        </p:nvSpPr>
        <p:spPr>
          <a:xfrm>
            <a:off x="1947672" y="2286000"/>
            <a:ext cx="2002536" cy="1828800"/>
          </a:xfrm>
          <a:prstGeom prst="rect">
            <a:avLst/>
          </a:prstGeom>
          <a:noFill/>
        </p:spPr>
        <p:txBody>
          <a:bodyPr wrap="square" lIns="0" rIns="0" tIns="0" bIns="0" anchor="t">
            <a:noAutofit/>
          </a:bodyPr>
          <a:lstStyle/>
          <a:p>
            <a:pPr algn="l" marL="201168" indent="-201168">
              <a:spcBef>
                <a:spcPts val="0"/>
              </a:spcBef>
              <a:spcAft>
                <a:spcPts val="800"/>
              </a:spcAft>
              <a:buFont typeface="Arial"/>
              <a:buChar char="•"/>
            </a:pPr>
            <a:r>
              <a:rPr sz="1400" b="0" i="0">
                <a:solidFill>
                  <a:srgbClr val="111827"/>
                </a:solidFill>
                <a:latin typeface="Times New Roman"/>
              </a:rPr>
              <a:t>See all 5 machines with live status and OEE at a glance</a:t>
            </a:r>
          </a:p>
          <a:p>
            <a:pPr algn="l" marL="201168" indent="-201168">
              <a:spcBef>
                <a:spcPts val="0"/>
              </a:spcBef>
              <a:spcAft>
                <a:spcPts val="800"/>
              </a:spcAft>
              <a:buFont typeface="Arial"/>
              <a:buChar char="•"/>
            </a:pPr>
            <a:r>
              <a:rPr sz="1400" b="0" i="0">
                <a:solidFill>
                  <a:srgbClr val="111827"/>
                </a:solidFill>
                <a:latin typeface="Times New Roman"/>
              </a:rPr>
              <a:t>Trigger What-If scenarios for maintenance planning</a:t>
            </a:r>
          </a:p>
        </p:txBody>
      </p:sp>
      <p:sp>
        <p:nvSpPr>
          <p:cNvPr id="8" name="TextBox 7"/>
          <p:cNvSpPr txBox="1"/>
          <p:nvPr/>
        </p:nvSpPr>
        <p:spPr>
          <a:xfrm>
            <a:off x="1947672" y="4206240"/>
            <a:ext cx="2002536" cy="228600"/>
          </a:xfrm>
          <a:prstGeom prst="rect">
            <a:avLst/>
          </a:prstGeom>
          <a:noFill/>
        </p:spPr>
        <p:txBody>
          <a:bodyPr wrap="square" lIns="0" rIns="0" tIns="0" bIns="0" anchor="t">
            <a:noAutofit/>
          </a:bodyPr>
          <a:lstStyle/>
          <a:p>
            <a:pPr algn="l">
              <a:spcBef>
                <a:spcPts val="0"/>
              </a:spcBef>
              <a:spcAft>
                <a:spcPts val="0"/>
              </a:spcAft>
            </a:pPr>
            <a:r>
              <a:rPr sz="1100" b="1" i="0">
                <a:solidFill>
                  <a:srgbClr val="475569"/>
                </a:solidFill>
                <a:latin typeface="Times New Roman"/>
              </a:rPr>
              <a:t>ACCESS IN THE APP</a:t>
            </a:r>
          </a:p>
        </p:txBody>
      </p:sp>
      <p:sp>
        <p:nvSpPr>
          <p:cNvPr id="9" name="TextBox 8"/>
          <p:cNvSpPr txBox="1"/>
          <p:nvPr/>
        </p:nvSpPr>
        <p:spPr>
          <a:xfrm>
            <a:off x="1947672" y="4480560"/>
            <a:ext cx="2002536" cy="36576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view · operate · control</a:t>
            </a:r>
          </a:p>
        </p:txBody>
      </p:sp>
      <p:sp>
        <p:nvSpPr>
          <p:cNvPr id="10" name="Rounded Rectangle 9"/>
          <p:cNvSpPr/>
          <p:nvPr/>
        </p:nvSpPr>
        <p:spPr>
          <a:xfrm>
            <a:off x="4343400" y="1097280"/>
            <a:ext cx="2331720" cy="3886200"/>
          </a:xfrm>
          <a:prstGeom prst="roundRect">
            <a:avLst>
              <a:gd name="adj" fmla="val 4705"/>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 name="TextBox 10"/>
          <p:cNvSpPr txBox="1"/>
          <p:nvPr/>
        </p:nvSpPr>
        <p:spPr>
          <a:xfrm>
            <a:off x="4507992" y="1234440"/>
            <a:ext cx="2002536" cy="640080"/>
          </a:xfrm>
          <a:prstGeom prst="rect">
            <a:avLst/>
          </a:prstGeom>
          <a:noFill/>
        </p:spPr>
        <p:txBody>
          <a:bodyPr wrap="square" lIns="0" rIns="0" tIns="0" bIns="0" anchor="t">
            <a:noAutofit/>
          </a:bodyPr>
          <a:lstStyle/>
          <a:p>
            <a:pPr algn="l">
              <a:spcBef>
                <a:spcPts val="0"/>
              </a:spcBef>
              <a:spcAft>
                <a:spcPts val="0"/>
              </a:spcAft>
            </a:pPr>
            <a:r>
              <a:rPr sz="1900" b="1" i="0">
                <a:solidFill>
                  <a:srgbClr val="111827"/>
                </a:solidFill>
                <a:latin typeface="Times New Roman"/>
              </a:rPr>
              <a:t>Maintenance Engineer</a:t>
            </a:r>
          </a:p>
        </p:txBody>
      </p:sp>
      <p:sp>
        <p:nvSpPr>
          <p:cNvPr id="12" name="TextBox 11"/>
          <p:cNvSpPr txBox="1"/>
          <p:nvPr/>
        </p:nvSpPr>
        <p:spPr>
          <a:xfrm>
            <a:off x="4507992" y="1874519"/>
            <a:ext cx="2002536"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UR-02 · UR-03</a:t>
            </a:r>
          </a:p>
        </p:txBody>
      </p:sp>
      <p:sp>
        <p:nvSpPr>
          <p:cNvPr id="13" name="TextBox 12"/>
          <p:cNvSpPr txBox="1"/>
          <p:nvPr/>
        </p:nvSpPr>
        <p:spPr>
          <a:xfrm>
            <a:off x="4507992" y="2286000"/>
            <a:ext cx="2002536" cy="1828800"/>
          </a:xfrm>
          <a:prstGeom prst="rect">
            <a:avLst/>
          </a:prstGeom>
          <a:noFill/>
        </p:spPr>
        <p:txBody>
          <a:bodyPr wrap="square" lIns="0" rIns="0" tIns="0" bIns="0" anchor="t">
            <a:noAutofit/>
          </a:bodyPr>
          <a:lstStyle/>
          <a:p>
            <a:pPr algn="l" marL="201168" indent="-201168">
              <a:spcBef>
                <a:spcPts val="0"/>
              </a:spcBef>
              <a:spcAft>
                <a:spcPts val="800"/>
              </a:spcAft>
              <a:buFont typeface="Arial"/>
              <a:buChar char="•"/>
            </a:pPr>
            <a:r>
              <a:rPr sz="1400" b="0" i="0">
                <a:solidFill>
                  <a:srgbClr val="111827"/>
                </a:solidFill>
                <a:latin typeface="Times New Roman"/>
              </a:rPr>
              <a:t>Receive Red alerts and early Yellow cautions</a:t>
            </a:r>
          </a:p>
          <a:p>
            <a:pPr algn="l" marL="201168" indent="-201168">
              <a:spcBef>
                <a:spcPts val="0"/>
              </a:spcBef>
              <a:spcAft>
                <a:spcPts val="800"/>
              </a:spcAft>
              <a:buFont typeface="Arial"/>
              <a:buChar char="•"/>
            </a:pPr>
            <a:r>
              <a:rPr sz="1400" b="0" i="0">
                <a:solidFill>
                  <a:srgbClr val="111827"/>
                </a:solidFill>
                <a:latin typeface="Times New Roman"/>
              </a:rPr>
              <a:t>Acknowledge, log root cause, mark resolved (audit trail)</a:t>
            </a:r>
          </a:p>
        </p:txBody>
      </p:sp>
      <p:sp>
        <p:nvSpPr>
          <p:cNvPr id="14" name="TextBox 13"/>
          <p:cNvSpPr txBox="1"/>
          <p:nvPr/>
        </p:nvSpPr>
        <p:spPr>
          <a:xfrm>
            <a:off x="4507992" y="4206240"/>
            <a:ext cx="2002536" cy="228600"/>
          </a:xfrm>
          <a:prstGeom prst="rect">
            <a:avLst/>
          </a:prstGeom>
          <a:noFill/>
        </p:spPr>
        <p:txBody>
          <a:bodyPr wrap="square" lIns="0" rIns="0" tIns="0" bIns="0" anchor="t">
            <a:noAutofit/>
          </a:bodyPr>
          <a:lstStyle/>
          <a:p>
            <a:pPr algn="l">
              <a:spcBef>
                <a:spcPts val="0"/>
              </a:spcBef>
              <a:spcAft>
                <a:spcPts val="0"/>
              </a:spcAft>
            </a:pPr>
            <a:r>
              <a:rPr sz="1100" b="1" i="0">
                <a:solidFill>
                  <a:srgbClr val="475569"/>
                </a:solidFill>
                <a:latin typeface="Times New Roman"/>
              </a:rPr>
              <a:t>ACCESS IN THE APP</a:t>
            </a:r>
          </a:p>
        </p:txBody>
      </p:sp>
      <p:sp>
        <p:nvSpPr>
          <p:cNvPr id="15" name="TextBox 14"/>
          <p:cNvSpPr txBox="1"/>
          <p:nvPr/>
        </p:nvSpPr>
        <p:spPr>
          <a:xfrm>
            <a:off x="4507992" y="4480560"/>
            <a:ext cx="2002536" cy="36576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view · operate</a:t>
            </a:r>
          </a:p>
        </p:txBody>
      </p:sp>
      <p:sp>
        <p:nvSpPr>
          <p:cNvPr id="16" name="Rounded Rectangle 15"/>
          <p:cNvSpPr/>
          <p:nvPr/>
        </p:nvSpPr>
        <p:spPr>
          <a:xfrm>
            <a:off x="6903720" y="1097280"/>
            <a:ext cx="2331720" cy="3886200"/>
          </a:xfrm>
          <a:prstGeom prst="roundRect">
            <a:avLst>
              <a:gd name="adj" fmla="val 4705"/>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7068312" y="1234440"/>
            <a:ext cx="2002536" cy="640080"/>
          </a:xfrm>
          <a:prstGeom prst="rect">
            <a:avLst/>
          </a:prstGeom>
          <a:noFill/>
        </p:spPr>
        <p:txBody>
          <a:bodyPr wrap="square" lIns="0" rIns="0" tIns="0" bIns="0" anchor="t">
            <a:noAutofit/>
          </a:bodyPr>
          <a:lstStyle/>
          <a:p>
            <a:pPr algn="l">
              <a:spcBef>
                <a:spcPts val="0"/>
              </a:spcBef>
              <a:spcAft>
                <a:spcPts val="0"/>
              </a:spcAft>
            </a:pPr>
            <a:r>
              <a:rPr sz="1900" b="1" i="0">
                <a:solidFill>
                  <a:srgbClr val="111827"/>
                </a:solidFill>
                <a:latin typeface="Times New Roman"/>
              </a:rPr>
              <a:t>Production Analyst</a:t>
            </a:r>
          </a:p>
        </p:txBody>
      </p:sp>
      <p:sp>
        <p:nvSpPr>
          <p:cNvPr id="18" name="TextBox 17"/>
          <p:cNvSpPr txBox="1"/>
          <p:nvPr/>
        </p:nvSpPr>
        <p:spPr>
          <a:xfrm>
            <a:off x="7068312" y="1874519"/>
            <a:ext cx="2002536"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UR-05</a:t>
            </a:r>
          </a:p>
        </p:txBody>
      </p:sp>
      <p:sp>
        <p:nvSpPr>
          <p:cNvPr id="19" name="TextBox 18"/>
          <p:cNvSpPr txBox="1"/>
          <p:nvPr/>
        </p:nvSpPr>
        <p:spPr>
          <a:xfrm>
            <a:off x="7068312" y="2286000"/>
            <a:ext cx="2002536" cy="1828800"/>
          </a:xfrm>
          <a:prstGeom prst="rect">
            <a:avLst/>
          </a:prstGeom>
          <a:noFill/>
        </p:spPr>
        <p:txBody>
          <a:bodyPr wrap="square" lIns="0" rIns="0" tIns="0" bIns="0" anchor="t">
            <a:noAutofit/>
          </a:bodyPr>
          <a:lstStyle/>
          <a:p>
            <a:pPr algn="l" marL="201168" indent="-201168">
              <a:spcBef>
                <a:spcPts val="0"/>
              </a:spcBef>
              <a:spcAft>
                <a:spcPts val="800"/>
              </a:spcAft>
              <a:buFont typeface="Arial"/>
              <a:buChar char="•"/>
            </a:pPr>
            <a:r>
              <a:rPr sz="1400" b="0" i="0">
                <a:solidFill>
                  <a:srgbClr val="111827"/>
                </a:solidFill>
                <a:latin typeface="Times New Roman"/>
              </a:rPr>
              <a:t>Review OEE trends, downtime by shift and ML accuracy</a:t>
            </a:r>
          </a:p>
          <a:p>
            <a:pPr algn="l" marL="201168" indent="-201168">
              <a:spcBef>
                <a:spcPts val="0"/>
              </a:spcBef>
              <a:spcAft>
                <a:spcPts val="800"/>
              </a:spcAft>
              <a:buFont typeface="Arial"/>
              <a:buChar char="•"/>
            </a:pPr>
            <a:r>
              <a:rPr sz="1400" b="0" i="0">
                <a:solidFill>
                  <a:srgbClr val="111827"/>
                </a:solidFill>
                <a:latin typeface="Times New Roman"/>
              </a:rPr>
              <a:t>Make data-driven decisions on long-term performance</a:t>
            </a:r>
          </a:p>
        </p:txBody>
      </p:sp>
      <p:sp>
        <p:nvSpPr>
          <p:cNvPr id="20" name="TextBox 19"/>
          <p:cNvSpPr txBox="1"/>
          <p:nvPr/>
        </p:nvSpPr>
        <p:spPr>
          <a:xfrm>
            <a:off x="7068312" y="4206240"/>
            <a:ext cx="2002536" cy="228600"/>
          </a:xfrm>
          <a:prstGeom prst="rect">
            <a:avLst/>
          </a:prstGeom>
          <a:noFill/>
        </p:spPr>
        <p:txBody>
          <a:bodyPr wrap="square" lIns="0" rIns="0" tIns="0" bIns="0" anchor="t">
            <a:noAutofit/>
          </a:bodyPr>
          <a:lstStyle/>
          <a:p>
            <a:pPr algn="l">
              <a:spcBef>
                <a:spcPts val="0"/>
              </a:spcBef>
              <a:spcAft>
                <a:spcPts val="0"/>
              </a:spcAft>
            </a:pPr>
            <a:r>
              <a:rPr sz="1100" b="1" i="0">
                <a:solidFill>
                  <a:srgbClr val="475569"/>
                </a:solidFill>
                <a:latin typeface="Times New Roman"/>
              </a:rPr>
              <a:t>ACCESS IN THE APP</a:t>
            </a:r>
          </a:p>
        </p:txBody>
      </p:sp>
      <p:sp>
        <p:nvSpPr>
          <p:cNvPr id="21" name="TextBox 20"/>
          <p:cNvSpPr txBox="1"/>
          <p:nvPr/>
        </p:nvSpPr>
        <p:spPr>
          <a:xfrm>
            <a:off x="7068312" y="4480560"/>
            <a:ext cx="2002536" cy="36576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view · reports</a:t>
            </a:r>
          </a:p>
        </p:txBody>
      </p:sp>
      <p:sp>
        <p:nvSpPr>
          <p:cNvPr id="22" name="Rounded Rectangle 21"/>
          <p:cNvSpPr/>
          <p:nvPr/>
        </p:nvSpPr>
        <p:spPr>
          <a:xfrm>
            <a:off x="9464039" y="1097280"/>
            <a:ext cx="2331720" cy="388620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3" name="TextBox 22"/>
          <p:cNvSpPr txBox="1"/>
          <p:nvPr/>
        </p:nvSpPr>
        <p:spPr>
          <a:xfrm>
            <a:off x="9628631" y="1234440"/>
            <a:ext cx="2002536" cy="640080"/>
          </a:xfrm>
          <a:prstGeom prst="rect">
            <a:avLst/>
          </a:prstGeom>
          <a:noFill/>
        </p:spPr>
        <p:txBody>
          <a:bodyPr wrap="square" lIns="0" rIns="0" tIns="0" bIns="0" anchor="t">
            <a:noAutofit/>
          </a:bodyPr>
          <a:lstStyle/>
          <a:p>
            <a:pPr algn="l">
              <a:spcBef>
                <a:spcPts val="0"/>
              </a:spcBef>
              <a:spcAft>
                <a:spcPts val="0"/>
              </a:spcAft>
            </a:pPr>
            <a:r>
              <a:rPr sz="1900" b="1" i="0">
                <a:solidFill>
                  <a:srgbClr val="111827"/>
                </a:solidFill>
                <a:latin typeface="Times New Roman"/>
              </a:rPr>
              <a:t>System Administrator</a:t>
            </a:r>
          </a:p>
        </p:txBody>
      </p:sp>
      <p:sp>
        <p:nvSpPr>
          <p:cNvPr id="24" name="TextBox 23"/>
          <p:cNvSpPr txBox="1"/>
          <p:nvPr/>
        </p:nvSpPr>
        <p:spPr>
          <a:xfrm>
            <a:off x="9628631" y="1874519"/>
            <a:ext cx="2002536"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UR-06</a:t>
            </a:r>
          </a:p>
        </p:txBody>
      </p:sp>
      <p:sp>
        <p:nvSpPr>
          <p:cNvPr id="25" name="TextBox 24"/>
          <p:cNvSpPr txBox="1"/>
          <p:nvPr/>
        </p:nvSpPr>
        <p:spPr>
          <a:xfrm>
            <a:off x="9628631" y="2286000"/>
            <a:ext cx="2002536" cy="1828800"/>
          </a:xfrm>
          <a:prstGeom prst="rect">
            <a:avLst/>
          </a:prstGeom>
          <a:noFill/>
        </p:spPr>
        <p:txBody>
          <a:bodyPr wrap="square" lIns="0" rIns="0" tIns="0" bIns="0" anchor="t">
            <a:noAutofit/>
          </a:bodyPr>
          <a:lstStyle/>
          <a:p>
            <a:pPr algn="l" marL="201168" indent="-201168">
              <a:spcBef>
                <a:spcPts val="0"/>
              </a:spcBef>
              <a:spcAft>
                <a:spcPts val="800"/>
              </a:spcAft>
              <a:buFont typeface="Arial"/>
              <a:buChar char="•"/>
            </a:pPr>
            <a:r>
              <a:rPr sz="1400" b="0" i="0">
                <a:solidFill>
                  <a:srgbClr val="111827"/>
                </a:solidFill>
                <a:latin typeface="Times New Roman"/>
              </a:rPr>
              <a:t>Start the whole stack with one command</a:t>
            </a:r>
          </a:p>
          <a:p>
            <a:pPr algn="l" marL="201168" indent="-201168">
              <a:spcBef>
                <a:spcPts val="0"/>
              </a:spcBef>
              <a:spcAft>
                <a:spcPts val="800"/>
              </a:spcAft>
              <a:buFont typeface="Arial"/>
              <a:buChar char="•"/>
            </a:pPr>
            <a:r>
              <a:rPr sz="1400" b="0" i="0">
                <a:solidFill>
                  <a:srgbClr val="111827"/>
                </a:solidFill>
                <a:latin typeface="Times New Roman"/>
              </a:rPr>
              <a:t>Scale from 5 to 20 simulated machines</a:t>
            </a:r>
          </a:p>
        </p:txBody>
      </p:sp>
      <p:sp>
        <p:nvSpPr>
          <p:cNvPr id="26" name="TextBox 25"/>
          <p:cNvSpPr txBox="1"/>
          <p:nvPr/>
        </p:nvSpPr>
        <p:spPr>
          <a:xfrm>
            <a:off x="9628631" y="4206240"/>
            <a:ext cx="2002536" cy="228600"/>
          </a:xfrm>
          <a:prstGeom prst="rect">
            <a:avLst/>
          </a:prstGeom>
          <a:noFill/>
        </p:spPr>
        <p:txBody>
          <a:bodyPr wrap="square" lIns="0" rIns="0" tIns="0" bIns="0" anchor="t">
            <a:noAutofit/>
          </a:bodyPr>
          <a:lstStyle/>
          <a:p>
            <a:pPr algn="l">
              <a:spcBef>
                <a:spcPts val="0"/>
              </a:spcBef>
              <a:spcAft>
                <a:spcPts val="0"/>
              </a:spcAft>
            </a:pPr>
            <a:r>
              <a:rPr sz="1100" b="1" i="0">
                <a:solidFill>
                  <a:srgbClr val="475569"/>
                </a:solidFill>
                <a:latin typeface="Times New Roman"/>
              </a:rPr>
              <a:t>ACCESS IN THE APP</a:t>
            </a:r>
          </a:p>
        </p:txBody>
      </p:sp>
      <p:sp>
        <p:nvSpPr>
          <p:cNvPr id="27" name="TextBox 26"/>
          <p:cNvSpPr txBox="1"/>
          <p:nvPr/>
        </p:nvSpPr>
        <p:spPr>
          <a:xfrm>
            <a:off x="9628631" y="4480560"/>
            <a:ext cx="2002536" cy="36576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view · operate · control</a:t>
            </a:r>
          </a:p>
        </p:txBody>
      </p:sp>
      <p:sp>
        <p:nvSpPr>
          <p:cNvPr id="28" name="Rounded Rectangle 27"/>
          <p:cNvSpPr/>
          <p:nvPr/>
        </p:nvSpPr>
        <p:spPr>
          <a:xfrm>
            <a:off x="1783080" y="5212080"/>
            <a:ext cx="10012680" cy="960120"/>
          </a:xfrm>
          <a:prstGeom prst="roundRect">
            <a:avLst>
              <a:gd name="adj" fmla="val 11428"/>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a:spcBef>
                <a:spcPts val="0"/>
              </a:spcBef>
              <a:spcAft>
                <a:spcPts val="0"/>
              </a:spcAft>
            </a:pPr>
            <a:r>
              <a:rPr sz="1500" b="1" i="0">
                <a:solidFill>
                  <a:srgbClr val="111827"/>
                </a:solidFill>
                <a:latin typeface="Times New Roman"/>
              </a:rPr>
              <a:t>Also in the SRS</a:t>
            </a:r>
          </a:p>
          <a:p>
            <a:pPr algn="l">
              <a:spcBef>
                <a:spcPts val="0"/>
              </a:spcBef>
              <a:spcAft>
                <a:spcPts val="0"/>
              </a:spcAft>
            </a:pPr>
            <a:r>
              <a:rPr sz="1400" b="0" i="0">
                <a:solidFill>
                  <a:srgbClr val="111827"/>
                </a:solidFill>
                <a:latin typeface="Times New Roman"/>
              </a:rPr>
              <a:t>Project supervisors and evaluators (verify the requirements)  ·  Time-Server (system actor for time-window processing)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Functional Requirements at a Glance (SRS §4)</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20240" y="1207007"/>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FR-01</a:t>
            </a:r>
          </a:p>
        </p:txBody>
      </p:sp>
      <p:sp>
        <p:nvSpPr>
          <p:cNvPr id="6" name="TextBox 5"/>
          <p:cNvSpPr txBox="1"/>
          <p:nvPr/>
        </p:nvSpPr>
        <p:spPr>
          <a:xfrm>
            <a:off x="1920240" y="1481328"/>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Virtual Factory</a:t>
            </a:r>
          </a:p>
        </p:txBody>
      </p:sp>
      <p:sp>
        <p:nvSpPr>
          <p:cNvPr id="7" name="TextBox 6"/>
          <p:cNvSpPr txBox="1"/>
          <p:nvPr/>
        </p:nvSpPr>
        <p:spPr>
          <a:xfrm>
            <a:off x="1920240" y="181051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5 machines · 500 ms · MQTT over WebSockets</a:t>
            </a:r>
          </a:p>
        </p:txBody>
      </p:sp>
      <p:sp>
        <p:nvSpPr>
          <p:cNvPr id="8" name="Rounded Rectangle 7"/>
          <p:cNvSpPr/>
          <p:nvPr/>
        </p:nvSpPr>
        <p:spPr>
          <a:xfrm>
            <a:off x="4343400" y="1097280"/>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4480560" y="1207007"/>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FR-02</a:t>
            </a:r>
          </a:p>
        </p:txBody>
      </p:sp>
      <p:sp>
        <p:nvSpPr>
          <p:cNvPr id="10" name="TextBox 9"/>
          <p:cNvSpPr txBox="1"/>
          <p:nvPr/>
        </p:nvSpPr>
        <p:spPr>
          <a:xfrm>
            <a:off x="4480560" y="1481328"/>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OEE Calculation</a:t>
            </a:r>
          </a:p>
        </p:txBody>
      </p:sp>
      <p:sp>
        <p:nvSpPr>
          <p:cNvPr id="11" name="TextBox 10"/>
          <p:cNvSpPr txBox="1"/>
          <p:nvPr/>
        </p:nvSpPr>
        <p:spPr>
          <a:xfrm>
            <a:off x="4480560" y="181051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 × P × Q over rolling 1 h and 8 h windows</a:t>
            </a:r>
          </a:p>
        </p:txBody>
      </p:sp>
      <p:sp>
        <p:nvSpPr>
          <p:cNvPr id="12" name="Rounded Rectangle 11"/>
          <p:cNvSpPr/>
          <p:nvPr/>
        </p:nvSpPr>
        <p:spPr>
          <a:xfrm>
            <a:off x="6903720" y="1097280"/>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7040880" y="1207007"/>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FR-03</a:t>
            </a:r>
          </a:p>
        </p:txBody>
      </p:sp>
      <p:sp>
        <p:nvSpPr>
          <p:cNvPr id="14" name="TextBox 13"/>
          <p:cNvSpPr txBox="1"/>
          <p:nvPr/>
        </p:nvSpPr>
        <p:spPr>
          <a:xfrm>
            <a:off x="7040880" y="1481328"/>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Rule-Based Alerting</a:t>
            </a:r>
          </a:p>
        </p:txBody>
      </p:sp>
      <p:sp>
        <p:nvSpPr>
          <p:cNvPr id="15" name="TextBox 14"/>
          <p:cNvSpPr txBox="1"/>
          <p:nvPr/>
        </p:nvSpPr>
        <p:spPr>
          <a:xfrm>
            <a:off x="7040880" y="181051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Hard limits, e.g. temperature &gt; 85 °C → Red</a:t>
            </a:r>
          </a:p>
        </p:txBody>
      </p:sp>
      <p:sp>
        <p:nvSpPr>
          <p:cNvPr id="16" name="Rounded Rectangle 15"/>
          <p:cNvSpPr/>
          <p:nvPr/>
        </p:nvSpPr>
        <p:spPr>
          <a:xfrm>
            <a:off x="9464039" y="1097280"/>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9601199" y="1207007"/>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FR-04</a:t>
            </a:r>
          </a:p>
        </p:txBody>
      </p:sp>
      <p:sp>
        <p:nvSpPr>
          <p:cNvPr id="18" name="TextBox 17"/>
          <p:cNvSpPr txBox="1"/>
          <p:nvPr/>
        </p:nvSpPr>
        <p:spPr>
          <a:xfrm>
            <a:off x="9601199" y="1481328"/>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ML Anomaly Scoring</a:t>
            </a:r>
          </a:p>
        </p:txBody>
      </p:sp>
      <p:sp>
        <p:nvSpPr>
          <p:cNvPr id="19" name="TextBox 18"/>
          <p:cNvSpPr txBox="1"/>
          <p:nvPr/>
        </p:nvSpPr>
        <p:spPr>
          <a:xfrm>
            <a:off x="9601199" y="181051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Isolation Forest score 0–100 %; &gt; 85 % → Yellow</a:t>
            </a:r>
          </a:p>
        </p:txBody>
      </p:sp>
      <p:sp>
        <p:nvSpPr>
          <p:cNvPr id="20" name="Rounded Rectangle 19"/>
          <p:cNvSpPr/>
          <p:nvPr/>
        </p:nvSpPr>
        <p:spPr>
          <a:xfrm>
            <a:off x="1783080" y="2578608"/>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1" name="TextBox 20"/>
          <p:cNvSpPr txBox="1"/>
          <p:nvPr/>
        </p:nvSpPr>
        <p:spPr>
          <a:xfrm>
            <a:off x="1920240" y="2688336"/>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FR-05</a:t>
            </a:r>
          </a:p>
        </p:txBody>
      </p:sp>
      <p:sp>
        <p:nvSpPr>
          <p:cNvPr id="22" name="TextBox 21"/>
          <p:cNvSpPr txBox="1"/>
          <p:nvPr/>
        </p:nvSpPr>
        <p:spPr>
          <a:xfrm>
            <a:off x="1920240" y="2962656"/>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Interactive Dashboard</a:t>
            </a:r>
          </a:p>
        </p:txBody>
      </p:sp>
      <p:sp>
        <p:nvSpPr>
          <p:cNvPr id="23" name="TextBox 22"/>
          <p:cNvSpPr txBox="1"/>
          <p:nvPr/>
        </p:nvSpPr>
        <p:spPr>
          <a:xfrm>
            <a:off x="1920240" y="3291839"/>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React 2D view · Green / Yellow / Orange / Red</a:t>
            </a:r>
          </a:p>
        </p:txBody>
      </p:sp>
      <p:sp>
        <p:nvSpPr>
          <p:cNvPr id="24" name="Rounded Rectangle 23"/>
          <p:cNvSpPr/>
          <p:nvPr/>
        </p:nvSpPr>
        <p:spPr>
          <a:xfrm>
            <a:off x="4343400" y="2578608"/>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TextBox 24"/>
          <p:cNvSpPr txBox="1"/>
          <p:nvPr/>
        </p:nvSpPr>
        <p:spPr>
          <a:xfrm>
            <a:off x="4480560" y="2688336"/>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FR-06</a:t>
            </a:r>
          </a:p>
        </p:txBody>
      </p:sp>
      <p:sp>
        <p:nvSpPr>
          <p:cNvPr id="26" name="TextBox 25"/>
          <p:cNvSpPr txBox="1"/>
          <p:nvPr/>
        </p:nvSpPr>
        <p:spPr>
          <a:xfrm>
            <a:off x="4480560" y="2962656"/>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Maintenance Logging</a:t>
            </a:r>
          </a:p>
        </p:txBody>
      </p:sp>
      <p:sp>
        <p:nvSpPr>
          <p:cNvPr id="27" name="TextBox 26"/>
          <p:cNvSpPr txBox="1"/>
          <p:nvPr/>
        </p:nvSpPr>
        <p:spPr>
          <a:xfrm>
            <a:off x="4480560" y="3291839"/>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Acknowledge, assign, notes, ML feedback (CRUD)</a:t>
            </a:r>
          </a:p>
        </p:txBody>
      </p:sp>
      <p:sp>
        <p:nvSpPr>
          <p:cNvPr id="28" name="Rounded Rectangle 27"/>
          <p:cNvSpPr/>
          <p:nvPr/>
        </p:nvSpPr>
        <p:spPr>
          <a:xfrm>
            <a:off x="6903720" y="2578608"/>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TextBox 28"/>
          <p:cNvSpPr txBox="1"/>
          <p:nvPr/>
        </p:nvSpPr>
        <p:spPr>
          <a:xfrm>
            <a:off x="7040880" y="2688336"/>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FR-07</a:t>
            </a:r>
          </a:p>
        </p:txBody>
      </p:sp>
      <p:sp>
        <p:nvSpPr>
          <p:cNvPr id="30" name="TextBox 29"/>
          <p:cNvSpPr txBox="1"/>
          <p:nvPr/>
        </p:nvSpPr>
        <p:spPr>
          <a:xfrm>
            <a:off x="7040880" y="2962656"/>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What-If Simulator</a:t>
            </a:r>
          </a:p>
        </p:txBody>
      </p:sp>
      <p:sp>
        <p:nvSpPr>
          <p:cNvPr id="31" name="TextBox 30"/>
          <p:cNvSpPr txBox="1"/>
          <p:nvPr/>
        </p:nvSpPr>
        <p:spPr>
          <a:xfrm>
            <a:off x="7040880" y="3291839"/>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3-min temperature rise · y = mx + c · Orange 60 s ahead</a:t>
            </a:r>
          </a:p>
        </p:txBody>
      </p:sp>
      <p:sp>
        <p:nvSpPr>
          <p:cNvPr id="32" name="Rounded Rectangle 31"/>
          <p:cNvSpPr/>
          <p:nvPr/>
        </p:nvSpPr>
        <p:spPr>
          <a:xfrm>
            <a:off x="9464039" y="2578608"/>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3" name="TextBox 32"/>
          <p:cNvSpPr txBox="1"/>
          <p:nvPr/>
        </p:nvSpPr>
        <p:spPr>
          <a:xfrm>
            <a:off x="9601199" y="2688336"/>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FR-08</a:t>
            </a:r>
          </a:p>
        </p:txBody>
      </p:sp>
      <p:sp>
        <p:nvSpPr>
          <p:cNvPr id="34" name="TextBox 33"/>
          <p:cNvSpPr txBox="1"/>
          <p:nvPr/>
        </p:nvSpPr>
        <p:spPr>
          <a:xfrm>
            <a:off x="9601199" y="2962656"/>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Historical Reporting</a:t>
            </a:r>
          </a:p>
        </p:txBody>
      </p:sp>
      <p:sp>
        <p:nvSpPr>
          <p:cNvPr id="35" name="TextBox 34"/>
          <p:cNvSpPr txBox="1"/>
          <p:nvPr/>
        </p:nvSpPr>
        <p:spPr>
          <a:xfrm>
            <a:off x="9601199" y="3291839"/>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7-day OEE · downtime per shift · ML accuracy</a:t>
            </a:r>
          </a:p>
        </p:txBody>
      </p:sp>
      <p:sp>
        <p:nvSpPr>
          <p:cNvPr id="36" name="Rounded Rectangle 35"/>
          <p:cNvSpPr/>
          <p:nvPr/>
        </p:nvSpPr>
        <p:spPr>
          <a:xfrm>
            <a:off x="1783080" y="4059935"/>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7" name="TextBox 36"/>
          <p:cNvSpPr txBox="1"/>
          <p:nvPr/>
        </p:nvSpPr>
        <p:spPr>
          <a:xfrm>
            <a:off x="1920240" y="4169663"/>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FR-09</a:t>
            </a:r>
          </a:p>
        </p:txBody>
      </p:sp>
      <p:sp>
        <p:nvSpPr>
          <p:cNvPr id="38" name="TextBox 37"/>
          <p:cNvSpPr txBox="1"/>
          <p:nvPr/>
        </p:nvSpPr>
        <p:spPr>
          <a:xfrm>
            <a:off x="1920240" y="4443983"/>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Telemetry Validation</a:t>
            </a:r>
          </a:p>
        </p:txBody>
      </p:sp>
      <p:sp>
        <p:nvSpPr>
          <p:cNvPr id="39" name="TextBox 38"/>
          <p:cNvSpPr txBox="1"/>
          <p:nvPr/>
        </p:nvSpPr>
        <p:spPr>
          <a:xfrm>
            <a:off x="1920240" y="4773168"/>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Rejects negative temperature or invalid status</a:t>
            </a:r>
          </a:p>
        </p:txBody>
      </p:sp>
      <p:sp>
        <p:nvSpPr>
          <p:cNvPr id="40" name="Rounded Rectangle 39"/>
          <p:cNvSpPr/>
          <p:nvPr/>
        </p:nvSpPr>
        <p:spPr>
          <a:xfrm>
            <a:off x="4343400" y="4059935"/>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1" name="TextBox 40"/>
          <p:cNvSpPr txBox="1"/>
          <p:nvPr/>
        </p:nvSpPr>
        <p:spPr>
          <a:xfrm>
            <a:off x="4480560" y="4169663"/>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FR-10</a:t>
            </a:r>
          </a:p>
        </p:txBody>
      </p:sp>
      <p:sp>
        <p:nvSpPr>
          <p:cNvPr id="42" name="TextBox 41"/>
          <p:cNvSpPr txBox="1"/>
          <p:nvPr/>
        </p:nvSpPr>
        <p:spPr>
          <a:xfrm>
            <a:off x="4480560" y="4443983"/>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Authentication</a:t>
            </a:r>
          </a:p>
        </p:txBody>
      </p:sp>
      <p:sp>
        <p:nvSpPr>
          <p:cNvPr id="43" name="TextBox 42"/>
          <p:cNvSpPr txBox="1"/>
          <p:nvPr/>
        </p:nvSpPr>
        <p:spPr>
          <a:xfrm>
            <a:off x="4480560" y="4773168"/>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Login required for all write operations</a:t>
            </a:r>
          </a:p>
        </p:txBody>
      </p:sp>
      <p:sp>
        <p:nvSpPr>
          <p:cNvPr id="44" name="Rounded Rectangle 43"/>
          <p:cNvSpPr/>
          <p:nvPr/>
        </p:nvSpPr>
        <p:spPr>
          <a:xfrm>
            <a:off x="6903720" y="4059935"/>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5" name="TextBox 44"/>
          <p:cNvSpPr txBox="1"/>
          <p:nvPr/>
        </p:nvSpPr>
        <p:spPr>
          <a:xfrm>
            <a:off x="7040880" y="4169663"/>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FR-11</a:t>
            </a:r>
          </a:p>
        </p:txBody>
      </p:sp>
      <p:sp>
        <p:nvSpPr>
          <p:cNvPr id="46" name="TextBox 45"/>
          <p:cNvSpPr txBox="1"/>
          <p:nvPr/>
        </p:nvSpPr>
        <p:spPr>
          <a:xfrm>
            <a:off x="7040880" y="4443983"/>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Scalability</a:t>
            </a:r>
          </a:p>
        </p:txBody>
      </p:sp>
      <p:sp>
        <p:nvSpPr>
          <p:cNvPr id="47" name="TextBox 46"/>
          <p:cNvSpPr txBox="1"/>
          <p:nvPr/>
        </p:nvSpPr>
        <p:spPr>
          <a:xfrm>
            <a:off x="7040880" y="4773168"/>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5 → 20 machines by configuration only</a:t>
            </a:r>
          </a:p>
        </p:txBody>
      </p:sp>
      <p:sp>
        <p:nvSpPr>
          <p:cNvPr id="48" name="Rounded Rectangle 47"/>
          <p:cNvSpPr/>
          <p:nvPr/>
        </p:nvSpPr>
        <p:spPr>
          <a:xfrm>
            <a:off x="9464039" y="4059935"/>
            <a:ext cx="2331720" cy="1298448"/>
          </a:xfrm>
          <a:prstGeom prst="roundRect">
            <a:avLst>
              <a:gd name="adj" fmla="val 84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9" name="TextBox 48"/>
          <p:cNvSpPr txBox="1"/>
          <p:nvPr/>
        </p:nvSpPr>
        <p:spPr>
          <a:xfrm>
            <a:off x="9601199" y="4169663"/>
            <a:ext cx="2057400" cy="274320"/>
          </a:xfrm>
          <a:prstGeom prst="rect">
            <a:avLst/>
          </a:prstGeom>
          <a:noFill/>
        </p:spPr>
        <p:txBody>
          <a:bodyPr wrap="square" lIns="0" rIns="0" tIns="0" bIns="0" anchor="t">
            <a:noAutofit/>
          </a:bodyPr>
          <a:lstStyle/>
          <a:p>
            <a:pPr algn="l">
              <a:spcBef>
                <a:spcPts val="0"/>
              </a:spcBef>
              <a:spcAft>
                <a:spcPts val="0"/>
              </a:spcAft>
            </a:pPr>
            <a:r>
              <a:rPr sz="1300" b="1" i="0">
                <a:solidFill>
                  <a:srgbClr val="C00000"/>
                </a:solidFill>
                <a:latin typeface="Times New Roman"/>
              </a:rPr>
              <a:t>FR-12</a:t>
            </a:r>
          </a:p>
        </p:txBody>
      </p:sp>
      <p:sp>
        <p:nvSpPr>
          <p:cNvPr id="50" name="TextBox 49"/>
          <p:cNvSpPr txBox="1"/>
          <p:nvPr/>
        </p:nvSpPr>
        <p:spPr>
          <a:xfrm>
            <a:off x="9601199" y="4443983"/>
            <a:ext cx="2057400" cy="274320"/>
          </a:xfrm>
          <a:prstGeom prst="rect">
            <a:avLst/>
          </a:prstGeom>
          <a:noFill/>
        </p:spPr>
        <p:txBody>
          <a:bodyPr wrap="square" lIns="0" rIns="0" tIns="0" bIns="0" anchor="t">
            <a:noAutofit/>
          </a:bodyPr>
          <a:lstStyle/>
          <a:p>
            <a:pPr algn="l">
              <a:spcBef>
                <a:spcPts val="0"/>
              </a:spcBef>
              <a:spcAft>
                <a:spcPts val="0"/>
              </a:spcAft>
            </a:pPr>
            <a:r>
              <a:rPr sz="1500" b="1" i="0">
                <a:solidFill>
                  <a:srgbClr val="111827"/>
                </a:solidFill>
                <a:latin typeface="Times New Roman"/>
              </a:rPr>
              <a:t>Auto-Documentation</a:t>
            </a:r>
          </a:p>
        </p:txBody>
      </p:sp>
      <p:sp>
        <p:nvSpPr>
          <p:cNvPr id="51" name="TextBox 50"/>
          <p:cNvSpPr txBox="1"/>
          <p:nvPr/>
        </p:nvSpPr>
        <p:spPr>
          <a:xfrm>
            <a:off x="9601199" y="4773168"/>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OpenAPI / Swagger at /docs</a:t>
            </a:r>
          </a:p>
        </p:txBody>
      </p:sp>
      <p:sp>
        <p:nvSpPr>
          <p:cNvPr id="52" name="Rounded Rectangle 51"/>
          <p:cNvSpPr/>
          <p:nvPr/>
        </p:nvSpPr>
        <p:spPr>
          <a:xfrm>
            <a:off x="1783080" y="5486400"/>
            <a:ext cx="10012680" cy="731520"/>
          </a:xfrm>
          <a:prstGeom prst="roundRect">
            <a:avLst>
              <a:gd name="adj" fmla="val 15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375623"/>
                </a:solidFill>
                <a:latin typeface="Times New Roman"/>
              </a:rPr>
              <a:t>Non-functional targets:  updates ≤ 1 s  ·  ML inference ≤ 200 ms  ·  charts ≤ 2 s  ·  reconnect ≤ 5 s  ·  50 clients  ·  5 → 20 machines  ·  retention 30 days raw / 1 year aggregated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System Architecture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6172200" y="1005840"/>
            <a:ext cx="3429000" cy="3749039"/>
          </a:xfrm>
          <a:prstGeom prst="roundRect">
            <a:avLst>
              <a:gd name="adj" fmla="val 3200"/>
            </a:avLst>
          </a:prstGeom>
          <a:solidFill>
            <a:srgbClr val="F1F5F9"/>
          </a:solidFill>
          <a:ln w="25400">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6309360" y="1078992"/>
            <a:ext cx="3154680" cy="320040"/>
          </a:xfrm>
          <a:prstGeom prst="rect">
            <a:avLst/>
          </a:prstGeom>
          <a:noFill/>
        </p:spPr>
        <p:txBody>
          <a:bodyPr wrap="square" lIns="0" rIns="0" tIns="0" bIns="0" anchor="t">
            <a:noAutofit/>
          </a:bodyPr>
          <a:lstStyle/>
          <a:p>
            <a:pPr algn="l">
              <a:spcBef>
                <a:spcPts val="0"/>
              </a:spcBef>
              <a:spcAft>
                <a:spcPts val="0"/>
              </a:spcAft>
            </a:pPr>
            <a:r>
              <a:rPr sz="1600" b="1" i="0">
                <a:solidFill>
                  <a:srgbClr val="2563EB"/>
                </a:solidFill>
                <a:latin typeface="Times New Roman"/>
              </a:rPr>
              <a:t>FastAPI backend (asyncio)</a:t>
            </a:r>
          </a:p>
        </p:txBody>
      </p:sp>
      <p:sp>
        <p:nvSpPr>
          <p:cNvPr id="6" name="Rounded Rectangle 5"/>
          <p:cNvSpPr/>
          <p:nvPr/>
        </p:nvSpPr>
        <p:spPr>
          <a:xfrm>
            <a:off x="6263640" y="1508760"/>
            <a:ext cx="1554480" cy="960120"/>
          </a:xfrm>
          <a:prstGeom prst="roundRect">
            <a:avLst>
              <a:gd name="adj" fmla="val 11428"/>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Ingest + validation</a:t>
            </a:r>
          </a:p>
          <a:p>
            <a:pPr algn="ctr">
              <a:spcBef>
                <a:spcPts val="0"/>
              </a:spcBef>
              <a:spcAft>
                <a:spcPts val="0"/>
              </a:spcAft>
            </a:pPr>
            <a:r>
              <a:rPr sz="1200" b="0" i="0">
                <a:solidFill>
                  <a:srgbClr val="475569"/>
                </a:solidFill>
                <a:latin typeface="Times New Roman"/>
              </a:rPr>
              <a:t>FR-09</a:t>
            </a:r>
          </a:p>
        </p:txBody>
      </p:sp>
      <p:sp>
        <p:nvSpPr>
          <p:cNvPr id="7" name="Rounded Rectangle 6"/>
          <p:cNvSpPr/>
          <p:nvPr/>
        </p:nvSpPr>
        <p:spPr>
          <a:xfrm>
            <a:off x="7955279" y="1508760"/>
            <a:ext cx="1554480" cy="960120"/>
          </a:xfrm>
          <a:prstGeom prst="roundRect">
            <a:avLst>
              <a:gd name="adj" fmla="val 11428"/>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OEE engine</a:t>
            </a:r>
          </a:p>
          <a:p>
            <a:pPr algn="ctr">
              <a:spcBef>
                <a:spcPts val="0"/>
              </a:spcBef>
              <a:spcAft>
                <a:spcPts val="0"/>
              </a:spcAft>
            </a:pPr>
            <a:r>
              <a:rPr sz="1200" b="0" i="0">
                <a:solidFill>
                  <a:srgbClr val="475569"/>
                </a:solidFill>
                <a:latin typeface="Times New Roman"/>
              </a:rPr>
              <a:t>FR-02 · A × P × Q</a:t>
            </a:r>
          </a:p>
        </p:txBody>
      </p:sp>
      <p:sp>
        <p:nvSpPr>
          <p:cNvPr id="8" name="Rounded Rectangle 7"/>
          <p:cNvSpPr/>
          <p:nvPr/>
        </p:nvSpPr>
        <p:spPr>
          <a:xfrm>
            <a:off x="6263640" y="2578608"/>
            <a:ext cx="1554480" cy="960120"/>
          </a:xfrm>
          <a:prstGeom prst="roundRect">
            <a:avLst>
              <a:gd name="adj" fmla="val 11428"/>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Rule engine → RED</a:t>
            </a:r>
          </a:p>
          <a:p>
            <a:pPr algn="ctr">
              <a:spcBef>
                <a:spcPts val="0"/>
              </a:spcBef>
              <a:spcAft>
                <a:spcPts val="0"/>
              </a:spcAft>
            </a:pPr>
            <a:r>
              <a:rPr sz="1200" b="0" i="0">
                <a:solidFill>
                  <a:srgbClr val="475569"/>
                </a:solidFill>
                <a:latin typeface="Times New Roman"/>
              </a:rPr>
              <a:t>FR-03</a:t>
            </a:r>
          </a:p>
        </p:txBody>
      </p:sp>
      <p:sp>
        <p:nvSpPr>
          <p:cNvPr id="9" name="Rounded Rectangle 8"/>
          <p:cNvSpPr/>
          <p:nvPr/>
        </p:nvSpPr>
        <p:spPr>
          <a:xfrm>
            <a:off x="7955279" y="2578608"/>
            <a:ext cx="1554480" cy="960120"/>
          </a:xfrm>
          <a:prstGeom prst="roundRect">
            <a:avLst>
              <a:gd name="adj" fmla="val 11428"/>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Isolation Forest → YELLOW</a:t>
            </a:r>
          </a:p>
          <a:p>
            <a:pPr algn="ctr">
              <a:spcBef>
                <a:spcPts val="0"/>
              </a:spcBef>
              <a:spcAft>
                <a:spcPts val="0"/>
              </a:spcAft>
            </a:pPr>
            <a:r>
              <a:rPr sz="1200" b="0" i="0">
                <a:solidFill>
                  <a:srgbClr val="475569"/>
                </a:solidFill>
                <a:latin typeface="Times New Roman"/>
              </a:rPr>
              <a:t>FR-04</a:t>
            </a:r>
          </a:p>
        </p:txBody>
      </p:sp>
      <p:sp>
        <p:nvSpPr>
          <p:cNvPr id="10" name="Rounded Rectangle 9"/>
          <p:cNvSpPr/>
          <p:nvPr/>
        </p:nvSpPr>
        <p:spPr>
          <a:xfrm>
            <a:off x="6263640" y="3648456"/>
            <a:ext cx="1554480" cy="960120"/>
          </a:xfrm>
          <a:prstGeom prst="roundRect">
            <a:avLst>
              <a:gd name="adj" fmla="val 11428"/>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What-If trend → ORANGE</a:t>
            </a:r>
          </a:p>
          <a:p>
            <a:pPr algn="ctr">
              <a:spcBef>
                <a:spcPts val="0"/>
              </a:spcBef>
              <a:spcAft>
                <a:spcPts val="0"/>
              </a:spcAft>
            </a:pPr>
            <a:r>
              <a:rPr sz="1200" b="0" i="0">
                <a:solidFill>
                  <a:srgbClr val="475569"/>
                </a:solidFill>
                <a:latin typeface="Times New Roman"/>
              </a:rPr>
              <a:t>FR-07</a:t>
            </a:r>
          </a:p>
        </p:txBody>
      </p:sp>
      <p:sp>
        <p:nvSpPr>
          <p:cNvPr id="11" name="Rounded Rectangle 10"/>
          <p:cNvSpPr/>
          <p:nvPr/>
        </p:nvSpPr>
        <p:spPr>
          <a:xfrm>
            <a:off x="7955279" y="3648456"/>
            <a:ext cx="1554480" cy="960120"/>
          </a:xfrm>
          <a:prstGeom prst="roundRect">
            <a:avLst>
              <a:gd name="adj" fmla="val 11428"/>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300" b="1" i="0">
                <a:solidFill>
                  <a:srgbClr val="111827"/>
                </a:solidFill>
                <a:latin typeface="Times New Roman"/>
              </a:rPr>
              <a:t>Alerts, maintenance, API</a:t>
            </a:r>
          </a:p>
          <a:p>
            <a:pPr algn="ctr">
              <a:spcBef>
                <a:spcPts val="0"/>
              </a:spcBef>
              <a:spcAft>
                <a:spcPts val="0"/>
              </a:spcAft>
            </a:pPr>
            <a:r>
              <a:rPr sz="1200" b="0" i="0">
                <a:solidFill>
                  <a:srgbClr val="475569"/>
                </a:solidFill>
                <a:latin typeface="Times New Roman"/>
              </a:rPr>
              <a:t>FR-05 · FR-06</a:t>
            </a:r>
          </a:p>
        </p:txBody>
      </p:sp>
      <p:sp>
        <p:nvSpPr>
          <p:cNvPr id="12" name="Rounded Rectangle 11"/>
          <p:cNvSpPr/>
          <p:nvPr/>
        </p:nvSpPr>
        <p:spPr>
          <a:xfrm>
            <a:off x="1783080" y="2103120"/>
            <a:ext cx="1417320" cy="155448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Virtual Factory Simulator</a:t>
            </a:r>
          </a:p>
          <a:p>
            <a:pPr algn="ctr">
              <a:spcBef>
                <a:spcPts val="0"/>
              </a:spcBef>
              <a:spcAft>
                <a:spcPts val="0"/>
              </a:spcAft>
            </a:pPr>
            <a:r>
              <a:rPr sz="1200" b="0" i="0">
                <a:solidFill>
                  <a:srgbClr val="111827"/>
                </a:solidFill>
                <a:latin typeface="Times New Roman"/>
              </a:rPr>
              <a:t>5–20 machines · every 500 ms</a:t>
            </a:r>
          </a:p>
        </p:txBody>
      </p:sp>
      <p:sp>
        <p:nvSpPr>
          <p:cNvPr id="13" name="Rounded Rectangle 12"/>
          <p:cNvSpPr/>
          <p:nvPr/>
        </p:nvSpPr>
        <p:spPr>
          <a:xfrm>
            <a:off x="3977639" y="2103120"/>
            <a:ext cx="1417320" cy="1554480"/>
          </a:xfrm>
          <a:prstGeom prst="roundRect">
            <a:avLst>
              <a:gd name="adj" fmla="val 774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Eclipse Mosquitto</a:t>
            </a:r>
          </a:p>
          <a:p>
            <a:pPr algn="ctr">
              <a:spcBef>
                <a:spcPts val="0"/>
              </a:spcBef>
              <a:spcAft>
                <a:spcPts val="0"/>
              </a:spcAft>
            </a:pPr>
            <a:r>
              <a:rPr sz="1200" b="0" i="0">
                <a:solidFill>
                  <a:srgbClr val="111827"/>
                </a:solidFill>
                <a:latin typeface="Times New Roman"/>
              </a:rPr>
              <a:t>MQTT over WebSockets</a:t>
            </a:r>
          </a:p>
        </p:txBody>
      </p:sp>
      <p:sp>
        <p:nvSpPr>
          <p:cNvPr id="14" name="Rounded Rectangle 13"/>
          <p:cNvSpPr/>
          <p:nvPr/>
        </p:nvSpPr>
        <p:spPr>
          <a:xfrm>
            <a:off x="10378440" y="2103120"/>
            <a:ext cx="1417320" cy="155448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400" b="1" i="0">
                <a:solidFill>
                  <a:srgbClr val="111827"/>
                </a:solidFill>
                <a:latin typeface="Times New Roman"/>
              </a:rPr>
              <a:t>React 18 dashboard</a:t>
            </a:r>
          </a:p>
          <a:p>
            <a:pPr algn="ctr">
              <a:spcBef>
                <a:spcPts val="0"/>
              </a:spcBef>
              <a:spcAft>
                <a:spcPts val="0"/>
              </a:spcAft>
            </a:pPr>
            <a:r>
              <a:rPr sz="1200" b="0" i="0">
                <a:solidFill>
                  <a:srgbClr val="111827"/>
                </a:solidFill>
                <a:latin typeface="Times New Roman"/>
              </a:rPr>
              <a:t>Chart.js 2D charts</a:t>
            </a:r>
          </a:p>
        </p:txBody>
      </p:sp>
      <p:cxnSp>
        <p:nvCxnSpPr>
          <p:cNvPr id="15" name="Connector 14"/>
          <p:cNvCxnSpPr/>
          <p:nvPr/>
        </p:nvCxnSpPr>
        <p:spPr>
          <a:xfrm>
            <a:off x="321868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0040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MQTT</a:t>
            </a:r>
          </a:p>
        </p:txBody>
      </p:sp>
      <p:cxnSp>
        <p:nvCxnSpPr>
          <p:cNvPr id="17" name="Connector 16"/>
          <p:cNvCxnSpPr/>
          <p:nvPr/>
        </p:nvCxnSpPr>
        <p:spPr>
          <a:xfrm>
            <a:off x="541324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39496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subscribe</a:t>
            </a:r>
          </a:p>
        </p:txBody>
      </p:sp>
      <p:cxnSp>
        <p:nvCxnSpPr>
          <p:cNvPr id="19" name="Connector 18"/>
          <p:cNvCxnSpPr/>
          <p:nvPr/>
        </p:nvCxnSpPr>
        <p:spPr>
          <a:xfrm>
            <a:off x="9619488" y="2743200"/>
            <a:ext cx="7406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2450592"/>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WebSocket</a:t>
            </a:r>
          </a:p>
        </p:txBody>
      </p:sp>
      <p:cxnSp>
        <p:nvCxnSpPr>
          <p:cNvPr id="21" name="Connector 20"/>
          <p:cNvCxnSpPr/>
          <p:nvPr/>
        </p:nvCxnSpPr>
        <p:spPr>
          <a:xfrm flipH="1">
            <a:off x="321868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0040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faults</a:t>
            </a:r>
          </a:p>
        </p:txBody>
      </p:sp>
      <p:cxnSp>
        <p:nvCxnSpPr>
          <p:cNvPr id="23" name="Connector 22"/>
          <p:cNvCxnSpPr/>
          <p:nvPr/>
        </p:nvCxnSpPr>
        <p:spPr>
          <a:xfrm flipH="1">
            <a:off x="541324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39496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control</a:t>
            </a:r>
          </a:p>
        </p:txBody>
      </p:sp>
      <p:cxnSp>
        <p:nvCxnSpPr>
          <p:cNvPr id="25" name="Connector 24"/>
          <p:cNvCxnSpPr/>
          <p:nvPr/>
        </p:nvCxnSpPr>
        <p:spPr>
          <a:xfrm flipH="1">
            <a:off x="9619488" y="3291840"/>
            <a:ext cx="740664"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0" y="3328416"/>
            <a:ext cx="77723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REST</a:t>
            </a:r>
          </a:p>
        </p:txBody>
      </p:sp>
      <p:sp>
        <p:nvSpPr>
          <p:cNvPr id="27" name="TextBox 26"/>
          <p:cNvSpPr txBox="1"/>
          <p:nvPr/>
        </p:nvSpPr>
        <p:spPr>
          <a:xfrm>
            <a:off x="10378440" y="3794760"/>
            <a:ext cx="1417320" cy="457200"/>
          </a:xfrm>
          <a:prstGeom prst="rect">
            <a:avLst/>
          </a:prstGeom>
          <a:noFill/>
        </p:spPr>
        <p:txBody>
          <a:bodyPr wrap="square" lIns="0" rIns="0" tIns="0" bIns="0" anchor="t">
            <a:noAutofit/>
          </a:bodyPr>
          <a:lstStyle/>
          <a:p>
            <a:pPr algn="ctr">
              <a:spcBef>
                <a:spcPts val="0"/>
              </a:spcBef>
              <a:spcAft>
                <a:spcPts val="0"/>
              </a:spcAft>
            </a:pPr>
            <a:r>
              <a:rPr sz="1200" b="0" i="0">
                <a:solidFill>
                  <a:srgbClr val="475569"/>
                </a:solidFill>
                <a:latin typeface="Times New Roman"/>
              </a:rPr>
              <a:t>Chrome · Edge · Firefox</a:t>
            </a:r>
          </a:p>
        </p:txBody>
      </p:sp>
      <p:cxnSp>
        <p:nvCxnSpPr>
          <p:cNvPr id="28" name="Connector 27"/>
          <p:cNvCxnSpPr/>
          <p:nvPr/>
        </p:nvCxnSpPr>
        <p:spPr>
          <a:xfrm>
            <a:off x="6995160" y="4754880"/>
            <a:ext cx="0" cy="54864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72200" y="5303520"/>
            <a:ext cx="1645920" cy="960120"/>
          </a:xfrm>
          <a:prstGeom prst="roundRect">
            <a:avLst>
              <a:gd name="adj" fmla="val 11428"/>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1" i="0">
                <a:solidFill>
                  <a:srgbClr val="111827"/>
                </a:solidFill>
                <a:latin typeface="Times New Roman"/>
              </a:rPr>
              <a:t>InfluxDB v2</a:t>
            </a:r>
          </a:p>
          <a:p>
            <a:pPr algn="ctr">
              <a:spcBef>
                <a:spcPts val="0"/>
              </a:spcBef>
              <a:spcAft>
                <a:spcPts val="0"/>
              </a:spcAft>
            </a:pPr>
            <a:r>
              <a:rPr sz="1200" b="0" i="0">
                <a:solidFill>
                  <a:srgbClr val="111827"/>
                </a:solidFill>
                <a:latin typeface="Times New Roman"/>
              </a:rPr>
              <a:t>telemetry_raw 30 d</a:t>
            </a:r>
          </a:p>
          <a:p>
            <a:pPr algn="ctr">
              <a:spcBef>
                <a:spcPts val="0"/>
              </a:spcBef>
              <a:spcAft>
                <a:spcPts val="0"/>
              </a:spcAft>
            </a:pPr>
            <a:r>
              <a:rPr sz="1200" b="0" i="0">
                <a:solidFill>
                  <a:srgbClr val="111827"/>
                </a:solidFill>
                <a:latin typeface="Times New Roman"/>
              </a:rPr>
              <a:t>telemetry_agg 1 y</a:t>
            </a:r>
          </a:p>
        </p:txBody>
      </p:sp>
      <p:cxnSp>
        <p:nvCxnSpPr>
          <p:cNvPr id="30" name="Connector 29"/>
          <p:cNvCxnSpPr/>
          <p:nvPr/>
        </p:nvCxnSpPr>
        <p:spPr>
          <a:xfrm>
            <a:off x="8778240" y="4754880"/>
            <a:ext cx="0" cy="54864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55279" y="5303520"/>
            <a:ext cx="1645920" cy="960120"/>
          </a:xfrm>
          <a:prstGeom prst="roundRect">
            <a:avLst>
              <a:gd name="adj" fmla="val 11428"/>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1" i="0">
                <a:solidFill>
                  <a:srgbClr val="111827"/>
                </a:solidFill>
                <a:latin typeface="Times New Roman"/>
              </a:rPr>
              <a:t>PostgreSQL 14</a:t>
            </a:r>
          </a:p>
          <a:p>
            <a:pPr algn="ctr">
              <a:spcBef>
                <a:spcPts val="0"/>
              </a:spcBef>
              <a:spcAft>
                <a:spcPts val="0"/>
              </a:spcAft>
            </a:pPr>
            <a:r>
              <a:rPr sz="1200" b="0" i="0">
                <a:solidFill>
                  <a:srgbClr val="111827"/>
                </a:solidFill>
                <a:latin typeface="Times New Roman"/>
              </a:rPr>
              <a:t>machines · users · alerts</a:t>
            </a:r>
          </a:p>
          <a:p>
            <a:pPr algn="ctr">
              <a:spcBef>
                <a:spcPts val="0"/>
              </a:spcBef>
              <a:spcAft>
                <a:spcPts val="0"/>
              </a:spcAft>
            </a:pPr>
            <a:r>
              <a:rPr sz="1200" b="0" i="0">
                <a:solidFill>
                  <a:srgbClr val="111827"/>
                </a:solidFill>
                <a:latin typeface="Times New Roman"/>
              </a:rPr>
              <a:t>maintenance · feedback</a:t>
            </a:r>
          </a:p>
        </p:txBody>
      </p:sp>
      <p:sp>
        <p:nvSpPr>
          <p:cNvPr id="32" name="Rounded Rectangle 31"/>
          <p:cNvSpPr/>
          <p:nvPr/>
        </p:nvSpPr>
        <p:spPr>
          <a:xfrm>
            <a:off x="1783080" y="5074920"/>
            <a:ext cx="4023360" cy="118872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400" b="1" i="0">
                <a:solidFill>
                  <a:srgbClr val="111827"/>
                </a:solidFill>
                <a:latin typeface="Times New Roman"/>
              </a:rPr>
              <a:t>Two switches in .env</a:t>
            </a:r>
          </a:p>
          <a:p>
            <a:pPr algn="l">
              <a:spcBef>
                <a:spcPts val="0"/>
              </a:spcBef>
              <a:spcAft>
                <a:spcPts val="0"/>
              </a:spcAft>
            </a:pPr>
            <a:r>
              <a:rPr sz="1300" b="0" i="0">
                <a:solidFill>
                  <a:srgbClr val="111827"/>
                </a:solidFill>
                <a:latin typeface="Times New Roman"/>
              </a:rPr>
              <a:t>INGEST_MODE = direct | mqtt</a:t>
            </a:r>
          </a:p>
          <a:p>
            <a:pPr algn="l">
              <a:spcBef>
                <a:spcPts val="0"/>
              </a:spcBef>
              <a:spcAft>
                <a:spcPts val="0"/>
              </a:spcAft>
            </a:pPr>
            <a:r>
              <a:rPr sz="1300" b="0" i="0">
                <a:solidFill>
                  <a:srgbClr val="111827"/>
                </a:solidFill>
                <a:latin typeface="Times New Roman"/>
              </a:rPr>
              <a:t>STORAGE_MODE = memory | db</a:t>
            </a:r>
          </a:p>
          <a:p>
            <a:pPr algn="l">
              <a:spcBef>
                <a:spcPts val="0"/>
              </a:spcBef>
              <a:spcAft>
                <a:spcPts val="0"/>
              </a:spcAft>
            </a:pPr>
            <a:r>
              <a:rPr sz="1300" b="0" i="1">
                <a:solidFill>
                  <a:srgbClr val="475569"/>
                </a:solidFill>
                <a:latin typeface="Times New Roman"/>
              </a:rPr>
              <a:t>→ runs with no Docker and no database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 Flow – One 500 ms Cycle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143000"/>
            <a:ext cx="2125979" cy="1508760"/>
          </a:xfrm>
          <a:prstGeom prst="roundRect">
            <a:avLst>
              <a:gd name="adj" fmla="val 727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1911095" y="127101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1</a:t>
            </a:r>
          </a:p>
        </p:txBody>
      </p:sp>
      <p:sp>
        <p:nvSpPr>
          <p:cNvPr id="6" name="TextBox 5"/>
          <p:cNvSpPr txBox="1"/>
          <p:nvPr/>
        </p:nvSpPr>
        <p:spPr>
          <a:xfrm>
            <a:off x="2423160" y="123444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Generate</a:t>
            </a:r>
          </a:p>
        </p:txBody>
      </p:sp>
      <p:sp>
        <p:nvSpPr>
          <p:cNvPr id="7" name="TextBox 6"/>
          <p:cNvSpPr txBox="1"/>
          <p:nvPr/>
        </p:nvSpPr>
        <p:spPr>
          <a:xfrm>
            <a:off x="1920240" y="1801368"/>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Simulator creates a reading per machine: temperature, vibration, status, cycles</a:t>
            </a:r>
          </a:p>
        </p:txBody>
      </p:sp>
      <p:cxnSp>
        <p:nvCxnSpPr>
          <p:cNvPr id="8" name="Connector 7"/>
          <p:cNvCxnSpPr/>
          <p:nvPr/>
        </p:nvCxnSpPr>
        <p:spPr>
          <a:xfrm>
            <a:off x="3945635" y="1897380"/>
            <a:ext cx="429769"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11980" y="1143000"/>
            <a:ext cx="2125979" cy="1508760"/>
          </a:xfrm>
          <a:prstGeom prst="roundRect">
            <a:avLst>
              <a:gd name="adj" fmla="val 7272"/>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4539996" y="127101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2</a:t>
            </a:r>
          </a:p>
        </p:txBody>
      </p:sp>
      <p:sp>
        <p:nvSpPr>
          <p:cNvPr id="11" name="TextBox 10"/>
          <p:cNvSpPr txBox="1"/>
          <p:nvPr/>
        </p:nvSpPr>
        <p:spPr>
          <a:xfrm>
            <a:off x="5052060" y="123444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Publish</a:t>
            </a:r>
          </a:p>
        </p:txBody>
      </p:sp>
      <p:sp>
        <p:nvSpPr>
          <p:cNvPr id="12" name="TextBox 11"/>
          <p:cNvSpPr txBox="1"/>
          <p:nvPr/>
        </p:nvSpPr>
        <p:spPr>
          <a:xfrm>
            <a:off x="4549140" y="1801368"/>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Sent as JSON over MQTT / WebSockets through Mosquitto</a:t>
            </a:r>
          </a:p>
        </p:txBody>
      </p:sp>
      <p:cxnSp>
        <p:nvCxnSpPr>
          <p:cNvPr id="13" name="Connector 12"/>
          <p:cNvCxnSpPr/>
          <p:nvPr/>
        </p:nvCxnSpPr>
        <p:spPr>
          <a:xfrm>
            <a:off x="6574536" y="1897380"/>
            <a:ext cx="42976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40880" y="1143000"/>
            <a:ext cx="2125979" cy="1508760"/>
          </a:xfrm>
          <a:prstGeom prst="roundRect">
            <a:avLst>
              <a:gd name="adj" fmla="val 7272"/>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7168896" y="127101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3</a:t>
            </a:r>
          </a:p>
        </p:txBody>
      </p:sp>
      <p:sp>
        <p:nvSpPr>
          <p:cNvPr id="16" name="TextBox 15"/>
          <p:cNvSpPr txBox="1"/>
          <p:nvPr/>
        </p:nvSpPr>
        <p:spPr>
          <a:xfrm>
            <a:off x="7680960" y="123444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Validate</a:t>
            </a:r>
          </a:p>
        </p:txBody>
      </p:sp>
      <p:sp>
        <p:nvSpPr>
          <p:cNvPr id="17" name="TextBox 16"/>
          <p:cNvSpPr txBox="1"/>
          <p:nvPr/>
        </p:nvSpPr>
        <p:spPr>
          <a:xfrm>
            <a:off x="7178040" y="1801368"/>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Bad values are rejected at the gateway (FR-09)</a:t>
            </a:r>
          </a:p>
        </p:txBody>
      </p:sp>
      <p:cxnSp>
        <p:nvCxnSpPr>
          <p:cNvPr id="18" name="Connector 17"/>
          <p:cNvCxnSpPr/>
          <p:nvPr/>
        </p:nvCxnSpPr>
        <p:spPr>
          <a:xfrm>
            <a:off x="9203436" y="1897380"/>
            <a:ext cx="42976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669780" y="1143000"/>
            <a:ext cx="2125979" cy="1508760"/>
          </a:xfrm>
          <a:prstGeom prst="roundRect">
            <a:avLst>
              <a:gd name="adj" fmla="val 7272"/>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9797795" y="127101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4</a:t>
            </a:r>
          </a:p>
        </p:txBody>
      </p:sp>
      <p:sp>
        <p:nvSpPr>
          <p:cNvPr id="21" name="TextBox 20"/>
          <p:cNvSpPr txBox="1"/>
          <p:nvPr/>
        </p:nvSpPr>
        <p:spPr>
          <a:xfrm>
            <a:off x="10309859" y="123444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Update OEE</a:t>
            </a:r>
          </a:p>
        </p:txBody>
      </p:sp>
      <p:sp>
        <p:nvSpPr>
          <p:cNvPr id="22" name="TextBox 21"/>
          <p:cNvSpPr txBox="1"/>
          <p:nvPr/>
        </p:nvSpPr>
        <p:spPr>
          <a:xfrm>
            <a:off x="9806940" y="1801368"/>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Rolling 1 h and 8 h windows (FR-02)</a:t>
            </a:r>
          </a:p>
        </p:txBody>
      </p:sp>
      <p:sp>
        <p:nvSpPr>
          <p:cNvPr id="23" name="Rounded Rectangle 22"/>
          <p:cNvSpPr/>
          <p:nvPr/>
        </p:nvSpPr>
        <p:spPr>
          <a:xfrm>
            <a:off x="1783080" y="3246120"/>
            <a:ext cx="2125979" cy="1508760"/>
          </a:xfrm>
          <a:prstGeom prst="roundRect">
            <a:avLst>
              <a:gd name="adj" fmla="val 727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4" name="Oval 23"/>
          <p:cNvSpPr/>
          <p:nvPr/>
        </p:nvSpPr>
        <p:spPr>
          <a:xfrm>
            <a:off x="1911095" y="337413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5</a:t>
            </a:r>
          </a:p>
        </p:txBody>
      </p:sp>
      <p:sp>
        <p:nvSpPr>
          <p:cNvPr id="25" name="TextBox 24"/>
          <p:cNvSpPr txBox="1"/>
          <p:nvPr/>
        </p:nvSpPr>
        <p:spPr>
          <a:xfrm>
            <a:off x="2423160" y="333756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Score with ML</a:t>
            </a:r>
          </a:p>
        </p:txBody>
      </p:sp>
      <p:sp>
        <p:nvSpPr>
          <p:cNvPr id="26" name="TextBox 25"/>
          <p:cNvSpPr txBox="1"/>
          <p:nvPr/>
        </p:nvSpPr>
        <p:spPr>
          <a:xfrm>
            <a:off x="1920240" y="3904487"/>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Isolation Forest, 0 – 100 % (FR-04)</a:t>
            </a:r>
          </a:p>
        </p:txBody>
      </p:sp>
      <p:cxnSp>
        <p:nvCxnSpPr>
          <p:cNvPr id="27" name="Connector 26"/>
          <p:cNvCxnSpPr/>
          <p:nvPr/>
        </p:nvCxnSpPr>
        <p:spPr>
          <a:xfrm>
            <a:off x="3945635" y="4000500"/>
            <a:ext cx="429769"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411980" y="3246120"/>
            <a:ext cx="2125979" cy="1508760"/>
          </a:xfrm>
          <a:prstGeom prst="roundRect">
            <a:avLst>
              <a:gd name="adj" fmla="val 7272"/>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Oval 28"/>
          <p:cNvSpPr/>
          <p:nvPr/>
        </p:nvSpPr>
        <p:spPr>
          <a:xfrm>
            <a:off x="4539996" y="337413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6</a:t>
            </a:r>
          </a:p>
        </p:txBody>
      </p:sp>
      <p:sp>
        <p:nvSpPr>
          <p:cNvPr id="30" name="TextBox 29"/>
          <p:cNvSpPr txBox="1"/>
          <p:nvPr/>
        </p:nvSpPr>
        <p:spPr>
          <a:xfrm>
            <a:off x="5052060" y="333756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Rules + trend</a:t>
            </a:r>
          </a:p>
        </p:txBody>
      </p:sp>
      <p:sp>
        <p:nvSpPr>
          <p:cNvPr id="31" name="TextBox 30"/>
          <p:cNvSpPr txBox="1"/>
          <p:nvPr/>
        </p:nvSpPr>
        <p:spPr>
          <a:xfrm>
            <a:off x="4549140" y="3904487"/>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Hard limits → Red · What-If → Orange (FR-03, FR-07)</a:t>
            </a:r>
          </a:p>
        </p:txBody>
      </p:sp>
      <p:cxnSp>
        <p:nvCxnSpPr>
          <p:cNvPr id="32" name="Connector 31"/>
          <p:cNvCxnSpPr/>
          <p:nvPr/>
        </p:nvCxnSpPr>
        <p:spPr>
          <a:xfrm>
            <a:off x="6574536" y="4000500"/>
            <a:ext cx="42976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040880" y="3246120"/>
            <a:ext cx="2125979" cy="1508760"/>
          </a:xfrm>
          <a:prstGeom prst="roundRect">
            <a:avLst>
              <a:gd name="adj" fmla="val 7272"/>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4" name="Oval 33"/>
          <p:cNvSpPr/>
          <p:nvPr/>
        </p:nvSpPr>
        <p:spPr>
          <a:xfrm>
            <a:off x="7168896" y="337413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7</a:t>
            </a:r>
          </a:p>
        </p:txBody>
      </p:sp>
      <p:sp>
        <p:nvSpPr>
          <p:cNvPr id="35" name="TextBox 34"/>
          <p:cNvSpPr txBox="1"/>
          <p:nvPr/>
        </p:nvSpPr>
        <p:spPr>
          <a:xfrm>
            <a:off x="7680960" y="333756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Raise / clear alerts</a:t>
            </a:r>
          </a:p>
        </p:txBody>
      </p:sp>
      <p:sp>
        <p:nvSpPr>
          <p:cNvPr id="36" name="TextBox 35"/>
          <p:cNvSpPr txBox="1"/>
          <p:nvPr/>
        </p:nvSpPr>
        <p:spPr>
          <a:xfrm>
            <a:off x="7178040" y="3904487"/>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Priority Red &gt; Orange &gt; Yellow, debounced over 1 – 2 readings</a:t>
            </a:r>
          </a:p>
        </p:txBody>
      </p:sp>
      <p:cxnSp>
        <p:nvCxnSpPr>
          <p:cNvPr id="37" name="Connector 36"/>
          <p:cNvCxnSpPr/>
          <p:nvPr/>
        </p:nvCxnSpPr>
        <p:spPr>
          <a:xfrm>
            <a:off x="9203436" y="4000500"/>
            <a:ext cx="42976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69780" y="3246120"/>
            <a:ext cx="2125979" cy="1508760"/>
          </a:xfrm>
          <a:prstGeom prst="roundRect">
            <a:avLst>
              <a:gd name="adj" fmla="val 7272"/>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9" name="Oval 38"/>
          <p:cNvSpPr/>
          <p:nvPr/>
        </p:nvSpPr>
        <p:spPr>
          <a:xfrm>
            <a:off x="9797795" y="3374136"/>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Times New Roman"/>
              </a:rPr>
              <a:t>8</a:t>
            </a:r>
          </a:p>
        </p:txBody>
      </p:sp>
      <p:sp>
        <p:nvSpPr>
          <p:cNvPr id="40" name="TextBox 39"/>
          <p:cNvSpPr txBox="1"/>
          <p:nvPr/>
        </p:nvSpPr>
        <p:spPr>
          <a:xfrm>
            <a:off x="10309859" y="3337560"/>
            <a:ext cx="1394459" cy="457200"/>
          </a:xfrm>
          <a:prstGeom prst="rect">
            <a:avLst/>
          </a:prstGeom>
          <a:noFill/>
        </p:spPr>
        <p:txBody>
          <a:bodyPr wrap="square" lIns="0" rIns="0" tIns="0" bIns="0" anchor="ctr">
            <a:noAutofit/>
          </a:bodyPr>
          <a:lstStyle/>
          <a:p>
            <a:pPr algn="l">
              <a:spcBef>
                <a:spcPts val="0"/>
              </a:spcBef>
              <a:spcAft>
                <a:spcPts val="0"/>
              </a:spcAft>
            </a:pPr>
            <a:r>
              <a:rPr sz="1500" b="1" i="0">
                <a:solidFill>
                  <a:srgbClr val="111827"/>
                </a:solidFill>
                <a:latin typeface="Times New Roman"/>
              </a:rPr>
              <a:t>Store + push</a:t>
            </a:r>
          </a:p>
        </p:txBody>
      </p:sp>
      <p:sp>
        <p:nvSpPr>
          <p:cNvPr id="41" name="TextBox 40"/>
          <p:cNvSpPr txBox="1"/>
          <p:nvPr/>
        </p:nvSpPr>
        <p:spPr>
          <a:xfrm>
            <a:off x="9806940" y="3904487"/>
            <a:ext cx="1851660" cy="82296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Batched write to the databases, snapshot to the dashboard</a:t>
            </a:r>
          </a:p>
        </p:txBody>
      </p:sp>
      <p:cxnSp>
        <p:nvCxnSpPr>
          <p:cNvPr id="42" name="Connector 41"/>
          <p:cNvCxnSpPr/>
          <p:nvPr/>
        </p:nvCxnSpPr>
        <p:spPr>
          <a:xfrm>
            <a:off x="10732769" y="2670048"/>
            <a:ext cx="0" cy="278891"/>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2846070" y="2948939"/>
            <a:ext cx="7886699" cy="0"/>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846070" y="2948939"/>
            <a:ext cx="0" cy="260605"/>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783080" y="5029200"/>
            <a:ext cx="3185159" cy="118872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6" name="TextBox 45"/>
          <p:cNvSpPr txBox="1"/>
          <p:nvPr/>
        </p:nvSpPr>
        <p:spPr>
          <a:xfrm>
            <a:off x="1965960" y="5102352"/>
            <a:ext cx="2819399" cy="548640"/>
          </a:xfrm>
          <a:prstGeom prst="rect">
            <a:avLst/>
          </a:prstGeom>
          <a:noFill/>
        </p:spPr>
        <p:txBody>
          <a:bodyPr wrap="square" lIns="0" rIns="0" tIns="0" bIns="0" anchor="ctr">
            <a:noAutofit/>
          </a:bodyPr>
          <a:lstStyle/>
          <a:p>
            <a:pPr algn="l">
              <a:spcBef>
                <a:spcPts val="0"/>
              </a:spcBef>
              <a:spcAft>
                <a:spcPts val="0"/>
              </a:spcAft>
            </a:pPr>
            <a:r>
              <a:rPr sz="2800" b="1" i="0">
                <a:solidFill>
                  <a:srgbClr val="375623"/>
                </a:solidFill>
                <a:latin typeface="Times New Roman"/>
              </a:rPr>
              <a:t>500 ms</a:t>
            </a:r>
          </a:p>
        </p:txBody>
      </p:sp>
      <p:sp>
        <p:nvSpPr>
          <p:cNvPr id="47" name="TextBox 46"/>
          <p:cNvSpPr txBox="1"/>
          <p:nvPr/>
        </p:nvSpPr>
        <p:spPr>
          <a:xfrm>
            <a:off x="1965960" y="5669280"/>
            <a:ext cx="2819399" cy="5029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the loop repeats every half second per machine</a:t>
            </a:r>
          </a:p>
        </p:txBody>
      </p:sp>
      <p:sp>
        <p:nvSpPr>
          <p:cNvPr id="48" name="Rounded Rectangle 47"/>
          <p:cNvSpPr/>
          <p:nvPr/>
        </p:nvSpPr>
        <p:spPr>
          <a:xfrm>
            <a:off x="5196839" y="5029200"/>
            <a:ext cx="3185159" cy="118872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9" name="TextBox 48"/>
          <p:cNvSpPr txBox="1"/>
          <p:nvPr/>
        </p:nvSpPr>
        <p:spPr>
          <a:xfrm>
            <a:off x="5379720" y="5102352"/>
            <a:ext cx="2819399" cy="548640"/>
          </a:xfrm>
          <a:prstGeom prst="rect">
            <a:avLst/>
          </a:prstGeom>
          <a:noFill/>
        </p:spPr>
        <p:txBody>
          <a:bodyPr wrap="square" lIns="0" rIns="0" tIns="0" bIns="0" anchor="ctr">
            <a:noAutofit/>
          </a:bodyPr>
          <a:lstStyle/>
          <a:p>
            <a:pPr algn="l">
              <a:spcBef>
                <a:spcPts val="0"/>
              </a:spcBef>
              <a:spcAft>
                <a:spcPts val="0"/>
              </a:spcAft>
            </a:pPr>
            <a:r>
              <a:rPr sz="2800" b="1" i="0">
                <a:solidFill>
                  <a:srgbClr val="375623"/>
                </a:solidFill>
                <a:latin typeface="Times New Roman"/>
              </a:rPr>
              <a:t>0.51 s</a:t>
            </a:r>
          </a:p>
        </p:txBody>
      </p:sp>
      <p:sp>
        <p:nvSpPr>
          <p:cNvPr id="50" name="TextBox 49"/>
          <p:cNvSpPr txBox="1"/>
          <p:nvPr/>
        </p:nvSpPr>
        <p:spPr>
          <a:xfrm>
            <a:off x="5379720" y="5669280"/>
            <a:ext cx="2819399" cy="5029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end-to-end update latency, 95th percentile (limit 1 s)</a:t>
            </a:r>
          </a:p>
        </p:txBody>
      </p:sp>
      <p:sp>
        <p:nvSpPr>
          <p:cNvPr id="51" name="Rounded Rectangle 50"/>
          <p:cNvSpPr/>
          <p:nvPr/>
        </p:nvSpPr>
        <p:spPr>
          <a:xfrm>
            <a:off x="8610600" y="5029200"/>
            <a:ext cx="3185159" cy="118872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2" name="TextBox 51"/>
          <p:cNvSpPr txBox="1"/>
          <p:nvPr/>
        </p:nvSpPr>
        <p:spPr>
          <a:xfrm>
            <a:off x="8793479" y="5102352"/>
            <a:ext cx="2819399" cy="548640"/>
          </a:xfrm>
          <a:prstGeom prst="rect">
            <a:avLst/>
          </a:prstGeom>
          <a:noFill/>
        </p:spPr>
        <p:txBody>
          <a:bodyPr wrap="square" lIns="0" rIns="0" tIns="0" bIns="0" anchor="ctr">
            <a:noAutofit/>
          </a:bodyPr>
          <a:lstStyle/>
          <a:p>
            <a:pPr algn="l">
              <a:spcBef>
                <a:spcPts val="0"/>
              </a:spcBef>
              <a:spcAft>
                <a:spcPts val="0"/>
              </a:spcAft>
            </a:pPr>
            <a:r>
              <a:rPr sz="2800" b="1" i="0">
                <a:solidFill>
                  <a:srgbClr val="375623"/>
                </a:solidFill>
                <a:latin typeface="Times New Roman"/>
              </a:rPr>
              <a:t>≤ 25 ms</a:t>
            </a:r>
          </a:p>
        </p:txBody>
      </p:sp>
      <p:sp>
        <p:nvSpPr>
          <p:cNvPr id="53" name="TextBox 52"/>
          <p:cNvSpPr txBox="1"/>
          <p:nvPr/>
        </p:nvSpPr>
        <p:spPr>
          <a:xfrm>
            <a:off x="8793479" y="5669280"/>
            <a:ext cx="2819399" cy="5029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worst-case ML inference measured (limit 200 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 Flow Diagram – Level 0 (Context)</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Oval 3"/>
          <p:cNvSpPr/>
          <p:nvPr/>
        </p:nvSpPr>
        <p:spPr>
          <a:xfrm>
            <a:off x="5417820" y="2011680"/>
            <a:ext cx="2743200" cy="3291840"/>
          </a:xfrm>
          <a:prstGeom prst="ellipse">
            <a:avLst/>
          </a:prstGeom>
          <a:solidFill>
            <a:srgbClr val="DCFCE7"/>
          </a:solidFill>
          <a:ln w="285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400" b="1" i="0">
                <a:solidFill>
                  <a:srgbClr val="475569"/>
                </a:solidFill>
                <a:latin typeface="Times New Roman"/>
              </a:rPr>
              <a:t>0</a:t>
            </a:r>
          </a:p>
          <a:p>
            <a:pPr algn="ctr">
              <a:spcBef>
                <a:spcPts val="0"/>
              </a:spcBef>
              <a:spcAft>
                <a:spcPts val="0"/>
              </a:spcAft>
            </a:pPr>
            <a:r>
              <a:rPr sz="1700" b="1" i="0">
                <a:solidFill>
                  <a:srgbClr val="111827"/>
                </a:solidFill>
                <a:latin typeface="Times New Roman"/>
              </a:rPr>
              <a:t>Real-Time OEE &amp; Anomaly Dashboard</a:t>
            </a:r>
          </a:p>
        </p:txBody>
      </p:sp>
      <p:sp>
        <p:nvSpPr>
          <p:cNvPr id="5" name="Rectangle 4"/>
          <p:cNvSpPr/>
          <p:nvPr/>
        </p:nvSpPr>
        <p:spPr>
          <a:xfrm>
            <a:off x="1783080" y="2628900"/>
            <a:ext cx="1965960" cy="777240"/>
          </a:xfrm>
          <a:prstGeom prst="rect">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Virtual Factory (machines)</a:t>
            </a:r>
          </a:p>
        </p:txBody>
      </p:sp>
      <p:sp>
        <p:nvSpPr>
          <p:cNvPr id="6" name="Rectangle 5"/>
          <p:cNvSpPr/>
          <p:nvPr/>
        </p:nvSpPr>
        <p:spPr>
          <a:xfrm>
            <a:off x="1783080" y="3909060"/>
            <a:ext cx="1965960" cy="777240"/>
          </a:xfrm>
          <a:prstGeom prst="rect">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System Administrator</a:t>
            </a:r>
          </a:p>
        </p:txBody>
      </p:sp>
      <p:sp>
        <p:nvSpPr>
          <p:cNvPr id="7" name="Rectangle 6"/>
          <p:cNvSpPr/>
          <p:nvPr/>
        </p:nvSpPr>
        <p:spPr>
          <a:xfrm>
            <a:off x="9829799" y="1988820"/>
            <a:ext cx="1965960" cy="777240"/>
          </a:xfrm>
          <a:prstGeom prst="rect">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Floor Manager</a:t>
            </a:r>
          </a:p>
        </p:txBody>
      </p:sp>
      <p:sp>
        <p:nvSpPr>
          <p:cNvPr id="8" name="Rectangle 7"/>
          <p:cNvSpPr/>
          <p:nvPr/>
        </p:nvSpPr>
        <p:spPr>
          <a:xfrm>
            <a:off x="9829799" y="3268980"/>
            <a:ext cx="1965960" cy="777240"/>
          </a:xfrm>
          <a:prstGeom prst="rect">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Maintenance Engineer</a:t>
            </a:r>
          </a:p>
        </p:txBody>
      </p:sp>
      <p:sp>
        <p:nvSpPr>
          <p:cNvPr id="9" name="Rectangle 8"/>
          <p:cNvSpPr/>
          <p:nvPr/>
        </p:nvSpPr>
        <p:spPr>
          <a:xfrm>
            <a:off x="9829799" y="4549140"/>
            <a:ext cx="1965960" cy="777240"/>
          </a:xfrm>
          <a:prstGeom prst="rect">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Production Analyst</a:t>
            </a:r>
          </a:p>
        </p:txBody>
      </p:sp>
      <p:cxnSp>
        <p:nvCxnSpPr>
          <p:cNvPr id="10" name="Connector 9"/>
          <p:cNvCxnSpPr/>
          <p:nvPr/>
        </p:nvCxnSpPr>
        <p:spPr>
          <a:xfrm>
            <a:off x="3776472" y="3017520"/>
            <a:ext cx="1721881"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776472" y="2743200"/>
            <a:ext cx="1721881"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telemetry readings</a:t>
            </a:r>
          </a:p>
        </p:txBody>
      </p:sp>
      <p:cxnSp>
        <p:nvCxnSpPr>
          <p:cNvPr id="12" name="Connector 11"/>
          <p:cNvCxnSpPr/>
          <p:nvPr/>
        </p:nvCxnSpPr>
        <p:spPr>
          <a:xfrm>
            <a:off x="3776472" y="4297680"/>
            <a:ext cx="1721881"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776472" y="4023360"/>
            <a:ext cx="1721881"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configuration</a:t>
            </a:r>
          </a:p>
        </p:txBody>
      </p:sp>
      <p:cxnSp>
        <p:nvCxnSpPr>
          <p:cNvPr id="14" name="Connector 13"/>
          <p:cNvCxnSpPr/>
          <p:nvPr/>
        </p:nvCxnSpPr>
        <p:spPr>
          <a:xfrm flipH="1">
            <a:off x="7365015" y="2148840"/>
            <a:ext cx="2437352"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365015" y="1874520"/>
            <a:ext cx="2437352"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live status · OEE · alerts</a:t>
            </a:r>
          </a:p>
        </p:txBody>
      </p:sp>
      <p:cxnSp>
        <p:nvCxnSpPr>
          <p:cNvPr id="16" name="Connector 15"/>
          <p:cNvCxnSpPr/>
          <p:nvPr/>
        </p:nvCxnSpPr>
        <p:spPr>
          <a:xfrm>
            <a:off x="7872022" y="2606040"/>
            <a:ext cx="1930345"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872022" y="2331720"/>
            <a:ext cx="1930345"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What-If request</a:t>
            </a:r>
          </a:p>
        </p:txBody>
      </p:sp>
      <p:cxnSp>
        <p:nvCxnSpPr>
          <p:cNvPr id="18" name="Connector 17"/>
          <p:cNvCxnSpPr/>
          <p:nvPr/>
        </p:nvCxnSpPr>
        <p:spPr>
          <a:xfrm flipH="1">
            <a:off x="8175158" y="3429000"/>
            <a:ext cx="1627209"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75158" y="3154680"/>
            <a:ext cx="162720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alerts · live status</a:t>
            </a:r>
          </a:p>
        </p:txBody>
      </p:sp>
      <p:cxnSp>
        <p:nvCxnSpPr>
          <p:cNvPr id="20" name="Connector 19"/>
          <p:cNvCxnSpPr/>
          <p:nvPr/>
        </p:nvCxnSpPr>
        <p:spPr>
          <a:xfrm>
            <a:off x="8175158" y="3886200"/>
            <a:ext cx="1627209"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175158" y="3611880"/>
            <a:ext cx="1627209"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acknowledge · feedback</a:t>
            </a:r>
          </a:p>
        </p:txBody>
      </p:sp>
      <p:cxnSp>
        <p:nvCxnSpPr>
          <p:cNvPr id="22" name="Connector 21"/>
          <p:cNvCxnSpPr/>
          <p:nvPr/>
        </p:nvCxnSpPr>
        <p:spPr>
          <a:xfrm flipH="1">
            <a:off x="7872022" y="4709160"/>
            <a:ext cx="1930345"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872022" y="4434840"/>
            <a:ext cx="1930345"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historical reports</a:t>
            </a:r>
          </a:p>
        </p:txBody>
      </p:sp>
      <p:cxnSp>
        <p:nvCxnSpPr>
          <p:cNvPr id="24" name="Connector 23"/>
          <p:cNvCxnSpPr/>
          <p:nvPr/>
        </p:nvCxnSpPr>
        <p:spPr>
          <a:xfrm>
            <a:off x="7365015" y="5166360"/>
            <a:ext cx="2437352" cy="0"/>
          </a:xfrm>
          <a:prstGeom prst="line">
            <a:avLst/>
          </a:prstGeom>
          <a:ln w="2413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365015" y="4892040"/>
            <a:ext cx="2437352" cy="237744"/>
          </a:xfrm>
          <a:prstGeom prst="rect">
            <a:avLst/>
          </a:prstGeom>
          <a:noFill/>
        </p:spPr>
        <p:txBody>
          <a:bodyPr wrap="square" lIns="0" rIns="0" tIns="0" bIns="0" anchor="ctr">
            <a:noAutofit/>
          </a:bodyPr>
          <a:lstStyle/>
          <a:p>
            <a:pPr algn="ctr">
              <a:spcBef>
                <a:spcPts val="0"/>
              </a:spcBef>
              <a:spcAft>
                <a:spcPts val="0"/>
              </a:spcAft>
            </a:pPr>
            <a:r>
              <a:rPr sz="1200" b="0" i="0">
                <a:solidFill>
                  <a:srgbClr val="475569"/>
                </a:solidFill>
                <a:latin typeface="Times New Roman"/>
              </a:rPr>
              <a:t>report request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 Flow Diagram – Level 1 (Seven Processes)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2606040"/>
            <a:ext cx="1257953" cy="1417320"/>
          </a:xfrm>
          <a:prstGeom prst="roundRect">
            <a:avLst>
              <a:gd name="adj" fmla="val 872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P1</a:t>
            </a:r>
          </a:p>
          <a:p>
            <a:pPr algn="ctr">
              <a:spcBef>
                <a:spcPts val="0"/>
              </a:spcBef>
              <a:spcAft>
                <a:spcPts val="0"/>
              </a:spcAft>
            </a:pPr>
            <a:r>
              <a:rPr sz="1400" b="1" i="0">
                <a:solidFill>
                  <a:srgbClr val="111827"/>
                </a:solidFill>
                <a:latin typeface="Times New Roman"/>
              </a:rPr>
              <a:t>Simulate telemetry</a:t>
            </a:r>
          </a:p>
        </p:txBody>
      </p:sp>
      <p:sp>
        <p:nvSpPr>
          <p:cNvPr id="5" name="Rounded Rectangle 4"/>
          <p:cNvSpPr/>
          <p:nvPr/>
        </p:nvSpPr>
        <p:spPr>
          <a:xfrm>
            <a:off x="3242201" y="2606040"/>
            <a:ext cx="1257953" cy="1417320"/>
          </a:xfrm>
          <a:prstGeom prst="roundRect">
            <a:avLst>
              <a:gd name="adj" fmla="val 8722"/>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P2</a:t>
            </a:r>
          </a:p>
          <a:p>
            <a:pPr algn="ctr">
              <a:spcBef>
                <a:spcPts val="0"/>
              </a:spcBef>
              <a:spcAft>
                <a:spcPts val="0"/>
              </a:spcAft>
            </a:pPr>
            <a:r>
              <a:rPr sz="1400" b="1" i="0">
                <a:solidFill>
                  <a:srgbClr val="111827"/>
                </a:solidFill>
                <a:latin typeface="Times New Roman"/>
              </a:rPr>
              <a:t>Validate &amp; ingest</a:t>
            </a:r>
          </a:p>
        </p:txBody>
      </p:sp>
      <p:sp>
        <p:nvSpPr>
          <p:cNvPr id="6" name="Rounded Rectangle 5"/>
          <p:cNvSpPr/>
          <p:nvPr/>
        </p:nvSpPr>
        <p:spPr>
          <a:xfrm>
            <a:off x="4701322" y="2606040"/>
            <a:ext cx="1257953" cy="1417320"/>
          </a:xfrm>
          <a:prstGeom prst="roundRect">
            <a:avLst>
              <a:gd name="adj" fmla="val 8722"/>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P3</a:t>
            </a:r>
          </a:p>
          <a:p>
            <a:pPr algn="ctr">
              <a:spcBef>
                <a:spcPts val="0"/>
              </a:spcBef>
              <a:spcAft>
                <a:spcPts val="0"/>
              </a:spcAft>
            </a:pPr>
            <a:r>
              <a:rPr sz="1400" b="1" i="0">
                <a:solidFill>
                  <a:srgbClr val="111827"/>
                </a:solidFill>
                <a:latin typeface="Times New Roman"/>
              </a:rPr>
              <a:t>Calculate OEE</a:t>
            </a:r>
          </a:p>
        </p:txBody>
      </p:sp>
      <p:sp>
        <p:nvSpPr>
          <p:cNvPr id="7" name="Rounded Rectangle 6"/>
          <p:cNvSpPr/>
          <p:nvPr/>
        </p:nvSpPr>
        <p:spPr>
          <a:xfrm>
            <a:off x="6160443" y="2606040"/>
            <a:ext cx="1257953" cy="1417320"/>
          </a:xfrm>
          <a:prstGeom prst="roundRect">
            <a:avLst>
              <a:gd name="adj" fmla="val 872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P4</a:t>
            </a:r>
          </a:p>
          <a:p>
            <a:pPr algn="ctr">
              <a:spcBef>
                <a:spcPts val="0"/>
              </a:spcBef>
              <a:spcAft>
                <a:spcPts val="0"/>
              </a:spcAft>
            </a:pPr>
            <a:r>
              <a:rPr sz="1400" b="1" i="0">
                <a:solidFill>
                  <a:srgbClr val="111827"/>
                </a:solidFill>
                <a:latin typeface="Times New Roman"/>
              </a:rPr>
              <a:t>Detect faults &amp; anomalies</a:t>
            </a:r>
          </a:p>
        </p:txBody>
      </p:sp>
      <p:sp>
        <p:nvSpPr>
          <p:cNvPr id="8" name="Rounded Rectangle 7"/>
          <p:cNvSpPr/>
          <p:nvPr/>
        </p:nvSpPr>
        <p:spPr>
          <a:xfrm>
            <a:off x="7619564" y="2606040"/>
            <a:ext cx="1257953" cy="1417320"/>
          </a:xfrm>
          <a:prstGeom prst="roundRect">
            <a:avLst>
              <a:gd name="adj" fmla="val 8722"/>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P5</a:t>
            </a:r>
          </a:p>
          <a:p>
            <a:pPr algn="ctr">
              <a:spcBef>
                <a:spcPts val="0"/>
              </a:spcBef>
              <a:spcAft>
                <a:spcPts val="0"/>
              </a:spcAft>
            </a:pPr>
            <a:r>
              <a:rPr sz="1400" b="1" i="0">
                <a:solidFill>
                  <a:srgbClr val="111827"/>
                </a:solidFill>
                <a:latin typeface="Times New Roman"/>
              </a:rPr>
              <a:t>What-If projection</a:t>
            </a:r>
          </a:p>
        </p:txBody>
      </p:sp>
      <p:sp>
        <p:nvSpPr>
          <p:cNvPr id="9" name="Rounded Rectangle 8"/>
          <p:cNvSpPr/>
          <p:nvPr/>
        </p:nvSpPr>
        <p:spPr>
          <a:xfrm>
            <a:off x="9078685" y="2606040"/>
            <a:ext cx="1257953" cy="1417320"/>
          </a:xfrm>
          <a:prstGeom prst="roundRect">
            <a:avLst>
              <a:gd name="adj" fmla="val 8722"/>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P6</a:t>
            </a:r>
          </a:p>
          <a:p>
            <a:pPr algn="ctr">
              <a:spcBef>
                <a:spcPts val="0"/>
              </a:spcBef>
              <a:spcAft>
                <a:spcPts val="0"/>
              </a:spcAft>
            </a:pPr>
            <a:r>
              <a:rPr sz="1400" b="1" i="0">
                <a:solidFill>
                  <a:srgbClr val="111827"/>
                </a:solidFill>
                <a:latin typeface="Times New Roman"/>
              </a:rPr>
              <a:t>Manage alerts &amp; maintenance</a:t>
            </a:r>
          </a:p>
        </p:txBody>
      </p:sp>
      <p:sp>
        <p:nvSpPr>
          <p:cNvPr id="10" name="Rounded Rectangle 9"/>
          <p:cNvSpPr/>
          <p:nvPr/>
        </p:nvSpPr>
        <p:spPr>
          <a:xfrm>
            <a:off x="10537806" y="2606040"/>
            <a:ext cx="1257953" cy="1417320"/>
          </a:xfrm>
          <a:prstGeom prst="roundRect">
            <a:avLst>
              <a:gd name="adj" fmla="val 8722"/>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C00000"/>
                </a:solidFill>
                <a:latin typeface="Times New Roman"/>
              </a:rPr>
              <a:t>P7</a:t>
            </a:r>
          </a:p>
          <a:p>
            <a:pPr algn="ctr">
              <a:spcBef>
                <a:spcPts val="0"/>
              </a:spcBef>
              <a:spcAft>
                <a:spcPts val="0"/>
              </a:spcAft>
            </a:pPr>
            <a:r>
              <a:rPr sz="1400" b="1" i="0">
                <a:solidFill>
                  <a:srgbClr val="111827"/>
                </a:solidFill>
                <a:latin typeface="Times New Roman"/>
              </a:rPr>
              <a:t>Display &amp; report</a:t>
            </a:r>
          </a:p>
        </p:txBody>
      </p:sp>
      <p:cxnSp>
        <p:nvCxnSpPr>
          <p:cNvPr id="11" name="Connector 10"/>
          <p:cNvCxnSpPr/>
          <p:nvPr/>
        </p:nvCxnSpPr>
        <p:spPr>
          <a:xfrm>
            <a:off x="3050177"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09298"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68419"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27540"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86661"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45782" y="3314700"/>
            <a:ext cx="18288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783080" y="1005840"/>
            <a:ext cx="1257953" cy="777240"/>
          </a:xfrm>
          <a:prstGeom prst="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300" b="1" i="0">
                <a:solidFill>
                  <a:srgbClr val="111827"/>
                </a:solidFill>
                <a:latin typeface="Times New Roman"/>
              </a:rPr>
              <a:t>System Administrator</a:t>
            </a:r>
          </a:p>
        </p:txBody>
      </p:sp>
      <p:cxnSp>
        <p:nvCxnSpPr>
          <p:cNvPr id="18" name="Connector 17"/>
          <p:cNvCxnSpPr/>
          <p:nvPr/>
        </p:nvCxnSpPr>
        <p:spPr>
          <a:xfrm>
            <a:off x="2039112" y="1801368"/>
            <a:ext cx="0" cy="777240"/>
          </a:xfrm>
          <a:prstGeom prst="line">
            <a:avLst/>
          </a:prstGeom>
          <a:ln w="22225">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30552" y="1920240"/>
            <a:ext cx="892193" cy="64008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configure</a:t>
            </a:r>
          </a:p>
        </p:txBody>
      </p:sp>
      <p:sp>
        <p:nvSpPr>
          <p:cNvPr id="20" name="Rectangle 19"/>
          <p:cNvSpPr/>
          <p:nvPr/>
        </p:nvSpPr>
        <p:spPr>
          <a:xfrm>
            <a:off x="7619564" y="1005840"/>
            <a:ext cx="1257953" cy="777240"/>
          </a:xfrm>
          <a:prstGeom prst="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300" b="1" i="0">
                <a:solidFill>
                  <a:srgbClr val="111827"/>
                </a:solidFill>
                <a:latin typeface="Times New Roman"/>
              </a:rPr>
              <a:t>Floor Manager</a:t>
            </a:r>
          </a:p>
        </p:txBody>
      </p:sp>
      <p:cxnSp>
        <p:nvCxnSpPr>
          <p:cNvPr id="21" name="Connector 20"/>
          <p:cNvCxnSpPr/>
          <p:nvPr/>
        </p:nvCxnSpPr>
        <p:spPr>
          <a:xfrm>
            <a:off x="7875596" y="1801368"/>
            <a:ext cx="0" cy="777240"/>
          </a:xfrm>
          <a:prstGeom prst="line">
            <a:avLst/>
          </a:prstGeom>
          <a:ln w="22225">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67036" y="1920240"/>
            <a:ext cx="892193" cy="64008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What-If request</a:t>
            </a:r>
          </a:p>
        </p:txBody>
      </p:sp>
      <p:sp>
        <p:nvSpPr>
          <p:cNvPr id="23" name="Rectangle 22"/>
          <p:cNvSpPr/>
          <p:nvPr/>
        </p:nvSpPr>
        <p:spPr>
          <a:xfrm>
            <a:off x="9078685" y="1005840"/>
            <a:ext cx="1257953" cy="777240"/>
          </a:xfrm>
          <a:prstGeom prst="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300" b="1" i="0">
                <a:solidFill>
                  <a:srgbClr val="111827"/>
                </a:solidFill>
                <a:latin typeface="Times New Roman"/>
              </a:rPr>
              <a:t>Maintenance Engineer</a:t>
            </a:r>
          </a:p>
        </p:txBody>
      </p:sp>
      <p:cxnSp>
        <p:nvCxnSpPr>
          <p:cNvPr id="24" name="Connector 23"/>
          <p:cNvCxnSpPr/>
          <p:nvPr/>
        </p:nvCxnSpPr>
        <p:spPr>
          <a:xfrm>
            <a:off x="9334717" y="1801368"/>
            <a:ext cx="0" cy="777240"/>
          </a:xfrm>
          <a:prstGeom prst="line">
            <a:avLst/>
          </a:prstGeom>
          <a:ln w="22225">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426157" y="1920240"/>
            <a:ext cx="892193" cy="64008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acknowledge, notes</a:t>
            </a:r>
          </a:p>
        </p:txBody>
      </p:sp>
      <p:sp>
        <p:nvSpPr>
          <p:cNvPr id="26" name="Rectangle 25"/>
          <p:cNvSpPr/>
          <p:nvPr/>
        </p:nvSpPr>
        <p:spPr>
          <a:xfrm>
            <a:off x="10537806" y="1005840"/>
            <a:ext cx="1257953" cy="777240"/>
          </a:xfrm>
          <a:prstGeom prst="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300" b="1" i="0">
                <a:solidFill>
                  <a:srgbClr val="111827"/>
                </a:solidFill>
                <a:latin typeface="Times New Roman"/>
              </a:rPr>
              <a:t>Production Analyst</a:t>
            </a:r>
          </a:p>
        </p:txBody>
      </p:sp>
      <p:cxnSp>
        <p:nvCxnSpPr>
          <p:cNvPr id="27" name="Connector 26"/>
          <p:cNvCxnSpPr/>
          <p:nvPr/>
        </p:nvCxnSpPr>
        <p:spPr>
          <a:xfrm>
            <a:off x="10793838" y="1801368"/>
            <a:ext cx="0" cy="777240"/>
          </a:xfrm>
          <a:prstGeom prst="line">
            <a:avLst/>
          </a:prstGeom>
          <a:ln w="22225">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885278" y="1920240"/>
            <a:ext cx="892193" cy="64008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report request</a:t>
            </a:r>
          </a:p>
        </p:txBody>
      </p:sp>
      <p:sp>
        <p:nvSpPr>
          <p:cNvPr id="29" name="Rectangle 28"/>
          <p:cNvSpPr/>
          <p:nvPr/>
        </p:nvSpPr>
        <p:spPr>
          <a:xfrm>
            <a:off x="1783080" y="4983480"/>
            <a:ext cx="2717074" cy="777240"/>
          </a:xfrm>
          <a:prstGeom prst="rect">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400" b="1" i="0">
                <a:solidFill>
                  <a:srgbClr val="111827"/>
                </a:solidFill>
                <a:latin typeface="Times New Roman"/>
              </a:rPr>
              <a:t>D3  MQTT broker</a:t>
            </a:r>
          </a:p>
          <a:p>
            <a:pPr algn="ctr">
              <a:spcBef>
                <a:spcPts val="0"/>
              </a:spcBef>
              <a:spcAft>
                <a:spcPts val="0"/>
              </a:spcAft>
            </a:pPr>
            <a:r>
              <a:rPr sz="1100" b="0" i="0">
                <a:solidFill>
                  <a:srgbClr val="111827"/>
                </a:solidFill>
                <a:latin typeface="Times New Roman"/>
              </a:rPr>
              <a:t>transient</a:t>
            </a:r>
          </a:p>
        </p:txBody>
      </p:sp>
      <p:sp>
        <p:nvSpPr>
          <p:cNvPr id="30" name="Rectangle 29"/>
          <p:cNvSpPr/>
          <p:nvPr/>
        </p:nvSpPr>
        <p:spPr>
          <a:xfrm>
            <a:off x="4701322" y="4983480"/>
            <a:ext cx="4176195" cy="777240"/>
          </a:xfrm>
          <a:prstGeom prst="rect">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400" b="1" i="0">
                <a:solidFill>
                  <a:srgbClr val="111827"/>
                </a:solidFill>
                <a:latin typeface="Times New Roman"/>
              </a:rPr>
              <a:t>D1  InfluxDB</a:t>
            </a:r>
          </a:p>
          <a:p>
            <a:pPr algn="ctr">
              <a:spcBef>
                <a:spcPts val="0"/>
              </a:spcBef>
              <a:spcAft>
                <a:spcPts val="0"/>
              </a:spcAft>
            </a:pPr>
            <a:r>
              <a:rPr sz="1100" b="0" i="0">
                <a:solidFill>
                  <a:srgbClr val="111827"/>
                </a:solidFill>
                <a:latin typeface="Times New Roman"/>
              </a:rPr>
              <a:t>time series</a:t>
            </a:r>
          </a:p>
        </p:txBody>
      </p:sp>
      <p:sp>
        <p:nvSpPr>
          <p:cNvPr id="31" name="Rectangle 30"/>
          <p:cNvSpPr/>
          <p:nvPr/>
        </p:nvSpPr>
        <p:spPr>
          <a:xfrm>
            <a:off x="9078685" y="4983480"/>
            <a:ext cx="2717074" cy="777240"/>
          </a:xfrm>
          <a:prstGeom prst="rect">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noAutofit/>
          </a:bodyPr>
          <a:lstStyle/>
          <a:p>
            <a:pPr algn="ctr">
              <a:spcBef>
                <a:spcPts val="0"/>
              </a:spcBef>
              <a:spcAft>
                <a:spcPts val="0"/>
              </a:spcAft>
            </a:pPr>
            <a:r>
              <a:rPr sz="1400" b="1" i="0">
                <a:solidFill>
                  <a:srgbClr val="111827"/>
                </a:solidFill>
                <a:latin typeface="Times New Roman"/>
              </a:rPr>
              <a:t>D2  PostgreSQL</a:t>
            </a:r>
          </a:p>
          <a:p>
            <a:pPr algn="ctr">
              <a:spcBef>
                <a:spcPts val="0"/>
              </a:spcBef>
              <a:spcAft>
                <a:spcPts val="0"/>
              </a:spcAft>
            </a:pPr>
            <a:r>
              <a:rPr sz="1100" b="0" i="0">
                <a:solidFill>
                  <a:srgbClr val="111827"/>
                </a:solidFill>
                <a:latin typeface="Times New Roman"/>
              </a:rPr>
              <a:t>metadata · alerts · maintenance · feedback</a:t>
            </a:r>
          </a:p>
        </p:txBody>
      </p:sp>
      <p:cxnSp>
        <p:nvCxnSpPr>
          <p:cNvPr id="32" name="Connector 31"/>
          <p:cNvCxnSpPr/>
          <p:nvPr/>
        </p:nvCxnSpPr>
        <p:spPr>
          <a:xfrm>
            <a:off x="2039112" y="4041648"/>
            <a:ext cx="0" cy="923544"/>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130552" y="4343400"/>
            <a:ext cx="892193" cy="45720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publish</a:t>
            </a:r>
          </a:p>
        </p:txBody>
      </p:sp>
      <p:cxnSp>
        <p:nvCxnSpPr>
          <p:cNvPr id="34" name="Connector 33"/>
          <p:cNvCxnSpPr/>
          <p:nvPr/>
        </p:nvCxnSpPr>
        <p:spPr>
          <a:xfrm flipV="1">
            <a:off x="3498233" y="4041648"/>
            <a:ext cx="0" cy="923544"/>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589673" y="4343400"/>
            <a:ext cx="892193" cy="45720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subscribe</a:t>
            </a:r>
          </a:p>
        </p:txBody>
      </p:sp>
      <p:cxnSp>
        <p:nvCxnSpPr>
          <p:cNvPr id="36" name="Connector 35"/>
          <p:cNvCxnSpPr/>
          <p:nvPr/>
        </p:nvCxnSpPr>
        <p:spPr>
          <a:xfrm>
            <a:off x="4957354" y="4041648"/>
            <a:ext cx="0" cy="923544"/>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48794" y="4343400"/>
            <a:ext cx="892193" cy="45720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OEE windows</a:t>
            </a:r>
          </a:p>
        </p:txBody>
      </p:sp>
      <p:cxnSp>
        <p:nvCxnSpPr>
          <p:cNvPr id="38" name="Connector 37"/>
          <p:cNvCxnSpPr/>
          <p:nvPr/>
        </p:nvCxnSpPr>
        <p:spPr>
          <a:xfrm>
            <a:off x="9334717" y="4041648"/>
            <a:ext cx="0" cy="923544"/>
          </a:xfrm>
          <a:prstGeom prst="line">
            <a:avLst/>
          </a:prstGeom>
          <a:ln w="22225">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426157" y="4343400"/>
            <a:ext cx="892193" cy="45720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save / load</a:t>
            </a:r>
          </a:p>
        </p:txBody>
      </p:sp>
      <p:cxnSp>
        <p:nvCxnSpPr>
          <p:cNvPr id="40" name="Connector 39"/>
          <p:cNvCxnSpPr/>
          <p:nvPr/>
        </p:nvCxnSpPr>
        <p:spPr>
          <a:xfrm flipV="1">
            <a:off x="10793838" y="4041648"/>
            <a:ext cx="0" cy="923544"/>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885278" y="4343400"/>
            <a:ext cx="892193" cy="457200"/>
          </a:xfrm>
          <a:prstGeom prst="rect">
            <a:avLst/>
          </a:prstGeom>
          <a:noFill/>
        </p:spPr>
        <p:txBody>
          <a:bodyPr wrap="square" lIns="0" rIns="0" tIns="0" bIns="0" anchor="t">
            <a:noAutofit/>
          </a:bodyPr>
          <a:lstStyle/>
          <a:p>
            <a:pPr algn="l">
              <a:spcBef>
                <a:spcPts val="0"/>
              </a:spcBef>
              <a:spcAft>
                <a:spcPts val="0"/>
              </a:spcAft>
            </a:pPr>
            <a:r>
              <a:rPr sz="1100" b="0" i="0">
                <a:solidFill>
                  <a:srgbClr val="475569"/>
                </a:solidFill>
                <a:latin typeface="Times New Roman"/>
              </a:rPr>
              <a:t>history</a:t>
            </a:r>
          </a:p>
        </p:txBody>
      </p:sp>
      <p:sp>
        <p:nvSpPr>
          <p:cNvPr id="42" name="TextBox 41"/>
          <p:cNvSpPr txBox="1"/>
          <p:nvPr/>
        </p:nvSpPr>
        <p:spPr>
          <a:xfrm>
            <a:off x="1783080" y="5943600"/>
            <a:ext cx="10012680" cy="365760"/>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Arrows between processes: telemetry → valid readings → OEE → alerts → What-If / maintenance → dashboard and reports.  Process names are my decomposition of the SRS functions (§3.2).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Methodology</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Chevron 3"/>
          <p:cNvSpPr/>
          <p:nvPr/>
        </p:nvSpPr>
        <p:spPr>
          <a:xfrm>
            <a:off x="1783080" y="1097280"/>
            <a:ext cx="2057400" cy="86868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1  Requirements</a:t>
            </a:r>
          </a:p>
        </p:txBody>
      </p:sp>
      <p:sp>
        <p:nvSpPr>
          <p:cNvPr id="5" name="Rounded Rectangle 4"/>
          <p:cNvSpPr/>
          <p:nvPr/>
        </p:nvSpPr>
        <p:spPr>
          <a:xfrm>
            <a:off x="1783080" y="2194560"/>
            <a:ext cx="1856231" cy="3063240"/>
          </a:xfrm>
          <a:prstGeom prst="roundRect">
            <a:avLst>
              <a:gd name="adj" fmla="val 591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6" name="TextBox 5"/>
          <p:cNvSpPr txBox="1"/>
          <p:nvPr/>
        </p:nvSpPr>
        <p:spPr>
          <a:xfrm>
            <a:off x="1920240"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SRS: 12 functional and 18 non-functional requirements</a:t>
            </a:r>
          </a:p>
          <a:p>
            <a:pPr algn="l" marL="201168" indent="-201168">
              <a:spcBef>
                <a:spcPts val="0"/>
              </a:spcBef>
              <a:spcAft>
                <a:spcPts val="1000"/>
              </a:spcAft>
              <a:buFont typeface="Arial"/>
              <a:buChar char="•"/>
            </a:pPr>
            <a:r>
              <a:rPr sz="1500" b="0" i="0">
                <a:solidFill>
                  <a:srgbClr val="111827"/>
                </a:solidFill>
                <a:latin typeface="Times New Roman"/>
              </a:rPr>
              <a:t>6 user stories, 8 use cases</a:t>
            </a:r>
          </a:p>
          <a:p>
            <a:pPr algn="l" marL="201168" indent="-201168">
              <a:spcBef>
                <a:spcPts val="0"/>
              </a:spcBef>
              <a:spcAft>
                <a:spcPts val="1000"/>
              </a:spcAft>
              <a:buFont typeface="Arial"/>
              <a:buChar char="•"/>
            </a:pPr>
            <a:r>
              <a:rPr sz="1500" b="0" i="0">
                <a:solidFill>
                  <a:srgbClr val="111827"/>
                </a:solidFill>
                <a:latin typeface="Times New Roman"/>
              </a:rPr>
              <a:t>Constraints C-01 to C-07</a:t>
            </a:r>
          </a:p>
        </p:txBody>
      </p:sp>
      <p:sp>
        <p:nvSpPr>
          <p:cNvPr id="7" name="Chevron 6"/>
          <p:cNvSpPr/>
          <p:nvPr/>
        </p:nvSpPr>
        <p:spPr>
          <a:xfrm>
            <a:off x="3822191" y="1097280"/>
            <a:ext cx="2057400" cy="86868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2  Design</a:t>
            </a:r>
          </a:p>
        </p:txBody>
      </p:sp>
      <p:sp>
        <p:nvSpPr>
          <p:cNvPr id="8" name="Rounded Rectangle 7"/>
          <p:cNvSpPr/>
          <p:nvPr/>
        </p:nvSpPr>
        <p:spPr>
          <a:xfrm>
            <a:off x="3822191" y="2194560"/>
            <a:ext cx="1856231" cy="3063240"/>
          </a:xfrm>
          <a:prstGeom prst="roundRect">
            <a:avLst>
              <a:gd name="adj" fmla="val 591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3959352"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Architecture and data-flow diagrams</a:t>
            </a:r>
          </a:p>
          <a:p>
            <a:pPr algn="l" marL="201168" indent="-201168">
              <a:spcBef>
                <a:spcPts val="0"/>
              </a:spcBef>
              <a:spcAft>
                <a:spcPts val="1000"/>
              </a:spcAft>
              <a:buFont typeface="Arial"/>
              <a:buChar char="•"/>
            </a:pPr>
            <a:r>
              <a:rPr sz="1500" b="0" i="0">
                <a:solidFill>
                  <a:srgbClr val="111827"/>
                </a:solidFill>
                <a:latin typeface="Times New Roman"/>
              </a:rPr>
              <a:t>UML: use case, class, sequence, activity</a:t>
            </a:r>
          </a:p>
          <a:p>
            <a:pPr algn="l" marL="201168" indent="-201168">
              <a:spcBef>
                <a:spcPts val="0"/>
              </a:spcBef>
              <a:spcAft>
                <a:spcPts val="1000"/>
              </a:spcAft>
              <a:buFont typeface="Arial"/>
              <a:buChar char="•"/>
            </a:pPr>
            <a:r>
              <a:rPr sz="1500" b="0" i="0">
                <a:solidFill>
                  <a:srgbClr val="111827"/>
                </a:solidFill>
                <a:latin typeface="Times New Roman"/>
              </a:rPr>
              <a:t>Database schema</a:t>
            </a:r>
          </a:p>
        </p:txBody>
      </p:sp>
      <p:sp>
        <p:nvSpPr>
          <p:cNvPr id="10" name="Chevron 9"/>
          <p:cNvSpPr/>
          <p:nvPr/>
        </p:nvSpPr>
        <p:spPr>
          <a:xfrm>
            <a:off x="5861304" y="1097280"/>
            <a:ext cx="2057400" cy="868680"/>
          </a:xfrm>
          <a:prstGeom prst="chevron">
            <a:avLst>
              <a:gd name="adj" fmla="val 28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3  Build</a:t>
            </a:r>
          </a:p>
        </p:txBody>
      </p:sp>
      <p:sp>
        <p:nvSpPr>
          <p:cNvPr id="11" name="Rounded Rectangle 10"/>
          <p:cNvSpPr/>
          <p:nvPr/>
        </p:nvSpPr>
        <p:spPr>
          <a:xfrm>
            <a:off x="5861304" y="2194560"/>
            <a:ext cx="1856231" cy="3063240"/>
          </a:xfrm>
          <a:prstGeom prst="roundRect">
            <a:avLst>
              <a:gd name="adj" fmla="val 591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 name="TextBox 11"/>
          <p:cNvSpPr txBox="1"/>
          <p:nvPr/>
        </p:nvSpPr>
        <p:spPr>
          <a:xfrm>
            <a:off x="5998464"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Ten incremental milestones (M1 – M10)</a:t>
            </a:r>
          </a:p>
          <a:p>
            <a:pPr algn="l" marL="201168" indent="-201168">
              <a:spcBef>
                <a:spcPts val="0"/>
              </a:spcBef>
              <a:spcAft>
                <a:spcPts val="1000"/>
              </a:spcAft>
              <a:buFont typeface="Arial"/>
              <a:buChar char="•"/>
            </a:pPr>
            <a:r>
              <a:rPr sz="1500" b="0" i="0">
                <a:solidFill>
                  <a:srgbClr val="111827"/>
                </a:solidFill>
                <a:latin typeface="Times New Roman"/>
              </a:rPr>
              <a:t>Simulator → backend → ML → What-If → dashboard</a:t>
            </a:r>
          </a:p>
          <a:p>
            <a:pPr algn="l" marL="201168" indent="-201168">
              <a:spcBef>
                <a:spcPts val="0"/>
              </a:spcBef>
              <a:spcAft>
                <a:spcPts val="1000"/>
              </a:spcAft>
              <a:buFont typeface="Arial"/>
              <a:buChar char="•"/>
            </a:pPr>
            <a:r>
              <a:rPr sz="1500" b="0" i="0">
                <a:solidFill>
                  <a:srgbClr val="111827"/>
                </a:solidFill>
                <a:latin typeface="Times New Roman"/>
              </a:rPr>
              <a:t>Docker Compose, scripts</a:t>
            </a:r>
          </a:p>
        </p:txBody>
      </p:sp>
      <p:sp>
        <p:nvSpPr>
          <p:cNvPr id="13" name="Chevron 12"/>
          <p:cNvSpPr/>
          <p:nvPr/>
        </p:nvSpPr>
        <p:spPr>
          <a:xfrm>
            <a:off x="7900415" y="1097280"/>
            <a:ext cx="2057400" cy="868680"/>
          </a:xfrm>
          <a:prstGeom prst="chevron">
            <a:avLst>
              <a:gd name="adj" fmla="val 2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4  Verify</a:t>
            </a:r>
          </a:p>
        </p:txBody>
      </p:sp>
      <p:sp>
        <p:nvSpPr>
          <p:cNvPr id="14" name="Rounded Rectangle 13"/>
          <p:cNvSpPr/>
          <p:nvPr/>
        </p:nvSpPr>
        <p:spPr>
          <a:xfrm>
            <a:off x="7900415" y="2194560"/>
            <a:ext cx="1856231" cy="3063240"/>
          </a:xfrm>
          <a:prstGeom prst="roundRect">
            <a:avLst>
              <a:gd name="adj" fmla="val 591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TextBox 14"/>
          <p:cNvSpPr txBox="1"/>
          <p:nvPr/>
        </p:nvSpPr>
        <p:spPr>
          <a:xfrm>
            <a:off x="8037575"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45 automated tests</a:t>
            </a:r>
          </a:p>
          <a:p>
            <a:pPr algn="l" marL="201168" indent="-201168">
              <a:spcBef>
                <a:spcPts val="0"/>
              </a:spcBef>
              <a:spcAft>
                <a:spcPts val="1000"/>
              </a:spcAft>
              <a:buFont typeface="Arial"/>
              <a:buChar char="•"/>
            </a:pPr>
            <a:r>
              <a:rPr sz="1500" b="0" i="0">
                <a:solidFill>
                  <a:srgbClr val="111827"/>
                </a:solidFill>
                <a:latin typeface="Times New Roman"/>
              </a:rPr>
              <a:t>13-check end-to-end smoke test</a:t>
            </a:r>
          </a:p>
          <a:p>
            <a:pPr algn="l" marL="201168" indent="-201168">
              <a:spcBef>
                <a:spcPts val="0"/>
              </a:spcBef>
              <a:spcAft>
                <a:spcPts val="1000"/>
              </a:spcAft>
              <a:buFont typeface="Arial"/>
              <a:buChar char="•"/>
            </a:pPr>
            <a:r>
              <a:rPr sz="1500" b="0" i="0">
                <a:solidFill>
                  <a:srgbClr val="111827"/>
                </a:solidFill>
                <a:latin typeface="Times New Roman"/>
              </a:rPr>
              <a:t>Accessibility, 3 browsers, live databases</a:t>
            </a:r>
          </a:p>
        </p:txBody>
      </p:sp>
      <p:sp>
        <p:nvSpPr>
          <p:cNvPr id="16" name="Chevron 15"/>
          <p:cNvSpPr/>
          <p:nvPr/>
        </p:nvSpPr>
        <p:spPr>
          <a:xfrm>
            <a:off x="9939528" y="1097280"/>
            <a:ext cx="2057400" cy="86868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8288"/>
          <a:lstStyle/>
          <a:p>
            <a:pPr algn="l">
              <a:spcBef>
                <a:spcPts val="0"/>
              </a:spcBef>
              <a:spcAft>
                <a:spcPts val="0"/>
              </a:spcAft>
            </a:pPr>
            <a:r>
              <a:rPr sz="1300" b="1" i="0">
                <a:solidFill>
                  <a:srgbClr val="FFFFFF"/>
                </a:solidFill>
                <a:latin typeface="Times New Roman"/>
              </a:rPr>
              <a:t>5  Document</a:t>
            </a:r>
          </a:p>
        </p:txBody>
      </p:sp>
      <p:sp>
        <p:nvSpPr>
          <p:cNvPr id="17" name="Rounded Rectangle 16"/>
          <p:cNvSpPr/>
          <p:nvPr/>
        </p:nvSpPr>
        <p:spPr>
          <a:xfrm>
            <a:off x="9939528" y="2194560"/>
            <a:ext cx="1856231" cy="3063240"/>
          </a:xfrm>
          <a:prstGeom prst="roundRect">
            <a:avLst>
              <a:gd name="adj" fmla="val 591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8" name="TextBox 17"/>
          <p:cNvSpPr txBox="1"/>
          <p:nvPr/>
        </p:nvSpPr>
        <p:spPr>
          <a:xfrm>
            <a:off x="10076688" y="2331720"/>
            <a:ext cx="1581911" cy="2834640"/>
          </a:xfrm>
          <a:prstGeom prst="rect">
            <a:avLst/>
          </a:prstGeom>
          <a:noFill/>
        </p:spPr>
        <p:txBody>
          <a:bodyPr wrap="square" lIns="0" rIns="0" tIns="0" bIns="0" anchor="t">
            <a:noAutofit/>
          </a:bodyPr>
          <a:lstStyle/>
          <a:p>
            <a:pPr algn="l" marL="201168" indent="-201168">
              <a:spcBef>
                <a:spcPts val="0"/>
              </a:spcBef>
              <a:spcAft>
                <a:spcPts val="1000"/>
              </a:spcAft>
              <a:buFont typeface="Arial"/>
              <a:buChar char="•"/>
            </a:pPr>
            <a:r>
              <a:rPr sz="1500" b="0" i="0">
                <a:solidFill>
                  <a:srgbClr val="111827"/>
                </a:solidFill>
                <a:latin typeface="Times New Roman"/>
              </a:rPr>
              <a:t>Project report and this presentation</a:t>
            </a:r>
          </a:p>
          <a:p>
            <a:pPr algn="l" marL="201168" indent="-201168">
              <a:spcBef>
                <a:spcPts val="0"/>
              </a:spcBef>
              <a:spcAft>
                <a:spcPts val="1000"/>
              </a:spcAft>
              <a:buFont typeface="Arial"/>
              <a:buChar char="•"/>
            </a:pPr>
            <a:r>
              <a:rPr sz="1500" b="0" i="0">
                <a:solidFill>
                  <a:srgbClr val="111827"/>
                </a:solidFill>
                <a:latin typeface="Times New Roman"/>
              </a:rPr>
              <a:t>README, setup guides</a:t>
            </a:r>
          </a:p>
          <a:p>
            <a:pPr algn="l" marL="201168" indent="-201168">
              <a:spcBef>
                <a:spcPts val="0"/>
              </a:spcBef>
              <a:spcAft>
                <a:spcPts val="1000"/>
              </a:spcAft>
              <a:buFont typeface="Arial"/>
              <a:buChar char="•"/>
            </a:pPr>
            <a:r>
              <a:rPr sz="1500" b="0" i="0">
                <a:solidFill>
                  <a:srgbClr val="111827"/>
                </a:solidFill>
                <a:latin typeface="Times New Roman"/>
              </a:rPr>
              <a:t>Auto-generated API docs at /docs</a:t>
            </a:r>
          </a:p>
        </p:txBody>
      </p:sp>
      <p:sp>
        <p:nvSpPr>
          <p:cNvPr id="19" name="Rounded Rectangle 18"/>
          <p:cNvSpPr/>
          <p:nvPr/>
        </p:nvSpPr>
        <p:spPr>
          <a:xfrm>
            <a:off x="1783080" y="5486400"/>
            <a:ext cx="10012680" cy="731520"/>
          </a:xfrm>
          <a:prstGeom prst="roundRect">
            <a:avLst>
              <a:gd name="adj" fmla="val 15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375623"/>
                </a:solidFill>
                <a:latin typeface="Times New Roman"/>
              </a:rPr>
              <a:t>Every milestone ended with working code and passing tests – the Definition of Done in SRS §13.2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Modules (SRS §3.2)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331720" cy="2377440"/>
          </a:xfrm>
          <a:prstGeom prst="roundRect">
            <a:avLst>
              <a:gd name="adj" fmla="val 4705"/>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2024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Virtual Factory Simulator</a:t>
            </a:r>
          </a:p>
        </p:txBody>
      </p:sp>
      <p:sp>
        <p:nvSpPr>
          <p:cNvPr id="6" name="TextBox 5"/>
          <p:cNvSpPr txBox="1"/>
          <p:nvPr/>
        </p:nvSpPr>
        <p:spPr>
          <a:xfrm>
            <a:off x="192024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Emulates 5–20 machines; emits temperature, vibration, status and cycles every 500 ms.</a:t>
            </a:r>
          </a:p>
        </p:txBody>
      </p:sp>
      <p:sp>
        <p:nvSpPr>
          <p:cNvPr id="7" name="TextBox 6"/>
          <p:cNvSpPr txBox="1"/>
          <p:nvPr/>
        </p:nvSpPr>
        <p:spPr>
          <a:xfrm>
            <a:off x="192024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simulator/core.py</a:t>
            </a:r>
          </a:p>
        </p:txBody>
      </p:sp>
      <p:sp>
        <p:nvSpPr>
          <p:cNvPr id="8" name="Rounded Rectangle 7"/>
          <p:cNvSpPr/>
          <p:nvPr/>
        </p:nvSpPr>
        <p:spPr>
          <a:xfrm>
            <a:off x="4343400" y="1097280"/>
            <a:ext cx="2331720" cy="2377440"/>
          </a:xfrm>
          <a:prstGeom prst="roundRect">
            <a:avLst>
              <a:gd name="adj" fmla="val 470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448056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OEE Calculation Engine</a:t>
            </a:r>
          </a:p>
        </p:txBody>
      </p:sp>
      <p:sp>
        <p:nvSpPr>
          <p:cNvPr id="10" name="TextBox 9"/>
          <p:cNvSpPr txBox="1"/>
          <p:nvPr/>
        </p:nvSpPr>
        <p:spPr>
          <a:xfrm>
            <a:off x="448056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Availability × Performance × Quality over rolling 1 h and 8 h windows.</a:t>
            </a:r>
          </a:p>
        </p:txBody>
      </p:sp>
      <p:sp>
        <p:nvSpPr>
          <p:cNvPr id="11" name="TextBox 10"/>
          <p:cNvSpPr txBox="1"/>
          <p:nvPr/>
        </p:nvSpPr>
        <p:spPr>
          <a:xfrm>
            <a:off x="448056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backend/app/services/oee.py</a:t>
            </a:r>
          </a:p>
        </p:txBody>
      </p:sp>
      <p:sp>
        <p:nvSpPr>
          <p:cNvPr id="12" name="Rounded Rectangle 11"/>
          <p:cNvSpPr/>
          <p:nvPr/>
        </p:nvSpPr>
        <p:spPr>
          <a:xfrm>
            <a:off x="6903720" y="1097280"/>
            <a:ext cx="2331720" cy="2377440"/>
          </a:xfrm>
          <a:prstGeom prst="roundRect">
            <a:avLst>
              <a:gd name="adj" fmla="val 4705"/>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7040880"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Rule-Based Alert Engine</a:t>
            </a:r>
          </a:p>
        </p:txBody>
      </p:sp>
      <p:sp>
        <p:nvSpPr>
          <p:cNvPr id="14" name="TextBox 13"/>
          <p:cNvSpPr txBox="1"/>
          <p:nvPr/>
        </p:nvSpPr>
        <p:spPr>
          <a:xfrm>
            <a:off x="7040880"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Deterministic hard limits raise Red alerts instantly.</a:t>
            </a:r>
          </a:p>
        </p:txBody>
      </p:sp>
      <p:sp>
        <p:nvSpPr>
          <p:cNvPr id="15" name="TextBox 14"/>
          <p:cNvSpPr txBox="1"/>
          <p:nvPr/>
        </p:nvSpPr>
        <p:spPr>
          <a:xfrm>
            <a:off x="7040880"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backend/app/services/rules.py</a:t>
            </a:r>
          </a:p>
        </p:txBody>
      </p:sp>
      <p:sp>
        <p:nvSpPr>
          <p:cNvPr id="16" name="Rounded Rectangle 15"/>
          <p:cNvSpPr/>
          <p:nvPr/>
        </p:nvSpPr>
        <p:spPr>
          <a:xfrm>
            <a:off x="9464039" y="1097280"/>
            <a:ext cx="2331720" cy="2377440"/>
          </a:xfrm>
          <a:prstGeom prst="roundRect">
            <a:avLst>
              <a:gd name="adj" fmla="val 4705"/>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9601199" y="1207007"/>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ML Anomaly Scorer</a:t>
            </a:r>
          </a:p>
        </p:txBody>
      </p:sp>
      <p:sp>
        <p:nvSpPr>
          <p:cNvPr id="18" name="TextBox 17"/>
          <p:cNvSpPr txBox="1"/>
          <p:nvPr/>
        </p:nvSpPr>
        <p:spPr>
          <a:xfrm>
            <a:off x="9601199" y="187451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Pre-trained Isolation Forest returns a 0–100 % anomaly score.</a:t>
            </a:r>
          </a:p>
        </p:txBody>
      </p:sp>
      <p:sp>
        <p:nvSpPr>
          <p:cNvPr id="19" name="TextBox 18"/>
          <p:cNvSpPr txBox="1"/>
          <p:nvPr/>
        </p:nvSpPr>
        <p:spPr>
          <a:xfrm>
            <a:off x="9601199" y="310896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backend/app/ml/scorer.py</a:t>
            </a:r>
          </a:p>
        </p:txBody>
      </p:sp>
      <p:sp>
        <p:nvSpPr>
          <p:cNvPr id="20" name="Rounded Rectangle 19"/>
          <p:cNvSpPr/>
          <p:nvPr/>
        </p:nvSpPr>
        <p:spPr>
          <a:xfrm>
            <a:off x="1783080" y="3703320"/>
            <a:ext cx="2331720" cy="2377440"/>
          </a:xfrm>
          <a:prstGeom prst="roundRect">
            <a:avLst>
              <a:gd name="adj" fmla="val 4705"/>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1" name="TextBox 20"/>
          <p:cNvSpPr txBox="1"/>
          <p:nvPr/>
        </p:nvSpPr>
        <p:spPr>
          <a:xfrm>
            <a:off x="192024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Interactive 2D Dashboard</a:t>
            </a:r>
          </a:p>
        </p:txBody>
      </p:sp>
      <p:sp>
        <p:nvSpPr>
          <p:cNvPr id="22" name="TextBox 21"/>
          <p:cNvSpPr txBox="1"/>
          <p:nvPr/>
        </p:nvSpPr>
        <p:spPr>
          <a:xfrm>
            <a:off x="192024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Machine grid, live charts, alert feed, ML gauges, reports, controls.</a:t>
            </a:r>
          </a:p>
        </p:txBody>
      </p:sp>
      <p:sp>
        <p:nvSpPr>
          <p:cNvPr id="23" name="TextBox 22"/>
          <p:cNvSpPr txBox="1"/>
          <p:nvPr/>
        </p:nvSpPr>
        <p:spPr>
          <a:xfrm>
            <a:off x="192024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frontend/src/pages/</a:t>
            </a:r>
          </a:p>
        </p:txBody>
      </p:sp>
      <p:sp>
        <p:nvSpPr>
          <p:cNvPr id="24" name="Rounded Rectangle 23"/>
          <p:cNvSpPr/>
          <p:nvPr/>
        </p:nvSpPr>
        <p:spPr>
          <a:xfrm>
            <a:off x="4343400" y="3703320"/>
            <a:ext cx="2331720" cy="2377440"/>
          </a:xfrm>
          <a:prstGeom prst="roundRect">
            <a:avLst>
              <a:gd name="adj" fmla="val 4705"/>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TextBox 24"/>
          <p:cNvSpPr txBox="1"/>
          <p:nvPr/>
        </p:nvSpPr>
        <p:spPr>
          <a:xfrm>
            <a:off x="448056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Maintenance &amp; Feedback Logger</a:t>
            </a:r>
          </a:p>
        </p:txBody>
      </p:sp>
      <p:sp>
        <p:nvSpPr>
          <p:cNvPr id="26" name="TextBox 25"/>
          <p:cNvSpPr txBox="1"/>
          <p:nvPr/>
        </p:nvSpPr>
        <p:spPr>
          <a:xfrm>
            <a:off x="448056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Acknowledge, assign technician, notes, resolve, ML feedback.</a:t>
            </a:r>
          </a:p>
        </p:txBody>
      </p:sp>
      <p:sp>
        <p:nvSpPr>
          <p:cNvPr id="27" name="TextBox 26"/>
          <p:cNvSpPr txBox="1"/>
          <p:nvPr/>
        </p:nvSpPr>
        <p:spPr>
          <a:xfrm>
            <a:off x="448056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backend/app/services/alerts.py</a:t>
            </a:r>
          </a:p>
        </p:txBody>
      </p:sp>
      <p:sp>
        <p:nvSpPr>
          <p:cNvPr id="28" name="Rounded Rectangle 27"/>
          <p:cNvSpPr/>
          <p:nvPr/>
        </p:nvSpPr>
        <p:spPr>
          <a:xfrm>
            <a:off x="6903720" y="3703320"/>
            <a:ext cx="2331720" cy="2377440"/>
          </a:xfrm>
          <a:prstGeom prst="roundRect">
            <a:avLst>
              <a:gd name="adj" fmla="val 4705"/>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TextBox 28"/>
          <p:cNvSpPr txBox="1"/>
          <p:nvPr/>
        </p:nvSpPr>
        <p:spPr>
          <a:xfrm>
            <a:off x="7040880"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What-If Degradation Simulator</a:t>
            </a:r>
          </a:p>
        </p:txBody>
      </p:sp>
      <p:sp>
        <p:nvSpPr>
          <p:cNvPr id="30" name="TextBox 29"/>
          <p:cNvSpPr txBox="1"/>
          <p:nvPr/>
        </p:nvSpPr>
        <p:spPr>
          <a:xfrm>
            <a:off x="7040880"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Injects a temperature rise and projects the crossing with y = mx + c.</a:t>
            </a:r>
          </a:p>
        </p:txBody>
      </p:sp>
      <p:sp>
        <p:nvSpPr>
          <p:cNvPr id="31" name="TextBox 30"/>
          <p:cNvSpPr txBox="1"/>
          <p:nvPr/>
        </p:nvSpPr>
        <p:spPr>
          <a:xfrm>
            <a:off x="7040880"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backend/app/services/whatif.py</a:t>
            </a:r>
          </a:p>
        </p:txBody>
      </p:sp>
      <p:sp>
        <p:nvSpPr>
          <p:cNvPr id="32" name="Rounded Rectangle 31"/>
          <p:cNvSpPr/>
          <p:nvPr/>
        </p:nvSpPr>
        <p:spPr>
          <a:xfrm>
            <a:off x="9464039" y="3703320"/>
            <a:ext cx="2331720" cy="2377440"/>
          </a:xfrm>
          <a:prstGeom prst="roundRect">
            <a:avLst>
              <a:gd name="adj" fmla="val 4705"/>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3" name="TextBox 32"/>
          <p:cNvSpPr txBox="1"/>
          <p:nvPr/>
        </p:nvSpPr>
        <p:spPr>
          <a:xfrm>
            <a:off x="9601199" y="3813048"/>
            <a:ext cx="2057400" cy="640080"/>
          </a:xfrm>
          <a:prstGeom prst="rect">
            <a:avLst/>
          </a:prstGeom>
          <a:noFill/>
        </p:spPr>
        <p:txBody>
          <a:bodyPr wrap="square" lIns="0" rIns="0" tIns="0" bIns="0" anchor="t">
            <a:noAutofit/>
          </a:bodyPr>
          <a:lstStyle/>
          <a:p>
            <a:pPr algn="l">
              <a:spcBef>
                <a:spcPts val="0"/>
              </a:spcBef>
              <a:spcAft>
                <a:spcPts val="0"/>
              </a:spcAft>
            </a:pPr>
            <a:r>
              <a:rPr sz="1600" b="1" i="0">
                <a:solidFill>
                  <a:srgbClr val="111827"/>
                </a:solidFill>
                <a:latin typeface="Times New Roman"/>
              </a:rPr>
              <a:t>Historical Reporting API</a:t>
            </a:r>
          </a:p>
        </p:txBody>
      </p:sp>
      <p:sp>
        <p:nvSpPr>
          <p:cNvPr id="34" name="TextBox 33"/>
          <p:cNvSpPr txBox="1"/>
          <p:nvPr/>
        </p:nvSpPr>
        <p:spPr>
          <a:xfrm>
            <a:off x="9601199" y="4480559"/>
            <a:ext cx="2057400" cy="114300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7-day OEE, downtime per shift and ML accuracy.</a:t>
            </a:r>
          </a:p>
        </p:txBody>
      </p:sp>
      <p:sp>
        <p:nvSpPr>
          <p:cNvPr id="35" name="TextBox 34"/>
          <p:cNvSpPr txBox="1"/>
          <p:nvPr/>
        </p:nvSpPr>
        <p:spPr>
          <a:xfrm>
            <a:off x="9601199" y="5715000"/>
            <a:ext cx="2057400" cy="27432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backend/app/api/routes.py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Technologies Used</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05840"/>
            <a:ext cx="210312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Data source</a:t>
            </a:r>
          </a:p>
        </p:txBody>
      </p:sp>
      <p:sp>
        <p:nvSpPr>
          <p:cNvPr id="5" name="Rounded Rectangle 4"/>
          <p:cNvSpPr/>
          <p:nvPr/>
        </p:nvSpPr>
        <p:spPr>
          <a:xfrm>
            <a:off x="4069080" y="1078992"/>
            <a:ext cx="1757476"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Python simulator</a:t>
            </a:r>
          </a:p>
        </p:txBody>
      </p:sp>
      <p:sp>
        <p:nvSpPr>
          <p:cNvPr id="6" name="Rounded Rectangle 5"/>
          <p:cNvSpPr/>
          <p:nvPr/>
        </p:nvSpPr>
        <p:spPr>
          <a:xfrm>
            <a:off x="5963716" y="1078992"/>
            <a:ext cx="1168603"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paho-mqtt</a:t>
            </a:r>
          </a:p>
        </p:txBody>
      </p:sp>
      <p:sp>
        <p:nvSpPr>
          <p:cNvPr id="7" name="Rounded Rectangle 6"/>
          <p:cNvSpPr/>
          <p:nvPr/>
        </p:nvSpPr>
        <p:spPr>
          <a:xfrm>
            <a:off x="7269480" y="1078992"/>
            <a:ext cx="832103" cy="493775"/>
          </a:xfrm>
          <a:prstGeom prst="roundRect">
            <a:avLst>
              <a:gd name="adj" fmla="val 22222"/>
            </a:avLst>
          </a:prstGeom>
          <a:solidFill>
            <a:srgbClr val="FFFFFF"/>
          </a:solidFill>
          <a:ln w="222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NumPy</a:t>
            </a:r>
          </a:p>
        </p:txBody>
      </p:sp>
      <p:sp>
        <p:nvSpPr>
          <p:cNvPr id="8" name="Rounded Rectangle 7"/>
          <p:cNvSpPr/>
          <p:nvPr/>
        </p:nvSpPr>
        <p:spPr>
          <a:xfrm>
            <a:off x="1783080" y="1783080"/>
            <a:ext cx="2103120" cy="640080"/>
          </a:xfrm>
          <a:prstGeom prst="roundRect">
            <a:avLst>
              <a:gd name="adj" fmla="val 17142"/>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Messaging</a:t>
            </a:r>
          </a:p>
        </p:txBody>
      </p:sp>
      <p:sp>
        <p:nvSpPr>
          <p:cNvPr id="9" name="Rounded Rectangle 8"/>
          <p:cNvSpPr/>
          <p:nvPr/>
        </p:nvSpPr>
        <p:spPr>
          <a:xfrm>
            <a:off x="4069080" y="1856232"/>
            <a:ext cx="2009851" cy="493775"/>
          </a:xfrm>
          <a:prstGeom prst="roundRect">
            <a:avLst>
              <a:gd name="adj" fmla="val 22222"/>
            </a:avLst>
          </a:prstGeom>
          <a:solidFill>
            <a:srgbClr val="FFFFFF"/>
          </a:solidFill>
          <a:ln w="222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Eclipse Mosquitto 2</a:t>
            </a:r>
          </a:p>
        </p:txBody>
      </p:sp>
      <p:sp>
        <p:nvSpPr>
          <p:cNvPr id="10" name="Rounded Rectangle 9"/>
          <p:cNvSpPr/>
          <p:nvPr/>
        </p:nvSpPr>
        <p:spPr>
          <a:xfrm>
            <a:off x="6216091" y="1856232"/>
            <a:ext cx="2093976" cy="493775"/>
          </a:xfrm>
          <a:prstGeom prst="roundRect">
            <a:avLst>
              <a:gd name="adj" fmla="val 22222"/>
            </a:avLst>
          </a:prstGeom>
          <a:solidFill>
            <a:srgbClr val="FFFFFF"/>
          </a:solidFill>
          <a:ln w="2222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MQTT over WebSockets</a:t>
            </a:r>
          </a:p>
        </p:txBody>
      </p:sp>
      <p:sp>
        <p:nvSpPr>
          <p:cNvPr id="11" name="Rounded Rectangle 10"/>
          <p:cNvSpPr/>
          <p:nvPr/>
        </p:nvSpPr>
        <p:spPr>
          <a:xfrm>
            <a:off x="1783080" y="2560320"/>
            <a:ext cx="2103120" cy="640080"/>
          </a:xfrm>
          <a:prstGeom prst="roundRect">
            <a:avLst>
              <a:gd name="adj" fmla="val 17142"/>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Backend</a:t>
            </a:r>
          </a:p>
        </p:txBody>
      </p:sp>
      <p:sp>
        <p:nvSpPr>
          <p:cNvPr id="12" name="Rounded Rectangle 11"/>
          <p:cNvSpPr/>
          <p:nvPr/>
        </p:nvSpPr>
        <p:spPr>
          <a:xfrm>
            <a:off x="4069080" y="2633472"/>
            <a:ext cx="100035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FastAPI</a:t>
            </a:r>
          </a:p>
        </p:txBody>
      </p:sp>
      <p:sp>
        <p:nvSpPr>
          <p:cNvPr id="13" name="Rounded Rectangle 12"/>
          <p:cNvSpPr/>
          <p:nvPr/>
        </p:nvSpPr>
        <p:spPr>
          <a:xfrm>
            <a:off x="5206593" y="2633472"/>
            <a:ext cx="1336852"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Pydantic v2</a:t>
            </a:r>
          </a:p>
        </p:txBody>
      </p:sp>
      <p:sp>
        <p:nvSpPr>
          <p:cNvPr id="14" name="Rounded Rectangle 13"/>
          <p:cNvSpPr/>
          <p:nvPr/>
        </p:nvSpPr>
        <p:spPr>
          <a:xfrm>
            <a:off x="6680606" y="2633472"/>
            <a:ext cx="100035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asyncio</a:t>
            </a:r>
          </a:p>
        </p:txBody>
      </p:sp>
      <p:sp>
        <p:nvSpPr>
          <p:cNvPr id="15" name="Rounded Rectangle 14"/>
          <p:cNvSpPr/>
          <p:nvPr/>
        </p:nvSpPr>
        <p:spPr>
          <a:xfrm>
            <a:off x="7818120" y="2633472"/>
            <a:ext cx="1168603"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WebSocket</a:t>
            </a:r>
          </a:p>
        </p:txBody>
      </p:sp>
      <p:sp>
        <p:nvSpPr>
          <p:cNvPr id="16" name="Rounded Rectangle 15"/>
          <p:cNvSpPr/>
          <p:nvPr/>
        </p:nvSpPr>
        <p:spPr>
          <a:xfrm>
            <a:off x="9123883" y="2633472"/>
            <a:ext cx="1841601" cy="493775"/>
          </a:xfrm>
          <a:prstGeom prst="roundRect">
            <a:avLst>
              <a:gd name="adj" fmla="val 22222"/>
            </a:avLst>
          </a:prstGeom>
          <a:solidFill>
            <a:srgbClr val="FFFFFF"/>
          </a:solidFill>
          <a:ln w="2222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OpenAPI / Swagger</a:t>
            </a:r>
          </a:p>
        </p:txBody>
      </p:sp>
      <p:sp>
        <p:nvSpPr>
          <p:cNvPr id="17" name="Rounded Rectangle 16"/>
          <p:cNvSpPr/>
          <p:nvPr/>
        </p:nvSpPr>
        <p:spPr>
          <a:xfrm>
            <a:off x="1783080" y="3337560"/>
            <a:ext cx="2103120" cy="640080"/>
          </a:xfrm>
          <a:prstGeom prst="roundRect">
            <a:avLst>
              <a:gd name="adj" fmla="val 1714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Intelligence</a:t>
            </a:r>
          </a:p>
        </p:txBody>
      </p:sp>
      <p:sp>
        <p:nvSpPr>
          <p:cNvPr id="18" name="Rounded Rectangle 17"/>
          <p:cNvSpPr/>
          <p:nvPr/>
        </p:nvSpPr>
        <p:spPr>
          <a:xfrm>
            <a:off x="4069080" y="3410712"/>
            <a:ext cx="2851099"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scikit-learn Isolation Forest</a:t>
            </a:r>
          </a:p>
        </p:txBody>
      </p:sp>
      <p:sp>
        <p:nvSpPr>
          <p:cNvPr id="19" name="Rounded Rectangle 18"/>
          <p:cNvSpPr/>
          <p:nvPr/>
        </p:nvSpPr>
        <p:spPr>
          <a:xfrm>
            <a:off x="7057339" y="3410712"/>
            <a:ext cx="832103"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NumPy</a:t>
            </a:r>
          </a:p>
        </p:txBody>
      </p:sp>
      <p:sp>
        <p:nvSpPr>
          <p:cNvPr id="20" name="Rounded Rectangle 19"/>
          <p:cNvSpPr/>
          <p:nvPr/>
        </p:nvSpPr>
        <p:spPr>
          <a:xfrm>
            <a:off x="8026603" y="3410712"/>
            <a:ext cx="2430475" cy="493775"/>
          </a:xfrm>
          <a:prstGeom prst="roundRect">
            <a:avLst>
              <a:gd name="adj" fmla="val 22222"/>
            </a:avLst>
          </a:prstGeom>
          <a:solidFill>
            <a:srgbClr val="FFFFFF"/>
          </a:solidFill>
          <a:ln w="22225">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Least-squares regression</a:t>
            </a:r>
          </a:p>
        </p:txBody>
      </p:sp>
      <p:sp>
        <p:nvSpPr>
          <p:cNvPr id="21" name="Rounded Rectangle 20"/>
          <p:cNvSpPr/>
          <p:nvPr/>
        </p:nvSpPr>
        <p:spPr>
          <a:xfrm>
            <a:off x="1783080" y="4114800"/>
            <a:ext cx="2103120" cy="640080"/>
          </a:xfrm>
          <a:prstGeom prst="roundRect">
            <a:avLst>
              <a:gd name="adj" fmla="val 17142"/>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Storage</a:t>
            </a:r>
          </a:p>
        </p:txBody>
      </p:sp>
      <p:sp>
        <p:nvSpPr>
          <p:cNvPr id="22" name="Rounded Rectangle 21"/>
          <p:cNvSpPr/>
          <p:nvPr/>
        </p:nvSpPr>
        <p:spPr>
          <a:xfrm>
            <a:off x="4069080" y="4187952"/>
            <a:ext cx="2514600"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InfluxDB v2 (time series)</a:t>
            </a:r>
          </a:p>
        </p:txBody>
      </p:sp>
      <p:sp>
        <p:nvSpPr>
          <p:cNvPr id="23" name="Rounded Rectangle 22"/>
          <p:cNvSpPr/>
          <p:nvPr/>
        </p:nvSpPr>
        <p:spPr>
          <a:xfrm>
            <a:off x="6720840" y="4187952"/>
            <a:ext cx="1505102"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PostgreSQL 14</a:t>
            </a:r>
          </a:p>
        </p:txBody>
      </p:sp>
      <p:sp>
        <p:nvSpPr>
          <p:cNvPr id="24" name="Rounded Rectangle 23"/>
          <p:cNvSpPr/>
          <p:nvPr/>
        </p:nvSpPr>
        <p:spPr>
          <a:xfrm>
            <a:off x="8363102" y="4187952"/>
            <a:ext cx="1252728" cy="493775"/>
          </a:xfrm>
          <a:prstGeom prst="roundRect">
            <a:avLst>
              <a:gd name="adj" fmla="val 22222"/>
            </a:avLst>
          </a:prstGeom>
          <a:solidFill>
            <a:srgbClr val="FFFFFF"/>
          </a:solidFill>
          <a:ln w="22225">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SQLAlchemy</a:t>
            </a:r>
          </a:p>
        </p:txBody>
      </p:sp>
      <p:sp>
        <p:nvSpPr>
          <p:cNvPr id="25" name="Rounded Rectangle 24"/>
          <p:cNvSpPr/>
          <p:nvPr/>
        </p:nvSpPr>
        <p:spPr>
          <a:xfrm>
            <a:off x="1783080" y="4892040"/>
            <a:ext cx="2103120" cy="640080"/>
          </a:xfrm>
          <a:prstGeom prst="roundRect">
            <a:avLst>
              <a:gd name="adj" fmla="val 17142"/>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Frontend</a:t>
            </a:r>
          </a:p>
        </p:txBody>
      </p:sp>
      <p:sp>
        <p:nvSpPr>
          <p:cNvPr id="26" name="Rounded Rectangle 25"/>
          <p:cNvSpPr/>
          <p:nvPr/>
        </p:nvSpPr>
        <p:spPr>
          <a:xfrm>
            <a:off x="4069080" y="4965192"/>
            <a:ext cx="108447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React 18</a:t>
            </a:r>
          </a:p>
        </p:txBody>
      </p:sp>
      <p:sp>
        <p:nvSpPr>
          <p:cNvPr id="27" name="Rounded Rectangle 26"/>
          <p:cNvSpPr/>
          <p:nvPr/>
        </p:nvSpPr>
        <p:spPr>
          <a:xfrm>
            <a:off x="5290718" y="4965192"/>
            <a:ext cx="125272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TypeScript</a:t>
            </a:r>
          </a:p>
        </p:txBody>
      </p:sp>
      <p:sp>
        <p:nvSpPr>
          <p:cNvPr id="28" name="Rounded Rectangle 27"/>
          <p:cNvSpPr/>
          <p:nvPr/>
        </p:nvSpPr>
        <p:spPr>
          <a:xfrm>
            <a:off x="6680606" y="4965192"/>
            <a:ext cx="747979"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Vite</a:t>
            </a:r>
          </a:p>
        </p:txBody>
      </p:sp>
      <p:sp>
        <p:nvSpPr>
          <p:cNvPr id="29" name="Rounded Rectangle 28"/>
          <p:cNvSpPr/>
          <p:nvPr/>
        </p:nvSpPr>
        <p:spPr>
          <a:xfrm>
            <a:off x="7565745" y="4965192"/>
            <a:ext cx="1084478" cy="493775"/>
          </a:xfrm>
          <a:prstGeom prst="roundRect">
            <a:avLst>
              <a:gd name="adj" fmla="val 22222"/>
            </a:avLst>
          </a:prstGeom>
          <a:solidFill>
            <a:srgbClr val="FFFFFF"/>
          </a:solidFill>
          <a:ln w="222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Chart.js</a:t>
            </a:r>
          </a:p>
        </p:txBody>
      </p:sp>
      <p:sp>
        <p:nvSpPr>
          <p:cNvPr id="30" name="Rounded Rectangle 29"/>
          <p:cNvSpPr/>
          <p:nvPr/>
        </p:nvSpPr>
        <p:spPr>
          <a:xfrm>
            <a:off x="1783080" y="5669279"/>
            <a:ext cx="2103120" cy="640080"/>
          </a:xfrm>
          <a:prstGeom prst="roundRect">
            <a:avLst>
              <a:gd name="adj" fmla="val 17142"/>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600" b="1" i="0">
                <a:solidFill>
                  <a:srgbClr val="111827"/>
                </a:solidFill>
                <a:latin typeface="Times New Roman"/>
              </a:rPr>
              <a:t>Deploy &amp; quality</a:t>
            </a:r>
          </a:p>
        </p:txBody>
      </p:sp>
      <p:sp>
        <p:nvSpPr>
          <p:cNvPr id="31" name="Rounded Rectangle 30"/>
          <p:cNvSpPr/>
          <p:nvPr/>
        </p:nvSpPr>
        <p:spPr>
          <a:xfrm>
            <a:off x="4069080" y="5742431"/>
            <a:ext cx="1589227"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Docker Compose</a:t>
            </a:r>
          </a:p>
        </p:txBody>
      </p:sp>
      <p:sp>
        <p:nvSpPr>
          <p:cNvPr id="32" name="Rounded Rectangle 31"/>
          <p:cNvSpPr/>
          <p:nvPr/>
        </p:nvSpPr>
        <p:spPr>
          <a:xfrm>
            <a:off x="5795467" y="5742431"/>
            <a:ext cx="832103"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nginx</a:t>
            </a:r>
          </a:p>
        </p:txBody>
      </p:sp>
      <p:sp>
        <p:nvSpPr>
          <p:cNvPr id="33" name="Rounded Rectangle 32"/>
          <p:cNvSpPr/>
          <p:nvPr/>
        </p:nvSpPr>
        <p:spPr>
          <a:xfrm>
            <a:off x="6764731" y="5742431"/>
            <a:ext cx="9162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pytest</a:t>
            </a:r>
          </a:p>
        </p:txBody>
      </p:sp>
      <p:sp>
        <p:nvSpPr>
          <p:cNvPr id="34" name="Rounded Rectangle 33"/>
          <p:cNvSpPr/>
          <p:nvPr/>
        </p:nvSpPr>
        <p:spPr>
          <a:xfrm>
            <a:off x="7818119" y="5742431"/>
            <a:ext cx="9162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Vitest</a:t>
            </a:r>
          </a:p>
        </p:txBody>
      </p:sp>
      <p:sp>
        <p:nvSpPr>
          <p:cNvPr id="35" name="Rounded Rectangle 34"/>
          <p:cNvSpPr/>
          <p:nvPr/>
        </p:nvSpPr>
        <p:spPr>
          <a:xfrm>
            <a:off x="8871508" y="5742431"/>
            <a:ext cx="125272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Playwright</a:t>
            </a:r>
          </a:p>
        </p:txBody>
      </p:sp>
      <p:sp>
        <p:nvSpPr>
          <p:cNvPr id="36" name="Rounded Rectangle 35"/>
          <p:cNvSpPr/>
          <p:nvPr/>
        </p:nvSpPr>
        <p:spPr>
          <a:xfrm>
            <a:off x="10261396" y="5742431"/>
            <a:ext cx="1084478" cy="493775"/>
          </a:xfrm>
          <a:prstGeom prst="roundRect">
            <a:avLst>
              <a:gd name="adj" fmla="val 22222"/>
            </a:avLst>
          </a:prstGeom>
          <a:solidFill>
            <a:srgbClr val="FFFFFF"/>
          </a:solidFill>
          <a:ln w="222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400" b="0" i="0">
                <a:solidFill>
                  <a:srgbClr val="111827"/>
                </a:solidFill>
                <a:latin typeface="Times New Roman"/>
              </a:rPr>
              <a:t>axe-core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OEE Calculation – Live Values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Chart 3"/>
          <p:cNvGraphicFramePr>
            <a:graphicFrameLocks noGrp="1"/>
          </p:cNvGraphicFramePr>
          <p:nvPr/>
        </p:nvGraphicFramePr>
        <p:xfrm>
          <a:off x="1943100" y="1005840"/>
          <a:ext cx="2011680" cy="2011680"/>
        </p:xfrm>
        <a:graphic>
          <a:graphicData uri="http://schemas.openxmlformats.org/drawingml/2006/chart">
            <c:chart xmlns:c="http://schemas.openxmlformats.org/drawingml/2006/chart" r:id="rId3"/>
          </a:graphicData>
        </a:graphic>
      </p:graphicFrame>
      <p:sp>
        <p:nvSpPr>
          <p:cNvPr id="5" name="TextBox 4"/>
          <p:cNvSpPr txBox="1"/>
          <p:nvPr/>
        </p:nvSpPr>
        <p:spPr>
          <a:xfrm>
            <a:off x="1943100" y="1691640"/>
            <a:ext cx="20116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11827"/>
                </a:solidFill>
                <a:latin typeface="Times New Roman"/>
              </a:rPr>
              <a:t>83.1 %</a:t>
            </a:r>
          </a:p>
        </p:txBody>
      </p:sp>
      <p:sp>
        <p:nvSpPr>
          <p:cNvPr id="6" name="TextBox 5"/>
          <p:cNvSpPr txBox="1"/>
          <p:nvPr/>
        </p:nvSpPr>
        <p:spPr>
          <a:xfrm>
            <a:off x="1783080" y="3108960"/>
            <a:ext cx="2331720" cy="320040"/>
          </a:xfrm>
          <a:prstGeom prst="rect">
            <a:avLst/>
          </a:prstGeom>
          <a:noFill/>
        </p:spPr>
        <p:txBody>
          <a:bodyPr wrap="square" lIns="0" rIns="0" tIns="0" bIns="0" anchor="t">
            <a:noAutofit/>
          </a:bodyPr>
          <a:lstStyle/>
          <a:p>
            <a:pPr algn="ctr">
              <a:spcBef>
                <a:spcPts val="0"/>
              </a:spcBef>
              <a:spcAft>
                <a:spcPts val="0"/>
              </a:spcAft>
            </a:pPr>
            <a:r>
              <a:rPr sz="1700" b="1" i="0">
                <a:solidFill>
                  <a:srgbClr val="111827"/>
                </a:solidFill>
                <a:latin typeface="Times New Roman"/>
              </a:rPr>
              <a:t>OEE</a:t>
            </a:r>
          </a:p>
        </p:txBody>
      </p:sp>
      <p:sp>
        <p:nvSpPr>
          <p:cNvPr id="7" name="TextBox 6"/>
          <p:cNvSpPr txBox="1"/>
          <p:nvPr/>
        </p:nvSpPr>
        <p:spPr>
          <a:xfrm>
            <a:off x="1783080" y="3447288"/>
            <a:ext cx="233172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overall effectiveness</a:t>
            </a:r>
          </a:p>
        </p:txBody>
      </p:sp>
      <p:graphicFrame>
        <p:nvGraphicFramePr>
          <p:cNvPr id="8" name="Chart 7"/>
          <p:cNvGraphicFramePr>
            <a:graphicFrameLocks noGrp="1"/>
          </p:cNvGraphicFramePr>
          <p:nvPr/>
        </p:nvGraphicFramePr>
        <p:xfrm>
          <a:off x="4503420" y="1005840"/>
          <a:ext cx="2011680" cy="2011680"/>
        </p:xfrm>
        <a:graphic>
          <a:graphicData uri="http://schemas.openxmlformats.org/drawingml/2006/chart">
            <c:chart xmlns:c="http://schemas.openxmlformats.org/drawingml/2006/chart" r:id="rId4"/>
          </a:graphicData>
        </a:graphic>
      </p:graphicFrame>
      <p:sp>
        <p:nvSpPr>
          <p:cNvPr id="9" name="TextBox 8"/>
          <p:cNvSpPr txBox="1"/>
          <p:nvPr/>
        </p:nvSpPr>
        <p:spPr>
          <a:xfrm>
            <a:off x="4503420" y="1691640"/>
            <a:ext cx="20116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11827"/>
                </a:solidFill>
                <a:latin typeface="Times New Roman"/>
              </a:rPr>
              <a:t>97.9 %</a:t>
            </a:r>
          </a:p>
        </p:txBody>
      </p:sp>
      <p:sp>
        <p:nvSpPr>
          <p:cNvPr id="10" name="TextBox 9"/>
          <p:cNvSpPr txBox="1"/>
          <p:nvPr/>
        </p:nvSpPr>
        <p:spPr>
          <a:xfrm>
            <a:off x="4343400" y="3108960"/>
            <a:ext cx="2331720" cy="320040"/>
          </a:xfrm>
          <a:prstGeom prst="rect">
            <a:avLst/>
          </a:prstGeom>
          <a:noFill/>
        </p:spPr>
        <p:txBody>
          <a:bodyPr wrap="square" lIns="0" rIns="0" tIns="0" bIns="0" anchor="t">
            <a:noAutofit/>
          </a:bodyPr>
          <a:lstStyle/>
          <a:p>
            <a:pPr algn="ctr">
              <a:spcBef>
                <a:spcPts val="0"/>
              </a:spcBef>
              <a:spcAft>
                <a:spcPts val="0"/>
              </a:spcAft>
            </a:pPr>
            <a:r>
              <a:rPr sz="1700" b="1" i="0">
                <a:solidFill>
                  <a:srgbClr val="111827"/>
                </a:solidFill>
                <a:latin typeface="Times New Roman"/>
              </a:rPr>
              <a:t>Availability</a:t>
            </a:r>
          </a:p>
        </p:txBody>
      </p:sp>
      <p:sp>
        <p:nvSpPr>
          <p:cNvPr id="11" name="TextBox 10"/>
          <p:cNvSpPr txBox="1"/>
          <p:nvPr/>
        </p:nvSpPr>
        <p:spPr>
          <a:xfrm>
            <a:off x="4343400" y="3447288"/>
            <a:ext cx="233172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run time ÷ planned time</a:t>
            </a:r>
          </a:p>
        </p:txBody>
      </p:sp>
      <p:graphicFrame>
        <p:nvGraphicFramePr>
          <p:cNvPr id="12" name="Chart 11"/>
          <p:cNvGraphicFramePr>
            <a:graphicFrameLocks noGrp="1"/>
          </p:cNvGraphicFramePr>
          <p:nvPr/>
        </p:nvGraphicFramePr>
        <p:xfrm>
          <a:off x="7063740" y="1005840"/>
          <a:ext cx="2011680" cy="2011680"/>
        </p:xfrm>
        <a:graphic>
          <a:graphicData uri="http://schemas.openxmlformats.org/drawingml/2006/chart">
            <c:chart xmlns:c="http://schemas.openxmlformats.org/drawingml/2006/chart" r:id="rId5"/>
          </a:graphicData>
        </a:graphic>
      </p:graphicFrame>
      <p:sp>
        <p:nvSpPr>
          <p:cNvPr id="13" name="TextBox 12"/>
          <p:cNvSpPr txBox="1"/>
          <p:nvPr/>
        </p:nvSpPr>
        <p:spPr>
          <a:xfrm>
            <a:off x="7063740" y="1691640"/>
            <a:ext cx="20116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11827"/>
                </a:solidFill>
                <a:latin typeface="Times New Roman"/>
              </a:rPr>
              <a:t>86.1 %</a:t>
            </a:r>
          </a:p>
        </p:txBody>
      </p:sp>
      <p:sp>
        <p:nvSpPr>
          <p:cNvPr id="14" name="TextBox 13"/>
          <p:cNvSpPr txBox="1"/>
          <p:nvPr/>
        </p:nvSpPr>
        <p:spPr>
          <a:xfrm>
            <a:off x="6903720" y="3108960"/>
            <a:ext cx="2331720" cy="320040"/>
          </a:xfrm>
          <a:prstGeom prst="rect">
            <a:avLst/>
          </a:prstGeom>
          <a:noFill/>
        </p:spPr>
        <p:txBody>
          <a:bodyPr wrap="square" lIns="0" rIns="0" tIns="0" bIns="0" anchor="t">
            <a:noAutofit/>
          </a:bodyPr>
          <a:lstStyle/>
          <a:p>
            <a:pPr algn="ctr">
              <a:spcBef>
                <a:spcPts val="0"/>
              </a:spcBef>
              <a:spcAft>
                <a:spcPts val="0"/>
              </a:spcAft>
            </a:pPr>
            <a:r>
              <a:rPr sz="1700" b="1" i="0">
                <a:solidFill>
                  <a:srgbClr val="111827"/>
                </a:solidFill>
                <a:latin typeface="Times New Roman"/>
              </a:rPr>
              <a:t>Performance</a:t>
            </a:r>
          </a:p>
        </p:txBody>
      </p:sp>
      <p:sp>
        <p:nvSpPr>
          <p:cNvPr id="15" name="TextBox 14"/>
          <p:cNvSpPr txBox="1"/>
          <p:nvPr/>
        </p:nvSpPr>
        <p:spPr>
          <a:xfrm>
            <a:off x="6903720" y="3447288"/>
            <a:ext cx="233172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actual ÷ ideal speed</a:t>
            </a:r>
          </a:p>
        </p:txBody>
      </p:sp>
      <p:graphicFrame>
        <p:nvGraphicFramePr>
          <p:cNvPr id="16" name="Chart 15"/>
          <p:cNvGraphicFramePr>
            <a:graphicFrameLocks noGrp="1"/>
          </p:cNvGraphicFramePr>
          <p:nvPr/>
        </p:nvGraphicFramePr>
        <p:xfrm>
          <a:off x="9624059" y="1005840"/>
          <a:ext cx="2011680" cy="2011680"/>
        </p:xfrm>
        <a:graphic>
          <a:graphicData uri="http://schemas.openxmlformats.org/drawingml/2006/chart">
            <c:chart xmlns:c="http://schemas.openxmlformats.org/drawingml/2006/chart" r:id="rId6"/>
          </a:graphicData>
        </a:graphic>
      </p:graphicFrame>
      <p:sp>
        <p:nvSpPr>
          <p:cNvPr id="17" name="TextBox 16"/>
          <p:cNvSpPr txBox="1"/>
          <p:nvPr/>
        </p:nvSpPr>
        <p:spPr>
          <a:xfrm>
            <a:off x="9624059" y="1691640"/>
            <a:ext cx="20116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11827"/>
                </a:solidFill>
                <a:latin typeface="Times New Roman"/>
              </a:rPr>
              <a:t>98.6 %</a:t>
            </a:r>
          </a:p>
        </p:txBody>
      </p:sp>
      <p:sp>
        <p:nvSpPr>
          <p:cNvPr id="18" name="TextBox 17"/>
          <p:cNvSpPr txBox="1"/>
          <p:nvPr/>
        </p:nvSpPr>
        <p:spPr>
          <a:xfrm>
            <a:off x="9464039" y="3108960"/>
            <a:ext cx="2331720" cy="320040"/>
          </a:xfrm>
          <a:prstGeom prst="rect">
            <a:avLst/>
          </a:prstGeom>
          <a:noFill/>
        </p:spPr>
        <p:txBody>
          <a:bodyPr wrap="square" lIns="0" rIns="0" tIns="0" bIns="0" anchor="t">
            <a:noAutofit/>
          </a:bodyPr>
          <a:lstStyle/>
          <a:p>
            <a:pPr algn="ctr">
              <a:spcBef>
                <a:spcPts val="0"/>
              </a:spcBef>
              <a:spcAft>
                <a:spcPts val="0"/>
              </a:spcAft>
            </a:pPr>
            <a:r>
              <a:rPr sz="1700" b="1" i="0">
                <a:solidFill>
                  <a:srgbClr val="111827"/>
                </a:solidFill>
                <a:latin typeface="Times New Roman"/>
              </a:rPr>
              <a:t>Quality</a:t>
            </a:r>
          </a:p>
        </p:txBody>
      </p:sp>
      <p:sp>
        <p:nvSpPr>
          <p:cNvPr id="19" name="TextBox 18"/>
          <p:cNvSpPr txBox="1"/>
          <p:nvPr/>
        </p:nvSpPr>
        <p:spPr>
          <a:xfrm>
            <a:off x="9464039" y="3447288"/>
            <a:ext cx="2331720"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good ÷ all parts</a:t>
            </a:r>
          </a:p>
        </p:txBody>
      </p:sp>
      <p:sp>
        <p:nvSpPr>
          <p:cNvPr id="20" name="Rounded Rectangle 19"/>
          <p:cNvSpPr/>
          <p:nvPr/>
        </p:nvSpPr>
        <p:spPr>
          <a:xfrm>
            <a:off x="1783080" y="4023360"/>
            <a:ext cx="4937760" cy="2194560"/>
          </a:xfrm>
          <a:prstGeom prst="roundRect">
            <a:avLst>
              <a:gd name="adj" fmla="val 5833"/>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1" name="TextBox 20"/>
          <p:cNvSpPr txBox="1"/>
          <p:nvPr/>
        </p:nvSpPr>
        <p:spPr>
          <a:xfrm>
            <a:off x="1947672" y="4151376"/>
            <a:ext cx="4608576" cy="197510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How it is computed</a:t>
            </a:r>
          </a:p>
          <a:p>
            <a:pPr algn="l" marL="201168" indent="-201168">
              <a:spcBef>
                <a:spcPts val="0"/>
              </a:spcBef>
              <a:spcAft>
                <a:spcPts val="400"/>
              </a:spcAft>
              <a:buFont typeface="Arial"/>
              <a:buChar char="•"/>
            </a:pPr>
            <a:r>
              <a:rPr sz="1400" b="0" i="0">
                <a:solidFill>
                  <a:srgbClr val="111827"/>
                </a:solidFill>
                <a:latin typeface="Times New Roman"/>
              </a:rPr>
              <a:t>Rolling 1 h and 8 h windows built from 5-second buckets – constant-time reads, so 20 machines are no problem</a:t>
            </a:r>
          </a:p>
          <a:p>
            <a:pPr algn="l" marL="201168" indent="-201168">
              <a:spcBef>
                <a:spcPts val="0"/>
              </a:spcBef>
              <a:spcAft>
                <a:spcPts val="400"/>
              </a:spcAft>
              <a:buFont typeface="Arial"/>
              <a:buChar char="•"/>
            </a:pPr>
            <a:r>
              <a:rPr sz="1400" b="0" i="0">
                <a:solidFill>
                  <a:srgbClr val="111827"/>
                </a:solidFill>
                <a:latin typeface="Times New Roman"/>
              </a:rPr>
              <a:t>Plant OEE uses the summed run time, cycles and good parts of all machines</a:t>
            </a:r>
          </a:p>
          <a:p>
            <a:pPr algn="l" marL="201168" indent="-201168">
              <a:spcBef>
                <a:spcPts val="0"/>
              </a:spcBef>
              <a:spcAft>
                <a:spcPts val="400"/>
              </a:spcAft>
              <a:buFont typeface="Arial"/>
              <a:buChar char="•"/>
            </a:pPr>
            <a:r>
              <a:rPr sz="1400" b="0" i="0">
                <a:solidFill>
                  <a:srgbClr val="111827"/>
                </a:solidFill>
                <a:latin typeface="Times New Roman"/>
              </a:rPr>
              <a:t>Performance is capped at 100 %; cycle-counter resets are handled</a:t>
            </a:r>
          </a:p>
        </p:txBody>
      </p:sp>
      <p:sp>
        <p:nvSpPr>
          <p:cNvPr id="22" name="Rounded Rectangle 21"/>
          <p:cNvSpPr/>
          <p:nvPr/>
        </p:nvSpPr>
        <p:spPr>
          <a:xfrm>
            <a:off x="6903720" y="4023360"/>
            <a:ext cx="4892040" cy="2194560"/>
          </a:xfrm>
          <a:prstGeom prst="roundRect">
            <a:avLst>
              <a:gd name="adj" fmla="val 5833"/>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3" name="TextBox 22"/>
          <p:cNvSpPr txBox="1"/>
          <p:nvPr/>
        </p:nvSpPr>
        <p:spPr>
          <a:xfrm>
            <a:off x="7068312" y="4151376"/>
            <a:ext cx="4562855" cy="197510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Measured in the end-to-end test</a:t>
            </a:r>
          </a:p>
          <a:p>
            <a:pPr algn="l" marL="201168" indent="-201168">
              <a:spcBef>
                <a:spcPts val="0"/>
              </a:spcBef>
              <a:spcAft>
                <a:spcPts val="400"/>
              </a:spcAft>
              <a:buFont typeface="Arial"/>
              <a:buChar char="•"/>
            </a:pPr>
            <a:r>
              <a:rPr sz="1400" b="0" i="0">
                <a:solidFill>
                  <a:srgbClr val="111827"/>
                </a:solidFill>
                <a:latin typeface="Times New Roman"/>
              </a:rPr>
              <a:t>1 h window, 5 machines:  A 97.9 % · P 86.1 % · Q 98.6 %  →  OEE 83.1 %</a:t>
            </a:r>
          </a:p>
          <a:p>
            <a:pPr algn="l" marL="201168" indent="-201168">
              <a:spcBef>
                <a:spcPts val="0"/>
              </a:spcBef>
              <a:spcAft>
                <a:spcPts val="400"/>
              </a:spcAft>
              <a:buFont typeface="Arial"/>
              <a:buChar char="•"/>
            </a:pPr>
            <a:r>
              <a:rPr sz="1400" b="0" i="0">
                <a:solidFill>
                  <a:srgbClr val="111827"/>
                </a:solidFill>
                <a:latin typeface="Times New Roman"/>
              </a:rPr>
              <a:t>8 h window: OEE 83.3 %</a:t>
            </a:r>
          </a:p>
          <a:p>
            <a:pPr algn="l" marL="201168" indent="-201168">
              <a:spcBef>
                <a:spcPts val="0"/>
              </a:spcBef>
              <a:spcAft>
                <a:spcPts val="400"/>
              </a:spcAft>
              <a:buFont typeface="Arial"/>
              <a:buChar char="•"/>
            </a:pPr>
            <a:r>
              <a:rPr sz="1400" b="0" i="0">
                <a:solidFill>
                  <a:srgbClr val="111827"/>
                </a:solidFill>
                <a:latin typeface="Times New Roman"/>
              </a:rPr>
              <a:t>Formula verified exactly by a unit test (test_oee_formula_exact)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Alert Decision Flow – Every 500 ms per Machine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2286000" y="1005840"/>
            <a:ext cx="3291840" cy="457200"/>
          </a:xfrm>
          <a:prstGeom prst="roundRect">
            <a:avLst>
              <a:gd name="adj" fmla="val 240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0" i="0">
                <a:solidFill>
                  <a:srgbClr val="111827"/>
                </a:solidFill>
                <a:latin typeface="Times New Roman"/>
              </a:rPr>
              <a:t>Telemetry reading received and validated</a:t>
            </a:r>
          </a:p>
        </p:txBody>
      </p:sp>
      <p:cxnSp>
        <p:nvCxnSpPr>
          <p:cNvPr id="5" name="Connector 4"/>
          <p:cNvCxnSpPr/>
          <p:nvPr/>
        </p:nvCxnSpPr>
        <p:spPr>
          <a:xfrm>
            <a:off x="3931920" y="1481328"/>
            <a:ext cx="0" cy="146304"/>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Decision 5"/>
          <p:cNvSpPr/>
          <p:nvPr/>
        </p:nvSpPr>
        <p:spPr>
          <a:xfrm>
            <a:off x="1783080" y="164592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180136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Temperature or vibration above its limit, or status STOPPED?</a:t>
            </a:r>
          </a:p>
        </p:txBody>
      </p:sp>
      <p:cxnSp>
        <p:nvCxnSpPr>
          <p:cNvPr id="8" name="Connector 7"/>
          <p:cNvCxnSpPr/>
          <p:nvPr/>
        </p:nvCxnSpPr>
        <p:spPr>
          <a:xfrm>
            <a:off x="6099048" y="217170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099048" y="1874519"/>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10" name="Rounded Rectangle 9"/>
          <p:cNvSpPr/>
          <p:nvPr/>
        </p:nvSpPr>
        <p:spPr>
          <a:xfrm>
            <a:off x="6812280" y="1760220"/>
            <a:ext cx="2788920" cy="822960"/>
          </a:xfrm>
          <a:prstGeom prst="roundRect">
            <a:avLst>
              <a:gd name="adj" fmla="val 13333"/>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RED</a:t>
            </a:r>
          </a:p>
          <a:p>
            <a:pPr algn="ctr">
              <a:spcBef>
                <a:spcPts val="0"/>
              </a:spcBef>
              <a:spcAft>
                <a:spcPts val="0"/>
              </a:spcAft>
            </a:pPr>
            <a:r>
              <a:rPr sz="1200" b="0" i="0">
                <a:solidFill>
                  <a:srgbClr val="111827"/>
                </a:solidFill>
                <a:latin typeface="Times New Roman"/>
              </a:rPr>
              <a:t>Hard fault – rule engine, immediate</a:t>
            </a:r>
          </a:p>
        </p:txBody>
      </p:sp>
      <p:cxnSp>
        <p:nvCxnSpPr>
          <p:cNvPr id="11" name="Connector 10"/>
          <p:cNvCxnSpPr/>
          <p:nvPr/>
        </p:nvCxnSpPr>
        <p:spPr>
          <a:xfrm>
            <a:off x="9619488" y="217170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Decision 11"/>
          <p:cNvSpPr/>
          <p:nvPr/>
        </p:nvSpPr>
        <p:spPr>
          <a:xfrm>
            <a:off x="1783080" y="292608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308152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Trend line reaches the limit within 60 s? (R² ≥ 0.6)</a:t>
            </a:r>
          </a:p>
        </p:txBody>
      </p:sp>
      <p:cxnSp>
        <p:nvCxnSpPr>
          <p:cNvPr id="14" name="Connector 13"/>
          <p:cNvCxnSpPr/>
          <p:nvPr/>
        </p:nvCxnSpPr>
        <p:spPr>
          <a:xfrm>
            <a:off x="6099048" y="345186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99048" y="3154680"/>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16" name="Rounded Rectangle 15"/>
          <p:cNvSpPr/>
          <p:nvPr/>
        </p:nvSpPr>
        <p:spPr>
          <a:xfrm>
            <a:off x="6812280" y="3040380"/>
            <a:ext cx="2788920" cy="822960"/>
          </a:xfrm>
          <a:prstGeom prst="roundRect">
            <a:avLst>
              <a:gd name="adj" fmla="val 13333"/>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ORANGE</a:t>
            </a:r>
          </a:p>
          <a:p>
            <a:pPr algn="ctr">
              <a:spcBef>
                <a:spcPts val="0"/>
              </a:spcBef>
              <a:spcAft>
                <a:spcPts val="0"/>
              </a:spcAft>
            </a:pPr>
            <a:r>
              <a:rPr sz="1200" b="0" i="0">
                <a:solidFill>
                  <a:srgbClr val="111827"/>
                </a:solidFill>
                <a:latin typeface="Times New Roman"/>
              </a:rPr>
              <a:t>Projected fault – with ETA countdown</a:t>
            </a:r>
          </a:p>
        </p:txBody>
      </p:sp>
      <p:cxnSp>
        <p:nvCxnSpPr>
          <p:cNvPr id="17" name="Connector 16"/>
          <p:cNvCxnSpPr/>
          <p:nvPr/>
        </p:nvCxnSpPr>
        <p:spPr>
          <a:xfrm>
            <a:off x="9619488" y="345186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Decision 17"/>
          <p:cNvSpPr/>
          <p:nvPr/>
        </p:nvSpPr>
        <p:spPr>
          <a:xfrm>
            <a:off x="1783080" y="4206240"/>
            <a:ext cx="4297680" cy="105156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4361688"/>
            <a:ext cx="2743200" cy="740664"/>
          </a:xfrm>
          <a:prstGeom prst="rect">
            <a:avLst/>
          </a:prstGeom>
          <a:noFill/>
        </p:spPr>
        <p:txBody>
          <a:bodyPr wrap="square" lIns="0" rIns="0" tIns="0" bIns="0" anchor="ctr">
            <a:noAutofit/>
          </a:bodyPr>
          <a:lstStyle/>
          <a:p>
            <a:pPr algn="ctr">
              <a:spcBef>
                <a:spcPts val="0"/>
              </a:spcBef>
              <a:spcAft>
                <a:spcPts val="0"/>
              </a:spcAft>
            </a:pPr>
            <a:r>
              <a:rPr sz="1300" b="0" i="0">
                <a:solidFill>
                  <a:srgbClr val="111827"/>
                </a:solidFill>
                <a:latin typeface="Times New Roman"/>
              </a:rPr>
              <a:t>ML anomaly score above 85 % for 2 readings?</a:t>
            </a:r>
          </a:p>
        </p:txBody>
      </p:sp>
      <p:cxnSp>
        <p:nvCxnSpPr>
          <p:cNvPr id="20" name="Connector 19"/>
          <p:cNvCxnSpPr/>
          <p:nvPr/>
        </p:nvCxnSpPr>
        <p:spPr>
          <a:xfrm>
            <a:off x="6099048" y="4732020"/>
            <a:ext cx="69494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99048" y="4434840"/>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22" name="Rounded Rectangle 21"/>
          <p:cNvSpPr/>
          <p:nvPr/>
        </p:nvSpPr>
        <p:spPr>
          <a:xfrm>
            <a:off x="6812280" y="4320540"/>
            <a:ext cx="2788920" cy="822960"/>
          </a:xfrm>
          <a:prstGeom prst="roundRect">
            <a:avLst>
              <a:gd name="adj" fmla="val 13333"/>
            </a:avLst>
          </a:prstGeom>
          <a:solidFill>
            <a:srgbClr val="FEF9C3"/>
          </a:solidFill>
          <a:ln w="2540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noAutofit/>
          </a:bodyPr>
          <a:lstStyle/>
          <a:p>
            <a:pPr algn="ctr">
              <a:spcBef>
                <a:spcPts val="0"/>
              </a:spcBef>
              <a:spcAft>
                <a:spcPts val="0"/>
              </a:spcAft>
            </a:pPr>
            <a:r>
              <a:rPr sz="1600" b="1" i="0">
                <a:solidFill>
                  <a:srgbClr val="111827"/>
                </a:solidFill>
                <a:latin typeface="Times New Roman"/>
              </a:rPr>
              <a:t>YELLOW</a:t>
            </a:r>
          </a:p>
          <a:p>
            <a:pPr algn="ctr">
              <a:spcBef>
                <a:spcPts val="0"/>
              </a:spcBef>
              <a:spcAft>
                <a:spcPts val="0"/>
              </a:spcAft>
            </a:pPr>
            <a:r>
              <a:rPr sz="1200" b="0" i="0">
                <a:solidFill>
                  <a:srgbClr val="111827"/>
                </a:solidFill>
                <a:latin typeface="Times New Roman"/>
              </a:rPr>
              <a:t>ML caution – Isolation Forest</a:t>
            </a:r>
          </a:p>
        </p:txBody>
      </p:sp>
      <p:cxnSp>
        <p:nvCxnSpPr>
          <p:cNvPr id="23" name="Connector 22"/>
          <p:cNvCxnSpPr/>
          <p:nvPr/>
        </p:nvCxnSpPr>
        <p:spPr>
          <a:xfrm>
            <a:off x="9619488" y="4732020"/>
            <a:ext cx="45720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931920" y="2706624"/>
            <a:ext cx="0" cy="210312"/>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005072" y="268833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cxnSp>
        <p:nvCxnSpPr>
          <p:cNvPr id="26" name="Connector 25"/>
          <p:cNvCxnSpPr/>
          <p:nvPr/>
        </p:nvCxnSpPr>
        <p:spPr>
          <a:xfrm>
            <a:off x="3931920" y="3986783"/>
            <a:ext cx="0" cy="210313"/>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005072" y="396849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cxnSp>
        <p:nvCxnSpPr>
          <p:cNvPr id="28" name="Connector 27"/>
          <p:cNvCxnSpPr/>
          <p:nvPr/>
        </p:nvCxnSpPr>
        <p:spPr>
          <a:xfrm>
            <a:off x="3931920" y="5266944"/>
            <a:ext cx="0" cy="201168"/>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005072" y="5248656"/>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sp>
        <p:nvSpPr>
          <p:cNvPr id="30" name="Rounded Rectangle 29"/>
          <p:cNvSpPr/>
          <p:nvPr/>
        </p:nvSpPr>
        <p:spPr>
          <a:xfrm>
            <a:off x="2286000" y="5486400"/>
            <a:ext cx="3291840" cy="457200"/>
          </a:xfrm>
          <a:prstGeom prst="roundRect">
            <a:avLst>
              <a:gd name="adj" fmla="val 240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GREEN – normal operation</a:t>
            </a:r>
          </a:p>
        </p:txBody>
      </p:sp>
      <p:sp>
        <p:nvSpPr>
          <p:cNvPr id="31" name="Rounded Rectangle 30"/>
          <p:cNvSpPr/>
          <p:nvPr/>
        </p:nvSpPr>
        <p:spPr>
          <a:xfrm>
            <a:off x="10104120" y="1760220"/>
            <a:ext cx="1691639" cy="3383280"/>
          </a:xfrm>
          <a:prstGeom prst="roundRect">
            <a:avLst>
              <a:gd name="adj" fmla="val 6486"/>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Alert manager</a:t>
            </a:r>
          </a:p>
          <a:p>
            <a:pPr algn="ctr">
              <a:spcBef>
                <a:spcPts val="0"/>
              </a:spcBef>
              <a:spcAft>
                <a:spcPts val="0"/>
              </a:spcAft>
            </a:pPr>
            <a:r>
              <a:rPr sz="1300" b="0" i="0">
                <a:solidFill>
                  <a:srgbClr val="111827"/>
                </a:solidFill>
                <a:latin typeface="Times New Roman"/>
              </a:rPr>
              <a:t>acknowledge</a:t>
            </a:r>
          </a:p>
          <a:p>
            <a:pPr algn="ctr">
              <a:spcBef>
                <a:spcPts val="0"/>
              </a:spcBef>
              <a:spcAft>
                <a:spcPts val="0"/>
              </a:spcAft>
            </a:pPr>
            <a:r>
              <a:rPr sz="1300" b="0" i="0">
                <a:solidFill>
                  <a:srgbClr val="111827"/>
                </a:solidFill>
                <a:latin typeface="Times New Roman"/>
              </a:rPr>
              <a:t>assign</a:t>
            </a:r>
          </a:p>
          <a:p>
            <a:pPr algn="ctr">
              <a:spcBef>
                <a:spcPts val="0"/>
              </a:spcBef>
              <a:spcAft>
                <a:spcPts val="0"/>
              </a:spcAft>
            </a:pPr>
            <a:r>
              <a:rPr sz="1300" b="0" i="0">
                <a:solidFill>
                  <a:srgbClr val="111827"/>
                </a:solidFill>
                <a:latin typeface="Times New Roman"/>
              </a:rPr>
              <a:t>resolve</a:t>
            </a:r>
          </a:p>
          <a:p>
            <a:pPr algn="ctr">
              <a:spcBef>
                <a:spcPts val="0"/>
              </a:spcBef>
              <a:spcAft>
                <a:spcPts val="0"/>
              </a:spcAft>
            </a:pPr>
            <a:r>
              <a:rPr sz="1300" b="0" i="0">
                <a:solidFill>
                  <a:srgbClr val="111827"/>
                </a:solidFill>
                <a:latin typeface="Times New Roman"/>
              </a:rPr>
              <a:t>ML feedback</a:t>
            </a:r>
          </a:p>
        </p:txBody>
      </p:sp>
      <p:sp>
        <p:nvSpPr>
          <p:cNvPr id="32" name="TextBox 31"/>
          <p:cNvSpPr txBox="1"/>
          <p:nvPr/>
        </p:nvSpPr>
        <p:spPr>
          <a:xfrm>
            <a:off x="1783080" y="6035040"/>
            <a:ext cx="10012680" cy="2743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Higher levels suppress lower ones  ·  an alert clears when its condition is absent for 3 – 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Four Machine States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51560"/>
            <a:ext cx="2011680" cy="457200"/>
          </a:xfrm>
          <a:prstGeom prst="roundRect">
            <a:avLst>
              <a:gd name="adj" fmla="val 24000"/>
            </a:avLst>
          </a:prstGeom>
          <a:solidFill>
            <a:srgbClr val="C00000"/>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500" b="1" i="0">
                <a:solidFill>
                  <a:srgbClr val="FFFFFF"/>
                </a:solidFill>
                <a:latin typeface="Times New Roman"/>
              </a:rPr>
              <a:t>State</a:t>
            </a:r>
          </a:p>
        </p:txBody>
      </p:sp>
      <p:sp>
        <p:nvSpPr>
          <p:cNvPr id="5" name="Rounded Rectangle 4"/>
          <p:cNvSpPr/>
          <p:nvPr/>
        </p:nvSpPr>
        <p:spPr>
          <a:xfrm>
            <a:off x="3886200" y="1051560"/>
            <a:ext cx="3383280" cy="457200"/>
          </a:xfrm>
          <a:prstGeom prst="roundRect">
            <a:avLst>
              <a:gd name="adj" fmla="val 24000"/>
            </a:avLst>
          </a:prstGeom>
          <a:solidFill>
            <a:srgbClr val="C00000"/>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500" b="1" i="0">
                <a:solidFill>
                  <a:srgbClr val="FFFFFF"/>
                </a:solidFill>
                <a:latin typeface="Times New Roman"/>
              </a:rPr>
              <a:t>Trigger</a:t>
            </a:r>
          </a:p>
        </p:txBody>
      </p:sp>
      <p:sp>
        <p:nvSpPr>
          <p:cNvPr id="6" name="Rounded Rectangle 5"/>
          <p:cNvSpPr/>
          <p:nvPr/>
        </p:nvSpPr>
        <p:spPr>
          <a:xfrm>
            <a:off x="7360920" y="1051560"/>
            <a:ext cx="1965960" cy="457200"/>
          </a:xfrm>
          <a:prstGeom prst="roundRect">
            <a:avLst>
              <a:gd name="adj" fmla="val 24000"/>
            </a:avLst>
          </a:prstGeom>
          <a:solidFill>
            <a:srgbClr val="C00000"/>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500" b="1" i="0">
                <a:solidFill>
                  <a:srgbClr val="FFFFFF"/>
                </a:solidFill>
                <a:latin typeface="Times New Roman"/>
              </a:rPr>
              <a:t>Detected by</a:t>
            </a:r>
          </a:p>
        </p:txBody>
      </p:sp>
      <p:sp>
        <p:nvSpPr>
          <p:cNvPr id="7" name="Rounded Rectangle 6"/>
          <p:cNvSpPr/>
          <p:nvPr/>
        </p:nvSpPr>
        <p:spPr>
          <a:xfrm>
            <a:off x="9418320" y="1051560"/>
            <a:ext cx="2377440" cy="457200"/>
          </a:xfrm>
          <a:prstGeom prst="roundRect">
            <a:avLst>
              <a:gd name="adj" fmla="val 24000"/>
            </a:avLst>
          </a:prstGeom>
          <a:solidFill>
            <a:srgbClr val="C00000"/>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500" b="1" i="0">
                <a:solidFill>
                  <a:srgbClr val="FFFFFF"/>
                </a:solidFill>
                <a:latin typeface="Times New Roman"/>
              </a:rPr>
              <a:t>Operator sees / does</a:t>
            </a:r>
          </a:p>
        </p:txBody>
      </p:sp>
      <p:sp>
        <p:nvSpPr>
          <p:cNvPr id="8" name="Rounded Rectangle 7"/>
          <p:cNvSpPr/>
          <p:nvPr/>
        </p:nvSpPr>
        <p:spPr>
          <a:xfrm>
            <a:off x="1783080" y="1645920"/>
            <a:ext cx="2011680" cy="1005840"/>
          </a:xfrm>
          <a:prstGeom prst="roundRect">
            <a:avLst>
              <a:gd name="adj" fmla="val 10909"/>
            </a:avLst>
          </a:prstGeom>
          <a:solidFill>
            <a:srgbClr val="DCFCE7"/>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700" b="1" i="0">
                <a:solidFill>
                  <a:srgbClr val="111827"/>
                </a:solidFill>
                <a:latin typeface="Times New Roman"/>
              </a:rPr>
              <a:t>✓  GREEN</a:t>
            </a:r>
          </a:p>
          <a:p>
            <a:pPr algn="l">
              <a:spcBef>
                <a:spcPts val="0"/>
              </a:spcBef>
              <a:spcAft>
                <a:spcPts val="0"/>
              </a:spcAft>
            </a:pPr>
            <a:r>
              <a:rPr sz="1400" b="0" i="0">
                <a:solidFill>
                  <a:srgbClr val="111827"/>
                </a:solidFill>
                <a:latin typeface="Times New Roman"/>
              </a:rPr>
              <a:t>Normal</a:t>
            </a:r>
          </a:p>
        </p:txBody>
      </p:sp>
      <p:sp>
        <p:nvSpPr>
          <p:cNvPr id="9" name="Rounded Rectangle 8"/>
          <p:cNvSpPr/>
          <p:nvPr/>
        </p:nvSpPr>
        <p:spPr>
          <a:xfrm>
            <a:off x="3886200" y="1645920"/>
            <a:ext cx="338328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No limit crossed, no anomaly, no projected crossing</a:t>
            </a:r>
          </a:p>
        </p:txBody>
      </p:sp>
      <p:sp>
        <p:nvSpPr>
          <p:cNvPr id="10" name="Rounded Rectangle 9"/>
          <p:cNvSpPr/>
          <p:nvPr/>
        </p:nvSpPr>
        <p:spPr>
          <a:xfrm>
            <a:off x="7360920" y="1645920"/>
            <a:ext cx="196596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a:t>
            </a:r>
          </a:p>
        </p:txBody>
      </p:sp>
      <p:sp>
        <p:nvSpPr>
          <p:cNvPr id="11" name="Rounded Rectangle 10"/>
          <p:cNvSpPr/>
          <p:nvPr/>
        </p:nvSpPr>
        <p:spPr>
          <a:xfrm>
            <a:off x="9418320" y="1645920"/>
            <a:ext cx="237744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Tile stays green</a:t>
            </a:r>
          </a:p>
        </p:txBody>
      </p:sp>
      <p:sp>
        <p:nvSpPr>
          <p:cNvPr id="12" name="Rounded Rectangle 11"/>
          <p:cNvSpPr/>
          <p:nvPr/>
        </p:nvSpPr>
        <p:spPr>
          <a:xfrm>
            <a:off x="1783080" y="2761488"/>
            <a:ext cx="2011680" cy="1005840"/>
          </a:xfrm>
          <a:prstGeom prst="roundRect">
            <a:avLst>
              <a:gd name="adj" fmla="val 10909"/>
            </a:avLst>
          </a:prstGeom>
          <a:solidFill>
            <a:srgbClr val="FEF9C3"/>
          </a:solidFill>
          <a:ln w="2540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700" b="1" i="0">
                <a:solidFill>
                  <a:srgbClr val="111827"/>
                </a:solidFill>
                <a:latin typeface="Times New Roman"/>
              </a:rPr>
              <a:t>▲  YELLOW</a:t>
            </a:r>
          </a:p>
          <a:p>
            <a:pPr algn="l">
              <a:spcBef>
                <a:spcPts val="0"/>
              </a:spcBef>
              <a:spcAft>
                <a:spcPts val="0"/>
              </a:spcAft>
            </a:pPr>
            <a:r>
              <a:rPr sz="1400" b="0" i="0">
                <a:solidFill>
                  <a:srgbClr val="111827"/>
                </a:solidFill>
                <a:latin typeface="Times New Roman"/>
              </a:rPr>
              <a:t>ML caution</a:t>
            </a:r>
          </a:p>
        </p:txBody>
      </p:sp>
      <p:sp>
        <p:nvSpPr>
          <p:cNvPr id="13" name="Rounded Rectangle 12"/>
          <p:cNvSpPr/>
          <p:nvPr/>
        </p:nvSpPr>
        <p:spPr>
          <a:xfrm>
            <a:off x="3886200" y="2761488"/>
            <a:ext cx="338328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Anomaly score above 85 % for 2 readings – still below every hard limit</a:t>
            </a:r>
          </a:p>
        </p:txBody>
      </p:sp>
      <p:sp>
        <p:nvSpPr>
          <p:cNvPr id="14" name="Rounded Rectangle 13"/>
          <p:cNvSpPr/>
          <p:nvPr/>
        </p:nvSpPr>
        <p:spPr>
          <a:xfrm>
            <a:off x="7360920" y="2761488"/>
            <a:ext cx="196596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Isolation Forest</a:t>
            </a:r>
          </a:p>
          <a:p>
            <a:pPr algn="l">
              <a:spcBef>
                <a:spcPts val="0"/>
              </a:spcBef>
              <a:spcAft>
                <a:spcPts val="0"/>
              </a:spcAft>
            </a:pPr>
            <a:r>
              <a:rPr sz="1400" b="0" i="0">
                <a:solidFill>
                  <a:srgbClr val="111827"/>
                </a:solidFill>
                <a:latin typeface="Times New Roman"/>
              </a:rPr>
              <a:t>FR-04</a:t>
            </a:r>
          </a:p>
        </p:txBody>
      </p:sp>
      <p:sp>
        <p:nvSpPr>
          <p:cNvPr id="15" name="Rounded Rectangle 14"/>
          <p:cNvSpPr/>
          <p:nvPr/>
        </p:nvSpPr>
        <p:spPr>
          <a:xfrm>
            <a:off x="9418320" y="2761488"/>
            <a:ext cx="237744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Early warning: inspect, then give true / false-positive feedback</a:t>
            </a:r>
          </a:p>
        </p:txBody>
      </p:sp>
      <p:sp>
        <p:nvSpPr>
          <p:cNvPr id="16" name="Rounded Rectangle 15"/>
          <p:cNvSpPr/>
          <p:nvPr/>
        </p:nvSpPr>
        <p:spPr>
          <a:xfrm>
            <a:off x="1783080" y="3877056"/>
            <a:ext cx="2011680" cy="1005840"/>
          </a:xfrm>
          <a:prstGeom prst="roundRect">
            <a:avLst>
              <a:gd name="adj" fmla="val 10909"/>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700" b="1" i="0">
                <a:solidFill>
                  <a:srgbClr val="111827"/>
                </a:solidFill>
                <a:latin typeface="Times New Roman"/>
              </a:rPr>
              <a:t>↗  ORANGE</a:t>
            </a:r>
          </a:p>
          <a:p>
            <a:pPr algn="l">
              <a:spcBef>
                <a:spcPts val="0"/>
              </a:spcBef>
              <a:spcAft>
                <a:spcPts val="0"/>
              </a:spcAft>
            </a:pPr>
            <a:r>
              <a:rPr sz="1400" b="0" i="0">
                <a:solidFill>
                  <a:srgbClr val="111827"/>
                </a:solidFill>
                <a:latin typeface="Times New Roman"/>
              </a:rPr>
              <a:t>Projected fault</a:t>
            </a:r>
          </a:p>
        </p:txBody>
      </p:sp>
      <p:sp>
        <p:nvSpPr>
          <p:cNvPr id="17" name="Rounded Rectangle 16"/>
          <p:cNvSpPr/>
          <p:nvPr/>
        </p:nvSpPr>
        <p:spPr>
          <a:xfrm>
            <a:off x="3886200" y="3877056"/>
            <a:ext cx="338328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Trend line y = m·x + c reaches the limit within 60 s</a:t>
            </a:r>
          </a:p>
        </p:txBody>
      </p:sp>
      <p:sp>
        <p:nvSpPr>
          <p:cNvPr id="18" name="Rounded Rectangle 17"/>
          <p:cNvSpPr/>
          <p:nvPr/>
        </p:nvSpPr>
        <p:spPr>
          <a:xfrm>
            <a:off x="7360920" y="3877056"/>
            <a:ext cx="196596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What-If regression</a:t>
            </a:r>
          </a:p>
          <a:p>
            <a:pPr algn="l">
              <a:spcBef>
                <a:spcPts val="0"/>
              </a:spcBef>
              <a:spcAft>
                <a:spcPts val="0"/>
              </a:spcAft>
            </a:pPr>
            <a:r>
              <a:rPr sz="1400" b="0" i="0">
                <a:solidFill>
                  <a:srgbClr val="111827"/>
                </a:solidFill>
                <a:latin typeface="Times New Roman"/>
              </a:rPr>
              <a:t>FR-07</a:t>
            </a:r>
          </a:p>
        </p:txBody>
      </p:sp>
      <p:sp>
        <p:nvSpPr>
          <p:cNvPr id="19" name="Rounded Rectangle 18"/>
          <p:cNvSpPr/>
          <p:nvPr/>
        </p:nvSpPr>
        <p:spPr>
          <a:xfrm>
            <a:off x="9418320" y="3877056"/>
            <a:ext cx="237744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ETA countdown: act before the breach</a:t>
            </a:r>
          </a:p>
        </p:txBody>
      </p:sp>
      <p:sp>
        <p:nvSpPr>
          <p:cNvPr id="20" name="Rounded Rectangle 19"/>
          <p:cNvSpPr/>
          <p:nvPr/>
        </p:nvSpPr>
        <p:spPr>
          <a:xfrm>
            <a:off x="1783080" y="4992624"/>
            <a:ext cx="2011680" cy="1005840"/>
          </a:xfrm>
          <a:prstGeom prst="roundRect">
            <a:avLst>
              <a:gd name="adj" fmla="val 10909"/>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700" b="1" i="0">
                <a:solidFill>
                  <a:srgbClr val="111827"/>
                </a:solidFill>
                <a:latin typeface="Times New Roman"/>
              </a:rPr>
              <a:t>✕  RED</a:t>
            </a:r>
          </a:p>
          <a:p>
            <a:pPr algn="l">
              <a:spcBef>
                <a:spcPts val="0"/>
              </a:spcBef>
              <a:spcAft>
                <a:spcPts val="0"/>
              </a:spcAft>
            </a:pPr>
            <a:r>
              <a:rPr sz="1400" b="0" i="0">
                <a:solidFill>
                  <a:srgbClr val="111827"/>
                </a:solidFill>
                <a:latin typeface="Times New Roman"/>
              </a:rPr>
              <a:t>Hard fault</a:t>
            </a:r>
          </a:p>
        </p:txBody>
      </p:sp>
      <p:sp>
        <p:nvSpPr>
          <p:cNvPr id="21" name="Rounded Rectangle 20"/>
          <p:cNvSpPr/>
          <p:nvPr/>
        </p:nvSpPr>
        <p:spPr>
          <a:xfrm>
            <a:off x="3886200" y="4992624"/>
            <a:ext cx="338328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Temperature or vibration above its limit, or machine STOPPED</a:t>
            </a:r>
          </a:p>
        </p:txBody>
      </p:sp>
      <p:sp>
        <p:nvSpPr>
          <p:cNvPr id="22" name="Rounded Rectangle 21"/>
          <p:cNvSpPr/>
          <p:nvPr/>
        </p:nvSpPr>
        <p:spPr>
          <a:xfrm>
            <a:off x="7360920" y="4992624"/>
            <a:ext cx="196596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Rule engine</a:t>
            </a:r>
          </a:p>
          <a:p>
            <a:pPr algn="l">
              <a:spcBef>
                <a:spcPts val="0"/>
              </a:spcBef>
              <a:spcAft>
                <a:spcPts val="0"/>
              </a:spcAft>
            </a:pPr>
            <a:r>
              <a:rPr sz="1400" b="0" i="0">
                <a:solidFill>
                  <a:srgbClr val="111827"/>
                </a:solidFill>
                <a:latin typeface="Times New Roman"/>
              </a:rPr>
              <a:t>FR-03</a:t>
            </a:r>
          </a:p>
        </p:txBody>
      </p:sp>
      <p:sp>
        <p:nvSpPr>
          <p:cNvPr id="23" name="Rounded Rectangle 22"/>
          <p:cNvSpPr/>
          <p:nvPr/>
        </p:nvSpPr>
        <p:spPr>
          <a:xfrm>
            <a:off x="9418320" y="4992624"/>
            <a:ext cx="2377440" cy="1005840"/>
          </a:xfrm>
          <a:prstGeom prst="roundRect">
            <a:avLst>
              <a:gd name="adj" fmla="val 10909"/>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noAutofit/>
          </a:bodyPr>
          <a:lstStyle/>
          <a:p>
            <a:pPr algn="l">
              <a:spcBef>
                <a:spcPts val="0"/>
              </a:spcBef>
              <a:spcAft>
                <a:spcPts val="0"/>
              </a:spcAft>
            </a:pPr>
            <a:r>
              <a:rPr sz="1400" b="0" i="0">
                <a:solidFill>
                  <a:srgbClr val="111827"/>
                </a:solidFill>
                <a:latin typeface="Times New Roman"/>
              </a:rPr>
              <a:t>Immediate alert: acknowledge, assign, resolve</a:t>
            </a:r>
          </a:p>
        </p:txBody>
      </p:sp>
      <p:sp>
        <p:nvSpPr>
          <p:cNvPr id="24" name="TextBox 23"/>
          <p:cNvSpPr txBox="1"/>
          <p:nvPr/>
        </p:nvSpPr>
        <p:spPr>
          <a:xfrm>
            <a:off x="1783080" y="6126480"/>
            <a:ext cx="10012680" cy="2743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Priority  Red &gt; Orange &gt; Yellow &gt; Green  ·  also shown with an icon and a label, never by colour alone (NFR-U1, NFR-U2)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ML Anomaly Scoring – Isolation Forest</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1188720" cy="146304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Offline</a:t>
            </a:r>
          </a:p>
          <a:p>
            <a:pPr algn="ctr">
              <a:spcBef>
                <a:spcPts val="0"/>
              </a:spcBef>
              <a:spcAft>
                <a:spcPts val="0"/>
              </a:spcAft>
            </a:pPr>
            <a:r>
              <a:rPr sz="1400" b="1" i="0">
                <a:solidFill>
                  <a:srgbClr val="111827"/>
                </a:solidFill>
                <a:latin typeface="Times New Roman"/>
              </a:rPr>
              <a:t>(once)</a:t>
            </a:r>
          </a:p>
        </p:txBody>
      </p:sp>
      <p:sp>
        <p:nvSpPr>
          <p:cNvPr id="5" name="Rounded Rectangle 4"/>
          <p:cNvSpPr/>
          <p:nvPr/>
        </p:nvSpPr>
        <p:spPr>
          <a:xfrm>
            <a:off x="3154680" y="1097280"/>
            <a:ext cx="1417320" cy="146304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Synthetic normal data</a:t>
            </a:r>
          </a:p>
          <a:p>
            <a:pPr algn="ctr">
              <a:spcBef>
                <a:spcPts val="0"/>
              </a:spcBef>
              <a:spcAft>
                <a:spcPts val="0"/>
              </a:spcAft>
            </a:pPr>
            <a:r>
              <a:rPr sz="1200" b="0" i="0">
                <a:solidFill>
                  <a:srgbClr val="111827"/>
                </a:solidFill>
                <a:latin typeface="Times New Roman"/>
              </a:rPr>
              <a:t>68 687 rows · 20 machine profiles</a:t>
            </a:r>
          </a:p>
        </p:txBody>
      </p:sp>
      <p:cxnSp>
        <p:nvCxnSpPr>
          <p:cNvPr id="6" name="Connector 5"/>
          <p:cNvCxnSpPr/>
          <p:nvPr/>
        </p:nvCxnSpPr>
        <p:spPr>
          <a:xfrm>
            <a:off x="4590288" y="182880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892040" y="1097280"/>
            <a:ext cx="1417320" cy="146304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Feature engineering</a:t>
            </a:r>
          </a:p>
          <a:p>
            <a:pPr algn="ctr">
              <a:spcBef>
                <a:spcPts val="0"/>
              </a:spcBef>
              <a:spcAft>
                <a:spcPts val="0"/>
              </a:spcAft>
            </a:pPr>
            <a:r>
              <a:rPr sz="1200" b="0" i="0">
                <a:solidFill>
                  <a:srgbClr val="111827"/>
                </a:solidFill>
                <a:latin typeface="Times New Roman"/>
              </a:rPr>
              <a:t>6 normalised features</a:t>
            </a:r>
          </a:p>
        </p:txBody>
      </p:sp>
      <p:cxnSp>
        <p:nvCxnSpPr>
          <p:cNvPr id="8" name="Connector 7"/>
          <p:cNvCxnSpPr/>
          <p:nvPr/>
        </p:nvCxnSpPr>
        <p:spPr>
          <a:xfrm>
            <a:off x="6327647" y="182880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29400" y="1097280"/>
            <a:ext cx="1417320" cy="1463040"/>
          </a:xfrm>
          <a:prstGeom prst="roundRect">
            <a:avLst>
              <a:gd name="adj" fmla="val 774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Train Isolation Forest</a:t>
            </a:r>
          </a:p>
          <a:p>
            <a:pPr algn="ctr">
              <a:spcBef>
                <a:spcPts val="0"/>
              </a:spcBef>
              <a:spcAft>
                <a:spcPts val="0"/>
              </a:spcAft>
            </a:pPr>
            <a:r>
              <a:rPr sz="1200" b="0" i="0">
                <a:solidFill>
                  <a:srgbClr val="111827"/>
                </a:solidFill>
                <a:latin typeface="Times New Roman"/>
              </a:rPr>
              <a:t>unsupervised – no fault labels needed</a:t>
            </a:r>
          </a:p>
        </p:txBody>
      </p:sp>
      <p:cxnSp>
        <p:nvCxnSpPr>
          <p:cNvPr id="10" name="Connector 9"/>
          <p:cNvCxnSpPr/>
          <p:nvPr/>
        </p:nvCxnSpPr>
        <p:spPr>
          <a:xfrm>
            <a:off x="8065008" y="182880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366759" y="1097280"/>
            <a:ext cx="1417320" cy="1463040"/>
          </a:xfrm>
          <a:prstGeom prst="roundRect">
            <a:avLst>
              <a:gd name="adj" fmla="val 7741"/>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Calibrate score</a:t>
            </a:r>
          </a:p>
          <a:p>
            <a:pPr algn="ctr">
              <a:spcBef>
                <a:spcPts val="0"/>
              </a:spcBef>
              <a:spcAft>
                <a:spcPts val="0"/>
              </a:spcAft>
            </a:pPr>
            <a:r>
              <a:rPr sz="1200" b="0" i="0">
                <a:solidFill>
                  <a:srgbClr val="111827"/>
                </a:solidFill>
                <a:latin typeface="Times New Roman"/>
              </a:rPr>
              <a:t>mapped to 0–100 %, alert threshold 85 %</a:t>
            </a:r>
          </a:p>
        </p:txBody>
      </p:sp>
      <p:cxnSp>
        <p:nvCxnSpPr>
          <p:cNvPr id="12" name="Connector 11"/>
          <p:cNvCxnSpPr/>
          <p:nvPr/>
        </p:nvCxnSpPr>
        <p:spPr>
          <a:xfrm>
            <a:off x="9802367" y="182880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104120" y="1097280"/>
            <a:ext cx="1417320" cy="1463040"/>
          </a:xfrm>
          <a:prstGeom prst="roundRect">
            <a:avLst>
              <a:gd name="adj" fmla="val 7741"/>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Save model.pkl</a:t>
            </a:r>
          </a:p>
          <a:p>
            <a:pPr algn="ctr">
              <a:spcBef>
                <a:spcPts val="0"/>
              </a:spcBef>
              <a:spcAft>
                <a:spcPts val="0"/>
              </a:spcAft>
            </a:pPr>
            <a:r>
              <a:rPr sz="1200" b="0" i="0">
                <a:solidFill>
                  <a:srgbClr val="111827"/>
                </a:solidFill>
                <a:latin typeface="Times New Roman"/>
              </a:rPr>
              <a:t>loaded at start-up (C-04: trained once)</a:t>
            </a:r>
          </a:p>
        </p:txBody>
      </p:sp>
      <p:sp>
        <p:nvSpPr>
          <p:cNvPr id="14" name="Rounded Rectangle 13"/>
          <p:cNvSpPr/>
          <p:nvPr/>
        </p:nvSpPr>
        <p:spPr>
          <a:xfrm>
            <a:off x="1783080" y="2880360"/>
            <a:ext cx="1188720" cy="1463040"/>
          </a:xfrm>
          <a:prstGeom prst="roundRect">
            <a:avLst>
              <a:gd name="adj" fmla="val 923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111827"/>
                </a:solidFill>
                <a:latin typeface="Times New Roman"/>
              </a:rPr>
              <a:t>Online</a:t>
            </a:r>
          </a:p>
          <a:p>
            <a:pPr algn="ctr">
              <a:spcBef>
                <a:spcPts val="0"/>
              </a:spcBef>
              <a:spcAft>
                <a:spcPts val="0"/>
              </a:spcAft>
            </a:pPr>
            <a:r>
              <a:rPr sz="1400" b="1" i="0">
                <a:solidFill>
                  <a:srgbClr val="111827"/>
                </a:solidFill>
                <a:latin typeface="Times New Roman"/>
              </a:rPr>
              <a:t>(every 500 ms)</a:t>
            </a:r>
          </a:p>
        </p:txBody>
      </p:sp>
      <p:sp>
        <p:nvSpPr>
          <p:cNvPr id="15" name="Rounded Rectangle 14"/>
          <p:cNvSpPr/>
          <p:nvPr/>
        </p:nvSpPr>
        <p:spPr>
          <a:xfrm>
            <a:off x="3154680" y="2880360"/>
            <a:ext cx="1417320" cy="1463040"/>
          </a:xfrm>
          <a:prstGeom prst="roundRect">
            <a:avLst>
              <a:gd name="adj" fmla="val 774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Live reading</a:t>
            </a:r>
          </a:p>
          <a:p>
            <a:pPr algn="ctr">
              <a:spcBef>
                <a:spcPts val="0"/>
              </a:spcBef>
              <a:spcAft>
                <a:spcPts val="0"/>
              </a:spcAft>
            </a:pPr>
            <a:r>
              <a:rPr sz="1200" b="0" i="0">
                <a:solidFill>
                  <a:srgbClr val="111827"/>
                </a:solidFill>
                <a:latin typeface="Times New Roman"/>
              </a:rPr>
              <a:t>temperature, vibration, status, cycles</a:t>
            </a:r>
          </a:p>
        </p:txBody>
      </p:sp>
      <p:cxnSp>
        <p:nvCxnSpPr>
          <p:cNvPr id="16" name="Connector 15"/>
          <p:cNvCxnSpPr/>
          <p:nvPr/>
        </p:nvCxnSpPr>
        <p:spPr>
          <a:xfrm>
            <a:off x="4590288" y="361188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92040" y="2880360"/>
            <a:ext cx="1417320" cy="1463040"/>
          </a:xfrm>
          <a:prstGeom prst="roundRect">
            <a:avLst>
              <a:gd name="adj" fmla="val 7741"/>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Same features</a:t>
            </a:r>
          </a:p>
          <a:p>
            <a:pPr algn="ctr">
              <a:spcBef>
                <a:spcPts val="0"/>
              </a:spcBef>
              <a:spcAft>
                <a:spcPts val="0"/>
              </a:spcAft>
            </a:pPr>
            <a:r>
              <a:rPr sz="1200" b="0" i="0">
                <a:solidFill>
                  <a:srgbClr val="111827"/>
                </a:solidFill>
                <a:latin typeface="Times New Roman"/>
              </a:rPr>
              <a:t>relative to the machine's own profile</a:t>
            </a:r>
          </a:p>
        </p:txBody>
      </p:sp>
      <p:cxnSp>
        <p:nvCxnSpPr>
          <p:cNvPr id="18" name="Connector 17"/>
          <p:cNvCxnSpPr/>
          <p:nvPr/>
        </p:nvCxnSpPr>
        <p:spPr>
          <a:xfrm>
            <a:off x="6327647" y="361188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629400" y="2880360"/>
            <a:ext cx="1417320" cy="1463040"/>
          </a:xfrm>
          <a:prstGeom prst="roundRect">
            <a:avLst>
              <a:gd name="adj" fmla="val 7741"/>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Score the reading</a:t>
            </a:r>
          </a:p>
          <a:p>
            <a:pPr algn="ctr">
              <a:spcBef>
                <a:spcPts val="0"/>
              </a:spcBef>
              <a:spcAft>
                <a:spcPts val="0"/>
              </a:spcAft>
            </a:pPr>
            <a:r>
              <a:rPr sz="1200" b="0" i="0">
                <a:solidFill>
                  <a:srgbClr val="111827"/>
                </a:solidFill>
                <a:latin typeface="Times New Roman"/>
              </a:rPr>
              <a:t>≤ 25 ms measured (limit 200 ms)</a:t>
            </a:r>
          </a:p>
        </p:txBody>
      </p:sp>
      <p:cxnSp>
        <p:nvCxnSpPr>
          <p:cNvPr id="20" name="Connector 19"/>
          <p:cNvCxnSpPr/>
          <p:nvPr/>
        </p:nvCxnSpPr>
        <p:spPr>
          <a:xfrm>
            <a:off x="8065008" y="3611880"/>
            <a:ext cx="28346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366759" y="2880360"/>
            <a:ext cx="1417320" cy="1463040"/>
          </a:xfrm>
          <a:prstGeom prst="roundRect">
            <a:avLst>
              <a:gd name="adj" fmla="val 7741"/>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Above 85 % for 2 readings?</a:t>
            </a:r>
          </a:p>
          <a:p>
            <a:pPr algn="ctr">
              <a:spcBef>
                <a:spcPts val="0"/>
              </a:spcBef>
              <a:spcAft>
                <a:spcPts val="0"/>
              </a:spcAft>
            </a:pPr>
            <a:r>
              <a:rPr sz="1200" b="0" i="0">
                <a:solidFill>
                  <a:srgbClr val="111827"/>
                </a:solidFill>
                <a:latin typeface="Times New Roman"/>
              </a:rPr>
              <a:t>and below every hard limit</a:t>
            </a:r>
          </a:p>
        </p:txBody>
      </p:sp>
      <p:cxnSp>
        <p:nvCxnSpPr>
          <p:cNvPr id="22" name="Connector 21"/>
          <p:cNvCxnSpPr/>
          <p:nvPr/>
        </p:nvCxnSpPr>
        <p:spPr>
          <a:xfrm>
            <a:off x="9802367" y="3611880"/>
            <a:ext cx="283465"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104120" y="2880360"/>
            <a:ext cx="1417320" cy="1463040"/>
          </a:xfrm>
          <a:prstGeom prst="roundRect">
            <a:avLst>
              <a:gd name="adj" fmla="val 774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a:noAutofit/>
          </a:bodyPr>
          <a:lstStyle/>
          <a:p>
            <a:pPr algn="ctr">
              <a:spcBef>
                <a:spcPts val="0"/>
              </a:spcBef>
              <a:spcAft>
                <a:spcPts val="300"/>
              </a:spcAft>
            </a:pPr>
            <a:r>
              <a:rPr sz="1300" b="1" i="0">
                <a:solidFill>
                  <a:srgbClr val="111827"/>
                </a:solidFill>
                <a:latin typeface="Times New Roman"/>
              </a:rPr>
              <a:t>YELLOW caution</a:t>
            </a:r>
          </a:p>
          <a:p>
            <a:pPr algn="ctr">
              <a:spcBef>
                <a:spcPts val="0"/>
              </a:spcBef>
              <a:spcAft>
                <a:spcPts val="0"/>
              </a:spcAft>
            </a:pPr>
            <a:r>
              <a:rPr sz="1200" b="0" i="0">
                <a:solidFill>
                  <a:srgbClr val="111827"/>
                </a:solidFill>
                <a:latin typeface="Times New Roman"/>
              </a:rPr>
              <a:t>operator gives true / false feedback</a:t>
            </a:r>
          </a:p>
        </p:txBody>
      </p:sp>
      <p:sp>
        <p:nvSpPr>
          <p:cNvPr id="24" name="Rounded Rectangle 23"/>
          <p:cNvSpPr/>
          <p:nvPr/>
        </p:nvSpPr>
        <p:spPr>
          <a:xfrm>
            <a:off x="178308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TextBox 24"/>
          <p:cNvSpPr txBox="1"/>
          <p:nvPr/>
        </p:nvSpPr>
        <p:spPr>
          <a:xfrm>
            <a:off x="192024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6 / 6</a:t>
            </a:r>
          </a:p>
        </p:txBody>
      </p:sp>
      <p:sp>
        <p:nvSpPr>
          <p:cNvPr id="26" name="TextBox 25"/>
          <p:cNvSpPr txBox="1"/>
          <p:nvPr/>
        </p:nvSpPr>
        <p:spPr>
          <a:xfrm>
            <a:off x="192024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injected anomalies detected</a:t>
            </a:r>
          </a:p>
        </p:txBody>
      </p:sp>
      <p:sp>
        <p:nvSpPr>
          <p:cNvPr id="27" name="Rounded Rectangle 26"/>
          <p:cNvSpPr/>
          <p:nvPr/>
        </p:nvSpPr>
        <p:spPr>
          <a:xfrm>
            <a:off x="434340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8" name="TextBox 27"/>
          <p:cNvSpPr txBox="1"/>
          <p:nvPr/>
        </p:nvSpPr>
        <p:spPr>
          <a:xfrm>
            <a:off x="448056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100 %</a:t>
            </a:r>
          </a:p>
        </p:txBody>
      </p:sp>
      <p:sp>
        <p:nvSpPr>
          <p:cNvPr id="29" name="TextBox 28"/>
          <p:cNvSpPr txBox="1"/>
          <p:nvPr/>
        </p:nvSpPr>
        <p:spPr>
          <a:xfrm>
            <a:off x="448056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precision on injected faults</a:t>
            </a:r>
          </a:p>
        </p:txBody>
      </p:sp>
      <p:sp>
        <p:nvSpPr>
          <p:cNvPr id="30" name="Rounded Rectangle 29"/>
          <p:cNvSpPr/>
          <p:nvPr/>
        </p:nvSpPr>
        <p:spPr>
          <a:xfrm>
            <a:off x="6903720"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1" name="TextBox 30"/>
          <p:cNvSpPr txBox="1"/>
          <p:nvPr/>
        </p:nvSpPr>
        <p:spPr>
          <a:xfrm>
            <a:off x="7040880"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0</a:t>
            </a:r>
          </a:p>
        </p:txBody>
      </p:sp>
      <p:sp>
        <p:nvSpPr>
          <p:cNvPr id="32" name="TextBox 31"/>
          <p:cNvSpPr txBox="1"/>
          <p:nvPr/>
        </p:nvSpPr>
        <p:spPr>
          <a:xfrm>
            <a:off x="7040880"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false alarms per hour on healthy machines</a:t>
            </a:r>
          </a:p>
        </p:txBody>
      </p:sp>
      <p:sp>
        <p:nvSpPr>
          <p:cNvPr id="33" name="Rounded Rectangle 32"/>
          <p:cNvSpPr/>
          <p:nvPr/>
        </p:nvSpPr>
        <p:spPr>
          <a:xfrm>
            <a:off x="9464039" y="4572000"/>
            <a:ext cx="2331720" cy="1325880"/>
          </a:xfrm>
          <a:prstGeom prst="roundRect">
            <a:avLst>
              <a:gd name="adj" fmla="val 827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4" name="TextBox 33"/>
          <p:cNvSpPr txBox="1"/>
          <p:nvPr/>
        </p:nvSpPr>
        <p:spPr>
          <a:xfrm>
            <a:off x="9601199" y="4645152"/>
            <a:ext cx="2057400" cy="594360"/>
          </a:xfrm>
          <a:prstGeom prst="rect">
            <a:avLst/>
          </a:prstGeom>
          <a:noFill/>
        </p:spPr>
        <p:txBody>
          <a:bodyPr wrap="square" lIns="0" rIns="0" tIns="0" bIns="0" anchor="ctr">
            <a:noAutofit/>
          </a:bodyPr>
          <a:lstStyle/>
          <a:p>
            <a:pPr algn="l">
              <a:spcBef>
                <a:spcPts val="0"/>
              </a:spcBef>
              <a:spcAft>
                <a:spcPts val="0"/>
              </a:spcAft>
            </a:pPr>
            <a:r>
              <a:rPr sz="3000" b="1" i="0">
                <a:solidFill>
                  <a:srgbClr val="375623"/>
                </a:solidFill>
                <a:latin typeface="Times New Roman"/>
              </a:rPr>
              <a:t>≤ 25 ms</a:t>
            </a:r>
          </a:p>
        </p:txBody>
      </p:sp>
      <p:sp>
        <p:nvSpPr>
          <p:cNvPr id="35" name="TextBox 34"/>
          <p:cNvSpPr txBox="1"/>
          <p:nvPr/>
        </p:nvSpPr>
        <p:spPr>
          <a:xfrm>
            <a:off x="9601199" y="5285232"/>
            <a:ext cx="2057400" cy="54864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worst-case inference (limit 200 ms)</a:t>
            </a:r>
          </a:p>
        </p:txBody>
      </p:sp>
      <p:sp>
        <p:nvSpPr>
          <p:cNvPr id="36" name="TextBox 35"/>
          <p:cNvSpPr txBox="1"/>
          <p:nvPr/>
        </p:nvSpPr>
        <p:spPr>
          <a:xfrm>
            <a:off x="1783080" y="5989320"/>
            <a:ext cx="10012680" cy="2743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If the ML service fails, the last score is kept and the Red rules keep working (NFR-R1).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What-If Degradation &amp; Projection (FR-07)</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Chart 3"/>
          <p:cNvGraphicFramePr>
            <a:graphicFrameLocks noGrp="1"/>
          </p:cNvGraphicFramePr>
          <p:nvPr/>
        </p:nvGraphicFramePr>
        <p:xfrm>
          <a:off x="1783080" y="1005840"/>
          <a:ext cx="6035040" cy="4526280"/>
        </p:xfrm>
        <a:graphic>
          <a:graphicData uri="http://schemas.openxmlformats.org/drawingml/2006/chart">
            <c:chart xmlns:c="http://schemas.openxmlformats.org/drawingml/2006/chart" r:id="rId3"/>
          </a:graphicData>
        </a:graphic>
      </p:graphicFrame>
      <p:sp>
        <p:nvSpPr>
          <p:cNvPr id="5" name="TextBox 4"/>
          <p:cNvSpPr txBox="1"/>
          <p:nvPr/>
        </p:nvSpPr>
        <p:spPr>
          <a:xfrm>
            <a:off x="1783080" y="5623560"/>
            <a:ext cx="6035040" cy="502920"/>
          </a:xfrm>
          <a:prstGeom prst="rect">
            <a:avLst/>
          </a:prstGeom>
          <a:noFill/>
        </p:spPr>
        <p:txBody>
          <a:bodyPr wrap="square" lIns="0" rIns="0" tIns="0" bIns="0" anchor="t">
            <a:noAutofit/>
          </a:bodyPr>
          <a:lstStyle/>
          <a:p>
            <a:pPr algn="l">
              <a:spcBef>
                <a:spcPts val="0"/>
              </a:spcBef>
              <a:spcAft>
                <a:spcPts val="0"/>
              </a:spcAft>
            </a:pPr>
            <a:r>
              <a:rPr sz="1300" b="0" i="1">
                <a:solidFill>
                  <a:srgbClr val="475569"/>
                </a:solidFill>
                <a:latin typeface="Times New Roman"/>
              </a:rPr>
              <a:t>Illustrative example: the line predicts the 85 °C limit in about 50 s (≤ 60 s), so the machine turns Orange.</a:t>
            </a:r>
          </a:p>
        </p:txBody>
      </p:sp>
      <p:sp>
        <p:nvSpPr>
          <p:cNvPr id="6" name="Rounded Rectangle 5"/>
          <p:cNvSpPr/>
          <p:nvPr/>
        </p:nvSpPr>
        <p:spPr>
          <a:xfrm>
            <a:off x="8046719" y="1005840"/>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Oval 6"/>
          <p:cNvSpPr/>
          <p:nvPr/>
        </p:nvSpPr>
        <p:spPr>
          <a:xfrm>
            <a:off x="8220455" y="1243584"/>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8" name="TextBox 7"/>
          <p:cNvSpPr txBox="1"/>
          <p:nvPr/>
        </p:nvSpPr>
        <p:spPr>
          <a:xfrm>
            <a:off x="8823959" y="1005840"/>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Fit a straight line through the last </a:t>
            </a:r>
            <a:r>
              <a:rPr sz="1400" b="1" i="0">
                <a:solidFill>
                  <a:srgbClr val="111827"/>
                </a:solidFill>
                <a:latin typeface="Times New Roman"/>
              </a:rPr>
              <a:t>3 minutes</a:t>
            </a:r>
            <a:r>
              <a:rPr sz="1400" b="0" i="0">
                <a:solidFill>
                  <a:srgbClr val="111827"/>
                </a:solidFill>
                <a:latin typeface="Times New Roman"/>
              </a:rPr>
              <a:t> of temperature</a:t>
            </a:r>
          </a:p>
        </p:txBody>
      </p:sp>
      <p:sp>
        <p:nvSpPr>
          <p:cNvPr id="9" name="Rounded Rectangle 8"/>
          <p:cNvSpPr/>
          <p:nvPr/>
        </p:nvSpPr>
        <p:spPr>
          <a:xfrm>
            <a:off x="8046719" y="2029968"/>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8220455" y="2267712"/>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8823959" y="2029968"/>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Compute </a:t>
            </a:r>
            <a:r>
              <a:rPr sz="1400" b="1" i="0">
                <a:solidFill>
                  <a:srgbClr val="111827"/>
                </a:solidFill>
                <a:latin typeface="Times New Roman"/>
              </a:rPr>
              <a:t>ETA = (limit − value now) ÷ slope</a:t>
            </a:r>
          </a:p>
        </p:txBody>
      </p:sp>
      <p:sp>
        <p:nvSpPr>
          <p:cNvPr id="12" name="Rounded Rectangle 11"/>
          <p:cNvSpPr/>
          <p:nvPr/>
        </p:nvSpPr>
        <p:spPr>
          <a:xfrm>
            <a:off x="8046719" y="3054096"/>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Oval 12"/>
          <p:cNvSpPr/>
          <p:nvPr/>
        </p:nvSpPr>
        <p:spPr>
          <a:xfrm>
            <a:off x="8220455" y="3291840"/>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4" name="TextBox 13"/>
          <p:cNvSpPr txBox="1"/>
          <p:nvPr/>
        </p:nvSpPr>
        <p:spPr>
          <a:xfrm>
            <a:off x="8823959" y="3054096"/>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If ETA ≤ </a:t>
            </a:r>
            <a:r>
              <a:rPr sz="1400" b="1" i="0">
                <a:solidFill>
                  <a:srgbClr val="111827"/>
                </a:solidFill>
                <a:latin typeface="Times New Roman"/>
              </a:rPr>
              <a:t>60 s</a:t>
            </a:r>
            <a:r>
              <a:rPr sz="1400" b="0" i="0">
                <a:solidFill>
                  <a:srgbClr val="111827"/>
                </a:solidFill>
                <a:latin typeface="Times New Roman"/>
              </a:rPr>
              <a:t> and the fit is good (R² ≥ 0.6, slope ≥ 0.03 °C/s) → </a:t>
            </a:r>
            <a:r>
              <a:rPr sz="1400" b="1" i="0">
                <a:solidFill>
                  <a:srgbClr val="111827"/>
                </a:solidFill>
                <a:latin typeface="Times New Roman"/>
              </a:rPr>
              <a:t>ORANGE</a:t>
            </a:r>
            <a:r>
              <a:rPr sz="1400" b="0" i="0">
                <a:solidFill>
                  <a:srgbClr val="111827"/>
                </a:solidFill>
                <a:latin typeface="Times New Roman"/>
              </a:rPr>
              <a:t> + countdown</a:t>
            </a:r>
          </a:p>
        </p:txBody>
      </p:sp>
      <p:sp>
        <p:nvSpPr>
          <p:cNvPr id="15" name="Rounded Rectangle 14"/>
          <p:cNvSpPr/>
          <p:nvPr/>
        </p:nvSpPr>
        <p:spPr>
          <a:xfrm>
            <a:off x="8046719" y="4078224"/>
            <a:ext cx="3749039" cy="896112"/>
          </a:xfrm>
          <a:prstGeom prst="roundRect">
            <a:avLst>
              <a:gd name="adj" fmla="val 12244"/>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6" name="Oval 15"/>
          <p:cNvSpPr/>
          <p:nvPr/>
        </p:nvSpPr>
        <p:spPr>
          <a:xfrm>
            <a:off x="8220455" y="4315968"/>
            <a:ext cx="420624" cy="42062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17" name="TextBox 16"/>
          <p:cNvSpPr txBox="1"/>
          <p:nvPr/>
        </p:nvSpPr>
        <p:spPr>
          <a:xfrm>
            <a:off x="8823959" y="4078224"/>
            <a:ext cx="2834639" cy="896112"/>
          </a:xfrm>
          <a:prstGeom prst="rect">
            <a:avLst/>
          </a:prstGeom>
          <a:noFill/>
        </p:spPr>
        <p:txBody>
          <a:bodyPr wrap="square" lIns="0" rIns="0" tIns="0" bIns="0" anchor="ctr">
            <a:noAutofit/>
          </a:bodyPr>
          <a:lstStyle/>
          <a:p>
            <a:pPr algn="l">
              <a:spcBef>
                <a:spcPts val="0"/>
              </a:spcBef>
              <a:spcAft>
                <a:spcPts val="0"/>
              </a:spcAft>
            </a:pPr>
            <a:r>
              <a:rPr sz="1400" b="0" i="0">
                <a:solidFill>
                  <a:srgbClr val="111827"/>
                </a:solidFill>
                <a:latin typeface="Times New Roman"/>
              </a:rPr>
              <a:t>If the limit is really crossed → </a:t>
            </a:r>
            <a:r>
              <a:rPr sz="1400" b="1" i="0">
                <a:solidFill>
                  <a:srgbClr val="111827"/>
                </a:solidFill>
                <a:latin typeface="Times New Roman"/>
              </a:rPr>
              <a:t>RED</a:t>
            </a:r>
          </a:p>
        </p:txBody>
      </p:sp>
      <p:sp>
        <p:nvSpPr>
          <p:cNvPr id="18" name="Rounded Rectangle 17"/>
          <p:cNvSpPr/>
          <p:nvPr/>
        </p:nvSpPr>
        <p:spPr>
          <a:xfrm>
            <a:off x="8046719" y="5212080"/>
            <a:ext cx="3749039" cy="1051560"/>
          </a:xfrm>
          <a:prstGeom prst="roundRect">
            <a:avLst>
              <a:gd name="adj" fmla="val 10434"/>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noAutofit/>
          </a:bodyPr>
          <a:lstStyle/>
          <a:p>
            <a:pPr algn="l">
              <a:spcBef>
                <a:spcPts val="0"/>
              </a:spcBef>
              <a:spcAft>
                <a:spcPts val="0"/>
              </a:spcAft>
            </a:pPr>
            <a:r>
              <a:rPr sz="1400" b="1" i="0">
                <a:solidFill>
                  <a:srgbClr val="111827"/>
                </a:solidFill>
                <a:latin typeface="Times New Roman"/>
              </a:rPr>
              <a:t>Measured in tests</a:t>
            </a:r>
          </a:p>
          <a:p>
            <a:pPr algn="l">
              <a:spcBef>
                <a:spcPts val="0"/>
              </a:spcBef>
              <a:spcAft>
                <a:spcPts val="0"/>
              </a:spcAft>
            </a:pPr>
            <a:r>
              <a:rPr sz="1300" b="0" i="0">
                <a:solidFill>
                  <a:srgbClr val="111827"/>
                </a:solidFill>
                <a:latin typeface="Times New Roman"/>
              </a:rPr>
              <a:t>Orange raised with ETA ≈ 28 s, then Red at 85.3 °C. Flat noise and short windows do not trigger it (unit-tested).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Use Case Diagram (SRS §7.2)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3474720" y="1005840"/>
            <a:ext cx="6629400" cy="5257800"/>
          </a:xfrm>
          <a:prstGeom prst="roundRect">
            <a:avLst>
              <a:gd name="adj" fmla="val 1391"/>
            </a:avLst>
          </a:prstGeom>
          <a:no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3657600" y="1069848"/>
            <a:ext cx="6263640" cy="320040"/>
          </a:xfrm>
          <a:prstGeom prst="rect">
            <a:avLst/>
          </a:prstGeom>
          <a:noFill/>
        </p:spPr>
        <p:txBody>
          <a:bodyPr wrap="square" lIns="0" rIns="0" tIns="0" bIns="0" anchor="t">
            <a:noAutofit/>
          </a:bodyPr>
          <a:lstStyle/>
          <a:p>
            <a:pPr algn="l">
              <a:spcBef>
                <a:spcPts val="0"/>
              </a:spcBef>
              <a:spcAft>
                <a:spcPts val="0"/>
              </a:spcAft>
            </a:pPr>
            <a:r>
              <a:rPr sz="1300" b="1" i="0">
                <a:solidFill>
                  <a:srgbClr val="475569"/>
                </a:solidFill>
                <a:latin typeface="Times New Roman"/>
              </a:rPr>
              <a:t>Real-Time OEE and Anomaly Dashboard for a Smart Factory System</a:t>
            </a:r>
          </a:p>
        </p:txBody>
      </p:sp>
      <p:sp>
        <p:nvSpPr>
          <p:cNvPr id="6" name="Oval 5"/>
          <p:cNvSpPr/>
          <p:nvPr/>
        </p:nvSpPr>
        <p:spPr>
          <a:xfrm>
            <a:off x="3749039" y="16916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UC-01  Acknowledge an Alarm</a:t>
            </a:r>
          </a:p>
        </p:txBody>
      </p:sp>
      <p:sp>
        <p:nvSpPr>
          <p:cNvPr id="7" name="Oval 6"/>
          <p:cNvSpPr/>
          <p:nvPr/>
        </p:nvSpPr>
        <p:spPr>
          <a:xfrm>
            <a:off x="3749039" y="26060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UC-02  Receive Real-Time Alerts</a:t>
            </a:r>
          </a:p>
        </p:txBody>
      </p:sp>
      <p:sp>
        <p:nvSpPr>
          <p:cNvPr id="8" name="Oval 7"/>
          <p:cNvSpPr/>
          <p:nvPr/>
        </p:nvSpPr>
        <p:spPr>
          <a:xfrm>
            <a:off x="3749039" y="35204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UC-03  Log Maintenance Activity</a:t>
            </a:r>
          </a:p>
        </p:txBody>
      </p:sp>
      <p:sp>
        <p:nvSpPr>
          <p:cNvPr id="9" name="Oval 8"/>
          <p:cNvSpPr/>
          <p:nvPr/>
        </p:nvSpPr>
        <p:spPr>
          <a:xfrm>
            <a:off x="3749039" y="44348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UC-06  View Real-Time Dashboard</a:t>
            </a:r>
          </a:p>
        </p:txBody>
      </p:sp>
      <p:sp>
        <p:nvSpPr>
          <p:cNvPr id="10" name="Oval 9"/>
          <p:cNvSpPr/>
          <p:nvPr/>
        </p:nvSpPr>
        <p:spPr>
          <a:xfrm>
            <a:off x="3749039" y="53492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UC-07  Trigger “What-If” Scenario</a:t>
            </a:r>
          </a:p>
        </p:txBody>
      </p:sp>
      <p:sp>
        <p:nvSpPr>
          <p:cNvPr id="11" name="Oval 10"/>
          <p:cNvSpPr/>
          <p:nvPr/>
        </p:nvSpPr>
        <p:spPr>
          <a:xfrm>
            <a:off x="6903720" y="21488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UC-04  View Historical Reports</a:t>
            </a:r>
          </a:p>
        </p:txBody>
      </p:sp>
      <p:sp>
        <p:nvSpPr>
          <p:cNvPr id="12" name="Oval 11"/>
          <p:cNvSpPr/>
          <p:nvPr/>
        </p:nvSpPr>
        <p:spPr>
          <a:xfrm>
            <a:off x="6903720" y="3977639"/>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UC-05  Deploy System</a:t>
            </a:r>
          </a:p>
        </p:txBody>
      </p:sp>
      <p:sp>
        <p:nvSpPr>
          <p:cNvPr id="13" name="Oval 12"/>
          <p:cNvSpPr/>
          <p:nvPr/>
        </p:nvSpPr>
        <p:spPr>
          <a:xfrm>
            <a:off x="6903720" y="4892040"/>
            <a:ext cx="2926080" cy="640080"/>
          </a:xfrm>
          <a:prstGeom prst="ellipse">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noAutofit/>
          </a:bodyPr>
          <a:lstStyle/>
          <a:p>
            <a:pPr algn="ctr">
              <a:spcBef>
                <a:spcPts val="0"/>
              </a:spcBef>
              <a:spcAft>
                <a:spcPts val="0"/>
              </a:spcAft>
            </a:pPr>
            <a:r>
              <a:rPr sz="1300" b="0" i="0">
                <a:solidFill>
                  <a:srgbClr val="111827"/>
                </a:solidFill>
                <a:latin typeface="Times New Roman"/>
              </a:rPr>
              <a:t>UC-08  Scale Simulated Machines</a:t>
            </a:r>
          </a:p>
        </p:txBody>
      </p:sp>
      <p:sp>
        <p:nvSpPr>
          <p:cNvPr id="14" name="Oval 13"/>
          <p:cNvSpPr/>
          <p:nvPr/>
        </p:nvSpPr>
        <p:spPr>
          <a:xfrm>
            <a:off x="2267712" y="1828800"/>
            <a:ext cx="310896" cy="310896"/>
          </a:xfrm>
          <a:prstGeom prst="ellipse">
            <a:avLst/>
          </a:prstGeom>
          <a:solidFill>
            <a:srgbClr val="FFFFFF"/>
          </a:solidFill>
          <a:ln w="2540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423160" y="2139696"/>
            <a:ext cx="0" cy="45720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148840" y="2295144"/>
            <a:ext cx="548639"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03704" y="2596896"/>
            <a:ext cx="219456"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423160" y="2596896"/>
            <a:ext cx="219455"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691639" y="3008376"/>
            <a:ext cx="1463040" cy="457200"/>
          </a:xfrm>
          <a:prstGeom prst="rect">
            <a:avLst/>
          </a:prstGeom>
          <a:noFill/>
        </p:spPr>
        <p:txBody>
          <a:bodyPr wrap="square" lIns="0" rIns="0" tIns="0" bIns="0" anchor="t">
            <a:noAutofit/>
          </a:bodyPr>
          <a:lstStyle/>
          <a:p>
            <a:pPr algn="ctr">
              <a:spcBef>
                <a:spcPts val="0"/>
              </a:spcBef>
              <a:spcAft>
                <a:spcPts val="0"/>
              </a:spcAft>
            </a:pPr>
            <a:r>
              <a:rPr sz="1300" b="1" i="0">
                <a:solidFill>
                  <a:srgbClr val="111827"/>
                </a:solidFill>
                <a:latin typeface="Times New Roman"/>
              </a:rPr>
              <a:t>Maintenance Engineer</a:t>
            </a:r>
          </a:p>
        </p:txBody>
      </p:sp>
      <p:sp>
        <p:nvSpPr>
          <p:cNvPr id="20" name="Oval 19"/>
          <p:cNvSpPr/>
          <p:nvPr/>
        </p:nvSpPr>
        <p:spPr>
          <a:xfrm>
            <a:off x="2267712" y="4297680"/>
            <a:ext cx="310896" cy="310896"/>
          </a:xfrm>
          <a:prstGeom prst="ellipse">
            <a:avLst/>
          </a:prstGeom>
          <a:solidFill>
            <a:srgbClr val="FFFFFF"/>
          </a:solidFill>
          <a:ln w="2540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2423160" y="4608576"/>
            <a:ext cx="0" cy="45720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148840" y="4764024"/>
            <a:ext cx="548639"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2203704" y="5065776"/>
            <a:ext cx="219456"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423160" y="5065776"/>
            <a:ext cx="219455"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91639" y="5477256"/>
            <a:ext cx="1463040" cy="457200"/>
          </a:xfrm>
          <a:prstGeom prst="rect">
            <a:avLst/>
          </a:prstGeom>
          <a:noFill/>
        </p:spPr>
        <p:txBody>
          <a:bodyPr wrap="square" lIns="0" rIns="0" tIns="0" bIns="0" anchor="t">
            <a:noAutofit/>
          </a:bodyPr>
          <a:lstStyle/>
          <a:p>
            <a:pPr algn="ctr">
              <a:spcBef>
                <a:spcPts val="0"/>
              </a:spcBef>
              <a:spcAft>
                <a:spcPts val="0"/>
              </a:spcAft>
            </a:pPr>
            <a:r>
              <a:rPr sz="1300" b="1" i="0">
                <a:solidFill>
                  <a:srgbClr val="111827"/>
                </a:solidFill>
                <a:latin typeface="Times New Roman"/>
              </a:rPr>
              <a:t>Floor Manager</a:t>
            </a:r>
          </a:p>
        </p:txBody>
      </p:sp>
      <p:cxnSp>
        <p:nvCxnSpPr>
          <p:cNvPr id="26" name="Connector 25"/>
          <p:cNvCxnSpPr/>
          <p:nvPr/>
        </p:nvCxnSpPr>
        <p:spPr>
          <a:xfrm flipV="1">
            <a:off x="2743200" y="2011680"/>
            <a:ext cx="1005839" cy="32004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743200" y="2331720"/>
            <a:ext cx="1005839" cy="59436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743200" y="2331720"/>
            <a:ext cx="1005839" cy="150876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743200" y="2331720"/>
            <a:ext cx="1005839" cy="242315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43200" y="4754879"/>
            <a:ext cx="1005839" cy="45721"/>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43200" y="4800600"/>
            <a:ext cx="1005839" cy="86867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11000232" y="1737360"/>
            <a:ext cx="310896" cy="310896"/>
          </a:xfrm>
          <a:prstGeom prst="ellipse">
            <a:avLst/>
          </a:prstGeom>
          <a:solidFill>
            <a:srgbClr val="FFFFFF"/>
          </a:solidFill>
          <a:ln w="2540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155680" y="2048255"/>
            <a:ext cx="0" cy="457201"/>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881359" y="2203703"/>
            <a:ext cx="548641"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0936224" y="2505456"/>
            <a:ext cx="219456" cy="347471"/>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155680" y="2505456"/>
            <a:ext cx="219456" cy="347471"/>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424159" y="2916935"/>
            <a:ext cx="1463040" cy="457200"/>
          </a:xfrm>
          <a:prstGeom prst="rect">
            <a:avLst/>
          </a:prstGeom>
          <a:noFill/>
        </p:spPr>
        <p:txBody>
          <a:bodyPr wrap="square" lIns="0" rIns="0" tIns="0" bIns="0" anchor="t">
            <a:noAutofit/>
          </a:bodyPr>
          <a:lstStyle/>
          <a:p>
            <a:pPr algn="ctr">
              <a:spcBef>
                <a:spcPts val="0"/>
              </a:spcBef>
              <a:spcAft>
                <a:spcPts val="0"/>
              </a:spcAft>
            </a:pPr>
            <a:r>
              <a:rPr sz="1300" b="1" i="0">
                <a:solidFill>
                  <a:srgbClr val="111827"/>
                </a:solidFill>
                <a:latin typeface="Times New Roman"/>
              </a:rPr>
              <a:t>Production Analyst</a:t>
            </a:r>
          </a:p>
        </p:txBody>
      </p:sp>
      <p:sp>
        <p:nvSpPr>
          <p:cNvPr id="38" name="Oval 37"/>
          <p:cNvSpPr/>
          <p:nvPr/>
        </p:nvSpPr>
        <p:spPr>
          <a:xfrm>
            <a:off x="11000232" y="4297680"/>
            <a:ext cx="310896" cy="310896"/>
          </a:xfrm>
          <a:prstGeom prst="ellipse">
            <a:avLst/>
          </a:prstGeom>
          <a:solidFill>
            <a:srgbClr val="FFFFFF"/>
          </a:solidFill>
          <a:ln w="2540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11155680" y="4608576"/>
            <a:ext cx="0" cy="45720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881359" y="4764024"/>
            <a:ext cx="548641"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936224" y="5065776"/>
            <a:ext cx="219456"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155680" y="5065776"/>
            <a:ext cx="219456" cy="347472"/>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424159" y="5477256"/>
            <a:ext cx="1463040" cy="457200"/>
          </a:xfrm>
          <a:prstGeom prst="rect">
            <a:avLst/>
          </a:prstGeom>
          <a:noFill/>
        </p:spPr>
        <p:txBody>
          <a:bodyPr wrap="square" lIns="0" rIns="0" tIns="0" bIns="0" anchor="t">
            <a:noAutofit/>
          </a:bodyPr>
          <a:lstStyle/>
          <a:p>
            <a:pPr algn="ctr">
              <a:spcBef>
                <a:spcPts val="0"/>
              </a:spcBef>
              <a:spcAft>
                <a:spcPts val="0"/>
              </a:spcAft>
            </a:pPr>
            <a:r>
              <a:rPr sz="1300" b="1" i="0">
                <a:solidFill>
                  <a:srgbClr val="111827"/>
                </a:solidFill>
                <a:latin typeface="Times New Roman"/>
              </a:rPr>
              <a:t>System Administrator</a:t>
            </a:r>
          </a:p>
        </p:txBody>
      </p:sp>
      <p:cxnSp>
        <p:nvCxnSpPr>
          <p:cNvPr id="44" name="Connector 43"/>
          <p:cNvCxnSpPr/>
          <p:nvPr/>
        </p:nvCxnSpPr>
        <p:spPr>
          <a:xfrm flipH="1">
            <a:off x="9829800" y="2240280"/>
            <a:ext cx="1005839" cy="22860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9829800" y="4297679"/>
            <a:ext cx="1005839" cy="502921"/>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829800" y="4800600"/>
            <a:ext cx="1005839" cy="41147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903720" y="1600200"/>
            <a:ext cx="2926080" cy="411480"/>
          </a:xfrm>
          <a:prstGeom prst="rect">
            <a:avLst/>
          </a:prstGeom>
          <a:noFill/>
        </p:spPr>
        <p:txBody>
          <a:bodyPr wrap="square" lIns="0" rIns="0" tIns="0" bIns="0" anchor="t">
            <a:noAutofit/>
          </a:bodyPr>
          <a:lstStyle/>
          <a:p>
            <a:pPr algn="ctr">
              <a:spcBef>
                <a:spcPts val="0"/>
              </a:spcBef>
              <a:spcAft>
                <a:spcPts val="0"/>
              </a:spcAft>
            </a:pPr>
            <a:r>
              <a:rPr sz="1200" b="0" i="1">
                <a:solidFill>
                  <a:srgbClr val="475569"/>
                </a:solidFill>
                <a:latin typeface="Times New Roman"/>
              </a:rPr>
              <a:t>Write operations (UC-01, 03, 07) require login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Class Diagram: 12 Domain Classes (SRS §8.3)</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05840"/>
            <a:ext cx="2297429" cy="1463040"/>
          </a:xfrm>
          <a:prstGeom prst="roundRect">
            <a:avLst>
              <a:gd name="adj" fmla="val 62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Rounded Rectangle 4"/>
          <p:cNvSpPr/>
          <p:nvPr/>
        </p:nvSpPr>
        <p:spPr>
          <a:xfrm>
            <a:off x="1783080" y="1005840"/>
            <a:ext cx="2297429" cy="347472"/>
          </a:xfrm>
          <a:prstGeom prst="roundRect">
            <a:avLst>
              <a:gd name="adj" fmla="val 26315"/>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Simulator</a:t>
            </a:r>
          </a:p>
        </p:txBody>
      </p:sp>
      <p:sp>
        <p:nvSpPr>
          <p:cNvPr id="6" name="TextBox 5"/>
          <p:cNvSpPr txBox="1"/>
          <p:nvPr/>
        </p:nvSpPr>
        <p:spPr>
          <a:xfrm>
            <a:off x="1892807" y="142646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machineCount: int</a:t>
            </a:r>
          </a:p>
          <a:p>
            <a:pPr algn="l">
              <a:spcBef>
                <a:spcPts val="0"/>
              </a:spcBef>
              <a:spcAft>
                <a:spcPts val="0"/>
              </a:spcAft>
            </a:pPr>
            <a:r>
              <a:rPr sz="1200" b="0" i="0">
                <a:solidFill>
                  <a:srgbClr val="111827"/>
                </a:solidFill>
                <a:latin typeface="Times New Roman"/>
              </a:rPr>
              <a:t>emitIntervalMs: int</a:t>
            </a:r>
          </a:p>
          <a:p>
            <a:pPr algn="l">
              <a:spcBef>
                <a:spcPts val="0"/>
              </a:spcBef>
              <a:spcAft>
                <a:spcPts val="0"/>
              </a:spcAft>
            </a:pPr>
            <a:r>
              <a:rPr sz="1200" b="0" i="0">
                <a:solidFill>
                  <a:srgbClr val="111827"/>
                </a:solidFill>
                <a:latin typeface="Times New Roman"/>
              </a:rPr>
              <a:t>isRunning: bool</a:t>
            </a:r>
          </a:p>
        </p:txBody>
      </p:sp>
      <p:cxnSp>
        <p:nvCxnSpPr>
          <p:cNvPr id="7" name="Connector 6"/>
          <p:cNvCxnSpPr/>
          <p:nvPr/>
        </p:nvCxnSpPr>
        <p:spPr>
          <a:xfrm>
            <a:off x="1783080" y="2039112"/>
            <a:ext cx="2297429" cy="0"/>
          </a:xfrm>
          <a:prstGeom prst="line">
            <a:avLst/>
          </a:prstGeom>
          <a:ln w="12700">
            <a:solidFill>
              <a:srgbClr val="2563E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892807" y="2093976"/>
            <a:ext cx="2077974" cy="338328"/>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generateTelemetry()</a:t>
            </a:r>
          </a:p>
          <a:p>
            <a:pPr algn="l">
              <a:spcBef>
                <a:spcPts val="0"/>
              </a:spcBef>
              <a:spcAft>
                <a:spcPts val="0"/>
              </a:spcAft>
            </a:pPr>
            <a:r>
              <a:rPr sz="1200" b="0" i="1">
                <a:solidFill>
                  <a:srgbClr val="475569"/>
                </a:solidFill>
                <a:latin typeface="Times New Roman"/>
              </a:rPr>
              <a:t>injectDegradation(id)</a:t>
            </a:r>
          </a:p>
        </p:txBody>
      </p:sp>
      <p:sp>
        <p:nvSpPr>
          <p:cNvPr id="9" name="Rounded Rectangle 8"/>
          <p:cNvSpPr/>
          <p:nvPr/>
        </p:nvSpPr>
        <p:spPr>
          <a:xfrm>
            <a:off x="4354829" y="1005840"/>
            <a:ext cx="2297429" cy="1463040"/>
          </a:xfrm>
          <a:prstGeom prst="roundRect">
            <a:avLst>
              <a:gd name="adj" fmla="val 625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Rounded Rectangle 9"/>
          <p:cNvSpPr/>
          <p:nvPr/>
        </p:nvSpPr>
        <p:spPr>
          <a:xfrm>
            <a:off x="4354829" y="1005840"/>
            <a:ext cx="2297429" cy="347472"/>
          </a:xfrm>
          <a:prstGeom prst="roundRect">
            <a:avLst>
              <a:gd name="adj" fmla="val 26315"/>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Machine</a:t>
            </a:r>
          </a:p>
        </p:txBody>
      </p:sp>
      <p:sp>
        <p:nvSpPr>
          <p:cNvPr id="11" name="TextBox 10"/>
          <p:cNvSpPr txBox="1"/>
          <p:nvPr/>
        </p:nvSpPr>
        <p:spPr>
          <a:xfrm>
            <a:off x="4464557" y="142646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machineID: UUID</a:t>
            </a:r>
          </a:p>
          <a:p>
            <a:pPr algn="l">
              <a:spcBef>
                <a:spcPts val="0"/>
              </a:spcBef>
              <a:spcAft>
                <a:spcPts val="0"/>
              </a:spcAft>
            </a:pPr>
            <a:r>
              <a:rPr sz="1200" b="0" i="0">
                <a:solidFill>
                  <a:srgbClr val="111827"/>
                </a:solidFill>
                <a:latin typeface="Times New Roman"/>
              </a:rPr>
              <a:t>status: enum</a:t>
            </a:r>
          </a:p>
          <a:p>
            <a:pPr algn="l">
              <a:spcBef>
                <a:spcPts val="0"/>
              </a:spcBef>
              <a:spcAft>
                <a:spcPts val="0"/>
              </a:spcAft>
            </a:pPr>
            <a:r>
              <a:rPr sz="1200" b="0" i="0">
                <a:solidFill>
                  <a:srgbClr val="111827"/>
                </a:solidFill>
                <a:latin typeface="Times New Roman"/>
              </a:rPr>
              <a:t>oeeScore: float</a:t>
            </a:r>
          </a:p>
        </p:txBody>
      </p:sp>
      <p:cxnSp>
        <p:nvCxnSpPr>
          <p:cNvPr id="12" name="Connector 11"/>
          <p:cNvCxnSpPr/>
          <p:nvPr/>
        </p:nvCxnSpPr>
        <p:spPr>
          <a:xfrm>
            <a:off x="4354829" y="2039112"/>
            <a:ext cx="2297430" cy="0"/>
          </a:xfrm>
          <a:prstGeom prst="line">
            <a:avLst/>
          </a:prstGeom>
          <a:ln w="12700">
            <a:solidFill>
              <a:srgbClr val="2563E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64557" y="2093976"/>
            <a:ext cx="2077974" cy="338328"/>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updateTelemetry()</a:t>
            </a:r>
          </a:p>
          <a:p>
            <a:pPr algn="l">
              <a:spcBef>
                <a:spcPts val="0"/>
              </a:spcBef>
              <a:spcAft>
                <a:spcPts val="0"/>
              </a:spcAft>
            </a:pPr>
            <a:r>
              <a:rPr sz="1200" b="0" i="1">
                <a:solidFill>
                  <a:srgbClr val="475569"/>
                </a:solidFill>
                <a:latin typeface="Times New Roman"/>
              </a:rPr>
              <a:t>setStatus(status)</a:t>
            </a:r>
          </a:p>
        </p:txBody>
      </p:sp>
      <p:sp>
        <p:nvSpPr>
          <p:cNvPr id="14" name="Rounded Rectangle 13"/>
          <p:cNvSpPr/>
          <p:nvPr/>
        </p:nvSpPr>
        <p:spPr>
          <a:xfrm>
            <a:off x="6926579" y="1005840"/>
            <a:ext cx="2297429" cy="1463040"/>
          </a:xfrm>
          <a:prstGeom prst="roundRect">
            <a:avLst>
              <a:gd name="adj" fmla="val 625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Rounded Rectangle 14"/>
          <p:cNvSpPr/>
          <p:nvPr/>
        </p:nvSpPr>
        <p:spPr>
          <a:xfrm>
            <a:off x="6926579" y="1005840"/>
            <a:ext cx="2297429" cy="347472"/>
          </a:xfrm>
          <a:prstGeom prst="roundRect">
            <a:avLst>
              <a:gd name="adj" fmla="val 26315"/>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TelemetryData</a:t>
            </a:r>
          </a:p>
        </p:txBody>
      </p:sp>
      <p:sp>
        <p:nvSpPr>
          <p:cNvPr id="16" name="TextBox 15"/>
          <p:cNvSpPr txBox="1"/>
          <p:nvPr/>
        </p:nvSpPr>
        <p:spPr>
          <a:xfrm>
            <a:off x="7036307" y="142646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machineId · timestamp</a:t>
            </a:r>
          </a:p>
          <a:p>
            <a:pPr algn="l">
              <a:spcBef>
                <a:spcPts val="0"/>
              </a:spcBef>
              <a:spcAft>
                <a:spcPts val="0"/>
              </a:spcAft>
            </a:pPr>
            <a:r>
              <a:rPr sz="1200" b="0" i="0">
                <a:solidFill>
                  <a:srgbClr val="111827"/>
                </a:solidFill>
                <a:latin typeface="Times New Roman"/>
              </a:rPr>
              <a:t>temperature: float</a:t>
            </a:r>
          </a:p>
          <a:p>
            <a:pPr algn="l">
              <a:spcBef>
                <a:spcPts val="0"/>
              </a:spcBef>
              <a:spcAft>
                <a:spcPts val="0"/>
              </a:spcAft>
            </a:pPr>
            <a:r>
              <a:rPr sz="1200" b="0" i="0">
                <a:solidFill>
                  <a:srgbClr val="111827"/>
                </a:solidFill>
                <a:latin typeface="Times New Roman"/>
              </a:rPr>
              <a:t>vibration: float</a:t>
            </a:r>
          </a:p>
        </p:txBody>
      </p:sp>
      <p:cxnSp>
        <p:nvCxnSpPr>
          <p:cNvPr id="17" name="Connector 16"/>
          <p:cNvCxnSpPr/>
          <p:nvPr/>
        </p:nvCxnSpPr>
        <p:spPr>
          <a:xfrm>
            <a:off x="6926579" y="2039112"/>
            <a:ext cx="2297430" cy="0"/>
          </a:xfrm>
          <a:prstGeom prst="line">
            <a:avLst/>
          </a:prstGeom>
          <a:ln w="12700">
            <a:solidFill>
              <a:srgbClr val="16A34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36307" y="2093976"/>
            <a:ext cx="2077974" cy="338328"/>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validate(): bool</a:t>
            </a:r>
          </a:p>
          <a:p>
            <a:pPr algn="l">
              <a:spcBef>
                <a:spcPts val="0"/>
              </a:spcBef>
              <a:spcAft>
                <a:spcPts val="0"/>
              </a:spcAft>
            </a:pPr>
            <a:r>
              <a:rPr sz="1200" b="0" i="1">
                <a:solidFill>
                  <a:srgbClr val="475569"/>
                </a:solidFill>
                <a:latin typeface="Times New Roman"/>
              </a:rPr>
              <a:t>toInfluxPoint()</a:t>
            </a:r>
          </a:p>
        </p:txBody>
      </p:sp>
      <p:sp>
        <p:nvSpPr>
          <p:cNvPr id="19" name="Rounded Rectangle 18"/>
          <p:cNvSpPr/>
          <p:nvPr/>
        </p:nvSpPr>
        <p:spPr>
          <a:xfrm>
            <a:off x="9498329" y="1005840"/>
            <a:ext cx="2297429" cy="1463040"/>
          </a:xfrm>
          <a:prstGeom prst="roundRect">
            <a:avLst>
              <a:gd name="adj" fmla="val 625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Rounded Rectangle 19"/>
          <p:cNvSpPr/>
          <p:nvPr/>
        </p:nvSpPr>
        <p:spPr>
          <a:xfrm>
            <a:off x="9498329" y="1005840"/>
            <a:ext cx="2297429" cy="347472"/>
          </a:xfrm>
          <a:prstGeom prst="roundRect">
            <a:avLst>
              <a:gd name="adj" fmla="val 26315"/>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OEEEngine</a:t>
            </a:r>
          </a:p>
        </p:txBody>
      </p:sp>
      <p:sp>
        <p:nvSpPr>
          <p:cNvPr id="21" name="TextBox 20"/>
          <p:cNvSpPr txBox="1"/>
          <p:nvPr/>
        </p:nvSpPr>
        <p:spPr>
          <a:xfrm>
            <a:off x="9608057" y="142646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windowSize: int</a:t>
            </a:r>
          </a:p>
          <a:p>
            <a:pPr algn="l">
              <a:spcBef>
                <a:spcPts val="0"/>
              </a:spcBef>
              <a:spcAft>
                <a:spcPts val="0"/>
              </a:spcAft>
            </a:pPr>
            <a:r>
              <a:rPr sz="1200" b="0" i="0">
                <a:solidFill>
                  <a:srgbClr val="111827"/>
                </a:solidFill>
                <a:latin typeface="Times New Roman"/>
              </a:rPr>
              <a:t>plannedProductionTime</a:t>
            </a:r>
          </a:p>
          <a:p>
            <a:pPr algn="l">
              <a:spcBef>
                <a:spcPts val="0"/>
              </a:spcBef>
              <a:spcAft>
                <a:spcPts val="0"/>
              </a:spcAft>
            </a:pPr>
            <a:r>
              <a:rPr sz="1200" b="0" i="0">
                <a:solidFill>
                  <a:srgbClr val="111827"/>
                </a:solidFill>
                <a:latin typeface="Times New Roman"/>
              </a:rPr>
              <a:t>idealCycleTime: float</a:t>
            </a:r>
          </a:p>
        </p:txBody>
      </p:sp>
      <p:cxnSp>
        <p:nvCxnSpPr>
          <p:cNvPr id="22" name="Connector 21"/>
          <p:cNvCxnSpPr/>
          <p:nvPr/>
        </p:nvCxnSpPr>
        <p:spPr>
          <a:xfrm>
            <a:off x="9498329" y="2039112"/>
            <a:ext cx="2297430" cy="0"/>
          </a:xfrm>
          <a:prstGeom prst="line">
            <a:avLst/>
          </a:prstGeom>
          <a:ln w="12700">
            <a:solidFill>
              <a:srgbClr val="16A34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8057" y="2093976"/>
            <a:ext cx="2077974" cy="338328"/>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calculateOEE(id, window)</a:t>
            </a:r>
          </a:p>
          <a:p>
            <a:pPr algn="l">
              <a:spcBef>
                <a:spcPts val="0"/>
              </a:spcBef>
              <a:spcAft>
                <a:spcPts val="0"/>
              </a:spcAft>
            </a:pPr>
            <a:r>
              <a:rPr sz="1200" b="0" i="1">
                <a:solidFill>
                  <a:srgbClr val="475569"/>
                </a:solidFill>
                <a:latin typeface="Times New Roman"/>
              </a:rPr>
              <a:t>getTrend(id, days)</a:t>
            </a:r>
          </a:p>
        </p:txBody>
      </p:sp>
      <p:sp>
        <p:nvSpPr>
          <p:cNvPr id="24" name="Rounded Rectangle 23"/>
          <p:cNvSpPr/>
          <p:nvPr/>
        </p:nvSpPr>
        <p:spPr>
          <a:xfrm>
            <a:off x="1783080" y="2743200"/>
            <a:ext cx="2297429" cy="1463040"/>
          </a:xfrm>
          <a:prstGeom prst="roundRect">
            <a:avLst>
              <a:gd name="adj" fmla="val 6250"/>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5" name="Rounded Rectangle 24"/>
          <p:cNvSpPr/>
          <p:nvPr/>
        </p:nvSpPr>
        <p:spPr>
          <a:xfrm>
            <a:off x="1783080" y="2743200"/>
            <a:ext cx="2297429" cy="347472"/>
          </a:xfrm>
          <a:prstGeom prst="roundRect">
            <a:avLst>
              <a:gd name="adj" fmla="val 26315"/>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MLAnomalyScorer</a:t>
            </a:r>
          </a:p>
        </p:txBody>
      </p:sp>
      <p:sp>
        <p:nvSpPr>
          <p:cNvPr id="26" name="TextBox 25"/>
          <p:cNvSpPr txBox="1"/>
          <p:nvPr/>
        </p:nvSpPr>
        <p:spPr>
          <a:xfrm>
            <a:off x="1892807" y="316382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modelPath: string</a:t>
            </a:r>
          </a:p>
          <a:p>
            <a:pPr algn="l">
              <a:spcBef>
                <a:spcPts val="0"/>
              </a:spcBef>
              <a:spcAft>
                <a:spcPts val="0"/>
              </a:spcAft>
            </a:pPr>
            <a:r>
              <a:rPr sz="1200" b="0" i="0">
                <a:solidFill>
                  <a:srgbClr val="111827"/>
                </a:solidFill>
                <a:latin typeface="Times New Roman"/>
              </a:rPr>
              <a:t>threshold: float</a:t>
            </a:r>
          </a:p>
          <a:p>
            <a:pPr algn="l">
              <a:spcBef>
                <a:spcPts val="0"/>
              </a:spcBef>
              <a:spcAft>
                <a:spcPts val="0"/>
              </a:spcAft>
            </a:pPr>
            <a:r>
              <a:rPr sz="1200" b="0" i="0">
                <a:solidFill>
                  <a:srgbClr val="111827"/>
                </a:solidFill>
                <a:latin typeface="Times New Roman"/>
              </a:rPr>
              <a:t>isLoaded: bool</a:t>
            </a:r>
          </a:p>
        </p:txBody>
      </p:sp>
      <p:cxnSp>
        <p:nvCxnSpPr>
          <p:cNvPr id="27" name="Connector 26"/>
          <p:cNvCxnSpPr/>
          <p:nvPr/>
        </p:nvCxnSpPr>
        <p:spPr>
          <a:xfrm>
            <a:off x="1783080" y="3776472"/>
            <a:ext cx="2297429" cy="0"/>
          </a:xfrm>
          <a:prstGeom prst="line">
            <a:avLst/>
          </a:prstGeom>
          <a:ln w="12700">
            <a:solidFill>
              <a:srgbClr val="CA8A04"/>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383133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loadModel()</a:t>
            </a:r>
          </a:p>
          <a:p>
            <a:pPr algn="l">
              <a:spcBef>
                <a:spcPts val="0"/>
              </a:spcBef>
              <a:spcAft>
                <a:spcPts val="0"/>
              </a:spcAft>
            </a:pPr>
            <a:r>
              <a:rPr sz="1200" b="0" i="1">
                <a:solidFill>
                  <a:srgbClr val="475569"/>
                </a:solidFill>
                <a:latin typeface="Times New Roman"/>
              </a:rPr>
              <a:t>getAnomalyScore(): float</a:t>
            </a:r>
          </a:p>
        </p:txBody>
      </p:sp>
      <p:sp>
        <p:nvSpPr>
          <p:cNvPr id="29" name="Rounded Rectangle 28"/>
          <p:cNvSpPr/>
          <p:nvPr/>
        </p:nvSpPr>
        <p:spPr>
          <a:xfrm>
            <a:off x="4354829" y="2743200"/>
            <a:ext cx="2297429" cy="1463040"/>
          </a:xfrm>
          <a:prstGeom prst="roundRect">
            <a:avLst>
              <a:gd name="adj" fmla="val 6250"/>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0" name="Rounded Rectangle 29"/>
          <p:cNvSpPr/>
          <p:nvPr/>
        </p:nvSpPr>
        <p:spPr>
          <a:xfrm>
            <a:off x="4354829" y="2743200"/>
            <a:ext cx="2297429" cy="347472"/>
          </a:xfrm>
          <a:prstGeom prst="roundRect">
            <a:avLst>
              <a:gd name="adj" fmla="val 26315"/>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Alert</a:t>
            </a:r>
          </a:p>
        </p:txBody>
      </p:sp>
      <p:sp>
        <p:nvSpPr>
          <p:cNvPr id="31" name="TextBox 30"/>
          <p:cNvSpPr txBox="1"/>
          <p:nvPr/>
        </p:nvSpPr>
        <p:spPr>
          <a:xfrm>
            <a:off x="4464557" y="316382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alertType · severity: enum</a:t>
            </a:r>
          </a:p>
          <a:p>
            <a:pPr algn="l">
              <a:spcBef>
                <a:spcPts val="0"/>
              </a:spcBef>
              <a:spcAft>
                <a:spcPts val="0"/>
              </a:spcAft>
            </a:pPr>
            <a:r>
              <a:rPr sz="1200" b="0" i="0">
                <a:solidFill>
                  <a:srgbClr val="111827"/>
                </a:solidFill>
                <a:latin typeface="Times New Roman"/>
              </a:rPr>
              <a:t>isAcknowledged: bool</a:t>
            </a:r>
          </a:p>
          <a:p>
            <a:pPr algn="l">
              <a:spcBef>
                <a:spcPts val="0"/>
              </a:spcBef>
              <a:spcAft>
                <a:spcPts val="0"/>
              </a:spcAft>
            </a:pPr>
            <a:r>
              <a:rPr sz="1200" b="0" i="0">
                <a:solidFill>
                  <a:srgbClr val="111827"/>
                </a:solidFill>
                <a:latin typeface="Times New Roman"/>
              </a:rPr>
              <a:t>isResolved: bool</a:t>
            </a:r>
          </a:p>
        </p:txBody>
      </p:sp>
      <p:cxnSp>
        <p:nvCxnSpPr>
          <p:cNvPr id="32" name="Connector 31"/>
          <p:cNvCxnSpPr/>
          <p:nvPr/>
        </p:nvCxnSpPr>
        <p:spPr>
          <a:xfrm>
            <a:off x="4354829" y="3776472"/>
            <a:ext cx="2297430" cy="0"/>
          </a:xfrm>
          <a:prstGeom prst="line">
            <a:avLst/>
          </a:prstGeom>
          <a:ln w="12700">
            <a:solidFill>
              <a:srgbClr val="EA580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464557" y="383133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acknowledge(userId)</a:t>
            </a:r>
          </a:p>
          <a:p>
            <a:pPr algn="l">
              <a:spcBef>
                <a:spcPts val="0"/>
              </a:spcBef>
              <a:spcAft>
                <a:spcPts val="0"/>
              </a:spcAft>
            </a:pPr>
            <a:r>
              <a:rPr sz="1200" b="0" i="1">
                <a:solidFill>
                  <a:srgbClr val="475569"/>
                </a:solidFill>
                <a:latin typeface="Times New Roman"/>
              </a:rPr>
              <a:t>resolve()</a:t>
            </a:r>
          </a:p>
        </p:txBody>
      </p:sp>
      <p:sp>
        <p:nvSpPr>
          <p:cNvPr id="34" name="Rounded Rectangle 33"/>
          <p:cNvSpPr/>
          <p:nvPr/>
        </p:nvSpPr>
        <p:spPr>
          <a:xfrm>
            <a:off x="6926579" y="2743200"/>
            <a:ext cx="2297429" cy="1463040"/>
          </a:xfrm>
          <a:prstGeom prst="roundRect">
            <a:avLst>
              <a:gd name="adj" fmla="val 6250"/>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5" name="Rounded Rectangle 34"/>
          <p:cNvSpPr/>
          <p:nvPr/>
        </p:nvSpPr>
        <p:spPr>
          <a:xfrm>
            <a:off x="6926579" y="2743200"/>
            <a:ext cx="2297429" cy="347472"/>
          </a:xfrm>
          <a:prstGeom prst="roundRect">
            <a:avLst>
              <a:gd name="adj" fmla="val 26315"/>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RuleEngine</a:t>
            </a:r>
          </a:p>
        </p:txBody>
      </p:sp>
      <p:sp>
        <p:nvSpPr>
          <p:cNvPr id="36" name="TextBox 35"/>
          <p:cNvSpPr txBox="1"/>
          <p:nvPr/>
        </p:nvSpPr>
        <p:spPr>
          <a:xfrm>
            <a:off x="7036307" y="316382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ruleId: UUID</a:t>
            </a:r>
          </a:p>
          <a:p>
            <a:pPr algn="l">
              <a:spcBef>
                <a:spcPts val="0"/>
              </a:spcBef>
              <a:spcAft>
                <a:spcPts val="0"/>
              </a:spcAft>
            </a:pPr>
            <a:r>
              <a:rPr sz="1200" b="0" i="0">
                <a:solidFill>
                  <a:srgbClr val="111827"/>
                </a:solidFill>
                <a:latin typeface="Times New Roman"/>
              </a:rPr>
              <a:t>rules: dict</a:t>
            </a:r>
          </a:p>
          <a:p>
            <a:pPr algn="l">
              <a:spcBef>
                <a:spcPts val="0"/>
              </a:spcBef>
              <a:spcAft>
                <a:spcPts val="0"/>
              </a:spcAft>
            </a:pPr>
            <a:r>
              <a:rPr sz="1200" b="0" i="0">
                <a:solidFill>
                  <a:srgbClr val="111827"/>
                </a:solidFill>
                <a:latin typeface="Times New Roman"/>
              </a:rPr>
              <a:t>isEnabled: bool</a:t>
            </a:r>
          </a:p>
        </p:txBody>
      </p:sp>
      <p:cxnSp>
        <p:nvCxnSpPr>
          <p:cNvPr id="37" name="Connector 36"/>
          <p:cNvCxnSpPr/>
          <p:nvPr/>
        </p:nvCxnSpPr>
        <p:spPr>
          <a:xfrm>
            <a:off x="6926579" y="3776472"/>
            <a:ext cx="2297430" cy="0"/>
          </a:xfrm>
          <a:prstGeom prst="line">
            <a:avLst/>
          </a:prstGeom>
          <a:ln w="12700">
            <a:solidFill>
              <a:srgbClr val="DC262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36307" y="383133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evaluateTelemetry(data)</a:t>
            </a:r>
          </a:p>
          <a:p>
            <a:pPr algn="l">
              <a:spcBef>
                <a:spcPts val="0"/>
              </a:spcBef>
              <a:spcAft>
                <a:spcPts val="0"/>
              </a:spcAft>
            </a:pPr>
            <a:r>
              <a:rPr sz="1200" b="0" i="1">
                <a:solidFill>
                  <a:srgbClr val="475569"/>
                </a:solidFill>
                <a:latin typeface="Times New Roman"/>
              </a:rPr>
              <a:t>triggerAlert(rule, id)</a:t>
            </a:r>
          </a:p>
        </p:txBody>
      </p:sp>
      <p:sp>
        <p:nvSpPr>
          <p:cNvPr id="39" name="Rounded Rectangle 38"/>
          <p:cNvSpPr/>
          <p:nvPr/>
        </p:nvSpPr>
        <p:spPr>
          <a:xfrm>
            <a:off x="9498329" y="2743200"/>
            <a:ext cx="2297429" cy="1463040"/>
          </a:xfrm>
          <a:prstGeom prst="roundRect">
            <a:avLst>
              <a:gd name="adj" fmla="val 625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0" name="Rounded Rectangle 39"/>
          <p:cNvSpPr/>
          <p:nvPr/>
        </p:nvSpPr>
        <p:spPr>
          <a:xfrm>
            <a:off x="9498329" y="2743200"/>
            <a:ext cx="2297429" cy="347472"/>
          </a:xfrm>
          <a:prstGeom prst="roundRect">
            <a:avLst>
              <a:gd name="adj" fmla="val 26315"/>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OEE</a:t>
            </a:r>
          </a:p>
        </p:txBody>
      </p:sp>
      <p:sp>
        <p:nvSpPr>
          <p:cNvPr id="41" name="TextBox 40"/>
          <p:cNvSpPr txBox="1"/>
          <p:nvPr/>
        </p:nvSpPr>
        <p:spPr>
          <a:xfrm>
            <a:off x="9608057" y="316382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availability: float</a:t>
            </a:r>
          </a:p>
          <a:p>
            <a:pPr algn="l">
              <a:spcBef>
                <a:spcPts val="0"/>
              </a:spcBef>
              <a:spcAft>
                <a:spcPts val="0"/>
              </a:spcAft>
            </a:pPr>
            <a:r>
              <a:rPr sz="1200" b="0" i="0">
                <a:solidFill>
                  <a:srgbClr val="111827"/>
                </a:solidFill>
                <a:latin typeface="Times New Roman"/>
              </a:rPr>
              <a:t>performance: float</a:t>
            </a:r>
          </a:p>
          <a:p>
            <a:pPr algn="l">
              <a:spcBef>
                <a:spcPts val="0"/>
              </a:spcBef>
              <a:spcAft>
                <a:spcPts val="0"/>
              </a:spcAft>
            </a:pPr>
            <a:r>
              <a:rPr sz="1200" b="0" i="0">
                <a:solidFill>
                  <a:srgbClr val="111827"/>
                </a:solidFill>
                <a:latin typeface="Times New Roman"/>
              </a:rPr>
              <a:t>quality · oeeScore: float</a:t>
            </a:r>
          </a:p>
        </p:txBody>
      </p:sp>
      <p:cxnSp>
        <p:nvCxnSpPr>
          <p:cNvPr id="42" name="Connector 41"/>
          <p:cNvCxnSpPr/>
          <p:nvPr/>
        </p:nvCxnSpPr>
        <p:spPr>
          <a:xfrm>
            <a:off x="9498329" y="3776472"/>
            <a:ext cx="2297430" cy="0"/>
          </a:xfrm>
          <a:prstGeom prst="line">
            <a:avLst/>
          </a:prstGeom>
          <a:ln w="12700">
            <a:solidFill>
              <a:srgbClr val="16A34A"/>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608057" y="383133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calculateOEE()</a:t>
            </a:r>
          </a:p>
          <a:p>
            <a:pPr algn="l">
              <a:spcBef>
                <a:spcPts val="0"/>
              </a:spcBef>
              <a:spcAft>
                <a:spcPts val="0"/>
              </a:spcAft>
            </a:pPr>
            <a:r>
              <a:rPr sz="1200" b="0" i="1">
                <a:solidFill>
                  <a:srgbClr val="475569"/>
                </a:solidFill>
                <a:latin typeface="Times New Roman"/>
              </a:rPr>
              <a:t>toReport(): dict</a:t>
            </a:r>
          </a:p>
        </p:txBody>
      </p:sp>
      <p:sp>
        <p:nvSpPr>
          <p:cNvPr id="44" name="Rounded Rectangle 43"/>
          <p:cNvSpPr/>
          <p:nvPr/>
        </p:nvSpPr>
        <p:spPr>
          <a:xfrm>
            <a:off x="1783080" y="4480560"/>
            <a:ext cx="2297429" cy="1463040"/>
          </a:xfrm>
          <a:prstGeom prst="roundRect">
            <a:avLst>
              <a:gd name="adj" fmla="val 6250"/>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5" name="Rounded Rectangle 44"/>
          <p:cNvSpPr/>
          <p:nvPr/>
        </p:nvSpPr>
        <p:spPr>
          <a:xfrm>
            <a:off x="1783080" y="4480560"/>
            <a:ext cx="2297429" cy="347472"/>
          </a:xfrm>
          <a:prstGeom prst="roundRect">
            <a:avLst>
              <a:gd name="adj" fmla="val 26315"/>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User</a:t>
            </a:r>
          </a:p>
        </p:txBody>
      </p:sp>
      <p:sp>
        <p:nvSpPr>
          <p:cNvPr id="46" name="TextBox 45"/>
          <p:cNvSpPr txBox="1"/>
          <p:nvPr/>
        </p:nvSpPr>
        <p:spPr>
          <a:xfrm>
            <a:off x="1892807" y="490118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username: string</a:t>
            </a:r>
          </a:p>
          <a:p>
            <a:pPr algn="l">
              <a:spcBef>
                <a:spcPts val="0"/>
              </a:spcBef>
              <a:spcAft>
                <a:spcPts val="0"/>
              </a:spcAft>
            </a:pPr>
            <a:r>
              <a:rPr sz="1200" b="0" i="0">
                <a:solidFill>
                  <a:srgbClr val="111827"/>
                </a:solidFill>
                <a:latin typeface="Times New Roman"/>
              </a:rPr>
              <a:t>role: enum</a:t>
            </a:r>
          </a:p>
          <a:p>
            <a:pPr algn="l">
              <a:spcBef>
                <a:spcPts val="0"/>
              </a:spcBef>
              <a:spcAft>
                <a:spcPts val="0"/>
              </a:spcAft>
            </a:pPr>
            <a:r>
              <a:rPr sz="1200" b="0" i="0">
                <a:solidFill>
                  <a:srgbClr val="111827"/>
                </a:solidFill>
                <a:latin typeface="Times New Roman"/>
              </a:rPr>
              <a:t>passwordHash: string</a:t>
            </a:r>
          </a:p>
        </p:txBody>
      </p:sp>
      <p:cxnSp>
        <p:nvCxnSpPr>
          <p:cNvPr id="47" name="Connector 46"/>
          <p:cNvCxnSpPr/>
          <p:nvPr/>
        </p:nvCxnSpPr>
        <p:spPr>
          <a:xfrm>
            <a:off x="1783080" y="5513832"/>
            <a:ext cx="2297429" cy="0"/>
          </a:xfrm>
          <a:prstGeom prst="line">
            <a:avLst/>
          </a:prstGeom>
          <a:ln w="12700">
            <a:solidFill>
              <a:srgbClr val="64748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892807" y="556869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authenticate(password)</a:t>
            </a:r>
          </a:p>
          <a:p>
            <a:pPr algn="l">
              <a:spcBef>
                <a:spcPts val="0"/>
              </a:spcBef>
              <a:spcAft>
                <a:spcPts val="0"/>
              </a:spcAft>
            </a:pPr>
            <a:r>
              <a:rPr sz="1200" b="0" i="1">
                <a:solidFill>
                  <a:srgbClr val="475569"/>
                </a:solidFill>
                <a:latin typeface="Times New Roman"/>
              </a:rPr>
              <a:t>hasPermission(action)</a:t>
            </a:r>
          </a:p>
        </p:txBody>
      </p:sp>
      <p:sp>
        <p:nvSpPr>
          <p:cNvPr id="49" name="Rounded Rectangle 48"/>
          <p:cNvSpPr/>
          <p:nvPr/>
        </p:nvSpPr>
        <p:spPr>
          <a:xfrm>
            <a:off x="4354829" y="4480560"/>
            <a:ext cx="2297429" cy="1463040"/>
          </a:xfrm>
          <a:prstGeom prst="roundRect">
            <a:avLst>
              <a:gd name="adj" fmla="val 625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0" name="Rounded Rectangle 49"/>
          <p:cNvSpPr/>
          <p:nvPr/>
        </p:nvSpPr>
        <p:spPr>
          <a:xfrm>
            <a:off x="4354829" y="4480560"/>
            <a:ext cx="2297429" cy="347472"/>
          </a:xfrm>
          <a:prstGeom prst="roundRect">
            <a:avLst>
              <a:gd name="adj" fmla="val 26315"/>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MaintenanceRecord</a:t>
            </a:r>
          </a:p>
        </p:txBody>
      </p:sp>
      <p:sp>
        <p:nvSpPr>
          <p:cNvPr id="51" name="TextBox 50"/>
          <p:cNvSpPr txBox="1"/>
          <p:nvPr/>
        </p:nvSpPr>
        <p:spPr>
          <a:xfrm>
            <a:off x="4464557" y="490118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technicianName: string</a:t>
            </a:r>
          </a:p>
          <a:p>
            <a:pPr algn="l">
              <a:spcBef>
                <a:spcPts val="0"/>
              </a:spcBef>
              <a:spcAft>
                <a:spcPts val="0"/>
              </a:spcAft>
            </a:pPr>
            <a:r>
              <a:rPr sz="1200" b="0" i="0">
                <a:solidFill>
                  <a:srgbClr val="111827"/>
                </a:solidFill>
                <a:latin typeface="Times New Roman"/>
              </a:rPr>
              <a:t>rootCause · resolutionNotes</a:t>
            </a:r>
          </a:p>
          <a:p>
            <a:pPr algn="l">
              <a:spcBef>
                <a:spcPts val="0"/>
              </a:spcBef>
              <a:spcAft>
                <a:spcPts val="0"/>
              </a:spcAft>
            </a:pPr>
            <a:r>
              <a:rPr sz="1200" b="0" i="0">
                <a:solidFill>
                  <a:srgbClr val="111827"/>
                </a:solidFill>
                <a:latin typeface="Times New Roman"/>
              </a:rPr>
              <a:t>timeTaken: int</a:t>
            </a:r>
          </a:p>
        </p:txBody>
      </p:sp>
      <p:cxnSp>
        <p:nvCxnSpPr>
          <p:cNvPr id="52" name="Connector 51"/>
          <p:cNvCxnSpPr/>
          <p:nvPr/>
        </p:nvCxnSpPr>
        <p:spPr>
          <a:xfrm>
            <a:off x="4354829" y="5513832"/>
            <a:ext cx="2297430" cy="0"/>
          </a:xfrm>
          <a:prstGeom prst="line">
            <a:avLst/>
          </a:prstGeom>
          <a:ln w="12700">
            <a:solidFill>
              <a:srgbClr val="7C3AE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464557" y="556869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addNote(note)</a:t>
            </a:r>
          </a:p>
          <a:p>
            <a:pPr algn="l">
              <a:spcBef>
                <a:spcPts val="0"/>
              </a:spcBef>
              <a:spcAft>
                <a:spcPts val="0"/>
              </a:spcAft>
            </a:pPr>
            <a:r>
              <a:rPr sz="1200" b="0" i="1">
                <a:solidFill>
                  <a:srgbClr val="475569"/>
                </a:solidFill>
                <a:latin typeface="Times New Roman"/>
              </a:rPr>
              <a:t>markComplete()</a:t>
            </a:r>
          </a:p>
        </p:txBody>
      </p:sp>
      <p:sp>
        <p:nvSpPr>
          <p:cNvPr id="54" name="Rounded Rectangle 53"/>
          <p:cNvSpPr/>
          <p:nvPr/>
        </p:nvSpPr>
        <p:spPr>
          <a:xfrm>
            <a:off x="6926579" y="4480560"/>
            <a:ext cx="2297429" cy="1463040"/>
          </a:xfrm>
          <a:prstGeom prst="roundRect">
            <a:avLst>
              <a:gd name="adj" fmla="val 625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5" name="Rounded Rectangle 54"/>
          <p:cNvSpPr/>
          <p:nvPr/>
        </p:nvSpPr>
        <p:spPr>
          <a:xfrm>
            <a:off x="6926579" y="4480560"/>
            <a:ext cx="2297429" cy="347472"/>
          </a:xfrm>
          <a:prstGeom prst="roundRect">
            <a:avLst>
              <a:gd name="adj" fmla="val 26315"/>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MLAccuracyFeedback</a:t>
            </a:r>
          </a:p>
        </p:txBody>
      </p:sp>
      <p:sp>
        <p:nvSpPr>
          <p:cNvPr id="56" name="TextBox 55"/>
          <p:cNvSpPr txBox="1"/>
          <p:nvPr/>
        </p:nvSpPr>
        <p:spPr>
          <a:xfrm>
            <a:off x="7036307" y="490118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isTruePositive: bool</a:t>
            </a:r>
          </a:p>
          <a:p>
            <a:pPr algn="l">
              <a:spcBef>
                <a:spcPts val="0"/>
              </a:spcBef>
              <a:spcAft>
                <a:spcPts val="0"/>
              </a:spcAft>
            </a:pPr>
            <a:r>
              <a:rPr sz="1200" b="0" i="0">
                <a:solidFill>
                  <a:srgbClr val="111827"/>
                </a:solidFill>
                <a:latin typeface="Times New Roman"/>
              </a:rPr>
              <a:t>isFalsePositive: bool</a:t>
            </a:r>
          </a:p>
          <a:p>
            <a:pPr algn="l">
              <a:spcBef>
                <a:spcPts val="0"/>
              </a:spcBef>
              <a:spcAft>
                <a:spcPts val="0"/>
              </a:spcAft>
            </a:pPr>
            <a:r>
              <a:rPr sz="1200" b="0" i="0">
                <a:solidFill>
                  <a:srgbClr val="111827"/>
                </a:solidFill>
                <a:latin typeface="Times New Roman"/>
              </a:rPr>
              <a:t>providedBy: UUID</a:t>
            </a:r>
          </a:p>
        </p:txBody>
      </p:sp>
      <p:cxnSp>
        <p:nvCxnSpPr>
          <p:cNvPr id="57" name="Connector 56"/>
          <p:cNvCxnSpPr/>
          <p:nvPr/>
        </p:nvCxnSpPr>
        <p:spPr>
          <a:xfrm>
            <a:off x="6926579" y="5513832"/>
            <a:ext cx="2297430" cy="0"/>
          </a:xfrm>
          <a:prstGeom prst="line">
            <a:avLst/>
          </a:prstGeom>
          <a:ln w="12700">
            <a:solidFill>
              <a:srgbClr val="7C3AED"/>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036307" y="556869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isAccurate(): bool</a:t>
            </a:r>
          </a:p>
          <a:p>
            <a:pPr algn="l">
              <a:spcBef>
                <a:spcPts val="0"/>
              </a:spcBef>
              <a:spcAft>
                <a:spcPts val="0"/>
              </a:spcAft>
            </a:pPr>
            <a:r>
              <a:rPr sz="1200" b="0" i="1">
                <a:solidFill>
                  <a:srgbClr val="475569"/>
                </a:solidFill>
                <a:latin typeface="Times New Roman"/>
              </a:rPr>
              <a:t>toReport(): dict</a:t>
            </a:r>
          </a:p>
        </p:txBody>
      </p:sp>
      <p:sp>
        <p:nvSpPr>
          <p:cNvPr id="59" name="Rounded Rectangle 58"/>
          <p:cNvSpPr/>
          <p:nvPr/>
        </p:nvSpPr>
        <p:spPr>
          <a:xfrm>
            <a:off x="9498329" y="4480560"/>
            <a:ext cx="2297429" cy="1463040"/>
          </a:xfrm>
          <a:prstGeom prst="roundRect">
            <a:avLst>
              <a:gd name="adj" fmla="val 6250"/>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60" name="Rounded Rectangle 59"/>
          <p:cNvSpPr/>
          <p:nvPr/>
        </p:nvSpPr>
        <p:spPr>
          <a:xfrm>
            <a:off x="9498329" y="4480560"/>
            <a:ext cx="2297429" cy="347472"/>
          </a:xfrm>
          <a:prstGeom prst="roundRect">
            <a:avLst>
              <a:gd name="adj" fmla="val 26315"/>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DashboardConfig</a:t>
            </a:r>
          </a:p>
        </p:txBody>
      </p:sp>
      <p:sp>
        <p:nvSpPr>
          <p:cNvPr id="61" name="TextBox 60"/>
          <p:cNvSpPr txBox="1"/>
          <p:nvPr/>
        </p:nvSpPr>
        <p:spPr>
          <a:xfrm>
            <a:off x="9608057" y="4901184"/>
            <a:ext cx="2077974" cy="594360"/>
          </a:xfrm>
          <a:prstGeom prst="rect">
            <a:avLst/>
          </a:prstGeom>
          <a:noFill/>
        </p:spPr>
        <p:txBody>
          <a:bodyPr wrap="square" lIns="0" rIns="0" tIns="0" bIns="0" anchor="t">
            <a:noAutofit/>
          </a:bodyPr>
          <a:lstStyle/>
          <a:p>
            <a:pPr algn="l">
              <a:spcBef>
                <a:spcPts val="0"/>
              </a:spcBef>
              <a:spcAft>
                <a:spcPts val="0"/>
              </a:spcAft>
            </a:pPr>
            <a:r>
              <a:rPr sz="1200" b="0" i="0">
                <a:solidFill>
                  <a:srgbClr val="111827"/>
                </a:solidFill>
                <a:latin typeface="Times New Roman"/>
              </a:rPr>
              <a:t>machineCount: int</a:t>
            </a:r>
          </a:p>
          <a:p>
            <a:pPr algn="l">
              <a:spcBef>
                <a:spcPts val="0"/>
              </a:spcBef>
              <a:spcAft>
                <a:spcPts val="0"/>
              </a:spcAft>
            </a:pPr>
            <a:r>
              <a:rPr sz="1200" b="0" i="0">
                <a:solidFill>
                  <a:srgbClr val="111827"/>
                </a:solidFill>
                <a:latin typeface="Times New Roman"/>
              </a:rPr>
              <a:t>thresholdTemperature</a:t>
            </a:r>
          </a:p>
          <a:p>
            <a:pPr algn="l">
              <a:spcBef>
                <a:spcPts val="0"/>
              </a:spcBef>
              <a:spcAft>
                <a:spcPts val="0"/>
              </a:spcAft>
            </a:pPr>
            <a:r>
              <a:rPr sz="1200" b="0" i="0">
                <a:solidFill>
                  <a:srgbClr val="111827"/>
                </a:solidFill>
                <a:latin typeface="Times New Roman"/>
              </a:rPr>
              <a:t>anomalyThreshold: float</a:t>
            </a:r>
          </a:p>
        </p:txBody>
      </p:sp>
      <p:cxnSp>
        <p:nvCxnSpPr>
          <p:cNvPr id="62" name="Connector 61"/>
          <p:cNvCxnSpPr/>
          <p:nvPr/>
        </p:nvCxnSpPr>
        <p:spPr>
          <a:xfrm>
            <a:off x="9498329" y="5513832"/>
            <a:ext cx="2297430" cy="0"/>
          </a:xfrm>
          <a:prstGeom prst="line">
            <a:avLst/>
          </a:prstGeom>
          <a:ln w="12700">
            <a:solidFill>
              <a:srgbClr val="64748B"/>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9608057" y="5568696"/>
            <a:ext cx="2077974" cy="338327"/>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loadConfig()</a:t>
            </a:r>
          </a:p>
          <a:p>
            <a:pPr algn="l">
              <a:spcBef>
                <a:spcPts val="0"/>
              </a:spcBef>
              <a:spcAft>
                <a:spcPts val="0"/>
              </a:spcAft>
            </a:pPr>
            <a:r>
              <a:rPr sz="1200" b="0" i="1">
                <a:solidFill>
                  <a:srgbClr val="475569"/>
                </a:solidFill>
                <a:latin typeface="Times New Roman"/>
              </a:rPr>
              <a:t>validate(): bool</a:t>
            </a:r>
          </a:p>
        </p:txBody>
      </p:sp>
      <p:cxnSp>
        <p:nvCxnSpPr>
          <p:cNvPr id="64" name="Connector 63"/>
          <p:cNvCxnSpPr/>
          <p:nvPr/>
        </p:nvCxnSpPr>
        <p:spPr>
          <a:xfrm>
            <a:off x="4080509" y="1737360"/>
            <a:ext cx="27432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652259" y="1737360"/>
            <a:ext cx="27432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9224009" y="1737360"/>
            <a:ext cx="274320" cy="0"/>
          </a:xfrm>
          <a:prstGeom prst="line">
            <a:avLst/>
          </a:prstGeom>
          <a:ln w="25400">
            <a:solidFill>
              <a:srgbClr val="11182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503544" y="2468880"/>
            <a:ext cx="0" cy="27432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080509" y="3474720"/>
            <a:ext cx="274320" cy="0"/>
          </a:xfrm>
          <a:prstGeom prst="line">
            <a:avLst/>
          </a:prstGeom>
          <a:ln w="25400">
            <a:solidFill>
              <a:srgbClr val="11182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6652259" y="3474720"/>
            <a:ext cx="274320" cy="0"/>
          </a:xfrm>
          <a:prstGeom prst="line">
            <a:avLst/>
          </a:prstGeom>
          <a:ln w="25400">
            <a:solidFill>
              <a:srgbClr val="11182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647044" y="2468880"/>
            <a:ext cx="0" cy="274320"/>
          </a:xfrm>
          <a:prstGeom prst="line">
            <a:avLst/>
          </a:prstGeom>
          <a:ln w="25400">
            <a:solidFill>
              <a:srgbClr val="11182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503544" y="4206240"/>
            <a:ext cx="0" cy="27432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72" name="Diamond 71"/>
          <p:cNvSpPr/>
          <p:nvPr/>
        </p:nvSpPr>
        <p:spPr>
          <a:xfrm>
            <a:off x="5412104" y="4206240"/>
            <a:ext cx="182880" cy="182880"/>
          </a:xfrm>
          <a:prstGeom prst="diamond">
            <a:avLst/>
          </a:prstGeom>
          <a:solidFill>
            <a:srgbClr val="111827"/>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080509" y="5212080"/>
            <a:ext cx="27432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06539" y="4206240"/>
            <a:ext cx="365760" cy="27432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1783080" y="6035040"/>
            <a:ext cx="10012680" cy="228600"/>
          </a:xfrm>
          <a:prstGeom prst="rect">
            <a:avLst/>
          </a:prstGeom>
          <a:noFill/>
        </p:spPr>
        <p:txBody>
          <a:bodyPr wrap="square" lIns="0" rIns="0" tIns="0" bIns="0" anchor="t">
            <a:noAutofit/>
          </a:bodyPr>
          <a:lstStyle/>
          <a:p>
            <a:pPr algn="l">
              <a:spcBef>
                <a:spcPts val="0"/>
              </a:spcBef>
              <a:spcAft>
                <a:spcPts val="0"/>
              </a:spcAft>
            </a:pPr>
            <a:r>
              <a:rPr sz="1100" b="0" i="1">
                <a:solidFill>
                  <a:srgbClr val="475569"/>
                </a:solidFill>
                <a:latin typeface="Times New Roman"/>
              </a:rPr>
              <a:t>Solid = association · dashed = dependency · ◆ = composition (an Alert owns its maintenance records) · also: Machine 1—0..* OEE, User 1—0..* feedback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Sequence Diagram (SRS §9.2)</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ectangle 3"/>
          <p:cNvSpPr/>
          <p:nvPr/>
        </p:nvSpPr>
        <p:spPr>
          <a:xfrm>
            <a:off x="1783080"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User</a:t>
            </a:r>
          </a:p>
        </p:txBody>
      </p:sp>
      <p:cxnSp>
        <p:nvCxnSpPr>
          <p:cNvPr id="5" name="Connector 4"/>
          <p:cNvCxnSpPr/>
          <p:nvPr/>
        </p:nvCxnSpPr>
        <p:spPr>
          <a:xfrm>
            <a:off x="2468880"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3511296"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Simulator</a:t>
            </a:r>
          </a:p>
        </p:txBody>
      </p:sp>
      <p:cxnSp>
        <p:nvCxnSpPr>
          <p:cNvPr id="7" name="Connector 6"/>
          <p:cNvCxnSpPr/>
          <p:nvPr/>
        </p:nvCxnSpPr>
        <p:spPr>
          <a:xfrm>
            <a:off x="4197096"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239512"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Backend API</a:t>
            </a:r>
          </a:p>
        </p:txBody>
      </p:sp>
      <p:cxnSp>
        <p:nvCxnSpPr>
          <p:cNvPr id="9" name="Connector 8"/>
          <p:cNvCxnSpPr/>
          <p:nvPr/>
        </p:nvCxnSpPr>
        <p:spPr>
          <a:xfrm>
            <a:off x="5925312"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967728"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ML Service</a:t>
            </a:r>
          </a:p>
        </p:txBody>
      </p:sp>
      <p:cxnSp>
        <p:nvCxnSpPr>
          <p:cNvPr id="11" name="Connector 10"/>
          <p:cNvCxnSpPr/>
          <p:nvPr/>
        </p:nvCxnSpPr>
        <p:spPr>
          <a:xfrm>
            <a:off x="7653528"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8695944"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Database</a:t>
            </a:r>
          </a:p>
        </p:txBody>
      </p:sp>
      <p:cxnSp>
        <p:nvCxnSpPr>
          <p:cNvPr id="13" name="Connector 12"/>
          <p:cNvCxnSpPr/>
          <p:nvPr/>
        </p:nvCxnSpPr>
        <p:spPr>
          <a:xfrm>
            <a:off x="9381744"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0424159" y="1005840"/>
            <a:ext cx="1371600" cy="4572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400" b="1" i="0">
                <a:solidFill>
                  <a:srgbClr val="111827"/>
                </a:solidFill>
                <a:latin typeface="Times New Roman"/>
              </a:rPr>
              <a:t>Dashboard UI</a:t>
            </a:r>
          </a:p>
        </p:txBody>
      </p:sp>
      <p:cxnSp>
        <p:nvCxnSpPr>
          <p:cNvPr id="15" name="Connector 14"/>
          <p:cNvCxnSpPr/>
          <p:nvPr/>
        </p:nvCxnSpPr>
        <p:spPr>
          <a:xfrm>
            <a:off x="11109959" y="1481328"/>
            <a:ext cx="0" cy="4782312"/>
          </a:xfrm>
          <a:prstGeom prst="line">
            <a:avLst/>
          </a:prstGeom>
          <a:ln w="12700">
            <a:solidFill>
              <a:srgbClr val="64748B"/>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68880" y="2002536"/>
            <a:ext cx="8604504"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37783" y="1787652"/>
            <a:ext cx="1503273"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  Open dashboard</a:t>
            </a:r>
          </a:p>
        </p:txBody>
      </p:sp>
      <p:cxnSp>
        <p:nvCxnSpPr>
          <p:cNvPr id="18" name="Connector 17"/>
          <p:cNvCxnSpPr/>
          <p:nvPr/>
        </p:nvCxnSpPr>
        <p:spPr>
          <a:xfrm flipH="1">
            <a:off x="5961888" y="2267712"/>
            <a:ext cx="5148071"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03412" y="2052827"/>
            <a:ext cx="82844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2  Login</a:t>
            </a:r>
          </a:p>
        </p:txBody>
      </p:sp>
      <p:cxnSp>
        <p:nvCxnSpPr>
          <p:cNvPr id="20" name="Connector 19"/>
          <p:cNvCxnSpPr/>
          <p:nvPr/>
        </p:nvCxnSpPr>
        <p:spPr>
          <a:xfrm>
            <a:off x="5925312" y="2532888"/>
            <a:ext cx="3419856"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751929" y="2318003"/>
            <a:ext cx="180319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3  Verify credentials</a:t>
            </a:r>
          </a:p>
        </p:txBody>
      </p:sp>
      <p:cxnSp>
        <p:nvCxnSpPr>
          <p:cNvPr id="22" name="Connector 21"/>
          <p:cNvCxnSpPr/>
          <p:nvPr/>
        </p:nvCxnSpPr>
        <p:spPr>
          <a:xfrm>
            <a:off x="5925312" y="2798064"/>
            <a:ext cx="5148072"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616037" y="2583179"/>
            <a:ext cx="180319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4  Dashboard unlocked</a:t>
            </a:r>
          </a:p>
        </p:txBody>
      </p:sp>
      <p:sp>
        <p:nvSpPr>
          <p:cNvPr id="24" name="Rectangle 23"/>
          <p:cNvSpPr/>
          <p:nvPr/>
        </p:nvSpPr>
        <p:spPr>
          <a:xfrm>
            <a:off x="2377440" y="2862072"/>
            <a:ext cx="8823959" cy="2286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Steps 5 – 10 repeat every 500 ms</a:t>
            </a:r>
          </a:p>
        </p:txBody>
      </p:sp>
      <p:cxnSp>
        <p:nvCxnSpPr>
          <p:cNvPr id="25" name="Connector 24"/>
          <p:cNvCxnSpPr/>
          <p:nvPr/>
        </p:nvCxnSpPr>
        <p:spPr>
          <a:xfrm>
            <a:off x="4197096" y="3328416"/>
            <a:ext cx="1691640"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242816" y="3113532"/>
            <a:ext cx="163677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5  Publish telemetry</a:t>
            </a:r>
          </a:p>
        </p:txBody>
      </p:sp>
      <p:sp>
        <p:nvSpPr>
          <p:cNvPr id="27" name="Rectangle 26"/>
          <p:cNvSpPr/>
          <p:nvPr/>
        </p:nvSpPr>
        <p:spPr>
          <a:xfrm>
            <a:off x="3822192" y="3383279"/>
            <a:ext cx="4206240" cy="246888"/>
          </a:xfrm>
          <a:prstGeom prst="rect">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111827"/>
                </a:solidFill>
                <a:latin typeface="Times New Roman"/>
              </a:rPr>
              <a:t>6  Validate payload · calculate OEE · apply rules</a:t>
            </a:r>
          </a:p>
        </p:txBody>
      </p:sp>
      <p:cxnSp>
        <p:nvCxnSpPr>
          <p:cNvPr id="28" name="Connector 27"/>
          <p:cNvCxnSpPr/>
          <p:nvPr/>
        </p:nvCxnSpPr>
        <p:spPr>
          <a:xfrm>
            <a:off x="5925312" y="3858768"/>
            <a:ext cx="1691640"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075273" y="3643884"/>
            <a:ext cx="1428292"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7  Request score</a:t>
            </a:r>
          </a:p>
        </p:txBody>
      </p:sp>
      <p:cxnSp>
        <p:nvCxnSpPr>
          <p:cNvPr id="30" name="Connector 29"/>
          <p:cNvCxnSpPr/>
          <p:nvPr/>
        </p:nvCxnSpPr>
        <p:spPr>
          <a:xfrm flipH="1">
            <a:off x="5961888" y="4123944"/>
            <a:ext cx="1691640"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075273" y="3909059"/>
            <a:ext cx="1428292"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8  Score 0–100 %</a:t>
            </a:r>
          </a:p>
        </p:txBody>
      </p:sp>
      <p:cxnSp>
        <p:nvCxnSpPr>
          <p:cNvPr id="32" name="Connector 31"/>
          <p:cNvCxnSpPr/>
          <p:nvPr/>
        </p:nvCxnSpPr>
        <p:spPr>
          <a:xfrm>
            <a:off x="5925312" y="4389120"/>
            <a:ext cx="3419856"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489496" y="4174235"/>
            <a:ext cx="2328062"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9  Save telemetry and alerts</a:t>
            </a:r>
          </a:p>
        </p:txBody>
      </p:sp>
      <p:cxnSp>
        <p:nvCxnSpPr>
          <p:cNvPr id="34" name="Connector 33"/>
          <p:cNvCxnSpPr/>
          <p:nvPr/>
        </p:nvCxnSpPr>
        <p:spPr>
          <a:xfrm>
            <a:off x="5925312" y="4654296"/>
            <a:ext cx="5148072"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53527" y="4439412"/>
            <a:ext cx="172821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10  Push live update</a:t>
            </a:r>
          </a:p>
        </p:txBody>
      </p:sp>
      <p:sp>
        <p:nvSpPr>
          <p:cNvPr id="36" name="Rectangle 35"/>
          <p:cNvSpPr/>
          <p:nvPr/>
        </p:nvSpPr>
        <p:spPr>
          <a:xfrm>
            <a:off x="2377440" y="4718303"/>
            <a:ext cx="8823959" cy="228600"/>
          </a:xfrm>
          <a:prstGeom prst="rect">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User write operations (authenticated)</a:t>
            </a:r>
          </a:p>
        </p:txBody>
      </p:sp>
      <p:cxnSp>
        <p:nvCxnSpPr>
          <p:cNvPr id="37" name="Connector 36"/>
          <p:cNvCxnSpPr/>
          <p:nvPr/>
        </p:nvCxnSpPr>
        <p:spPr>
          <a:xfrm>
            <a:off x="2468880" y="5184648"/>
            <a:ext cx="8604504"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887821" y="4969764"/>
            <a:ext cx="1803196"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11  Acknowledge alert</a:t>
            </a:r>
          </a:p>
        </p:txBody>
      </p:sp>
      <p:cxnSp>
        <p:nvCxnSpPr>
          <p:cNvPr id="39" name="Connector 38"/>
          <p:cNvCxnSpPr/>
          <p:nvPr/>
        </p:nvCxnSpPr>
        <p:spPr>
          <a:xfrm flipH="1">
            <a:off x="5961888" y="5449824"/>
            <a:ext cx="5148071"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541056" y="5234940"/>
            <a:ext cx="1953158"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12  Update alert status</a:t>
            </a:r>
          </a:p>
        </p:txBody>
      </p:sp>
      <p:cxnSp>
        <p:nvCxnSpPr>
          <p:cNvPr id="41" name="Connector 40"/>
          <p:cNvCxnSpPr/>
          <p:nvPr/>
        </p:nvCxnSpPr>
        <p:spPr>
          <a:xfrm>
            <a:off x="5925312" y="5715000"/>
            <a:ext cx="3419856"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6826910" y="5500116"/>
            <a:ext cx="1653235"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13  Log maintenance</a:t>
            </a:r>
          </a:p>
        </p:txBody>
      </p:sp>
      <p:cxnSp>
        <p:nvCxnSpPr>
          <p:cNvPr id="43" name="Connector 42"/>
          <p:cNvCxnSpPr/>
          <p:nvPr/>
        </p:nvCxnSpPr>
        <p:spPr>
          <a:xfrm>
            <a:off x="5925312" y="5980176"/>
            <a:ext cx="5148072" cy="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278623" y="5765292"/>
            <a:ext cx="2478024" cy="192024"/>
          </a:xfrm>
          <a:prstGeom prst="roundRect">
            <a:avLst>
              <a:gd name="adj" fmla="val 19047"/>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14  Alert marked “In Progress”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Activity Diagram (SRS §9.3)</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Oval 3"/>
          <p:cNvSpPr/>
          <p:nvPr/>
        </p:nvSpPr>
        <p:spPr>
          <a:xfrm>
            <a:off x="1783080" y="1463040"/>
            <a:ext cx="274320" cy="274320"/>
          </a:xfrm>
          <a:prstGeom prst="ellipse">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40280" y="1280160"/>
            <a:ext cx="160020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Monitor dashboard</a:t>
            </a:r>
          </a:p>
        </p:txBody>
      </p:sp>
      <p:sp>
        <p:nvSpPr>
          <p:cNvPr id="6" name="Rounded Rectangle 5"/>
          <p:cNvSpPr/>
          <p:nvPr/>
        </p:nvSpPr>
        <p:spPr>
          <a:xfrm>
            <a:off x="4069080" y="1280160"/>
            <a:ext cx="178308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Receive machine data</a:t>
            </a:r>
          </a:p>
        </p:txBody>
      </p:sp>
      <p:sp>
        <p:nvSpPr>
          <p:cNvPr id="7" name="Rounded Rectangle 6"/>
          <p:cNvSpPr/>
          <p:nvPr/>
        </p:nvSpPr>
        <p:spPr>
          <a:xfrm>
            <a:off x="6080760" y="1280160"/>
            <a:ext cx="182880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Apply hard-fault rules</a:t>
            </a:r>
          </a:p>
        </p:txBody>
      </p:sp>
      <p:sp>
        <p:nvSpPr>
          <p:cNvPr id="8" name="Decision 7"/>
          <p:cNvSpPr/>
          <p:nvPr/>
        </p:nvSpPr>
        <p:spPr>
          <a:xfrm>
            <a:off x="8138160" y="1143000"/>
            <a:ext cx="1554480" cy="91440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325880"/>
            <a:ext cx="1188719" cy="548640"/>
          </a:xfrm>
          <a:prstGeom prst="rect">
            <a:avLst/>
          </a:prstGeom>
          <a:noFill/>
        </p:spPr>
        <p:txBody>
          <a:bodyPr wrap="square" lIns="0" rIns="0" tIns="0" bIns="0" anchor="ctr">
            <a:noAutofit/>
          </a:bodyPr>
          <a:lstStyle/>
          <a:p>
            <a:pPr algn="ctr">
              <a:spcBef>
                <a:spcPts val="0"/>
              </a:spcBef>
              <a:spcAft>
                <a:spcPts val="0"/>
              </a:spcAft>
            </a:pPr>
            <a:r>
              <a:rPr sz="1200" b="0" i="0">
                <a:solidFill>
                  <a:srgbClr val="111827"/>
                </a:solidFill>
                <a:latin typeface="Times New Roman"/>
              </a:rPr>
              <a:t>Hard fault?</a:t>
            </a:r>
          </a:p>
        </p:txBody>
      </p:sp>
      <p:sp>
        <p:nvSpPr>
          <p:cNvPr id="10" name="Rounded Rectangle 9"/>
          <p:cNvSpPr/>
          <p:nvPr/>
        </p:nvSpPr>
        <p:spPr>
          <a:xfrm>
            <a:off x="10012680" y="1280160"/>
            <a:ext cx="1783080" cy="640080"/>
          </a:xfrm>
          <a:prstGeom prst="roundRect">
            <a:avLst>
              <a:gd name="adj" fmla="val 17142"/>
            </a:avLst>
          </a:prstGeom>
          <a:solidFill>
            <a:srgbClr val="FEE2E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Generate RED alert</a:t>
            </a:r>
          </a:p>
        </p:txBody>
      </p:sp>
      <p:cxnSp>
        <p:nvCxnSpPr>
          <p:cNvPr id="11" name="Connector 10"/>
          <p:cNvCxnSpPr/>
          <p:nvPr/>
        </p:nvCxnSpPr>
        <p:spPr>
          <a:xfrm>
            <a:off x="2057400" y="1600200"/>
            <a:ext cx="18288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840480" y="1600200"/>
            <a:ext cx="22860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52160" y="1600200"/>
            <a:ext cx="22860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09560" y="1600200"/>
            <a:ext cx="22860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92640" y="1600200"/>
            <a:ext cx="32004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01200" y="1325880"/>
            <a:ext cx="45720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cxnSp>
        <p:nvCxnSpPr>
          <p:cNvPr id="17" name="Connector 16"/>
          <p:cNvCxnSpPr/>
          <p:nvPr/>
        </p:nvCxnSpPr>
        <p:spPr>
          <a:xfrm>
            <a:off x="8915400" y="2057400"/>
            <a:ext cx="0" cy="73152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988552" y="2167128"/>
            <a:ext cx="45720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a:t>
            </a:r>
          </a:p>
        </p:txBody>
      </p:sp>
      <p:sp>
        <p:nvSpPr>
          <p:cNvPr id="19" name="Rounded Rectangle 18"/>
          <p:cNvSpPr/>
          <p:nvPr/>
        </p:nvSpPr>
        <p:spPr>
          <a:xfrm>
            <a:off x="8001000" y="2788920"/>
            <a:ext cx="1828800" cy="640080"/>
          </a:xfrm>
          <a:prstGeom prst="roundRect">
            <a:avLst>
              <a:gd name="adj" fmla="val 1714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Run ML anomaly detection</a:t>
            </a:r>
          </a:p>
        </p:txBody>
      </p:sp>
      <p:sp>
        <p:nvSpPr>
          <p:cNvPr id="20" name="Decision 19"/>
          <p:cNvSpPr/>
          <p:nvPr/>
        </p:nvSpPr>
        <p:spPr>
          <a:xfrm>
            <a:off x="5074920" y="2651760"/>
            <a:ext cx="1737360" cy="91440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57800" y="2834640"/>
            <a:ext cx="1371600" cy="548640"/>
          </a:xfrm>
          <a:prstGeom prst="rect">
            <a:avLst/>
          </a:prstGeom>
          <a:noFill/>
        </p:spPr>
        <p:txBody>
          <a:bodyPr wrap="square" lIns="0" rIns="0" tIns="0" bIns="0" anchor="ctr">
            <a:noAutofit/>
          </a:bodyPr>
          <a:lstStyle/>
          <a:p>
            <a:pPr algn="ctr">
              <a:spcBef>
                <a:spcPts val="0"/>
              </a:spcBef>
              <a:spcAft>
                <a:spcPts val="0"/>
              </a:spcAft>
            </a:pPr>
            <a:r>
              <a:rPr sz="1200" b="0" i="0">
                <a:solidFill>
                  <a:srgbClr val="111827"/>
                </a:solidFill>
                <a:latin typeface="Times New Roman"/>
              </a:rPr>
              <a:t>Score above 85 %?</a:t>
            </a:r>
          </a:p>
        </p:txBody>
      </p:sp>
      <p:sp>
        <p:nvSpPr>
          <p:cNvPr id="22" name="Rounded Rectangle 21"/>
          <p:cNvSpPr/>
          <p:nvPr/>
        </p:nvSpPr>
        <p:spPr>
          <a:xfrm>
            <a:off x="2194560" y="2788920"/>
            <a:ext cx="2011680" cy="640080"/>
          </a:xfrm>
          <a:prstGeom prst="roundRect">
            <a:avLst>
              <a:gd name="adj" fmla="val 17142"/>
            </a:avLst>
          </a:prstGeom>
          <a:solidFill>
            <a:srgbClr val="FEF9C3"/>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Generate YELLOW caution</a:t>
            </a:r>
          </a:p>
        </p:txBody>
      </p:sp>
      <p:cxnSp>
        <p:nvCxnSpPr>
          <p:cNvPr id="23" name="Connector 22"/>
          <p:cNvCxnSpPr/>
          <p:nvPr/>
        </p:nvCxnSpPr>
        <p:spPr>
          <a:xfrm flipH="1">
            <a:off x="6812280" y="3108960"/>
            <a:ext cx="118872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206240" y="3108960"/>
            <a:ext cx="86868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206240" y="2816352"/>
            <a:ext cx="86868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sp>
        <p:nvSpPr>
          <p:cNvPr id="26" name="Rounded Rectangle 25"/>
          <p:cNvSpPr/>
          <p:nvPr/>
        </p:nvSpPr>
        <p:spPr>
          <a:xfrm>
            <a:off x="2194560" y="4160520"/>
            <a:ext cx="9601200" cy="502920"/>
          </a:xfrm>
          <a:prstGeom prst="roundRect">
            <a:avLst>
              <a:gd name="adj" fmla="val 21818"/>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500" b="1" i="0">
                <a:solidFill>
                  <a:srgbClr val="111827"/>
                </a:solidFill>
                <a:latin typeface="Times New Roman"/>
              </a:rPr>
              <a:t>Display alert or status  (Green · Yellow · Red)</a:t>
            </a:r>
          </a:p>
        </p:txBody>
      </p:sp>
      <p:cxnSp>
        <p:nvCxnSpPr>
          <p:cNvPr id="27" name="Connector 26"/>
          <p:cNvCxnSpPr/>
          <p:nvPr/>
        </p:nvCxnSpPr>
        <p:spPr>
          <a:xfrm>
            <a:off x="3200400" y="3429000"/>
            <a:ext cx="0" cy="722376"/>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43600" y="3566160"/>
            <a:ext cx="0" cy="585216"/>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016752" y="3675887"/>
            <a:ext cx="1097280" cy="237744"/>
          </a:xfrm>
          <a:prstGeom prst="rect">
            <a:avLst/>
          </a:prstGeom>
          <a:noFill/>
        </p:spPr>
        <p:txBody>
          <a:bodyPr wrap="square" lIns="0" rIns="0" tIns="0" bIns="0" anchor="ctr">
            <a:noAutofit/>
          </a:bodyPr>
          <a:lstStyle/>
          <a:p>
            <a:pPr algn="l">
              <a:spcBef>
                <a:spcPts val="0"/>
              </a:spcBef>
              <a:spcAft>
                <a:spcPts val="0"/>
              </a:spcAft>
            </a:pPr>
            <a:r>
              <a:rPr sz="1200" b="1" i="0">
                <a:solidFill>
                  <a:srgbClr val="475569"/>
                </a:solidFill>
                <a:latin typeface="Times New Roman"/>
              </a:rPr>
              <a:t>no: normal</a:t>
            </a:r>
          </a:p>
        </p:txBody>
      </p:sp>
      <p:cxnSp>
        <p:nvCxnSpPr>
          <p:cNvPr id="30" name="Connector 29"/>
          <p:cNvCxnSpPr/>
          <p:nvPr/>
        </p:nvCxnSpPr>
        <p:spPr>
          <a:xfrm>
            <a:off x="10904219" y="1920240"/>
            <a:ext cx="0" cy="2231136"/>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46120" y="4663440"/>
            <a:ext cx="0" cy="36576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194560" y="5029200"/>
            <a:ext cx="2103120" cy="640080"/>
          </a:xfrm>
          <a:prstGeom prst="roundRect">
            <a:avLst>
              <a:gd name="adj" fmla="val 17142"/>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Engineer views alert</a:t>
            </a:r>
          </a:p>
        </p:txBody>
      </p:sp>
      <p:sp>
        <p:nvSpPr>
          <p:cNvPr id="33" name="Decision 32"/>
          <p:cNvSpPr/>
          <p:nvPr/>
        </p:nvSpPr>
        <p:spPr>
          <a:xfrm>
            <a:off x="4709160" y="4892040"/>
            <a:ext cx="1828800" cy="914400"/>
          </a:xfrm>
          <a:prstGeom prst="flowChartDecision">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92040" y="5074920"/>
            <a:ext cx="1463040" cy="548640"/>
          </a:xfrm>
          <a:prstGeom prst="rect">
            <a:avLst/>
          </a:prstGeom>
          <a:noFill/>
        </p:spPr>
        <p:txBody>
          <a:bodyPr wrap="square" lIns="0" rIns="0" tIns="0" bIns="0" anchor="ctr">
            <a:noAutofit/>
          </a:bodyPr>
          <a:lstStyle/>
          <a:p>
            <a:pPr algn="ctr">
              <a:spcBef>
                <a:spcPts val="0"/>
              </a:spcBef>
              <a:spcAft>
                <a:spcPts val="0"/>
              </a:spcAft>
            </a:pPr>
            <a:r>
              <a:rPr sz="1200" b="0" i="0">
                <a:solidFill>
                  <a:srgbClr val="111827"/>
                </a:solidFill>
                <a:latin typeface="Times New Roman"/>
              </a:rPr>
              <a:t>Action needed?</a:t>
            </a:r>
          </a:p>
        </p:txBody>
      </p:sp>
      <p:sp>
        <p:nvSpPr>
          <p:cNvPr id="35" name="Rounded Rectangle 34"/>
          <p:cNvSpPr/>
          <p:nvPr/>
        </p:nvSpPr>
        <p:spPr>
          <a:xfrm>
            <a:off x="7178040" y="5029200"/>
            <a:ext cx="2011680" cy="640080"/>
          </a:xfrm>
          <a:prstGeom prst="roundRect">
            <a:avLst>
              <a:gd name="adj" fmla="val 17142"/>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Start maintenance</a:t>
            </a:r>
          </a:p>
        </p:txBody>
      </p:sp>
      <p:sp>
        <p:nvSpPr>
          <p:cNvPr id="36" name="Rounded Rectangle 35"/>
          <p:cNvSpPr/>
          <p:nvPr/>
        </p:nvSpPr>
        <p:spPr>
          <a:xfrm>
            <a:off x="9646919" y="5029200"/>
            <a:ext cx="1645920" cy="640080"/>
          </a:xfrm>
          <a:prstGeom prst="roundRect">
            <a:avLst>
              <a:gd name="adj" fmla="val 17142"/>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spcBef>
                <a:spcPts val="0"/>
              </a:spcBef>
              <a:spcAft>
                <a:spcPts val="0"/>
              </a:spcAft>
            </a:pPr>
            <a:r>
              <a:rPr sz="1300" b="0" i="0">
                <a:solidFill>
                  <a:srgbClr val="111827"/>
                </a:solidFill>
                <a:latin typeface="Times New Roman"/>
              </a:rPr>
              <a:t>Alert handled</a:t>
            </a:r>
          </a:p>
        </p:txBody>
      </p:sp>
      <p:cxnSp>
        <p:nvCxnSpPr>
          <p:cNvPr id="37" name="Connector 36"/>
          <p:cNvCxnSpPr/>
          <p:nvPr/>
        </p:nvCxnSpPr>
        <p:spPr>
          <a:xfrm>
            <a:off x="4297680" y="5349240"/>
            <a:ext cx="41148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537960" y="5349240"/>
            <a:ext cx="64008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189719" y="5349240"/>
            <a:ext cx="45720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92240" y="5056631"/>
            <a:ext cx="731520" cy="237744"/>
          </a:xfrm>
          <a:prstGeom prst="rect">
            <a:avLst/>
          </a:prstGeom>
          <a:noFill/>
        </p:spPr>
        <p:txBody>
          <a:bodyPr wrap="square" lIns="0" rIns="0" tIns="0" bIns="0" anchor="ctr">
            <a:noAutofit/>
          </a:bodyPr>
          <a:lstStyle/>
          <a:p>
            <a:pPr algn="ctr">
              <a:spcBef>
                <a:spcPts val="0"/>
              </a:spcBef>
              <a:spcAft>
                <a:spcPts val="0"/>
              </a:spcAft>
            </a:pPr>
            <a:r>
              <a:rPr sz="1200" b="1" i="0">
                <a:solidFill>
                  <a:srgbClr val="475569"/>
                </a:solidFill>
                <a:latin typeface="Times New Roman"/>
              </a:rPr>
              <a:t>yes</a:t>
            </a:r>
          </a:p>
        </p:txBody>
      </p:sp>
      <p:cxnSp>
        <p:nvCxnSpPr>
          <p:cNvPr id="41" name="Connector 40"/>
          <p:cNvCxnSpPr/>
          <p:nvPr/>
        </p:nvCxnSpPr>
        <p:spPr>
          <a:xfrm>
            <a:off x="11292840" y="5349240"/>
            <a:ext cx="228600"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1521440" y="5212079"/>
            <a:ext cx="274320" cy="274320"/>
          </a:xfrm>
          <a:prstGeom prst="ellipse">
            <a:avLst/>
          </a:prstGeom>
          <a:solidFill>
            <a:srgbClr val="FFFFFF"/>
          </a:solidFill>
          <a:ln w="3810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5623560" y="5806440"/>
            <a:ext cx="0" cy="301752"/>
          </a:xfrm>
          <a:prstGeom prst="line">
            <a:avLst/>
          </a:prstGeom>
          <a:ln w="2222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23560" y="6108192"/>
            <a:ext cx="4846320" cy="0"/>
          </a:xfrm>
          <a:prstGeom prst="line">
            <a:avLst/>
          </a:prstGeom>
          <a:ln w="2222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469880" y="5678424"/>
            <a:ext cx="0" cy="429768"/>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6766559" y="5989320"/>
            <a:ext cx="2560320" cy="237744"/>
          </a:xfrm>
          <a:prstGeom prst="roundRect">
            <a:avLst>
              <a:gd name="adj" fmla="val 15384"/>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no: continue monitoring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Database Design – ER Diagram (PostgreSQL)</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51560"/>
            <a:ext cx="2697480" cy="1828800"/>
          </a:xfrm>
          <a:prstGeom prst="roundRect">
            <a:avLst>
              <a:gd name="adj" fmla="val 4000"/>
            </a:avLst>
          </a:prstGeom>
          <a:solidFill>
            <a:srgbClr val="FFFFFF"/>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Rounded Rectangle 4"/>
          <p:cNvSpPr/>
          <p:nvPr/>
        </p:nvSpPr>
        <p:spPr>
          <a:xfrm>
            <a:off x="1783080" y="1051560"/>
            <a:ext cx="2697480" cy="365760"/>
          </a:xfrm>
          <a:prstGeom prst="roundRect">
            <a:avLst>
              <a:gd name="adj" fmla="val 2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machines</a:t>
            </a:r>
          </a:p>
        </p:txBody>
      </p:sp>
      <p:sp>
        <p:nvSpPr>
          <p:cNvPr id="6" name="TextBox 5"/>
          <p:cNvSpPr txBox="1"/>
          <p:nvPr/>
        </p:nvSpPr>
        <p:spPr>
          <a:xfrm>
            <a:off x="1892807"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7" name="TextBox 6"/>
          <p:cNvSpPr txBox="1"/>
          <p:nvPr/>
        </p:nvSpPr>
        <p:spPr>
          <a:xfrm>
            <a:off x="38404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2563EB"/>
                </a:solidFill>
                <a:latin typeface="Times New Roman"/>
              </a:rPr>
              <a:t>PK</a:t>
            </a:r>
          </a:p>
        </p:txBody>
      </p:sp>
      <p:sp>
        <p:nvSpPr>
          <p:cNvPr id="8" name="TextBox 7"/>
          <p:cNvSpPr txBox="1"/>
          <p:nvPr/>
        </p:nvSpPr>
        <p:spPr>
          <a:xfrm>
            <a:off x="1892807"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name</a:t>
            </a:r>
          </a:p>
        </p:txBody>
      </p:sp>
      <p:sp>
        <p:nvSpPr>
          <p:cNvPr id="9" name="TextBox 8"/>
          <p:cNvSpPr txBox="1"/>
          <p:nvPr/>
        </p:nvSpPr>
        <p:spPr>
          <a:xfrm>
            <a:off x="1892807"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kind</a:t>
            </a:r>
          </a:p>
        </p:txBody>
      </p:sp>
      <p:sp>
        <p:nvSpPr>
          <p:cNvPr id="10" name="TextBox 9"/>
          <p:cNvSpPr txBox="1"/>
          <p:nvPr/>
        </p:nvSpPr>
        <p:spPr>
          <a:xfrm>
            <a:off x="1892807"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ideal_cycle_s</a:t>
            </a:r>
          </a:p>
        </p:txBody>
      </p:sp>
      <p:sp>
        <p:nvSpPr>
          <p:cNvPr id="11" name="TextBox 10"/>
          <p:cNvSpPr txBox="1"/>
          <p:nvPr/>
        </p:nvSpPr>
        <p:spPr>
          <a:xfrm>
            <a:off x="1892807"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temp_limit</a:t>
            </a:r>
          </a:p>
        </p:txBody>
      </p:sp>
      <p:sp>
        <p:nvSpPr>
          <p:cNvPr id="12" name="TextBox 11"/>
          <p:cNvSpPr txBox="1"/>
          <p:nvPr/>
        </p:nvSpPr>
        <p:spPr>
          <a:xfrm>
            <a:off x="1892807" y="26151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vib_limit</a:t>
            </a:r>
          </a:p>
        </p:txBody>
      </p:sp>
      <p:sp>
        <p:nvSpPr>
          <p:cNvPr id="13" name="Rounded Rectangle 12"/>
          <p:cNvSpPr/>
          <p:nvPr/>
        </p:nvSpPr>
        <p:spPr>
          <a:xfrm>
            <a:off x="5440680" y="1051560"/>
            <a:ext cx="2697480" cy="2286000"/>
          </a:xfrm>
          <a:prstGeom prst="roundRect">
            <a:avLst>
              <a:gd name="adj" fmla="val 3200"/>
            </a:avLst>
          </a:prstGeom>
          <a:solidFill>
            <a:srgbClr val="FFFFFF"/>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4" name="Rounded Rectangle 13"/>
          <p:cNvSpPr/>
          <p:nvPr/>
        </p:nvSpPr>
        <p:spPr>
          <a:xfrm>
            <a:off x="5440680" y="1051560"/>
            <a:ext cx="2697480" cy="365760"/>
          </a:xfrm>
          <a:prstGeom prst="roundRect">
            <a:avLst>
              <a:gd name="adj" fmla="val 20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alerts</a:t>
            </a:r>
          </a:p>
        </p:txBody>
      </p:sp>
      <p:sp>
        <p:nvSpPr>
          <p:cNvPr id="15" name="TextBox 14"/>
          <p:cNvSpPr txBox="1"/>
          <p:nvPr/>
        </p:nvSpPr>
        <p:spPr>
          <a:xfrm>
            <a:off x="5550408"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16" name="TextBox 15"/>
          <p:cNvSpPr txBox="1"/>
          <p:nvPr/>
        </p:nvSpPr>
        <p:spPr>
          <a:xfrm>
            <a:off x="74980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EA580C"/>
                </a:solidFill>
                <a:latin typeface="Times New Roman"/>
              </a:rPr>
              <a:t>PK</a:t>
            </a:r>
          </a:p>
        </p:txBody>
      </p:sp>
      <p:sp>
        <p:nvSpPr>
          <p:cNvPr id="17" name="TextBox 16"/>
          <p:cNvSpPr txBox="1"/>
          <p:nvPr/>
        </p:nvSpPr>
        <p:spPr>
          <a:xfrm>
            <a:off x="5550408"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machine_id</a:t>
            </a:r>
          </a:p>
        </p:txBody>
      </p:sp>
      <p:sp>
        <p:nvSpPr>
          <p:cNvPr id="18" name="TextBox 17"/>
          <p:cNvSpPr txBox="1"/>
          <p:nvPr/>
        </p:nvSpPr>
        <p:spPr>
          <a:xfrm>
            <a:off x="7498080" y="17007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EA580C"/>
                </a:solidFill>
                <a:latin typeface="Times New Roman"/>
              </a:rPr>
              <a:t>FK</a:t>
            </a:r>
          </a:p>
        </p:txBody>
      </p:sp>
      <p:sp>
        <p:nvSpPr>
          <p:cNvPr id="19" name="TextBox 18"/>
          <p:cNvSpPr txBox="1"/>
          <p:nvPr/>
        </p:nvSpPr>
        <p:spPr>
          <a:xfrm>
            <a:off x="5550408"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level</a:t>
            </a:r>
          </a:p>
        </p:txBody>
      </p:sp>
      <p:sp>
        <p:nvSpPr>
          <p:cNvPr id="20" name="TextBox 19"/>
          <p:cNvSpPr txBox="1"/>
          <p:nvPr/>
        </p:nvSpPr>
        <p:spPr>
          <a:xfrm>
            <a:off x="5550408"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status</a:t>
            </a:r>
          </a:p>
        </p:txBody>
      </p:sp>
      <p:sp>
        <p:nvSpPr>
          <p:cNvPr id="21" name="TextBox 20"/>
          <p:cNvSpPr txBox="1"/>
          <p:nvPr/>
        </p:nvSpPr>
        <p:spPr>
          <a:xfrm>
            <a:off x="5550408"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opened_at</a:t>
            </a:r>
          </a:p>
        </p:txBody>
      </p:sp>
      <p:sp>
        <p:nvSpPr>
          <p:cNvPr id="22" name="TextBox 21"/>
          <p:cNvSpPr txBox="1"/>
          <p:nvPr/>
        </p:nvSpPr>
        <p:spPr>
          <a:xfrm>
            <a:off x="5550408" y="26151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acked_by</a:t>
            </a:r>
          </a:p>
        </p:txBody>
      </p:sp>
      <p:sp>
        <p:nvSpPr>
          <p:cNvPr id="23" name="TextBox 22"/>
          <p:cNvSpPr txBox="1"/>
          <p:nvPr/>
        </p:nvSpPr>
        <p:spPr>
          <a:xfrm>
            <a:off x="5550408" y="2843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technician</a:t>
            </a:r>
          </a:p>
        </p:txBody>
      </p:sp>
      <p:sp>
        <p:nvSpPr>
          <p:cNvPr id="24" name="TextBox 23"/>
          <p:cNvSpPr txBox="1"/>
          <p:nvPr/>
        </p:nvSpPr>
        <p:spPr>
          <a:xfrm>
            <a:off x="5550408" y="3072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resolution_notes</a:t>
            </a:r>
          </a:p>
        </p:txBody>
      </p:sp>
      <p:sp>
        <p:nvSpPr>
          <p:cNvPr id="25" name="Rounded Rectangle 24"/>
          <p:cNvSpPr/>
          <p:nvPr/>
        </p:nvSpPr>
        <p:spPr>
          <a:xfrm>
            <a:off x="9098280" y="1051560"/>
            <a:ext cx="2697480" cy="1600200"/>
          </a:xfrm>
          <a:prstGeom prst="roundRect">
            <a:avLst>
              <a:gd name="adj" fmla="val 4571"/>
            </a:avLst>
          </a:prstGeom>
          <a:solidFill>
            <a:srgbClr val="FFFF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6" name="Rounded Rectangle 25"/>
          <p:cNvSpPr/>
          <p:nvPr/>
        </p:nvSpPr>
        <p:spPr>
          <a:xfrm>
            <a:off x="9098280" y="1051560"/>
            <a:ext cx="2697480" cy="365760"/>
          </a:xfrm>
          <a:prstGeom prst="roundRect">
            <a:avLst>
              <a:gd name="adj" fmla="val 2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feedback</a:t>
            </a:r>
          </a:p>
        </p:txBody>
      </p:sp>
      <p:sp>
        <p:nvSpPr>
          <p:cNvPr id="27" name="TextBox 26"/>
          <p:cNvSpPr txBox="1"/>
          <p:nvPr/>
        </p:nvSpPr>
        <p:spPr>
          <a:xfrm>
            <a:off x="9208007" y="147218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28" name="TextBox 27"/>
          <p:cNvSpPr txBox="1"/>
          <p:nvPr/>
        </p:nvSpPr>
        <p:spPr>
          <a:xfrm>
            <a:off x="11155680" y="14721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7C3AED"/>
                </a:solidFill>
                <a:latin typeface="Times New Roman"/>
              </a:rPr>
              <a:t>PK</a:t>
            </a:r>
          </a:p>
        </p:txBody>
      </p:sp>
      <p:sp>
        <p:nvSpPr>
          <p:cNvPr id="29" name="TextBox 28"/>
          <p:cNvSpPr txBox="1"/>
          <p:nvPr/>
        </p:nvSpPr>
        <p:spPr>
          <a:xfrm>
            <a:off x="9208007" y="17007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alert_id</a:t>
            </a:r>
          </a:p>
        </p:txBody>
      </p:sp>
      <p:sp>
        <p:nvSpPr>
          <p:cNvPr id="30" name="TextBox 29"/>
          <p:cNvSpPr txBox="1"/>
          <p:nvPr/>
        </p:nvSpPr>
        <p:spPr>
          <a:xfrm>
            <a:off x="11155680" y="170078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7C3AED"/>
                </a:solidFill>
                <a:latin typeface="Times New Roman"/>
              </a:rPr>
              <a:t>FK</a:t>
            </a:r>
          </a:p>
        </p:txBody>
      </p:sp>
      <p:sp>
        <p:nvSpPr>
          <p:cNvPr id="31" name="TextBox 30"/>
          <p:cNvSpPr txBox="1"/>
          <p:nvPr/>
        </p:nvSpPr>
        <p:spPr>
          <a:xfrm>
            <a:off x="9208007" y="19293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verdict</a:t>
            </a:r>
          </a:p>
        </p:txBody>
      </p:sp>
      <p:sp>
        <p:nvSpPr>
          <p:cNvPr id="32" name="TextBox 31"/>
          <p:cNvSpPr txBox="1"/>
          <p:nvPr/>
        </p:nvSpPr>
        <p:spPr>
          <a:xfrm>
            <a:off x="9208007" y="21579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given_by</a:t>
            </a:r>
          </a:p>
        </p:txBody>
      </p:sp>
      <p:sp>
        <p:nvSpPr>
          <p:cNvPr id="33" name="TextBox 32"/>
          <p:cNvSpPr txBox="1"/>
          <p:nvPr/>
        </p:nvSpPr>
        <p:spPr>
          <a:xfrm>
            <a:off x="9208007" y="238658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comment</a:t>
            </a:r>
          </a:p>
        </p:txBody>
      </p:sp>
      <p:sp>
        <p:nvSpPr>
          <p:cNvPr id="34" name="Rounded Rectangle 33"/>
          <p:cNvSpPr/>
          <p:nvPr/>
        </p:nvSpPr>
        <p:spPr>
          <a:xfrm>
            <a:off x="9098280" y="2926080"/>
            <a:ext cx="2697480" cy="1143000"/>
          </a:xfrm>
          <a:prstGeom prst="roundRect">
            <a:avLst>
              <a:gd name="adj" fmla="val 6400"/>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5" name="Rounded Rectangle 34"/>
          <p:cNvSpPr/>
          <p:nvPr/>
        </p:nvSpPr>
        <p:spPr>
          <a:xfrm>
            <a:off x="9098280" y="2926080"/>
            <a:ext cx="2697480" cy="36576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users</a:t>
            </a:r>
          </a:p>
        </p:txBody>
      </p:sp>
      <p:sp>
        <p:nvSpPr>
          <p:cNvPr id="36" name="TextBox 35"/>
          <p:cNvSpPr txBox="1"/>
          <p:nvPr/>
        </p:nvSpPr>
        <p:spPr>
          <a:xfrm>
            <a:off x="9208007" y="334670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username</a:t>
            </a:r>
          </a:p>
        </p:txBody>
      </p:sp>
      <p:sp>
        <p:nvSpPr>
          <p:cNvPr id="37" name="TextBox 36"/>
          <p:cNvSpPr txBox="1"/>
          <p:nvPr/>
        </p:nvSpPr>
        <p:spPr>
          <a:xfrm>
            <a:off x="11155680" y="334670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64748B"/>
                </a:solidFill>
                <a:latin typeface="Times New Roman"/>
              </a:rPr>
              <a:t>PK</a:t>
            </a:r>
          </a:p>
        </p:txBody>
      </p:sp>
      <p:sp>
        <p:nvSpPr>
          <p:cNvPr id="38" name="TextBox 37"/>
          <p:cNvSpPr txBox="1"/>
          <p:nvPr/>
        </p:nvSpPr>
        <p:spPr>
          <a:xfrm>
            <a:off x="9208007" y="35753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role</a:t>
            </a:r>
          </a:p>
        </p:txBody>
      </p:sp>
      <p:sp>
        <p:nvSpPr>
          <p:cNvPr id="39" name="TextBox 38"/>
          <p:cNvSpPr txBox="1"/>
          <p:nvPr/>
        </p:nvSpPr>
        <p:spPr>
          <a:xfrm>
            <a:off x="9208007" y="38039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password_hash</a:t>
            </a:r>
          </a:p>
        </p:txBody>
      </p:sp>
      <p:sp>
        <p:nvSpPr>
          <p:cNvPr id="40" name="Rounded Rectangle 39"/>
          <p:cNvSpPr/>
          <p:nvPr/>
        </p:nvSpPr>
        <p:spPr>
          <a:xfrm>
            <a:off x="9098280" y="4297680"/>
            <a:ext cx="2697480" cy="1600200"/>
          </a:xfrm>
          <a:prstGeom prst="roundRect">
            <a:avLst>
              <a:gd name="adj" fmla="val 4571"/>
            </a:avLst>
          </a:prstGeom>
          <a:solidFill>
            <a:srgbClr val="FFFFFF"/>
          </a:solidFill>
          <a:ln w="19050">
            <a:solidFill>
              <a:srgbClr val="CA8A04"/>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1" name="Rounded Rectangle 40"/>
          <p:cNvSpPr/>
          <p:nvPr/>
        </p:nvSpPr>
        <p:spPr>
          <a:xfrm>
            <a:off x="9098280" y="4297680"/>
            <a:ext cx="2697480" cy="365760"/>
          </a:xfrm>
          <a:prstGeom prst="roundRect">
            <a:avLst>
              <a:gd name="adj" fmla="val 20000"/>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ml_models</a:t>
            </a:r>
          </a:p>
        </p:txBody>
      </p:sp>
      <p:sp>
        <p:nvSpPr>
          <p:cNvPr id="42" name="TextBox 41"/>
          <p:cNvSpPr txBox="1"/>
          <p:nvPr/>
        </p:nvSpPr>
        <p:spPr>
          <a:xfrm>
            <a:off x="9208007" y="471830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43" name="TextBox 42"/>
          <p:cNvSpPr txBox="1"/>
          <p:nvPr/>
        </p:nvSpPr>
        <p:spPr>
          <a:xfrm>
            <a:off x="11155680" y="471830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CA8A04"/>
                </a:solidFill>
                <a:latin typeface="Times New Roman"/>
              </a:rPr>
              <a:t>PK</a:t>
            </a:r>
          </a:p>
        </p:txBody>
      </p:sp>
      <p:sp>
        <p:nvSpPr>
          <p:cNvPr id="44" name="TextBox 43"/>
          <p:cNvSpPr txBox="1"/>
          <p:nvPr/>
        </p:nvSpPr>
        <p:spPr>
          <a:xfrm>
            <a:off x="9208007" y="49469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algorithm</a:t>
            </a:r>
          </a:p>
        </p:txBody>
      </p:sp>
      <p:sp>
        <p:nvSpPr>
          <p:cNvPr id="45" name="TextBox 44"/>
          <p:cNvSpPr txBox="1"/>
          <p:nvPr/>
        </p:nvSpPr>
        <p:spPr>
          <a:xfrm>
            <a:off x="9208007" y="51755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trained_at</a:t>
            </a:r>
          </a:p>
        </p:txBody>
      </p:sp>
      <p:sp>
        <p:nvSpPr>
          <p:cNvPr id="46" name="TextBox 45"/>
          <p:cNvSpPr txBox="1"/>
          <p:nvPr/>
        </p:nvSpPr>
        <p:spPr>
          <a:xfrm>
            <a:off x="9208007" y="54041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threshold</a:t>
            </a:r>
          </a:p>
        </p:txBody>
      </p:sp>
      <p:sp>
        <p:nvSpPr>
          <p:cNvPr id="47" name="TextBox 46"/>
          <p:cNvSpPr txBox="1"/>
          <p:nvPr/>
        </p:nvSpPr>
        <p:spPr>
          <a:xfrm>
            <a:off x="9208007" y="563270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metrics</a:t>
            </a:r>
          </a:p>
        </p:txBody>
      </p:sp>
      <p:sp>
        <p:nvSpPr>
          <p:cNvPr id="48" name="Rounded Rectangle 47"/>
          <p:cNvSpPr/>
          <p:nvPr/>
        </p:nvSpPr>
        <p:spPr>
          <a:xfrm>
            <a:off x="5440680" y="3931920"/>
            <a:ext cx="2697480" cy="1828800"/>
          </a:xfrm>
          <a:prstGeom prst="roundRect">
            <a:avLst>
              <a:gd name="adj" fmla="val 4000"/>
            </a:avLst>
          </a:prstGeom>
          <a:solidFill>
            <a:srgbClr val="FFFFFF"/>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49" name="Rounded Rectangle 48"/>
          <p:cNvSpPr/>
          <p:nvPr/>
        </p:nvSpPr>
        <p:spPr>
          <a:xfrm>
            <a:off x="5440680" y="3931920"/>
            <a:ext cx="2697480" cy="365760"/>
          </a:xfrm>
          <a:prstGeom prst="roundRect">
            <a:avLst>
              <a:gd name="adj" fmla="val 20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400" b="1" i="0">
                <a:solidFill>
                  <a:srgbClr val="FFFFFF"/>
                </a:solidFill>
                <a:latin typeface="Times New Roman"/>
              </a:rPr>
              <a:t>maintenance_logs</a:t>
            </a:r>
          </a:p>
        </p:txBody>
      </p:sp>
      <p:sp>
        <p:nvSpPr>
          <p:cNvPr id="50" name="TextBox 49"/>
          <p:cNvSpPr txBox="1"/>
          <p:nvPr/>
        </p:nvSpPr>
        <p:spPr>
          <a:xfrm>
            <a:off x="5550408" y="4352544"/>
            <a:ext cx="1965960" cy="228600"/>
          </a:xfrm>
          <a:prstGeom prst="rect">
            <a:avLst/>
          </a:prstGeom>
          <a:noFill/>
        </p:spPr>
        <p:txBody>
          <a:bodyPr wrap="square" lIns="0" rIns="0" tIns="0" bIns="0" anchor="ctr">
            <a:noAutofit/>
          </a:bodyPr>
          <a:lstStyle/>
          <a:p>
            <a:pPr algn="l">
              <a:spcBef>
                <a:spcPts val="0"/>
              </a:spcBef>
              <a:spcAft>
                <a:spcPts val="0"/>
              </a:spcAft>
            </a:pPr>
            <a:r>
              <a:rPr sz="1200" b="1" i="0">
                <a:solidFill>
                  <a:srgbClr val="111827"/>
                </a:solidFill>
                <a:latin typeface="Times New Roman"/>
              </a:rPr>
              <a:t>id</a:t>
            </a:r>
          </a:p>
        </p:txBody>
      </p:sp>
      <p:sp>
        <p:nvSpPr>
          <p:cNvPr id="51" name="TextBox 50"/>
          <p:cNvSpPr txBox="1"/>
          <p:nvPr/>
        </p:nvSpPr>
        <p:spPr>
          <a:xfrm>
            <a:off x="7498080" y="43525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PK</a:t>
            </a:r>
          </a:p>
        </p:txBody>
      </p:sp>
      <p:sp>
        <p:nvSpPr>
          <p:cNvPr id="52" name="TextBox 51"/>
          <p:cNvSpPr txBox="1"/>
          <p:nvPr/>
        </p:nvSpPr>
        <p:spPr>
          <a:xfrm>
            <a:off x="5550408" y="45811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machine_id</a:t>
            </a:r>
          </a:p>
        </p:txBody>
      </p:sp>
      <p:sp>
        <p:nvSpPr>
          <p:cNvPr id="53" name="TextBox 52"/>
          <p:cNvSpPr txBox="1"/>
          <p:nvPr/>
        </p:nvSpPr>
        <p:spPr>
          <a:xfrm>
            <a:off x="7498080" y="45811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FK</a:t>
            </a:r>
          </a:p>
        </p:txBody>
      </p:sp>
      <p:sp>
        <p:nvSpPr>
          <p:cNvPr id="54" name="TextBox 53"/>
          <p:cNvSpPr txBox="1"/>
          <p:nvPr/>
        </p:nvSpPr>
        <p:spPr>
          <a:xfrm>
            <a:off x="5550408" y="48097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alert_id</a:t>
            </a:r>
          </a:p>
        </p:txBody>
      </p:sp>
      <p:sp>
        <p:nvSpPr>
          <p:cNvPr id="55" name="TextBox 54"/>
          <p:cNvSpPr txBox="1"/>
          <p:nvPr/>
        </p:nvSpPr>
        <p:spPr>
          <a:xfrm>
            <a:off x="7498080" y="4809744"/>
            <a:ext cx="530352" cy="228600"/>
          </a:xfrm>
          <a:prstGeom prst="rect">
            <a:avLst/>
          </a:prstGeom>
          <a:noFill/>
        </p:spPr>
        <p:txBody>
          <a:bodyPr wrap="square" lIns="0" rIns="0" tIns="0" bIns="0" anchor="ctr">
            <a:noAutofit/>
          </a:bodyPr>
          <a:lstStyle/>
          <a:p>
            <a:pPr algn="r">
              <a:spcBef>
                <a:spcPts val="0"/>
              </a:spcBef>
              <a:spcAft>
                <a:spcPts val="0"/>
              </a:spcAft>
            </a:pPr>
            <a:r>
              <a:rPr sz="1100" b="1" i="0">
                <a:solidFill>
                  <a:srgbClr val="16A34A"/>
                </a:solidFill>
                <a:latin typeface="Times New Roman"/>
              </a:rPr>
              <a:t>FK</a:t>
            </a:r>
          </a:p>
        </p:txBody>
      </p:sp>
      <p:sp>
        <p:nvSpPr>
          <p:cNvPr id="56" name="TextBox 55"/>
          <p:cNvSpPr txBox="1"/>
          <p:nvPr/>
        </p:nvSpPr>
        <p:spPr>
          <a:xfrm>
            <a:off x="5550408" y="50383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action</a:t>
            </a:r>
          </a:p>
        </p:txBody>
      </p:sp>
      <p:sp>
        <p:nvSpPr>
          <p:cNvPr id="57" name="TextBox 56"/>
          <p:cNvSpPr txBox="1"/>
          <p:nvPr/>
        </p:nvSpPr>
        <p:spPr>
          <a:xfrm>
            <a:off x="5550408" y="52669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technician</a:t>
            </a:r>
          </a:p>
        </p:txBody>
      </p:sp>
      <p:sp>
        <p:nvSpPr>
          <p:cNvPr id="58" name="TextBox 57"/>
          <p:cNvSpPr txBox="1"/>
          <p:nvPr/>
        </p:nvSpPr>
        <p:spPr>
          <a:xfrm>
            <a:off x="5550408" y="5495544"/>
            <a:ext cx="1965960" cy="22860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status</a:t>
            </a:r>
          </a:p>
        </p:txBody>
      </p:sp>
      <p:cxnSp>
        <p:nvCxnSpPr>
          <p:cNvPr id="59" name="Connector 58"/>
          <p:cNvCxnSpPr/>
          <p:nvPr/>
        </p:nvCxnSpPr>
        <p:spPr>
          <a:xfrm>
            <a:off x="4480560" y="1828800"/>
            <a:ext cx="96012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480560" y="1536192"/>
            <a:ext cx="960120" cy="237744"/>
          </a:xfrm>
          <a:prstGeom prst="rect">
            <a:avLst/>
          </a:prstGeom>
          <a:noFill/>
        </p:spPr>
        <p:txBody>
          <a:bodyPr wrap="square" lIns="0" rIns="0" tIns="0" bIns="0" anchor="t">
            <a:noAutofit/>
          </a:bodyPr>
          <a:lstStyle/>
          <a:p>
            <a:pPr algn="ctr">
              <a:spcBef>
                <a:spcPts val="0"/>
              </a:spcBef>
              <a:spcAft>
                <a:spcPts val="0"/>
              </a:spcAft>
            </a:pPr>
            <a:r>
              <a:rPr sz="1200" b="1" i="0">
                <a:solidFill>
                  <a:srgbClr val="111827"/>
                </a:solidFill>
                <a:latin typeface="Times New Roman"/>
              </a:rPr>
              <a:t>1 : N</a:t>
            </a:r>
          </a:p>
        </p:txBody>
      </p:sp>
      <p:cxnSp>
        <p:nvCxnSpPr>
          <p:cNvPr id="61" name="Connector 60"/>
          <p:cNvCxnSpPr/>
          <p:nvPr/>
        </p:nvCxnSpPr>
        <p:spPr>
          <a:xfrm>
            <a:off x="8138160" y="1828800"/>
            <a:ext cx="96012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138160" y="1536192"/>
            <a:ext cx="960120" cy="237744"/>
          </a:xfrm>
          <a:prstGeom prst="rect">
            <a:avLst/>
          </a:prstGeom>
          <a:noFill/>
        </p:spPr>
        <p:txBody>
          <a:bodyPr wrap="square" lIns="0" rIns="0" tIns="0" bIns="0" anchor="t">
            <a:noAutofit/>
          </a:bodyPr>
          <a:lstStyle/>
          <a:p>
            <a:pPr algn="ctr">
              <a:spcBef>
                <a:spcPts val="0"/>
              </a:spcBef>
              <a:spcAft>
                <a:spcPts val="0"/>
              </a:spcAft>
            </a:pPr>
            <a:r>
              <a:rPr sz="1200" b="1" i="0">
                <a:solidFill>
                  <a:srgbClr val="111827"/>
                </a:solidFill>
                <a:latin typeface="Times New Roman"/>
              </a:rPr>
              <a:t>1 : 1</a:t>
            </a:r>
          </a:p>
        </p:txBody>
      </p:sp>
      <p:cxnSp>
        <p:nvCxnSpPr>
          <p:cNvPr id="63" name="Connector 62"/>
          <p:cNvCxnSpPr/>
          <p:nvPr/>
        </p:nvCxnSpPr>
        <p:spPr>
          <a:xfrm>
            <a:off x="6789420" y="3337560"/>
            <a:ext cx="0" cy="59436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880860" y="3383280"/>
            <a:ext cx="731520" cy="237744"/>
          </a:xfrm>
          <a:prstGeom prst="rect">
            <a:avLst/>
          </a:prstGeom>
          <a:noFill/>
        </p:spPr>
        <p:txBody>
          <a:bodyPr wrap="square" lIns="0" rIns="0" tIns="0" bIns="0" anchor="t">
            <a:noAutofit/>
          </a:bodyPr>
          <a:lstStyle/>
          <a:p>
            <a:pPr algn="l">
              <a:spcBef>
                <a:spcPts val="0"/>
              </a:spcBef>
              <a:spcAft>
                <a:spcPts val="0"/>
              </a:spcAft>
            </a:pPr>
            <a:r>
              <a:rPr sz="1200" b="1" i="0">
                <a:solidFill>
                  <a:srgbClr val="111827"/>
                </a:solidFill>
                <a:latin typeface="Times New Roman"/>
              </a:rPr>
              <a:t>1 : N</a:t>
            </a:r>
          </a:p>
        </p:txBody>
      </p:sp>
      <p:cxnSp>
        <p:nvCxnSpPr>
          <p:cNvPr id="65" name="Connector 64"/>
          <p:cNvCxnSpPr/>
          <p:nvPr/>
        </p:nvCxnSpPr>
        <p:spPr>
          <a:xfrm>
            <a:off x="3131820" y="2788920"/>
            <a:ext cx="0" cy="169164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1820" y="4480560"/>
            <a:ext cx="2308860"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3223260" y="3566160"/>
            <a:ext cx="731520" cy="237744"/>
          </a:xfrm>
          <a:prstGeom prst="rect">
            <a:avLst/>
          </a:prstGeom>
          <a:noFill/>
        </p:spPr>
        <p:txBody>
          <a:bodyPr wrap="square" lIns="0" rIns="0" tIns="0" bIns="0" anchor="t">
            <a:noAutofit/>
          </a:bodyPr>
          <a:lstStyle/>
          <a:p>
            <a:pPr algn="l">
              <a:spcBef>
                <a:spcPts val="0"/>
              </a:spcBef>
              <a:spcAft>
                <a:spcPts val="0"/>
              </a:spcAft>
            </a:pPr>
            <a:r>
              <a:rPr sz="1200" b="1" i="0">
                <a:solidFill>
                  <a:srgbClr val="111827"/>
                </a:solidFill>
                <a:latin typeface="Times New Roman"/>
              </a:rPr>
              <a:t>1 : N</a:t>
            </a:r>
          </a:p>
        </p:txBody>
      </p:sp>
      <p:sp>
        <p:nvSpPr>
          <p:cNvPr id="68" name="Rounded Rectangle 67"/>
          <p:cNvSpPr/>
          <p:nvPr/>
        </p:nvSpPr>
        <p:spPr>
          <a:xfrm>
            <a:off x="1783080" y="4892040"/>
            <a:ext cx="3108960" cy="1371600"/>
          </a:xfrm>
          <a:prstGeom prst="roundRect">
            <a:avLst>
              <a:gd name="adj" fmla="val 8000"/>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0"/>
              </a:spcAft>
            </a:pPr>
            <a:r>
              <a:rPr sz="1400" b="1" i="0">
                <a:solidFill>
                  <a:srgbClr val="111827"/>
                </a:solidFill>
                <a:latin typeface="Times New Roman"/>
              </a:rPr>
              <a:t>Time series (InfluxDB)</a:t>
            </a:r>
          </a:p>
          <a:p>
            <a:pPr algn="l">
              <a:spcBef>
                <a:spcPts val="0"/>
              </a:spcBef>
              <a:spcAft>
                <a:spcPts val="0"/>
              </a:spcAft>
            </a:pPr>
            <a:r>
              <a:rPr sz="1300" b="0" i="0">
                <a:solidFill>
                  <a:srgbClr val="111827"/>
                </a:solidFill>
                <a:latin typeface="Times New Roman"/>
              </a:rPr>
              <a:t>telemetry_raw – 30 days</a:t>
            </a:r>
          </a:p>
          <a:p>
            <a:pPr algn="l">
              <a:spcBef>
                <a:spcPts val="0"/>
              </a:spcBef>
              <a:spcAft>
                <a:spcPts val="0"/>
              </a:spcAft>
            </a:pPr>
            <a:r>
              <a:rPr sz="1300" b="0" i="0">
                <a:solidFill>
                  <a:srgbClr val="111827"/>
                </a:solidFill>
                <a:latin typeface="Times New Roman"/>
              </a:rPr>
              <a:t>telemetry_agg – 1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UML – State Diagram: Alert Lifecycle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Oval 3"/>
          <p:cNvSpPr/>
          <p:nvPr/>
        </p:nvSpPr>
        <p:spPr>
          <a:xfrm>
            <a:off x="1764792" y="1993392"/>
            <a:ext cx="310896" cy="310896"/>
          </a:xfrm>
          <a:prstGeom prst="ellipse">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423160" y="1645920"/>
            <a:ext cx="1828800" cy="1005840"/>
          </a:xfrm>
          <a:prstGeom prst="roundRect">
            <a:avLst>
              <a:gd name="adj" fmla="val 10909"/>
            </a:avLst>
          </a:prstGeom>
          <a:solidFill>
            <a:srgbClr val="FEE2E2"/>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Open</a:t>
            </a:r>
          </a:p>
          <a:p>
            <a:pPr algn="ctr">
              <a:spcBef>
                <a:spcPts val="0"/>
              </a:spcBef>
              <a:spcAft>
                <a:spcPts val="0"/>
              </a:spcAft>
            </a:pPr>
            <a:r>
              <a:rPr sz="1300" b="0" i="0">
                <a:solidFill>
                  <a:srgbClr val="111827"/>
                </a:solidFill>
                <a:latin typeface="Times New Roman"/>
              </a:rPr>
              <a:t>status = open</a:t>
            </a:r>
          </a:p>
        </p:txBody>
      </p:sp>
      <p:sp>
        <p:nvSpPr>
          <p:cNvPr id="6" name="Rounded Rectangle 5"/>
          <p:cNvSpPr/>
          <p:nvPr/>
        </p:nvSpPr>
        <p:spPr>
          <a:xfrm>
            <a:off x="5623560" y="1645920"/>
            <a:ext cx="2194560" cy="1005840"/>
          </a:xfrm>
          <a:prstGeom prst="roundRect">
            <a:avLst>
              <a:gd name="adj" fmla="val 10909"/>
            </a:avLst>
          </a:prstGeom>
          <a:solidFill>
            <a:srgbClr val="FFEDD5"/>
          </a:solidFill>
          <a:ln w="254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Acknowledged</a:t>
            </a:r>
          </a:p>
          <a:p>
            <a:pPr algn="ctr">
              <a:spcBef>
                <a:spcPts val="0"/>
              </a:spcBef>
              <a:spcAft>
                <a:spcPts val="0"/>
              </a:spcAft>
            </a:pPr>
            <a:r>
              <a:rPr sz="1300" b="0" i="0">
                <a:solidFill>
                  <a:srgbClr val="111827"/>
                </a:solidFill>
                <a:latin typeface="Times New Roman"/>
              </a:rPr>
              <a:t>status = acknowledged</a:t>
            </a:r>
          </a:p>
        </p:txBody>
      </p:sp>
      <p:sp>
        <p:nvSpPr>
          <p:cNvPr id="7" name="Rounded Rectangle 6"/>
          <p:cNvSpPr/>
          <p:nvPr/>
        </p:nvSpPr>
        <p:spPr>
          <a:xfrm>
            <a:off x="9189719" y="1645920"/>
            <a:ext cx="1920240" cy="1005840"/>
          </a:xfrm>
          <a:prstGeom prst="roundRect">
            <a:avLst>
              <a:gd name="adj" fmla="val 10909"/>
            </a:avLst>
          </a:prstGeom>
          <a:solidFill>
            <a:srgbClr val="DCFCE7"/>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Resolved</a:t>
            </a:r>
          </a:p>
          <a:p>
            <a:pPr algn="ctr">
              <a:spcBef>
                <a:spcPts val="0"/>
              </a:spcBef>
              <a:spcAft>
                <a:spcPts val="0"/>
              </a:spcAft>
            </a:pPr>
            <a:r>
              <a:rPr sz="1300" b="0" i="0">
                <a:solidFill>
                  <a:srgbClr val="111827"/>
                </a:solidFill>
                <a:latin typeface="Times New Roman"/>
              </a:rPr>
              <a:t>status = resolved</a:t>
            </a:r>
          </a:p>
        </p:txBody>
      </p:sp>
      <p:cxnSp>
        <p:nvCxnSpPr>
          <p:cNvPr id="8" name="Connector 7"/>
          <p:cNvCxnSpPr/>
          <p:nvPr/>
        </p:nvCxnSpPr>
        <p:spPr>
          <a:xfrm>
            <a:off x="2093976" y="2148840"/>
            <a:ext cx="329184"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251960" y="2148840"/>
            <a:ext cx="137160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51960" y="1463040"/>
            <a:ext cx="1371600" cy="640080"/>
          </a:xfrm>
          <a:prstGeom prst="rect">
            <a:avLst/>
          </a:prstGeom>
          <a:noFill/>
        </p:spPr>
        <p:txBody>
          <a:bodyPr wrap="square" lIns="0" rIns="0" tIns="0" bIns="0" anchor="b">
            <a:noAutofit/>
          </a:bodyPr>
          <a:lstStyle/>
          <a:p>
            <a:pPr algn="ctr">
              <a:spcBef>
                <a:spcPts val="0"/>
              </a:spcBef>
              <a:spcAft>
                <a:spcPts val="0"/>
              </a:spcAft>
            </a:pPr>
            <a:r>
              <a:rPr sz="1200" b="0" i="0">
                <a:solidFill>
                  <a:srgbClr val="111827"/>
                </a:solidFill>
                <a:latin typeface="Times New Roman"/>
              </a:rPr>
              <a:t>acknowledge</a:t>
            </a:r>
          </a:p>
          <a:p>
            <a:pPr algn="ctr">
              <a:spcBef>
                <a:spcPts val="0"/>
              </a:spcBef>
              <a:spcAft>
                <a:spcPts val="0"/>
              </a:spcAft>
            </a:pPr>
            <a:r>
              <a:rPr sz="1200" b="0" i="0">
                <a:solidFill>
                  <a:srgbClr val="111827"/>
                </a:solidFill>
                <a:latin typeface="Times New Roman"/>
              </a:rPr>
              <a:t>or assign technician</a:t>
            </a:r>
          </a:p>
        </p:txBody>
      </p:sp>
      <p:cxnSp>
        <p:nvCxnSpPr>
          <p:cNvPr id="11" name="Connector 10"/>
          <p:cNvCxnSpPr/>
          <p:nvPr/>
        </p:nvCxnSpPr>
        <p:spPr>
          <a:xfrm>
            <a:off x="7818119" y="2148840"/>
            <a:ext cx="1371600"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19" y="1463040"/>
            <a:ext cx="1371600" cy="640080"/>
          </a:xfrm>
          <a:prstGeom prst="rect">
            <a:avLst/>
          </a:prstGeom>
          <a:noFill/>
        </p:spPr>
        <p:txBody>
          <a:bodyPr wrap="square" lIns="0" rIns="0" tIns="0" bIns="0" anchor="b">
            <a:noAutofit/>
          </a:bodyPr>
          <a:lstStyle/>
          <a:p>
            <a:pPr algn="ctr">
              <a:spcBef>
                <a:spcPts val="0"/>
              </a:spcBef>
              <a:spcAft>
                <a:spcPts val="0"/>
              </a:spcAft>
            </a:pPr>
            <a:r>
              <a:rPr sz="1200" b="0" i="0">
                <a:solidFill>
                  <a:srgbClr val="111827"/>
                </a:solidFill>
                <a:latin typeface="Times New Roman"/>
              </a:rPr>
              <a:t>resolve</a:t>
            </a:r>
          </a:p>
          <a:p>
            <a:pPr algn="ctr">
              <a:spcBef>
                <a:spcPts val="0"/>
              </a:spcBef>
              <a:spcAft>
                <a:spcPts val="0"/>
              </a:spcAft>
            </a:pPr>
            <a:r>
              <a:rPr sz="1200" b="0" i="0">
                <a:solidFill>
                  <a:srgbClr val="111827"/>
                </a:solidFill>
                <a:latin typeface="Times New Roman"/>
              </a:rPr>
              <a:t>+ notes</a:t>
            </a:r>
          </a:p>
        </p:txBody>
      </p:sp>
      <p:sp>
        <p:nvSpPr>
          <p:cNvPr id="13" name="Rounded Rectangle 12"/>
          <p:cNvSpPr/>
          <p:nvPr/>
        </p:nvSpPr>
        <p:spPr>
          <a:xfrm>
            <a:off x="2423160" y="3749039"/>
            <a:ext cx="1828800" cy="1005840"/>
          </a:xfrm>
          <a:prstGeom prst="roundRect">
            <a:avLst>
              <a:gd name="adj" fmla="val 10909"/>
            </a:avLst>
          </a:prstGeom>
          <a:solidFill>
            <a:srgbClr val="F1F5F9"/>
          </a:solidFill>
          <a:ln w="254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Cleared</a:t>
            </a:r>
          </a:p>
          <a:p>
            <a:pPr algn="ctr">
              <a:spcBef>
                <a:spcPts val="0"/>
              </a:spcBef>
              <a:spcAft>
                <a:spcPts val="0"/>
              </a:spcAft>
            </a:pPr>
            <a:r>
              <a:rPr sz="1300" b="0" i="0">
                <a:solidFill>
                  <a:srgbClr val="111827"/>
                </a:solidFill>
                <a:latin typeface="Times New Roman"/>
              </a:rPr>
              <a:t>status = cleared</a:t>
            </a:r>
          </a:p>
        </p:txBody>
      </p:sp>
      <p:cxnSp>
        <p:nvCxnSpPr>
          <p:cNvPr id="14" name="Connector 13"/>
          <p:cNvCxnSpPr/>
          <p:nvPr/>
        </p:nvCxnSpPr>
        <p:spPr>
          <a:xfrm>
            <a:off x="3337560" y="2651760"/>
            <a:ext cx="0" cy="1097279"/>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74720" y="2971800"/>
            <a:ext cx="2103120" cy="548640"/>
          </a:xfrm>
          <a:prstGeom prst="rect">
            <a:avLst/>
          </a:prstGeom>
          <a:noFill/>
        </p:spPr>
        <p:txBody>
          <a:bodyPr wrap="square" lIns="0" rIns="0" tIns="0" bIns="0" anchor="ctr">
            <a:noAutofit/>
          </a:bodyPr>
          <a:lstStyle/>
          <a:p>
            <a:pPr algn="l">
              <a:spcBef>
                <a:spcPts val="0"/>
              </a:spcBef>
              <a:spcAft>
                <a:spcPts val="0"/>
              </a:spcAft>
            </a:pPr>
            <a:r>
              <a:rPr sz="1200" b="0" i="0">
                <a:solidFill>
                  <a:srgbClr val="111827"/>
                </a:solidFill>
                <a:latin typeface="Times New Roman"/>
              </a:rPr>
              <a:t>condition ends</a:t>
            </a:r>
          </a:p>
          <a:p>
            <a:pPr algn="l">
              <a:spcBef>
                <a:spcPts val="0"/>
              </a:spcBef>
              <a:spcAft>
                <a:spcPts val="0"/>
              </a:spcAft>
            </a:pPr>
            <a:r>
              <a:rPr sz="1200" b="0" i="0">
                <a:solidFill>
                  <a:srgbClr val="111827"/>
                </a:solidFill>
                <a:latin typeface="Times New Roman"/>
              </a:rPr>
              <a:t>on its own (3 – 4 s)</a:t>
            </a:r>
          </a:p>
        </p:txBody>
      </p:sp>
      <p:cxnSp>
        <p:nvCxnSpPr>
          <p:cNvPr id="16" name="Connector 15"/>
          <p:cNvCxnSpPr/>
          <p:nvPr/>
        </p:nvCxnSpPr>
        <p:spPr>
          <a:xfrm>
            <a:off x="4251960" y="2468880"/>
            <a:ext cx="685800" cy="0"/>
          </a:xfrm>
          <a:prstGeom prst="line">
            <a:avLst/>
          </a:prstGeom>
          <a:ln w="19050">
            <a:solidFill>
              <a:srgbClr val="64748B"/>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937760" y="2468880"/>
            <a:ext cx="0" cy="731520"/>
          </a:xfrm>
          <a:prstGeom prst="line">
            <a:avLst/>
          </a:prstGeom>
          <a:ln w="19050">
            <a:solidFill>
              <a:srgbClr val="64748B"/>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37760" y="3200400"/>
            <a:ext cx="5212080" cy="0"/>
          </a:xfrm>
          <a:prstGeom prst="line">
            <a:avLst/>
          </a:prstGeom>
          <a:ln w="19050">
            <a:solidFill>
              <a:srgbClr val="64748B"/>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149840" y="2651760"/>
            <a:ext cx="0" cy="548640"/>
          </a:xfrm>
          <a:prstGeom prst="line">
            <a:avLst/>
          </a:prstGeom>
          <a:ln w="19050">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23560" y="3081528"/>
            <a:ext cx="3840480" cy="237744"/>
          </a:xfrm>
          <a:prstGeom prst="roundRect">
            <a:avLst>
              <a:gd name="adj" fmla="val 15384"/>
            </a:avLst>
          </a:prstGeom>
          <a:solidFill>
            <a:srgbClr val="FFFFFF"/>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0" i="0">
                <a:solidFill>
                  <a:srgbClr val="475569"/>
                </a:solidFill>
                <a:latin typeface="Times New Roman"/>
              </a:rPr>
              <a:t>Open → Resolved is also possible: resolve directly</a:t>
            </a:r>
          </a:p>
        </p:txBody>
      </p:sp>
      <p:sp>
        <p:nvSpPr>
          <p:cNvPr id="21" name="Rounded Rectangle 20"/>
          <p:cNvSpPr/>
          <p:nvPr/>
        </p:nvSpPr>
        <p:spPr>
          <a:xfrm>
            <a:off x="4892040" y="3749039"/>
            <a:ext cx="6903719" cy="2011680"/>
          </a:xfrm>
          <a:prstGeom prst="roundRect">
            <a:avLst>
              <a:gd name="adj" fmla="val 6363"/>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2" name="TextBox 21"/>
          <p:cNvSpPr txBox="1"/>
          <p:nvPr/>
        </p:nvSpPr>
        <p:spPr>
          <a:xfrm>
            <a:off x="5056631" y="3877055"/>
            <a:ext cx="6574535" cy="1792224"/>
          </a:xfrm>
          <a:prstGeom prst="rect">
            <a:avLst/>
          </a:prstGeom>
          <a:noFill/>
        </p:spPr>
        <p:txBody>
          <a:bodyPr wrap="square" lIns="0" rIns="0" tIns="0" bIns="0" anchor="t">
            <a:noAutofit/>
          </a:bodyPr>
          <a:lstStyle/>
          <a:p>
            <a:pPr algn="l">
              <a:spcBef>
                <a:spcPts val="0"/>
              </a:spcBef>
              <a:spcAft>
                <a:spcPts val="600"/>
              </a:spcAft>
            </a:pPr>
            <a:r>
              <a:rPr sz="1900" b="1" i="0">
                <a:solidFill>
                  <a:srgbClr val="111827"/>
                </a:solidFill>
                <a:latin typeface="Times New Roman"/>
              </a:rPr>
              <a:t>At any state</a:t>
            </a:r>
          </a:p>
          <a:p>
            <a:pPr algn="l" marL="201168" indent="-201168">
              <a:spcBef>
                <a:spcPts val="0"/>
              </a:spcBef>
              <a:spcAft>
                <a:spcPts val="800"/>
              </a:spcAft>
              <a:buFont typeface="Arial"/>
              <a:buChar char="•"/>
            </a:pPr>
            <a:r>
              <a:rPr sz="1600" b="0" i="0">
                <a:solidFill>
                  <a:srgbClr val="111827"/>
                </a:solidFill>
                <a:latin typeface="Times New Roman"/>
              </a:rPr>
              <a:t>Operator can add </a:t>
            </a:r>
            <a:r>
              <a:rPr sz="1600" b="1" i="0">
                <a:solidFill>
                  <a:srgbClr val="111827"/>
                </a:solidFill>
                <a:latin typeface="Times New Roman"/>
              </a:rPr>
              <a:t>ML feedback</a:t>
            </a:r>
            <a:r>
              <a:rPr sz="1600" b="0" i="0">
                <a:solidFill>
                  <a:srgbClr val="111827"/>
                </a:solidFill>
                <a:latin typeface="Times New Roman"/>
              </a:rPr>
              <a:t> (true / false positive)</a:t>
            </a:r>
          </a:p>
          <a:p>
            <a:pPr algn="l" marL="201168" indent="-201168">
              <a:spcBef>
                <a:spcPts val="0"/>
              </a:spcBef>
              <a:spcAft>
                <a:spcPts val="800"/>
              </a:spcAft>
              <a:buFont typeface="Arial"/>
              <a:buChar char="•"/>
            </a:pPr>
            <a:r>
              <a:rPr sz="1600" b="0" i="0">
                <a:solidFill>
                  <a:srgbClr val="111827"/>
                </a:solidFill>
                <a:latin typeface="Times New Roman"/>
              </a:rPr>
              <a:t>A </a:t>
            </a:r>
            <a:r>
              <a:rPr sz="1600" b="1" i="0">
                <a:solidFill>
                  <a:srgbClr val="111827"/>
                </a:solidFill>
                <a:latin typeface="Times New Roman"/>
              </a:rPr>
              <a:t>maintenance record</a:t>
            </a:r>
            <a:r>
              <a:rPr sz="1600" b="0" i="0">
                <a:solidFill>
                  <a:srgbClr val="111827"/>
                </a:solidFill>
                <a:latin typeface="Times New Roman"/>
              </a:rPr>
              <a:t> can be linked to the alert</a:t>
            </a:r>
          </a:p>
          <a:p>
            <a:pPr algn="l" marL="201168" indent="-201168">
              <a:spcBef>
                <a:spcPts val="0"/>
              </a:spcBef>
              <a:spcAft>
                <a:spcPts val="800"/>
              </a:spcAft>
              <a:buFont typeface="Arial"/>
              <a:buChar char="•"/>
            </a:pPr>
            <a:r>
              <a:rPr sz="1600" b="0" i="0">
                <a:solidFill>
                  <a:srgbClr val="111827"/>
                </a:solidFill>
                <a:latin typeface="Times New Roman"/>
              </a:rPr>
              <a:t>Every action is time-stamped with the user and stored in PostgreSQL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Flexible Run Modes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194560" cy="2286000"/>
          </a:xfrm>
          <a:prstGeom prst="roundRect">
            <a:avLst>
              <a:gd name="adj" fmla="val 50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600"/>
              </a:spcAft>
            </a:pPr>
            <a:r>
              <a:rPr sz="1500" b="1" i="0">
                <a:solidFill>
                  <a:srgbClr val="111827"/>
                </a:solidFill>
                <a:latin typeface="Times New Roman"/>
              </a:rPr>
              <a:t>INGEST_MODE</a:t>
            </a:r>
          </a:p>
          <a:p>
            <a:pPr algn="l">
              <a:spcBef>
                <a:spcPts val="0"/>
              </a:spcBef>
              <a:spcAft>
                <a:spcPts val="0"/>
              </a:spcAft>
            </a:pPr>
            <a:r>
              <a:rPr sz="1400" b="0" i="0">
                <a:solidFill>
                  <a:srgbClr val="111827"/>
                </a:solidFill>
                <a:latin typeface="Times New Roman"/>
              </a:rPr>
              <a:t>How readings reach the backend</a:t>
            </a:r>
          </a:p>
        </p:txBody>
      </p:sp>
      <p:sp>
        <p:nvSpPr>
          <p:cNvPr id="5" name="Rounded Rectangle 4"/>
          <p:cNvSpPr/>
          <p:nvPr/>
        </p:nvSpPr>
        <p:spPr>
          <a:xfrm>
            <a:off x="4160520" y="1097280"/>
            <a:ext cx="3749039" cy="2286000"/>
          </a:xfrm>
          <a:prstGeom prst="roundRect">
            <a:avLst>
              <a:gd name="adj" fmla="val 48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6" name="TextBox 5"/>
          <p:cNvSpPr txBox="1"/>
          <p:nvPr/>
        </p:nvSpPr>
        <p:spPr>
          <a:xfrm>
            <a:off x="4343400" y="1207007"/>
            <a:ext cx="3383279"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direct</a:t>
            </a:r>
          </a:p>
        </p:txBody>
      </p:sp>
      <p:sp>
        <p:nvSpPr>
          <p:cNvPr id="7" name="TextBox 6"/>
          <p:cNvSpPr txBox="1"/>
          <p:nvPr/>
        </p:nvSpPr>
        <p:spPr>
          <a:xfrm>
            <a:off x="4343400" y="1600200"/>
            <a:ext cx="3383279" cy="7315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Simulator runs inside the backend – zero infrastructure (quick start, no Docker).</a:t>
            </a:r>
          </a:p>
        </p:txBody>
      </p:sp>
      <p:sp>
        <p:nvSpPr>
          <p:cNvPr id="8" name="Rounded Rectangle 7"/>
          <p:cNvSpPr/>
          <p:nvPr/>
        </p:nvSpPr>
        <p:spPr>
          <a:xfrm>
            <a:off x="4709159" y="2560320"/>
            <a:ext cx="1188720" cy="594360"/>
          </a:xfrm>
          <a:prstGeom prst="roundRect">
            <a:avLst>
              <a:gd name="adj" fmla="val 1846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Simulator</a:t>
            </a:r>
          </a:p>
        </p:txBody>
      </p:sp>
      <p:cxnSp>
        <p:nvCxnSpPr>
          <p:cNvPr id="9" name="Connector 8"/>
          <p:cNvCxnSpPr/>
          <p:nvPr/>
        </p:nvCxnSpPr>
        <p:spPr>
          <a:xfrm>
            <a:off x="5916167" y="2857500"/>
            <a:ext cx="237745"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2560320"/>
            <a:ext cx="1188720" cy="594360"/>
          </a:xfrm>
          <a:prstGeom prst="roundRect">
            <a:avLst>
              <a:gd name="adj" fmla="val 1846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Backend</a:t>
            </a:r>
          </a:p>
        </p:txBody>
      </p:sp>
      <p:sp>
        <p:nvSpPr>
          <p:cNvPr id="11" name="Rounded Rectangle 10"/>
          <p:cNvSpPr/>
          <p:nvPr/>
        </p:nvSpPr>
        <p:spPr>
          <a:xfrm>
            <a:off x="8046719" y="1097280"/>
            <a:ext cx="3749039" cy="2286000"/>
          </a:xfrm>
          <a:prstGeom prst="roundRect">
            <a:avLst>
              <a:gd name="adj" fmla="val 48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2" name="TextBox 11"/>
          <p:cNvSpPr txBox="1"/>
          <p:nvPr/>
        </p:nvSpPr>
        <p:spPr>
          <a:xfrm>
            <a:off x="8229599" y="1207007"/>
            <a:ext cx="3383279"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mqtt</a:t>
            </a:r>
          </a:p>
        </p:txBody>
      </p:sp>
      <p:sp>
        <p:nvSpPr>
          <p:cNvPr id="13" name="TextBox 12"/>
          <p:cNvSpPr txBox="1"/>
          <p:nvPr/>
        </p:nvSpPr>
        <p:spPr>
          <a:xfrm>
            <a:off x="8229599" y="1600200"/>
            <a:ext cx="3383279" cy="7315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Simulator publishes to Mosquitto over MQTT / WebSockets; backend subscribes (full SRS path).</a:t>
            </a:r>
          </a:p>
        </p:txBody>
      </p:sp>
      <p:sp>
        <p:nvSpPr>
          <p:cNvPr id="14" name="Rounded Rectangle 13"/>
          <p:cNvSpPr/>
          <p:nvPr/>
        </p:nvSpPr>
        <p:spPr>
          <a:xfrm>
            <a:off x="8206739" y="2560320"/>
            <a:ext cx="960120" cy="594360"/>
          </a:xfrm>
          <a:prstGeom prst="roundRect">
            <a:avLst>
              <a:gd name="adj" fmla="val 1846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Simulator</a:t>
            </a:r>
          </a:p>
        </p:txBody>
      </p:sp>
      <p:cxnSp>
        <p:nvCxnSpPr>
          <p:cNvPr id="15" name="Connector 14"/>
          <p:cNvCxnSpPr/>
          <p:nvPr/>
        </p:nvCxnSpPr>
        <p:spPr>
          <a:xfrm>
            <a:off x="9185147" y="2857500"/>
            <a:ext cx="237744"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441179" y="2560320"/>
            <a:ext cx="960120" cy="594360"/>
          </a:xfrm>
          <a:prstGeom prst="roundRect">
            <a:avLst>
              <a:gd name="adj" fmla="val 1846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Mosquitto</a:t>
            </a:r>
          </a:p>
        </p:txBody>
      </p:sp>
      <p:cxnSp>
        <p:nvCxnSpPr>
          <p:cNvPr id="17" name="Connector 16"/>
          <p:cNvCxnSpPr/>
          <p:nvPr/>
        </p:nvCxnSpPr>
        <p:spPr>
          <a:xfrm>
            <a:off x="10419587" y="2857500"/>
            <a:ext cx="237744"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675619" y="2560320"/>
            <a:ext cx="960120" cy="594360"/>
          </a:xfrm>
          <a:prstGeom prst="roundRect">
            <a:avLst>
              <a:gd name="adj" fmla="val 1846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Backend</a:t>
            </a:r>
          </a:p>
        </p:txBody>
      </p:sp>
      <p:sp>
        <p:nvSpPr>
          <p:cNvPr id="19" name="Rounded Rectangle 18"/>
          <p:cNvSpPr/>
          <p:nvPr/>
        </p:nvSpPr>
        <p:spPr>
          <a:xfrm>
            <a:off x="1783080" y="3611880"/>
            <a:ext cx="2194560" cy="2286000"/>
          </a:xfrm>
          <a:prstGeom prst="roundRect">
            <a:avLst>
              <a:gd name="adj" fmla="val 50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noAutofit/>
          </a:bodyPr>
          <a:lstStyle/>
          <a:p>
            <a:pPr algn="l">
              <a:spcBef>
                <a:spcPts val="0"/>
              </a:spcBef>
              <a:spcAft>
                <a:spcPts val="600"/>
              </a:spcAft>
            </a:pPr>
            <a:r>
              <a:rPr sz="1500" b="1" i="0">
                <a:solidFill>
                  <a:srgbClr val="111827"/>
                </a:solidFill>
                <a:latin typeface="Times New Roman"/>
              </a:rPr>
              <a:t>STORAGE_MODE</a:t>
            </a:r>
          </a:p>
          <a:p>
            <a:pPr algn="l">
              <a:spcBef>
                <a:spcPts val="0"/>
              </a:spcBef>
              <a:spcAft>
                <a:spcPts val="0"/>
              </a:spcAft>
            </a:pPr>
            <a:r>
              <a:rPr sz="1400" b="0" i="0">
                <a:solidFill>
                  <a:srgbClr val="111827"/>
                </a:solidFill>
                <a:latin typeface="Times New Roman"/>
              </a:rPr>
              <a:t>Where data is kept</a:t>
            </a:r>
          </a:p>
        </p:txBody>
      </p:sp>
      <p:sp>
        <p:nvSpPr>
          <p:cNvPr id="20" name="Rounded Rectangle 19"/>
          <p:cNvSpPr/>
          <p:nvPr/>
        </p:nvSpPr>
        <p:spPr>
          <a:xfrm>
            <a:off x="4160520" y="3611880"/>
            <a:ext cx="3749039" cy="2286000"/>
          </a:xfrm>
          <a:prstGeom prst="roundRect">
            <a:avLst>
              <a:gd name="adj" fmla="val 48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1" name="TextBox 20"/>
          <p:cNvSpPr txBox="1"/>
          <p:nvPr/>
        </p:nvSpPr>
        <p:spPr>
          <a:xfrm>
            <a:off x="4343400" y="3721608"/>
            <a:ext cx="3383279"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memory  (default)</a:t>
            </a:r>
          </a:p>
        </p:txBody>
      </p:sp>
      <p:sp>
        <p:nvSpPr>
          <p:cNvPr id="22" name="TextBox 21"/>
          <p:cNvSpPr txBox="1"/>
          <p:nvPr/>
        </p:nvSpPr>
        <p:spPr>
          <a:xfrm>
            <a:off x="4343400" y="4114800"/>
            <a:ext cx="3383279" cy="7315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Rolling windows and history held in memory; resets on restart. No database needed.</a:t>
            </a:r>
          </a:p>
        </p:txBody>
      </p:sp>
      <p:sp>
        <p:nvSpPr>
          <p:cNvPr id="23" name="Rounded Rectangle 22"/>
          <p:cNvSpPr/>
          <p:nvPr/>
        </p:nvSpPr>
        <p:spPr>
          <a:xfrm>
            <a:off x="4709159" y="5074920"/>
            <a:ext cx="1188720" cy="594360"/>
          </a:xfrm>
          <a:prstGeom prst="roundRect">
            <a:avLst>
              <a:gd name="adj" fmla="val 1846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Backend</a:t>
            </a:r>
          </a:p>
        </p:txBody>
      </p:sp>
      <p:cxnSp>
        <p:nvCxnSpPr>
          <p:cNvPr id="24" name="Connector 23"/>
          <p:cNvCxnSpPr/>
          <p:nvPr/>
        </p:nvCxnSpPr>
        <p:spPr>
          <a:xfrm>
            <a:off x="5916167" y="5372100"/>
            <a:ext cx="237745"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72200" y="5074920"/>
            <a:ext cx="1188720" cy="594360"/>
          </a:xfrm>
          <a:prstGeom prst="roundRect">
            <a:avLst>
              <a:gd name="adj" fmla="val 1846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Memory</a:t>
            </a:r>
          </a:p>
        </p:txBody>
      </p:sp>
      <p:sp>
        <p:nvSpPr>
          <p:cNvPr id="26" name="Rounded Rectangle 25"/>
          <p:cNvSpPr/>
          <p:nvPr/>
        </p:nvSpPr>
        <p:spPr>
          <a:xfrm>
            <a:off x="8046719" y="3611880"/>
            <a:ext cx="3749039" cy="2286000"/>
          </a:xfrm>
          <a:prstGeom prst="roundRect">
            <a:avLst>
              <a:gd name="adj" fmla="val 48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7" name="TextBox 26"/>
          <p:cNvSpPr txBox="1"/>
          <p:nvPr/>
        </p:nvSpPr>
        <p:spPr>
          <a:xfrm>
            <a:off x="8229599" y="3721608"/>
            <a:ext cx="3383279" cy="32004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db</a:t>
            </a:r>
          </a:p>
        </p:txBody>
      </p:sp>
      <p:sp>
        <p:nvSpPr>
          <p:cNvPr id="28" name="TextBox 27"/>
          <p:cNvSpPr txBox="1"/>
          <p:nvPr/>
        </p:nvSpPr>
        <p:spPr>
          <a:xfrm>
            <a:off x="8229599" y="4114800"/>
            <a:ext cx="3383279" cy="731520"/>
          </a:xfrm>
          <a:prstGeom prst="rect">
            <a:avLst/>
          </a:prstGeom>
          <a:noFill/>
        </p:spPr>
        <p:txBody>
          <a:bodyPr wrap="square" lIns="0" rIns="0" tIns="0" bIns="0" anchor="t">
            <a:noAutofit/>
          </a:bodyPr>
          <a:lstStyle/>
          <a:p>
            <a:pPr algn="l">
              <a:spcBef>
                <a:spcPts val="0"/>
              </a:spcBef>
              <a:spcAft>
                <a:spcPts val="0"/>
              </a:spcAft>
            </a:pPr>
            <a:r>
              <a:rPr sz="1300" b="0" i="0">
                <a:solidFill>
                  <a:srgbClr val="111827"/>
                </a:solidFill>
                <a:latin typeface="Times New Roman"/>
              </a:rPr>
              <a:t>InfluxDB for telemetry, PostgreSQL for alerts, maintenance and feedback – survives restarts.</a:t>
            </a:r>
          </a:p>
        </p:txBody>
      </p:sp>
      <p:sp>
        <p:nvSpPr>
          <p:cNvPr id="29" name="Rounded Rectangle 28"/>
          <p:cNvSpPr/>
          <p:nvPr/>
        </p:nvSpPr>
        <p:spPr>
          <a:xfrm>
            <a:off x="8206739" y="5074920"/>
            <a:ext cx="960120" cy="594360"/>
          </a:xfrm>
          <a:prstGeom prst="roundRect">
            <a:avLst>
              <a:gd name="adj" fmla="val 18461"/>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Backend</a:t>
            </a:r>
          </a:p>
        </p:txBody>
      </p:sp>
      <p:cxnSp>
        <p:nvCxnSpPr>
          <p:cNvPr id="30" name="Connector 29"/>
          <p:cNvCxnSpPr/>
          <p:nvPr/>
        </p:nvCxnSpPr>
        <p:spPr>
          <a:xfrm>
            <a:off x="9185147" y="5372100"/>
            <a:ext cx="237744"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1179" y="5074920"/>
            <a:ext cx="960120" cy="594360"/>
          </a:xfrm>
          <a:prstGeom prst="roundRect">
            <a:avLst>
              <a:gd name="adj" fmla="val 18461"/>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InfluxDB</a:t>
            </a:r>
          </a:p>
        </p:txBody>
      </p:sp>
      <p:cxnSp>
        <p:nvCxnSpPr>
          <p:cNvPr id="32" name="Connector 31"/>
          <p:cNvCxnSpPr/>
          <p:nvPr/>
        </p:nvCxnSpPr>
        <p:spPr>
          <a:xfrm>
            <a:off x="10419587" y="5372100"/>
            <a:ext cx="237744" cy="0"/>
          </a:xfrm>
          <a:prstGeom prst="line">
            <a:avLst/>
          </a:prstGeom>
          <a:ln w="2222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675619" y="5074920"/>
            <a:ext cx="960120" cy="594360"/>
          </a:xfrm>
          <a:prstGeom prst="roundRect">
            <a:avLst>
              <a:gd name="adj" fmla="val 18461"/>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200" b="1" i="0">
                <a:solidFill>
                  <a:srgbClr val="111827"/>
                </a:solidFill>
                <a:latin typeface="Times New Roman"/>
              </a:rPr>
              <a:t>PostgreSQL</a:t>
            </a:r>
          </a:p>
        </p:txBody>
      </p:sp>
      <p:sp>
        <p:nvSpPr>
          <p:cNvPr id="34" name="TextBox 33"/>
          <p:cNvSpPr txBox="1"/>
          <p:nvPr/>
        </p:nvSpPr>
        <p:spPr>
          <a:xfrm>
            <a:off x="1783080" y="6126480"/>
            <a:ext cx="10012680" cy="274320"/>
          </a:xfrm>
          <a:prstGeom prst="rect">
            <a:avLst/>
          </a:prstGeom>
          <a:noFill/>
        </p:spPr>
        <p:txBody>
          <a:bodyPr wrap="square" lIns="0" rIns="0" tIns="0" bIns="0" anchor="t">
            <a:noAutofit/>
          </a:bodyPr>
          <a:lstStyle/>
          <a:p>
            <a:pPr algn="l">
              <a:spcBef>
                <a:spcPts val="0"/>
              </a:spcBef>
              <a:spcAft>
                <a:spcPts val="0"/>
              </a:spcAft>
            </a:pPr>
            <a:r>
              <a:rPr sz="1400" b="1" i="0">
                <a:solidFill>
                  <a:srgbClr val="375623"/>
                </a:solidFill>
                <a:latin typeface="Times New Roman"/>
              </a:rPr>
              <a:t>Same code, same dashboard – only two lines in .env change.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Deployment – Docker Compose &amp; Requirements (SRS §10–11)</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05840"/>
            <a:ext cx="6035040" cy="502920"/>
          </a:xfrm>
          <a:prstGeom prst="roundRect">
            <a:avLst>
              <a:gd name="adj" fmla="val 21818"/>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800" b="1" i="0">
                <a:solidFill>
                  <a:srgbClr val="111827"/>
                </a:solidFill>
                <a:latin typeface="Times New Roman"/>
              </a:rPr>
              <a:t>docker compose up --build</a:t>
            </a:r>
          </a:p>
        </p:txBody>
      </p:sp>
      <p:sp>
        <p:nvSpPr>
          <p:cNvPr id="5" name="Rounded Rectangle 4"/>
          <p:cNvSpPr/>
          <p:nvPr/>
        </p:nvSpPr>
        <p:spPr>
          <a:xfrm>
            <a:off x="1783080" y="1737360"/>
            <a:ext cx="1783080" cy="1005840"/>
          </a:xfrm>
          <a:prstGeom prst="roundRect">
            <a:avLst>
              <a:gd name="adj" fmla="val 1090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simulator</a:t>
            </a:r>
          </a:p>
          <a:p>
            <a:pPr algn="ctr">
              <a:spcBef>
                <a:spcPts val="0"/>
              </a:spcBef>
              <a:spcAft>
                <a:spcPts val="0"/>
              </a:spcAft>
            </a:pPr>
            <a:r>
              <a:rPr sz="1200" b="0" i="0">
                <a:solidFill>
                  <a:srgbClr val="111827"/>
                </a:solidFill>
                <a:latin typeface="Times New Roman"/>
              </a:rPr>
              <a:t>publishes telemetry</a:t>
            </a:r>
          </a:p>
        </p:txBody>
      </p:sp>
      <p:sp>
        <p:nvSpPr>
          <p:cNvPr id="6" name="Rounded Rectangle 5"/>
          <p:cNvSpPr/>
          <p:nvPr/>
        </p:nvSpPr>
        <p:spPr>
          <a:xfrm>
            <a:off x="3909060" y="1737360"/>
            <a:ext cx="1783080" cy="1005840"/>
          </a:xfrm>
          <a:prstGeom prst="roundRect">
            <a:avLst>
              <a:gd name="adj" fmla="val 1090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mosquitto</a:t>
            </a:r>
          </a:p>
          <a:p>
            <a:pPr algn="ctr">
              <a:spcBef>
                <a:spcPts val="0"/>
              </a:spcBef>
              <a:spcAft>
                <a:spcPts val="0"/>
              </a:spcAft>
            </a:pPr>
            <a:r>
              <a:rPr sz="1200" b="0" i="0">
                <a:solidFill>
                  <a:srgbClr val="111827"/>
                </a:solidFill>
                <a:latin typeface="Times New Roman"/>
              </a:rPr>
              <a:t>:1883 · :9001</a:t>
            </a:r>
          </a:p>
        </p:txBody>
      </p:sp>
      <p:sp>
        <p:nvSpPr>
          <p:cNvPr id="7" name="Rounded Rectangle 6"/>
          <p:cNvSpPr/>
          <p:nvPr/>
        </p:nvSpPr>
        <p:spPr>
          <a:xfrm>
            <a:off x="6035040" y="1737360"/>
            <a:ext cx="1783080" cy="1005840"/>
          </a:xfrm>
          <a:prstGeom prst="roundRect">
            <a:avLst>
              <a:gd name="adj" fmla="val 1090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backend</a:t>
            </a:r>
          </a:p>
          <a:p>
            <a:pPr algn="ctr">
              <a:spcBef>
                <a:spcPts val="0"/>
              </a:spcBef>
              <a:spcAft>
                <a:spcPts val="0"/>
              </a:spcAft>
            </a:pPr>
            <a:r>
              <a:rPr sz="1200" b="0" i="0">
                <a:solidFill>
                  <a:srgbClr val="111827"/>
                </a:solidFill>
                <a:latin typeface="Times New Roman"/>
              </a:rPr>
              <a:t>:8000 · /docs</a:t>
            </a:r>
          </a:p>
        </p:txBody>
      </p:sp>
      <p:cxnSp>
        <p:nvCxnSpPr>
          <p:cNvPr id="8" name="Connector 7"/>
          <p:cNvCxnSpPr/>
          <p:nvPr/>
        </p:nvCxnSpPr>
        <p:spPr>
          <a:xfrm>
            <a:off x="3575303" y="2240280"/>
            <a:ext cx="324613"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701284" y="2240280"/>
            <a:ext cx="324612" cy="0"/>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35040" y="3429000"/>
            <a:ext cx="1783080" cy="1005840"/>
          </a:xfrm>
          <a:prstGeom prst="roundRect">
            <a:avLst>
              <a:gd name="adj" fmla="val 10909"/>
            </a:avLst>
          </a:prstGeom>
          <a:solidFill>
            <a:srgbClr val="CFFAFE"/>
          </a:solidFill>
          <a:ln w="19050">
            <a:solidFill>
              <a:srgbClr val="0891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noAutofit/>
          </a:bodyPr>
          <a:lstStyle/>
          <a:p>
            <a:pPr algn="ctr">
              <a:spcBef>
                <a:spcPts val="0"/>
              </a:spcBef>
              <a:spcAft>
                <a:spcPts val="0"/>
              </a:spcAft>
            </a:pPr>
            <a:r>
              <a:rPr sz="1500" b="1" i="0">
                <a:solidFill>
                  <a:srgbClr val="111827"/>
                </a:solidFill>
                <a:latin typeface="Times New Roman"/>
              </a:rPr>
              <a:t>frontend</a:t>
            </a:r>
          </a:p>
          <a:p>
            <a:pPr algn="ctr">
              <a:spcBef>
                <a:spcPts val="0"/>
              </a:spcBef>
              <a:spcAft>
                <a:spcPts val="0"/>
              </a:spcAft>
            </a:pPr>
            <a:r>
              <a:rPr sz="1200" b="0" i="0">
                <a:solidFill>
                  <a:srgbClr val="111827"/>
                </a:solidFill>
                <a:latin typeface="Times New Roman"/>
              </a:rPr>
              <a:t>nginx · :5173</a:t>
            </a:r>
          </a:p>
        </p:txBody>
      </p:sp>
      <p:cxnSp>
        <p:nvCxnSpPr>
          <p:cNvPr id="11" name="Connector 10"/>
          <p:cNvCxnSpPr/>
          <p:nvPr/>
        </p:nvCxnSpPr>
        <p:spPr>
          <a:xfrm flipV="1">
            <a:off x="6949440" y="2752344"/>
            <a:ext cx="0" cy="667512"/>
          </a:xfrm>
          <a:prstGeom prst="line">
            <a:avLst/>
          </a:prstGeom>
          <a:ln w="25400">
            <a:solidFill>
              <a:srgbClr val="11182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83080" y="3429000"/>
            <a:ext cx="3977639" cy="1005840"/>
          </a:xfrm>
          <a:prstGeom prst="roundRect">
            <a:avLst>
              <a:gd name="adj" fmla="val 9090"/>
            </a:avLst>
          </a:prstGeom>
          <a:noFill/>
          <a:ln w="1905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1920240" y="3474720"/>
            <a:ext cx="3749039" cy="274320"/>
          </a:xfrm>
          <a:prstGeom prst="rect">
            <a:avLst/>
          </a:prstGeom>
          <a:noFill/>
        </p:spPr>
        <p:txBody>
          <a:bodyPr wrap="square" lIns="0" rIns="0" tIns="0" bIns="0" anchor="t">
            <a:noAutofit/>
          </a:bodyPr>
          <a:lstStyle/>
          <a:p>
            <a:pPr algn="l">
              <a:spcBef>
                <a:spcPts val="0"/>
              </a:spcBef>
              <a:spcAft>
                <a:spcPts val="0"/>
              </a:spcAft>
            </a:pPr>
            <a:r>
              <a:rPr sz="1200" b="0" i="1">
                <a:solidFill>
                  <a:srgbClr val="475569"/>
                </a:solidFill>
                <a:latin typeface="Times New Roman"/>
              </a:rPr>
              <a:t>optional profile  --profile db</a:t>
            </a:r>
          </a:p>
        </p:txBody>
      </p:sp>
      <p:sp>
        <p:nvSpPr>
          <p:cNvPr id="14" name="Rounded Rectangle 13"/>
          <p:cNvSpPr/>
          <p:nvPr/>
        </p:nvSpPr>
        <p:spPr>
          <a:xfrm>
            <a:off x="1920240" y="3794760"/>
            <a:ext cx="1783080" cy="548640"/>
          </a:xfrm>
          <a:prstGeom prst="roundRect">
            <a:avLst>
              <a:gd name="adj" fmla="val 200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300" b="1" i="0">
                <a:solidFill>
                  <a:srgbClr val="111827"/>
                </a:solidFill>
                <a:latin typeface="Times New Roman"/>
              </a:rPr>
              <a:t>PostgreSQL 14</a:t>
            </a:r>
          </a:p>
          <a:p>
            <a:pPr algn="ctr">
              <a:spcBef>
                <a:spcPts val="0"/>
              </a:spcBef>
              <a:spcAft>
                <a:spcPts val="0"/>
              </a:spcAft>
            </a:pPr>
            <a:r>
              <a:rPr sz="1100" b="0" i="0">
                <a:solidFill>
                  <a:srgbClr val="111827"/>
                </a:solidFill>
                <a:latin typeface="Times New Roman"/>
              </a:rPr>
              <a:t>:5432</a:t>
            </a:r>
          </a:p>
        </p:txBody>
      </p:sp>
      <p:sp>
        <p:nvSpPr>
          <p:cNvPr id="15" name="Rounded Rectangle 14"/>
          <p:cNvSpPr/>
          <p:nvPr/>
        </p:nvSpPr>
        <p:spPr>
          <a:xfrm>
            <a:off x="3840480" y="3794760"/>
            <a:ext cx="1783080" cy="548640"/>
          </a:xfrm>
          <a:prstGeom prst="roundRect">
            <a:avLst>
              <a:gd name="adj" fmla="val 20000"/>
            </a:avLst>
          </a:prstGeom>
          <a:solidFill>
            <a:srgbClr val="EDE9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noAutofit/>
          </a:bodyPr>
          <a:lstStyle/>
          <a:p>
            <a:pPr algn="ctr">
              <a:spcBef>
                <a:spcPts val="0"/>
              </a:spcBef>
              <a:spcAft>
                <a:spcPts val="0"/>
              </a:spcAft>
            </a:pPr>
            <a:r>
              <a:rPr sz="1300" b="1" i="0">
                <a:solidFill>
                  <a:srgbClr val="111827"/>
                </a:solidFill>
                <a:latin typeface="Times New Roman"/>
              </a:rPr>
              <a:t>InfluxDB 2</a:t>
            </a:r>
          </a:p>
          <a:p>
            <a:pPr algn="ctr">
              <a:spcBef>
                <a:spcPts val="0"/>
              </a:spcBef>
              <a:spcAft>
                <a:spcPts val="0"/>
              </a:spcAft>
            </a:pPr>
            <a:r>
              <a:rPr sz="1100" b="0" i="0">
                <a:solidFill>
                  <a:srgbClr val="111827"/>
                </a:solidFill>
                <a:latin typeface="Times New Roman"/>
              </a:rPr>
              <a:t>:8086</a:t>
            </a:r>
          </a:p>
        </p:txBody>
      </p:sp>
      <p:cxnSp>
        <p:nvCxnSpPr>
          <p:cNvPr id="16" name="Connector 15"/>
          <p:cNvCxnSpPr/>
          <p:nvPr/>
        </p:nvCxnSpPr>
        <p:spPr>
          <a:xfrm>
            <a:off x="6309360" y="2752344"/>
            <a:ext cx="0" cy="356616"/>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3776472" y="3108960"/>
            <a:ext cx="2532888" cy="0"/>
          </a:xfrm>
          <a:prstGeom prst="line">
            <a:avLst/>
          </a:prstGeom>
          <a:ln w="25400">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76472" y="3108960"/>
            <a:ext cx="0" cy="310896"/>
          </a:xfrm>
          <a:prstGeom prst="line">
            <a:avLst/>
          </a:prstGeom>
          <a:ln w="25400">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783080" y="4709160"/>
            <a:ext cx="6035040" cy="1554480"/>
          </a:xfrm>
          <a:prstGeom prst="roundRect">
            <a:avLst>
              <a:gd name="adj" fmla="val 8235"/>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TextBox 19"/>
          <p:cNvSpPr txBox="1"/>
          <p:nvPr/>
        </p:nvSpPr>
        <p:spPr>
          <a:xfrm>
            <a:off x="1947672" y="4837176"/>
            <a:ext cx="5705855" cy="133502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Verified live</a:t>
            </a:r>
          </a:p>
          <a:p>
            <a:pPr algn="l">
              <a:spcBef>
                <a:spcPts val="0"/>
              </a:spcBef>
              <a:spcAft>
                <a:spcPts val="400"/>
              </a:spcAft>
            </a:pPr>
            <a:r>
              <a:rPr sz="1400" b="0" i="0">
                <a:solidFill>
                  <a:srgbClr val="111827"/>
                </a:solidFill>
                <a:latin typeface="Times New Roman"/>
              </a:rPr>
              <a:t>PostgreSQL 14 and InfluxDB 2 running in Docker: telemetry, alerts, acknowledgements, feedback and maintenance saved and still there after a backend restart</a:t>
            </a:r>
          </a:p>
        </p:txBody>
      </p:sp>
      <p:sp>
        <p:nvSpPr>
          <p:cNvPr id="21" name="Rounded Rectangle 20"/>
          <p:cNvSpPr/>
          <p:nvPr/>
        </p:nvSpPr>
        <p:spPr>
          <a:xfrm>
            <a:off x="8046719" y="1005840"/>
            <a:ext cx="3749039" cy="5257800"/>
          </a:xfrm>
          <a:prstGeom prst="roundRect">
            <a:avLst>
              <a:gd name="adj" fmla="val 2926"/>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2" name="TextBox 21"/>
          <p:cNvSpPr txBox="1"/>
          <p:nvPr/>
        </p:nvSpPr>
        <p:spPr>
          <a:xfrm>
            <a:off x="8229599" y="1115568"/>
            <a:ext cx="3383279" cy="365760"/>
          </a:xfrm>
          <a:prstGeom prst="rect">
            <a:avLst/>
          </a:prstGeom>
          <a:noFill/>
        </p:spPr>
        <p:txBody>
          <a:bodyPr wrap="square" lIns="0" rIns="0" tIns="0" bIns="0" anchor="t">
            <a:noAutofit/>
          </a:bodyPr>
          <a:lstStyle/>
          <a:p>
            <a:pPr algn="l">
              <a:spcBef>
                <a:spcPts val="0"/>
              </a:spcBef>
              <a:spcAft>
                <a:spcPts val="0"/>
              </a:spcAft>
            </a:pPr>
            <a:r>
              <a:rPr sz="1700" b="1" i="0">
                <a:solidFill>
                  <a:srgbClr val="111827"/>
                </a:solidFill>
                <a:latin typeface="Times New Roman"/>
              </a:rPr>
              <a:t>Requirements (SRS §11)</a:t>
            </a:r>
          </a:p>
        </p:txBody>
      </p:sp>
      <p:sp>
        <p:nvSpPr>
          <p:cNvPr id="23" name="TextBox 22"/>
          <p:cNvSpPr txBox="1"/>
          <p:nvPr/>
        </p:nvSpPr>
        <p:spPr>
          <a:xfrm>
            <a:off x="8229599" y="1600200"/>
            <a:ext cx="3383279" cy="1828800"/>
          </a:xfrm>
          <a:prstGeom prst="rect">
            <a:avLst/>
          </a:prstGeom>
          <a:noFill/>
        </p:spPr>
        <p:txBody>
          <a:bodyPr wrap="square" lIns="0" rIns="0" tIns="0" bIns="0" anchor="t">
            <a:noAutofit/>
          </a:bodyPr>
          <a:lstStyle/>
          <a:p>
            <a:pPr algn="l">
              <a:spcBef>
                <a:spcPts val="0"/>
              </a:spcBef>
              <a:spcAft>
                <a:spcPts val="400"/>
              </a:spcAft>
            </a:pPr>
            <a:r>
              <a:rPr sz="1400" b="1" i="0">
                <a:solidFill>
                  <a:srgbClr val="111827"/>
                </a:solidFill>
                <a:latin typeface="Times New Roman"/>
              </a:rPr>
              <a:t>Hardware – minimum → recommended</a:t>
            </a:r>
          </a:p>
          <a:p>
            <a:pPr algn="l" marL="201168" indent="-201168">
              <a:spcBef>
                <a:spcPts val="0"/>
              </a:spcBef>
              <a:spcAft>
                <a:spcPts val="300"/>
              </a:spcAft>
              <a:buFont typeface="Arial"/>
              <a:buChar char="•"/>
            </a:pPr>
            <a:r>
              <a:rPr sz="1300" b="0" i="0">
                <a:solidFill>
                  <a:srgbClr val="111827"/>
                </a:solidFill>
                <a:latin typeface="Times New Roman"/>
              </a:rPr>
              <a:t>CPU: dual-core 2.0 GHz → quad-core 2.5 GHz</a:t>
            </a:r>
          </a:p>
          <a:p>
            <a:pPr algn="l" marL="201168" indent="-201168">
              <a:spcBef>
                <a:spcPts val="0"/>
              </a:spcBef>
              <a:spcAft>
                <a:spcPts val="300"/>
              </a:spcAft>
              <a:buFont typeface="Arial"/>
              <a:buChar char="•"/>
            </a:pPr>
            <a:r>
              <a:rPr sz="1300" b="0" i="0">
                <a:solidFill>
                  <a:srgbClr val="111827"/>
                </a:solidFill>
                <a:latin typeface="Times New Roman"/>
              </a:rPr>
              <a:t>RAM: 8 GB → 16 GB</a:t>
            </a:r>
          </a:p>
          <a:p>
            <a:pPr algn="l" marL="201168" indent="-201168">
              <a:spcBef>
                <a:spcPts val="0"/>
              </a:spcBef>
              <a:spcAft>
                <a:spcPts val="300"/>
              </a:spcAft>
              <a:buFont typeface="Arial"/>
              <a:buChar char="•"/>
            </a:pPr>
            <a:r>
              <a:rPr sz="1300" b="0" i="0">
                <a:solidFill>
                  <a:srgbClr val="111827"/>
                </a:solidFill>
                <a:latin typeface="Times New Roman"/>
              </a:rPr>
              <a:t>Storage: 20 GB free → 50 GB SSD</a:t>
            </a:r>
          </a:p>
          <a:p>
            <a:pPr algn="l" marL="201168" indent="-201168">
              <a:spcBef>
                <a:spcPts val="0"/>
              </a:spcBef>
              <a:spcAft>
                <a:spcPts val="0"/>
              </a:spcAft>
              <a:buFont typeface="Arial"/>
              <a:buChar char="•"/>
            </a:pPr>
            <a:r>
              <a:rPr sz="1300" b="0" i="0">
                <a:solidFill>
                  <a:srgbClr val="111827"/>
                </a:solidFill>
                <a:latin typeface="Times New Roman"/>
              </a:rPr>
              <a:t>Display: 1366 × 768 → 1920 × 1080</a:t>
            </a:r>
          </a:p>
        </p:txBody>
      </p:sp>
      <p:sp>
        <p:nvSpPr>
          <p:cNvPr id="24" name="TextBox 23"/>
          <p:cNvSpPr txBox="1"/>
          <p:nvPr/>
        </p:nvSpPr>
        <p:spPr>
          <a:xfrm>
            <a:off x="8229599" y="3520440"/>
            <a:ext cx="3383279" cy="2651760"/>
          </a:xfrm>
          <a:prstGeom prst="rect">
            <a:avLst/>
          </a:prstGeom>
          <a:noFill/>
        </p:spPr>
        <p:txBody>
          <a:bodyPr wrap="square" lIns="0" rIns="0" tIns="0" bIns="0" anchor="t">
            <a:noAutofit/>
          </a:bodyPr>
          <a:lstStyle/>
          <a:p>
            <a:pPr algn="l">
              <a:spcBef>
                <a:spcPts val="0"/>
              </a:spcBef>
              <a:spcAft>
                <a:spcPts val="400"/>
              </a:spcAft>
            </a:pPr>
            <a:r>
              <a:rPr sz="1400" b="1" i="0">
                <a:solidFill>
                  <a:srgbClr val="111827"/>
                </a:solidFill>
                <a:latin typeface="Times New Roman"/>
              </a:rPr>
              <a:t>Software</a:t>
            </a:r>
          </a:p>
          <a:p>
            <a:pPr algn="l" marL="201168" indent="-201168">
              <a:spcBef>
                <a:spcPts val="0"/>
              </a:spcBef>
              <a:spcAft>
                <a:spcPts val="300"/>
              </a:spcAft>
              <a:buFont typeface="Arial"/>
              <a:buChar char="•"/>
            </a:pPr>
            <a:r>
              <a:rPr sz="1300" b="0" i="0">
                <a:solidFill>
                  <a:srgbClr val="111827"/>
                </a:solidFill>
                <a:latin typeface="Times New Roman"/>
              </a:rPr>
              <a:t>Windows 10/11, Ubuntu 20.04+, macOS 11+</a:t>
            </a:r>
          </a:p>
          <a:p>
            <a:pPr algn="l" marL="201168" indent="-201168">
              <a:spcBef>
                <a:spcPts val="0"/>
              </a:spcBef>
              <a:spcAft>
                <a:spcPts val="300"/>
              </a:spcAft>
              <a:buFont typeface="Arial"/>
              <a:buChar char="•"/>
            </a:pPr>
            <a:r>
              <a:rPr sz="1300" b="0" i="0">
                <a:solidFill>
                  <a:srgbClr val="111827"/>
                </a:solidFill>
                <a:latin typeface="Times New Roman"/>
              </a:rPr>
              <a:t>Docker Desktop 4.x + Compose 2.x</a:t>
            </a:r>
          </a:p>
          <a:p>
            <a:pPr algn="l" marL="201168" indent="-201168">
              <a:spcBef>
                <a:spcPts val="0"/>
              </a:spcBef>
              <a:spcAft>
                <a:spcPts val="300"/>
              </a:spcAft>
              <a:buFont typeface="Arial"/>
              <a:buChar char="•"/>
            </a:pPr>
            <a:r>
              <a:rPr sz="1300" b="0" i="0">
                <a:solidFill>
                  <a:srgbClr val="111827"/>
                </a:solidFill>
                <a:latin typeface="Times New Roman"/>
              </a:rPr>
              <a:t>Python 3.10+ and Node 18+ (containerised)</a:t>
            </a:r>
          </a:p>
          <a:p>
            <a:pPr algn="l" marL="201168" indent="-201168">
              <a:spcBef>
                <a:spcPts val="0"/>
              </a:spcBef>
              <a:spcAft>
                <a:spcPts val="300"/>
              </a:spcAft>
              <a:buFont typeface="Arial"/>
              <a:buChar char="•"/>
            </a:pPr>
            <a:r>
              <a:rPr sz="1300" b="0" i="0">
                <a:solidFill>
                  <a:srgbClr val="111827"/>
                </a:solidFill>
                <a:latin typeface="Times New Roman"/>
              </a:rPr>
              <a:t>PostgreSQL 14, InfluxDB 2, Mosquitto 2</a:t>
            </a:r>
          </a:p>
          <a:p>
            <a:pPr algn="l" marL="201168" indent="-201168">
              <a:spcBef>
                <a:spcPts val="0"/>
              </a:spcBef>
              <a:spcAft>
                <a:spcPts val="0"/>
              </a:spcAft>
              <a:buFont typeface="Arial"/>
              <a:buChar char="•"/>
            </a:pPr>
            <a:r>
              <a:rPr sz="1300" b="0" i="0">
                <a:solidFill>
                  <a:srgbClr val="111827"/>
                </a:solidFill>
                <a:latin typeface="Times New Roman"/>
              </a:rPr>
              <a:t>Chrome, Firefox or 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Implementation – Dashboard Screens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ov.png"/>
          <p:cNvPicPr>
            <a:picLocks noChangeAspect="1"/>
          </p:cNvPicPr>
          <p:nvPr/>
        </p:nvPicPr>
        <p:blipFill>
          <a:blip r:embed="rId3"/>
          <a:stretch>
            <a:fillRect/>
          </a:stretch>
        </p:blipFill>
        <p:spPr>
          <a:xfrm>
            <a:off x="1783080" y="1005840"/>
            <a:ext cx="4754880" cy="2245360"/>
          </a:xfrm>
          <a:prstGeom prst="rect">
            <a:avLst/>
          </a:prstGeom>
          <a:ln w="12700">
            <a:solidFill>
              <a:srgbClr val="CBD5E1"/>
            </a:solidFill>
          </a:ln>
        </p:spPr>
      </p:pic>
      <p:sp>
        <p:nvSpPr>
          <p:cNvPr id="5" name="TextBox 4"/>
          <p:cNvSpPr txBox="1"/>
          <p:nvPr/>
        </p:nvSpPr>
        <p:spPr>
          <a:xfrm>
            <a:off x="1783080" y="3306064"/>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Plant overview: OEE gauge, A / P / Q, KPIs</a:t>
            </a:r>
          </a:p>
        </p:txBody>
      </p:sp>
      <p:pic>
        <p:nvPicPr>
          <p:cNvPr id="6" name="Picture 5" descr="ma.png"/>
          <p:cNvPicPr>
            <a:picLocks noChangeAspect="1"/>
          </p:cNvPicPr>
          <p:nvPr/>
        </p:nvPicPr>
        <p:blipFill>
          <a:blip r:embed="rId4"/>
          <a:stretch>
            <a:fillRect/>
          </a:stretch>
        </p:blipFill>
        <p:spPr>
          <a:xfrm>
            <a:off x="7040879" y="1005840"/>
            <a:ext cx="4754880" cy="2245360"/>
          </a:xfrm>
          <a:prstGeom prst="rect">
            <a:avLst/>
          </a:prstGeom>
          <a:ln w="12700">
            <a:solidFill>
              <a:srgbClr val="CBD5E1"/>
            </a:solidFill>
          </a:ln>
        </p:spPr>
      </p:pic>
      <p:sp>
        <p:nvSpPr>
          <p:cNvPr id="7" name="TextBox 6"/>
          <p:cNvSpPr txBox="1"/>
          <p:nvPr/>
        </p:nvSpPr>
        <p:spPr>
          <a:xfrm>
            <a:off x="7040879" y="3306064"/>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Machine grid: Red · Orange (ETA) · Green</a:t>
            </a:r>
          </a:p>
        </p:txBody>
      </p:sp>
      <p:pic>
        <p:nvPicPr>
          <p:cNvPr id="8" name="Picture 7" descr="det.png"/>
          <p:cNvPicPr>
            <a:picLocks noChangeAspect="1"/>
          </p:cNvPicPr>
          <p:nvPr/>
        </p:nvPicPr>
        <p:blipFill>
          <a:blip r:embed="rId5"/>
          <a:stretch>
            <a:fillRect/>
          </a:stretch>
        </p:blipFill>
        <p:spPr>
          <a:xfrm>
            <a:off x="1783080" y="3763264"/>
            <a:ext cx="4754880" cy="2245360"/>
          </a:xfrm>
          <a:prstGeom prst="rect">
            <a:avLst/>
          </a:prstGeom>
          <a:ln w="12700">
            <a:solidFill>
              <a:srgbClr val="CBD5E1"/>
            </a:solidFill>
          </a:ln>
        </p:spPr>
      </p:pic>
      <p:sp>
        <p:nvSpPr>
          <p:cNvPr id="9" name="TextBox 8"/>
          <p:cNvSpPr txBox="1"/>
          <p:nvPr/>
        </p:nvSpPr>
        <p:spPr>
          <a:xfrm>
            <a:off x="1783080" y="6063488"/>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Machine detail with What-If regression</a:t>
            </a:r>
          </a:p>
        </p:txBody>
      </p:sp>
      <p:pic>
        <p:nvPicPr>
          <p:cNvPr id="10" name="Picture 9" descr="al.png"/>
          <p:cNvPicPr>
            <a:picLocks noChangeAspect="1"/>
          </p:cNvPicPr>
          <p:nvPr/>
        </p:nvPicPr>
        <p:blipFill>
          <a:blip r:embed="rId6"/>
          <a:stretch>
            <a:fillRect/>
          </a:stretch>
        </p:blipFill>
        <p:spPr>
          <a:xfrm>
            <a:off x="7040879" y="3763264"/>
            <a:ext cx="4754880" cy="2245360"/>
          </a:xfrm>
          <a:prstGeom prst="rect">
            <a:avLst/>
          </a:prstGeom>
          <a:ln w="12700">
            <a:solidFill>
              <a:srgbClr val="CBD5E1"/>
            </a:solidFill>
          </a:ln>
        </p:spPr>
      </p:pic>
      <p:sp>
        <p:nvSpPr>
          <p:cNvPr id="11" name="TextBox 10"/>
          <p:cNvSpPr txBox="1"/>
          <p:nvPr/>
        </p:nvSpPr>
        <p:spPr>
          <a:xfrm>
            <a:off x="7040879" y="6063488"/>
            <a:ext cx="4754880" cy="256032"/>
          </a:xfrm>
          <a:prstGeom prst="rect">
            <a:avLst/>
          </a:prstGeom>
          <a:noFill/>
        </p:spPr>
        <p:txBody>
          <a:bodyPr wrap="square" lIns="0" rIns="0" tIns="0" bIns="0" anchor="t">
            <a:noAutofit/>
          </a:bodyPr>
          <a:lstStyle/>
          <a:p>
            <a:pPr algn="ctr">
              <a:spcBef>
                <a:spcPts val="0"/>
              </a:spcBef>
              <a:spcAft>
                <a:spcPts val="0"/>
              </a:spcAft>
            </a:pPr>
            <a:r>
              <a:rPr sz="1400" b="0" i="0">
                <a:solidFill>
                  <a:srgbClr val="475569"/>
                </a:solidFill>
                <a:latin typeface="Times New Roman"/>
              </a:rPr>
              <a:t>Alert centre: acknowledge · assign · feedback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Responsive &amp; Accessible by Design</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pic>
        <p:nvPicPr>
          <p:cNvPr id="4" name="Picture 3" descr="mobile_01_overview_normal.png"/>
          <p:cNvPicPr>
            <a:picLocks noChangeAspect="1"/>
          </p:cNvPicPr>
          <p:nvPr/>
        </p:nvPicPr>
        <p:blipFill>
          <a:blip r:embed="rId3"/>
          <a:stretch>
            <a:fillRect/>
          </a:stretch>
        </p:blipFill>
        <p:spPr>
          <a:xfrm>
            <a:off x="1783080" y="1005840"/>
            <a:ext cx="2049274" cy="4434840"/>
          </a:xfrm>
          <a:prstGeom prst="rect">
            <a:avLst/>
          </a:prstGeom>
          <a:ln w="12700">
            <a:solidFill>
              <a:srgbClr val="CBD5E1"/>
            </a:solidFill>
          </a:ln>
        </p:spPr>
      </p:pic>
      <p:sp>
        <p:nvSpPr>
          <p:cNvPr id="5" name="TextBox 4"/>
          <p:cNvSpPr txBox="1"/>
          <p:nvPr/>
        </p:nvSpPr>
        <p:spPr>
          <a:xfrm>
            <a:off x="1783080" y="5513831"/>
            <a:ext cx="2049274"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Overview</a:t>
            </a:r>
          </a:p>
        </p:txBody>
      </p:sp>
      <p:pic>
        <p:nvPicPr>
          <p:cNvPr id="6" name="Picture 5" descr="mobile_04_machines_alerts.png"/>
          <p:cNvPicPr>
            <a:picLocks noChangeAspect="1"/>
          </p:cNvPicPr>
          <p:nvPr/>
        </p:nvPicPr>
        <p:blipFill>
          <a:blip r:embed="rId4"/>
          <a:stretch>
            <a:fillRect/>
          </a:stretch>
        </p:blipFill>
        <p:spPr>
          <a:xfrm>
            <a:off x="4060954" y="1005840"/>
            <a:ext cx="2049274" cy="4434840"/>
          </a:xfrm>
          <a:prstGeom prst="rect">
            <a:avLst/>
          </a:prstGeom>
          <a:ln w="12700">
            <a:solidFill>
              <a:srgbClr val="CBD5E1"/>
            </a:solidFill>
          </a:ln>
        </p:spPr>
      </p:pic>
      <p:sp>
        <p:nvSpPr>
          <p:cNvPr id="7" name="TextBox 6"/>
          <p:cNvSpPr txBox="1"/>
          <p:nvPr/>
        </p:nvSpPr>
        <p:spPr>
          <a:xfrm>
            <a:off x="4060954" y="5513831"/>
            <a:ext cx="2049274"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Machines</a:t>
            </a:r>
          </a:p>
        </p:txBody>
      </p:sp>
      <p:pic>
        <p:nvPicPr>
          <p:cNvPr id="8" name="Picture 7" descr="mobile_06_alerts_centre.png"/>
          <p:cNvPicPr>
            <a:picLocks noChangeAspect="1"/>
          </p:cNvPicPr>
          <p:nvPr/>
        </p:nvPicPr>
        <p:blipFill>
          <a:blip r:embed="rId5"/>
          <a:stretch>
            <a:fillRect/>
          </a:stretch>
        </p:blipFill>
        <p:spPr>
          <a:xfrm>
            <a:off x="6338828" y="1005840"/>
            <a:ext cx="2049274" cy="4434840"/>
          </a:xfrm>
          <a:prstGeom prst="rect">
            <a:avLst/>
          </a:prstGeom>
          <a:ln w="12700">
            <a:solidFill>
              <a:srgbClr val="CBD5E1"/>
            </a:solidFill>
          </a:ln>
        </p:spPr>
      </p:pic>
      <p:sp>
        <p:nvSpPr>
          <p:cNvPr id="9" name="TextBox 8"/>
          <p:cNvSpPr txBox="1"/>
          <p:nvPr/>
        </p:nvSpPr>
        <p:spPr>
          <a:xfrm>
            <a:off x="6338828" y="5513831"/>
            <a:ext cx="2049274" cy="274320"/>
          </a:xfrm>
          <a:prstGeom prst="rect">
            <a:avLst/>
          </a:prstGeom>
          <a:noFill/>
        </p:spPr>
        <p:txBody>
          <a:bodyPr wrap="square" lIns="0" rIns="0" tIns="0" bIns="0" anchor="t">
            <a:noAutofit/>
          </a:bodyPr>
          <a:lstStyle/>
          <a:p>
            <a:pPr algn="ctr">
              <a:spcBef>
                <a:spcPts val="0"/>
              </a:spcBef>
              <a:spcAft>
                <a:spcPts val="0"/>
              </a:spcAft>
            </a:pPr>
            <a:r>
              <a:rPr sz="1300" b="0" i="0">
                <a:solidFill>
                  <a:srgbClr val="475569"/>
                </a:solidFill>
                <a:latin typeface="Times New Roman"/>
              </a:rPr>
              <a:t>Alerts</a:t>
            </a:r>
          </a:p>
        </p:txBody>
      </p:sp>
      <p:sp>
        <p:nvSpPr>
          <p:cNvPr id="10" name="Rounded Rectangle 9"/>
          <p:cNvSpPr/>
          <p:nvPr/>
        </p:nvSpPr>
        <p:spPr>
          <a:xfrm>
            <a:off x="8616703" y="1005840"/>
            <a:ext cx="3179056" cy="5257800"/>
          </a:xfrm>
          <a:prstGeom prst="roundRect">
            <a:avLst>
              <a:gd name="adj" fmla="val 4026"/>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1" name="TextBox 10"/>
          <p:cNvSpPr txBox="1"/>
          <p:nvPr/>
        </p:nvSpPr>
        <p:spPr>
          <a:xfrm>
            <a:off x="8781295" y="1133856"/>
            <a:ext cx="2849872" cy="5038344"/>
          </a:xfrm>
          <a:prstGeom prst="rect">
            <a:avLst/>
          </a:prstGeom>
          <a:noFill/>
        </p:spPr>
        <p:txBody>
          <a:bodyPr wrap="square" lIns="0" rIns="0" tIns="0" bIns="0" anchor="t">
            <a:noAutofit/>
          </a:bodyPr>
          <a:lstStyle/>
          <a:p>
            <a:pPr algn="l">
              <a:spcBef>
                <a:spcPts val="0"/>
              </a:spcBef>
              <a:spcAft>
                <a:spcPts val="600"/>
              </a:spcAft>
            </a:pPr>
            <a:r>
              <a:rPr sz="1700" b="1" i="0">
                <a:solidFill>
                  <a:srgbClr val="111827"/>
                </a:solidFill>
                <a:latin typeface="Times New Roman"/>
              </a:rPr>
              <a:t>Built for everyone</a:t>
            </a:r>
          </a:p>
          <a:p>
            <a:pPr algn="l" marL="201168" indent="-201168">
              <a:spcBef>
                <a:spcPts val="0"/>
              </a:spcBef>
              <a:spcAft>
                <a:spcPts val="400"/>
              </a:spcAft>
              <a:buFont typeface="Arial"/>
              <a:buChar char="•"/>
            </a:pPr>
            <a:r>
              <a:rPr sz="1400" b="0" i="0">
                <a:solidFill>
                  <a:srgbClr val="111827"/>
                </a:solidFill>
                <a:latin typeface="Times New Roman"/>
              </a:rPr>
              <a:t>Phone, tablet and desktop layouts – no sideways scrolling</a:t>
            </a:r>
          </a:p>
          <a:p>
            <a:pPr algn="l" marL="201168" indent="-201168">
              <a:spcBef>
                <a:spcPts val="0"/>
              </a:spcBef>
              <a:spcAft>
                <a:spcPts val="400"/>
              </a:spcAft>
              <a:buFont typeface="Arial"/>
              <a:buChar char="•"/>
            </a:pPr>
            <a:r>
              <a:rPr sz="1400" b="0" i="0">
                <a:solidFill>
                  <a:srgbClr val="111827"/>
                </a:solidFill>
                <a:latin typeface="Times New Roman"/>
              </a:rPr>
              <a:t>Dark and light themes</a:t>
            </a:r>
          </a:p>
          <a:p>
            <a:pPr algn="l" marL="201168" indent="-201168">
              <a:spcBef>
                <a:spcPts val="0"/>
              </a:spcBef>
              <a:spcAft>
                <a:spcPts val="400"/>
              </a:spcAft>
              <a:buFont typeface="Arial"/>
              <a:buChar char="•"/>
            </a:pPr>
            <a:r>
              <a:rPr sz="1400" b="0" i="0">
                <a:solidFill>
                  <a:srgbClr val="111827"/>
                </a:solidFill>
                <a:latin typeface="Times New Roman"/>
              </a:rPr>
              <a:t>Colour + icon + text label for every state</a:t>
            </a:r>
          </a:p>
          <a:p>
            <a:pPr algn="l" marL="201168" indent="-201168">
              <a:spcBef>
                <a:spcPts val="0"/>
              </a:spcBef>
              <a:spcAft>
                <a:spcPts val="400"/>
              </a:spcAft>
              <a:buFont typeface="Arial"/>
              <a:buChar char="•"/>
            </a:pPr>
            <a:r>
              <a:rPr sz="1400" b="0" i="0">
                <a:solidFill>
                  <a:srgbClr val="111827"/>
                </a:solidFill>
                <a:latin typeface="Times New Roman"/>
              </a:rPr>
              <a:t>Keyboard navigation and ARIA labels (NFR-U2)</a:t>
            </a:r>
          </a:p>
          <a:p>
            <a:pPr algn="l" marL="201168" indent="-201168">
              <a:spcBef>
                <a:spcPts val="0"/>
              </a:spcBef>
              <a:spcAft>
                <a:spcPts val="400"/>
              </a:spcAft>
              <a:buFont typeface="Arial"/>
              <a:buChar char="•"/>
            </a:pPr>
            <a:r>
              <a:rPr sz="1400" b="0" i="0">
                <a:solidFill>
                  <a:srgbClr val="111827"/>
                </a:solidFill>
                <a:latin typeface="Times New Roman"/>
              </a:rPr>
              <a:t>axe-core: </a:t>
            </a:r>
            <a:r>
              <a:rPr sz="1400" b="1" i="0">
                <a:solidFill>
                  <a:srgbClr val="111827"/>
                </a:solidFill>
                <a:latin typeface="Times New Roman"/>
              </a:rPr>
              <a:t>0 violations</a:t>
            </a:r>
            <a:r>
              <a:rPr sz="1400" b="0" i="0">
                <a:solidFill>
                  <a:srgbClr val="111827"/>
                </a:solidFill>
                <a:latin typeface="Times New Roman"/>
              </a:rPr>
              <a:t> on all pages, both themes, desktop and phone</a:t>
            </a:r>
          </a:p>
          <a:p>
            <a:pPr algn="l" marL="201168" indent="-201168">
              <a:spcBef>
                <a:spcPts val="0"/>
              </a:spcBef>
              <a:spcAft>
                <a:spcPts val="400"/>
              </a:spcAft>
              <a:buFont typeface="Arial"/>
              <a:buChar char="•"/>
            </a:pPr>
            <a:r>
              <a:rPr sz="1400" b="0" i="0">
                <a:solidFill>
                  <a:srgbClr val="111827"/>
                </a:solidFill>
                <a:latin typeface="Times New Roman"/>
              </a:rPr>
              <a:t>Chromium, Firefox and WebKit: all pages clean</a:t>
            </a:r>
          </a:p>
          <a:p>
            <a:pPr algn="l" marL="201168" indent="-201168">
              <a:spcBef>
                <a:spcPts val="0"/>
              </a:spcBef>
              <a:spcAft>
                <a:spcPts val="400"/>
              </a:spcAft>
              <a:buFont typeface="Arial"/>
              <a:buChar char="•"/>
            </a:pPr>
            <a:r>
              <a:rPr sz="1400" b="0" i="0">
                <a:solidFill>
                  <a:srgbClr val="111827"/>
                </a:solidFill>
                <a:latin typeface="Times New Roman"/>
              </a:rPr>
              <a:t>Offline banner, error screen, plain-language messages (NFR-U3)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Live Demo – Seven Steps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Oval 4"/>
          <p:cNvSpPr/>
          <p:nvPr/>
        </p:nvSpPr>
        <p:spPr>
          <a:xfrm>
            <a:off x="192024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1</a:t>
            </a:r>
          </a:p>
        </p:txBody>
      </p:sp>
      <p:sp>
        <p:nvSpPr>
          <p:cNvPr id="6" name="TextBox 5"/>
          <p:cNvSpPr txBox="1"/>
          <p:nvPr/>
        </p:nvSpPr>
        <p:spPr>
          <a:xfrm>
            <a:off x="251460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Sign in</a:t>
            </a:r>
          </a:p>
        </p:txBody>
      </p:sp>
      <p:sp>
        <p:nvSpPr>
          <p:cNvPr id="7" name="TextBox 6"/>
          <p:cNvSpPr txBox="1"/>
          <p:nvPr/>
        </p:nvSpPr>
        <p:spPr>
          <a:xfrm>
            <a:off x="196596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Open </a:t>
            </a:r>
            <a:r>
              <a:rPr sz="1400" b="1" i="0">
                <a:solidFill>
                  <a:srgbClr val="111827"/>
                </a:solidFill>
                <a:latin typeface="Times New Roman"/>
              </a:rPr>
              <a:t>Control</a:t>
            </a:r>
            <a:r>
              <a:rPr sz="1400" b="0" i="0">
                <a:solidFill>
                  <a:srgbClr val="111827"/>
                </a:solidFill>
                <a:latin typeface="Times New Roman"/>
              </a:rPr>
              <a:t> and sign in as the Floor Manager</a:t>
            </a:r>
          </a:p>
        </p:txBody>
      </p:sp>
      <p:cxnSp>
        <p:nvCxnSpPr>
          <p:cNvPr id="8" name="Connector 7"/>
          <p:cNvCxnSpPr/>
          <p:nvPr/>
        </p:nvCxnSpPr>
        <p:spPr>
          <a:xfrm>
            <a:off x="404850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7769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0" name="Oval 9"/>
          <p:cNvSpPr/>
          <p:nvPr/>
        </p:nvSpPr>
        <p:spPr>
          <a:xfrm>
            <a:off x="451485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2</a:t>
            </a:r>
          </a:p>
        </p:txBody>
      </p:sp>
      <p:sp>
        <p:nvSpPr>
          <p:cNvPr id="11" name="TextBox 10"/>
          <p:cNvSpPr txBox="1"/>
          <p:nvPr/>
        </p:nvSpPr>
        <p:spPr>
          <a:xfrm>
            <a:off x="5109209"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ML caution</a:t>
            </a:r>
          </a:p>
        </p:txBody>
      </p:sp>
      <p:sp>
        <p:nvSpPr>
          <p:cNvPr id="12" name="TextBox 11"/>
          <p:cNvSpPr txBox="1"/>
          <p:nvPr/>
        </p:nvSpPr>
        <p:spPr>
          <a:xfrm>
            <a:off x="456057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Inject an </a:t>
            </a:r>
            <a:r>
              <a:rPr sz="1400" b="1" i="0">
                <a:solidFill>
                  <a:srgbClr val="111827"/>
                </a:solidFill>
                <a:latin typeface="Times New Roman"/>
              </a:rPr>
              <a:t>ML anomaly</a:t>
            </a:r>
            <a:r>
              <a:rPr sz="1400" b="0" i="0">
                <a:solidFill>
                  <a:srgbClr val="111827"/>
                </a:solidFill>
                <a:latin typeface="Times New Roman"/>
              </a:rPr>
              <a:t> on Welder-04 → the tile turns </a:t>
            </a:r>
            <a:r>
              <a:rPr sz="1400" b="1" i="0">
                <a:solidFill>
                  <a:srgbClr val="111827"/>
                </a:solidFill>
                <a:latin typeface="Times New Roman"/>
              </a:rPr>
              <a:t>Yellow</a:t>
            </a:r>
          </a:p>
        </p:txBody>
      </p:sp>
      <p:cxnSp>
        <p:nvCxnSpPr>
          <p:cNvPr id="13" name="Connector 12"/>
          <p:cNvCxnSpPr/>
          <p:nvPr/>
        </p:nvCxnSpPr>
        <p:spPr>
          <a:xfrm>
            <a:off x="664311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972300"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5" name="Oval 14"/>
          <p:cNvSpPr/>
          <p:nvPr/>
        </p:nvSpPr>
        <p:spPr>
          <a:xfrm>
            <a:off x="7109460"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3</a:t>
            </a:r>
          </a:p>
        </p:txBody>
      </p:sp>
      <p:sp>
        <p:nvSpPr>
          <p:cNvPr id="16" name="TextBox 15"/>
          <p:cNvSpPr txBox="1"/>
          <p:nvPr/>
        </p:nvSpPr>
        <p:spPr>
          <a:xfrm>
            <a:off x="770382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Projected fault</a:t>
            </a:r>
          </a:p>
        </p:txBody>
      </p:sp>
      <p:sp>
        <p:nvSpPr>
          <p:cNvPr id="17" name="TextBox 16"/>
          <p:cNvSpPr txBox="1"/>
          <p:nvPr/>
        </p:nvSpPr>
        <p:spPr>
          <a:xfrm>
            <a:off x="7155180" y="19659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Speed ×6, </a:t>
            </a:r>
            <a:r>
              <a:rPr sz="1400" b="1" i="0">
                <a:solidFill>
                  <a:srgbClr val="111827"/>
                </a:solidFill>
                <a:latin typeface="Times New Roman"/>
              </a:rPr>
              <a:t>temperature ramp</a:t>
            </a:r>
            <a:r>
              <a:rPr sz="1400" b="0" i="0">
                <a:solidFill>
                  <a:srgbClr val="111827"/>
                </a:solidFill>
                <a:latin typeface="Times New Roman"/>
              </a:rPr>
              <a:t> on CNC-01 → </a:t>
            </a:r>
            <a:r>
              <a:rPr sz="1400" b="1" i="0">
                <a:solidFill>
                  <a:srgbClr val="111827"/>
                </a:solidFill>
                <a:latin typeface="Times New Roman"/>
              </a:rPr>
              <a:t>Orange</a:t>
            </a:r>
            <a:r>
              <a:rPr sz="1400" b="0" i="0">
                <a:solidFill>
                  <a:srgbClr val="111827"/>
                </a:solidFill>
                <a:latin typeface="Times New Roman"/>
              </a:rPr>
              <a:t> with ETA, then </a:t>
            </a:r>
            <a:r>
              <a:rPr sz="1400" b="1" i="0">
                <a:solidFill>
                  <a:srgbClr val="111827"/>
                </a:solidFill>
                <a:latin typeface="Times New Roman"/>
              </a:rPr>
              <a:t>Red</a:t>
            </a:r>
          </a:p>
        </p:txBody>
      </p:sp>
      <p:cxnSp>
        <p:nvCxnSpPr>
          <p:cNvPr id="18" name="Connector 17"/>
          <p:cNvCxnSpPr/>
          <p:nvPr/>
        </p:nvCxnSpPr>
        <p:spPr>
          <a:xfrm>
            <a:off x="9237726" y="2263139"/>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66909" y="10972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0" name="Oval 19"/>
          <p:cNvSpPr/>
          <p:nvPr/>
        </p:nvSpPr>
        <p:spPr>
          <a:xfrm>
            <a:off x="9704069" y="12527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4</a:t>
            </a:r>
          </a:p>
        </p:txBody>
      </p:sp>
      <p:sp>
        <p:nvSpPr>
          <p:cNvPr id="21" name="TextBox 20"/>
          <p:cNvSpPr txBox="1"/>
          <p:nvPr/>
        </p:nvSpPr>
        <p:spPr>
          <a:xfrm>
            <a:off x="10298430" y="1234439"/>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Hard fault</a:t>
            </a:r>
          </a:p>
        </p:txBody>
      </p:sp>
      <p:sp>
        <p:nvSpPr>
          <p:cNvPr id="22" name="TextBox 21"/>
          <p:cNvSpPr txBox="1"/>
          <p:nvPr/>
        </p:nvSpPr>
        <p:spPr>
          <a:xfrm>
            <a:off x="9749789" y="19659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Vibration spike</a:t>
            </a:r>
            <a:r>
              <a:rPr sz="1400" b="0" i="0">
                <a:solidFill>
                  <a:srgbClr val="111827"/>
                </a:solidFill>
                <a:latin typeface="Times New Roman"/>
              </a:rPr>
              <a:t> on Press-02 → instant </a:t>
            </a:r>
            <a:r>
              <a:rPr sz="1400" b="1" i="0">
                <a:solidFill>
                  <a:srgbClr val="111827"/>
                </a:solidFill>
                <a:latin typeface="Times New Roman"/>
              </a:rPr>
              <a:t>Red</a:t>
            </a:r>
          </a:p>
        </p:txBody>
      </p:sp>
      <p:sp>
        <p:nvSpPr>
          <p:cNvPr id="23" name="Rounded Rectangle 22"/>
          <p:cNvSpPr/>
          <p:nvPr/>
        </p:nvSpPr>
        <p:spPr>
          <a:xfrm>
            <a:off x="178308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4" name="Oval 23"/>
          <p:cNvSpPr/>
          <p:nvPr/>
        </p:nvSpPr>
        <p:spPr>
          <a:xfrm>
            <a:off x="192024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5</a:t>
            </a:r>
          </a:p>
        </p:txBody>
      </p:sp>
      <p:sp>
        <p:nvSpPr>
          <p:cNvPr id="25" name="TextBox 24"/>
          <p:cNvSpPr txBox="1"/>
          <p:nvPr/>
        </p:nvSpPr>
        <p:spPr>
          <a:xfrm>
            <a:off x="251460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Operator actions</a:t>
            </a:r>
          </a:p>
        </p:txBody>
      </p:sp>
      <p:sp>
        <p:nvSpPr>
          <p:cNvPr id="26" name="TextBox 25"/>
          <p:cNvSpPr txBox="1"/>
          <p:nvPr/>
        </p:nvSpPr>
        <p:spPr>
          <a:xfrm>
            <a:off x="1965960" y="47091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Alerts</a:t>
            </a:r>
            <a:r>
              <a:rPr sz="1400" b="0" i="0">
                <a:solidFill>
                  <a:srgbClr val="111827"/>
                </a:solidFill>
                <a:latin typeface="Times New Roman"/>
              </a:rPr>
              <a:t>: acknowledge · assign technician · resolve · feedback</a:t>
            </a:r>
          </a:p>
        </p:txBody>
      </p:sp>
      <p:cxnSp>
        <p:nvCxnSpPr>
          <p:cNvPr id="27" name="Connector 26"/>
          <p:cNvCxnSpPr/>
          <p:nvPr/>
        </p:nvCxnSpPr>
        <p:spPr>
          <a:xfrm>
            <a:off x="404850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7769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9" name="Oval 28"/>
          <p:cNvSpPr/>
          <p:nvPr/>
        </p:nvSpPr>
        <p:spPr>
          <a:xfrm>
            <a:off x="451485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6</a:t>
            </a:r>
          </a:p>
        </p:txBody>
      </p:sp>
      <p:sp>
        <p:nvSpPr>
          <p:cNvPr id="30" name="TextBox 29"/>
          <p:cNvSpPr txBox="1"/>
          <p:nvPr/>
        </p:nvSpPr>
        <p:spPr>
          <a:xfrm>
            <a:off x="5109209"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Records</a:t>
            </a:r>
          </a:p>
        </p:txBody>
      </p:sp>
      <p:sp>
        <p:nvSpPr>
          <p:cNvPr id="31" name="TextBox 30"/>
          <p:cNvSpPr txBox="1"/>
          <p:nvPr/>
        </p:nvSpPr>
        <p:spPr>
          <a:xfrm>
            <a:off x="4560570" y="4709160"/>
            <a:ext cx="1863090" cy="137160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Maintenance</a:t>
            </a:r>
            <a:r>
              <a:rPr sz="1400" b="0" i="0">
                <a:solidFill>
                  <a:srgbClr val="111827"/>
                </a:solidFill>
                <a:latin typeface="Times New Roman"/>
              </a:rPr>
              <a:t> log linked to the alert; </a:t>
            </a:r>
            <a:r>
              <a:rPr sz="1400" b="1" i="0">
                <a:solidFill>
                  <a:srgbClr val="111827"/>
                </a:solidFill>
                <a:latin typeface="Times New Roman"/>
              </a:rPr>
              <a:t>Reports</a:t>
            </a:r>
            <a:r>
              <a:rPr sz="1400" b="0" i="0">
                <a:solidFill>
                  <a:srgbClr val="111827"/>
                </a:solidFill>
                <a:latin typeface="Times New Roman"/>
              </a:rPr>
              <a:t> page</a:t>
            </a:r>
          </a:p>
        </p:txBody>
      </p:sp>
      <p:cxnSp>
        <p:nvCxnSpPr>
          <p:cNvPr id="32" name="Connector 31"/>
          <p:cNvCxnSpPr/>
          <p:nvPr/>
        </p:nvCxnSpPr>
        <p:spPr>
          <a:xfrm>
            <a:off x="664311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972300" y="3840480"/>
            <a:ext cx="2228850" cy="2331720"/>
          </a:xfrm>
          <a:prstGeom prst="roundRect">
            <a:avLst>
              <a:gd name="adj" fmla="val 4923"/>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4" name="Oval 33"/>
          <p:cNvSpPr/>
          <p:nvPr/>
        </p:nvSpPr>
        <p:spPr>
          <a:xfrm>
            <a:off x="7109460"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7</a:t>
            </a:r>
          </a:p>
        </p:txBody>
      </p:sp>
      <p:sp>
        <p:nvSpPr>
          <p:cNvPr id="35" name="TextBox 34"/>
          <p:cNvSpPr txBox="1"/>
          <p:nvPr/>
        </p:nvSpPr>
        <p:spPr>
          <a:xfrm>
            <a:off x="770382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Resilience</a:t>
            </a:r>
          </a:p>
        </p:txBody>
      </p:sp>
      <p:sp>
        <p:nvSpPr>
          <p:cNvPr id="36" name="TextBox 35"/>
          <p:cNvSpPr txBox="1"/>
          <p:nvPr/>
        </p:nvSpPr>
        <p:spPr>
          <a:xfrm>
            <a:off x="7155180" y="47091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Simulate </a:t>
            </a:r>
            <a:r>
              <a:rPr sz="1400" b="1" i="0">
                <a:solidFill>
                  <a:srgbClr val="111827"/>
                </a:solidFill>
                <a:latin typeface="Times New Roman"/>
              </a:rPr>
              <a:t>ML outage</a:t>
            </a:r>
            <a:r>
              <a:rPr sz="1400" b="0" i="0">
                <a:solidFill>
                  <a:srgbClr val="111827"/>
                </a:solidFill>
                <a:latin typeface="Times New Roman"/>
              </a:rPr>
              <a:t> → score held, Red rules still alert</a:t>
            </a:r>
          </a:p>
        </p:txBody>
      </p:sp>
      <p:cxnSp>
        <p:nvCxnSpPr>
          <p:cNvPr id="37" name="Connector 36"/>
          <p:cNvCxnSpPr/>
          <p:nvPr/>
        </p:nvCxnSpPr>
        <p:spPr>
          <a:xfrm>
            <a:off x="9237726" y="5006340"/>
            <a:ext cx="292608" cy="0"/>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66909" y="3840480"/>
            <a:ext cx="2228850" cy="2331720"/>
          </a:xfrm>
          <a:prstGeom prst="roundRect">
            <a:avLst>
              <a:gd name="adj" fmla="val 4923"/>
            </a:avLst>
          </a:prstGeom>
          <a:solidFill>
            <a:srgbClr val="FFFFFF"/>
          </a:solidFill>
          <a:ln w="1905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39" name="Oval 38"/>
          <p:cNvSpPr/>
          <p:nvPr/>
        </p:nvSpPr>
        <p:spPr>
          <a:xfrm>
            <a:off x="9704069" y="3995928"/>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600" b="1" i="0">
                <a:solidFill>
                  <a:srgbClr val="FFFFFF"/>
                </a:solidFill>
                <a:latin typeface="Times New Roman"/>
              </a:rPr>
              <a:t>8</a:t>
            </a:r>
          </a:p>
        </p:txBody>
      </p:sp>
      <p:sp>
        <p:nvSpPr>
          <p:cNvPr id="40" name="TextBox 39"/>
          <p:cNvSpPr txBox="1"/>
          <p:nvPr/>
        </p:nvSpPr>
        <p:spPr>
          <a:xfrm>
            <a:off x="10298430" y="3977640"/>
            <a:ext cx="1360170" cy="502920"/>
          </a:xfrm>
          <a:prstGeom prst="rect">
            <a:avLst/>
          </a:prstGeom>
          <a:noFill/>
        </p:spPr>
        <p:txBody>
          <a:bodyPr wrap="square" lIns="0" rIns="0" tIns="0" bIns="0" anchor="ctr">
            <a:noAutofit/>
          </a:bodyPr>
          <a:lstStyle/>
          <a:p>
            <a:pPr algn="l">
              <a:spcBef>
                <a:spcPts val="0"/>
              </a:spcBef>
              <a:spcAft>
                <a:spcPts val="0"/>
              </a:spcAft>
            </a:pPr>
            <a:r>
              <a:rPr sz="1600" b="1" i="0">
                <a:solidFill>
                  <a:srgbClr val="111827"/>
                </a:solidFill>
                <a:latin typeface="Times New Roman"/>
              </a:rPr>
              <a:t>Optional</a:t>
            </a:r>
          </a:p>
        </p:txBody>
      </p:sp>
      <p:sp>
        <p:nvSpPr>
          <p:cNvPr id="41" name="TextBox 40"/>
          <p:cNvSpPr txBox="1"/>
          <p:nvPr/>
        </p:nvSpPr>
        <p:spPr>
          <a:xfrm>
            <a:off x="9749789" y="4709160"/>
            <a:ext cx="1863090" cy="1371600"/>
          </a:xfrm>
          <a:prstGeom prst="rect">
            <a:avLst/>
          </a:prstGeom>
          <a:noFill/>
        </p:spPr>
        <p:txBody>
          <a:bodyPr wrap="square" lIns="0" rIns="0" tIns="0" bIns="0" anchor="t">
            <a:noAutofit/>
          </a:bodyPr>
          <a:lstStyle/>
          <a:p>
            <a:pPr algn="l">
              <a:spcBef>
                <a:spcPts val="0"/>
              </a:spcBef>
              <a:spcAft>
                <a:spcPts val="0"/>
              </a:spcAft>
            </a:pPr>
            <a:r>
              <a:rPr sz="1400" b="0" i="0">
                <a:solidFill>
                  <a:srgbClr val="111827"/>
                </a:solidFill>
                <a:latin typeface="Times New Roman"/>
              </a:rPr>
              <a:t>Restart the backend → alerts are </a:t>
            </a:r>
            <a:r>
              <a:rPr sz="1400" b="1" i="0">
                <a:solidFill>
                  <a:srgbClr val="111827"/>
                </a:solidFill>
                <a:latin typeface="Times New Roman"/>
              </a:rPr>
              <a:t>still there</a:t>
            </a:r>
            <a:r>
              <a:rPr sz="1400" b="0" i="0">
                <a:solidFill>
                  <a:srgbClr val="111827"/>
                </a:solidFill>
                <a:latin typeface="Times New Roman"/>
              </a:rPr>
              <a:t> (PostgreSQL)</a:t>
            </a:r>
          </a:p>
        </p:txBody>
      </p:sp>
      <p:cxnSp>
        <p:nvCxnSpPr>
          <p:cNvPr id="42" name="Connector 41"/>
          <p:cNvCxnSpPr/>
          <p:nvPr/>
        </p:nvCxnSpPr>
        <p:spPr>
          <a:xfrm>
            <a:off x="10681334" y="3447288"/>
            <a:ext cx="0" cy="187452"/>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2897505" y="3634740"/>
            <a:ext cx="7783829" cy="0"/>
          </a:xfrm>
          <a:prstGeom prst="line">
            <a:avLst/>
          </a:prstGeom>
          <a:ln w="28575">
            <a:solidFill>
              <a:srgbClr val="11182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897505" y="3634740"/>
            <a:ext cx="0" cy="178308"/>
          </a:xfrm>
          <a:prstGeom prst="line">
            <a:avLst/>
          </a:prstGeom>
          <a:ln w="28575">
            <a:solidFill>
              <a:srgbClr val="11182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Testing &amp; Results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45</a:t>
            </a:r>
          </a:p>
        </p:txBody>
      </p:sp>
      <p:sp>
        <p:nvSpPr>
          <p:cNvPr id="6" name="TextBox 5"/>
          <p:cNvSpPr txBox="1"/>
          <p:nvPr/>
        </p:nvSpPr>
        <p:spPr>
          <a:xfrm>
            <a:off x="194767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automated tests passed</a:t>
            </a:r>
          </a:p>
        </p:txBody>
      </p:sp>
      <p:sp>
        <p:nvSpPr>
          <p:cNvPr id="7" name="TextBox 6"/>
          <p:cNvSpPr txBox="1"/>
          <p:nvPr/>
        </p:nvSpPr>
        <p:spPr>
          <a:xfrm>
            <a:off x="194767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38 pytest + 7 Vitest</a:t>
            </a:r>
          </a:p>
        </p:txBody>
      </p:sp>
      <p:sp>
        <p:nvSpPr>
          <p:cNvPr id="8" name="Rounded Rectangle 7"/>
          <p:cNvSpPr/>
          <p:nvPr/>
        </p:nvSpPr>
        <p:spPr>
          <a:xfrm>
            <a:off x="434340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450799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13 / 13</a:t>
            </a:r>
          </a:p>
        </p:txBody>
      </p:sp>
      <p:sp>
        <p:nvSpPr>
          <p:cNvPr id="10" name="TextBox 9"/>
          <p:cNvSpPr txBox="1"/>
          <p:nvPr/>
        </p:nvSpPr>
        <p:spPr>
          <a:xfrm>
            <a:off x="450799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end-to-end checks passed</a:t>
            </a:r>
          </a:p>
        </p:txBody>
      </p:sp>
      <p:sp>
        <p:nvSpPr>
          <p:cNvPr id="11" name="TextBox 10"/>
          <p:cNvSpPr txBox="1"/>
          <p:nvPr/>
        </p:nvSpPr>
        <p:spPr>
          <a:xfrm>
            <a:off x="450799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5 machines, 50 simultaneous clients</a:t>
            </a:r>
          </a:p>
        </p:txBody>
      </p:sp>
      <p:sp>
        <p:nvSpPr>
          <p:cNvPr id="12" name="Rounded Rectangle 11"/>
          <p:cNvSpPr/>
          <p:nvPr/>
        </p:nvSpPr>
        <p:spPr>
          <a:xfrm>
            <a:off x="6903720"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3" name="TextBox 12"/>
          <p:cNvSpPr txBox="1"/>
          <p:nvPr/>
        </p:nvSpPr>
        <p:spPr>
          <a:xfrm>
            <a:off x="7068312"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0</a:t>
            </a:r>
          </a:p>
        </p:txBody>
      </p:sp>
      <p:sp>
        <p:nvSpPr>
          <p:cNvPr id="14" name="TextBox 13"/>
          <p:cNvSpPr txBox="1"/>
          <p:nvPr/>
        </p:nvSpPr>
        <p:spPr>
          <a:xfrm>
            <a:off x="7068312"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accessibility violations</a:t>
            </a:r>
          </a:p>
        </p:txBody>
      </p:sp>
      <p:sp>
        <p:nvSpPr>
          <p:cNvPr id="15" name="TextBox 14"/>
          <p:cNvSpPr txBox="1"/>
          <p:nvPr/>
        </p:nvSpPr>
        <p:spPr>
          <a:xfrm>
            <a:off x="7068312"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axe-core, WCAG 2 A / AA</a:t>
            </a:r>
          </a:p>
        </p:txBody>
      </p:sp>
      <p:sp>
        <p:nvSpPr>
          <p:cNvPr id="16" name="Rounded Rectangle 15"/>
          <p:cNvSpPr/>
          <p:nvPr/>
        </p:nvSpPr>
        <p:spPr>
          <a:xfrm>
            <a:off x="9464039" y="1051560"/>
            <a:ext cx="2331720" cy="1463040"/>
          </a:xfrm>
          <a:prstGeom prst="roundRect">
            <a:avLst>
              <a:gd name="adj" fmla="val 7500"/>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17" name="TextBox 16"/>
          <p:cNvSpPr txBox="1"/>
          <p:nvPr/>
        </p:nvSpPr>
        <p:spPr>
          <a:xfrm>
            <a:off x="9628631" y="1115568"/>
            <a:ext cx="2002536" cy="640080"/>
          </a:xfrm>
          <a:prstGeom prst="rect">
            <a:avLst/>
          </a:prstGeom>
          <a:noFill/>
        </p:spPr>
        <p:txBody>
          <a:bodyPr wrap="square" lIns="0" rIns="0" tIns="0" bIns="0" anchor="ctr">
            <a:noAutofit/>
          </a:bodyPr>
          <a:lstStyle/>
          <a:p>
            <a:pPr algn="l">
              <a:spcBef>
                <a:spcPts val="0"/>
              </a:spcBef>
              <a:spcAft>
                <a:spcPts val="0"/>
              </a:spcAft>
            </a:pPr>
            <a:r>
              <a:rPr sz="3400" b="1" i="0">
                <a:solidFill>
                  <a:srgbClr val="375623"/>
                </a:solidFill>
                <a:latin typeface="Times New Roman"/>
              </a:rPr>
              <a:t>3 / 3</a:t>
            </a:r>
          </a:p>
        </p:txBody>
      </p:sp>
      <p:sp>
        <p:nvSpPr>
          <p:cNvPr id="18" name="TextBox 17"/>
          <p:cNvSpPr txBox="1"/>
          <p:nvPr/>
        </p:nvSpPr>
        <p:spPr>
          <a:xfrm>
            <a:off x="9628631" y="1755648"/>
            <a:ext cx="2002536" cy="274320"/>
          </a:xfrm>
          <a:prstGeom prst="rect">
            <a:avLst/>
          </a:prstGeom>
          <a:noFill/>
        </p:spPr>
        <p:txBody>
          <a:bodyPr wrap="square" lIns="0" rIns="0" tIns="0" bIns="0" anchor="t">
            <a:noAutofit/>
          </a:bodyPr>
          <a:lstStyle/>
          <a:p>
            <a:pPr algn="l">
              <a:spcBef>
                <a:spcPts val="0"/>
              </a:spcBef>
              <a:spcAft>
                <a:spcPts val="0"/>
              </a:spcAft>
            </a:pPr>
            <a:r>
              <a:rPr sz="1400" b="1" i="0">
                <a:solidFill>
                  <a:srgbClr val="111827"/>
                </a:solidFill>
                <a:latin typeface="Times New Roman"/>
              </a:rPr>
              <a:t>browser engines clean</a:t>
            </a:r>
          </a:p>
        </p:txBody>
      </p:sp>
      <p:sp>
        <p:nvSpPr>
          <p:cNvPr id="19" name="TextBox 18"/>
          <p:cNvSpPr txBox="1"/>
          <p:nvPr/>
        </p:nvSpPr>
        <p:spPr>
          <a:xfrm>
            <a:off x="9628631" y="2057400"/>
            <a:ext cx="2002536" cy="365760"/>
          </a:xfrm>
          <a:prstGeom prst="rect">
            <a:avLst/>
          </a:prstGeom>
          <a:noFill/>
        </p:spPr>
        <p:txBody>
          <a:bodyPr wrap="square" lIns="0" rIns="0" tIns="0" bIns="0" anchor="t">
            <a:noAutofit/>
          </a:bodyPr>
          <a:lstStyle/>
          <a:p>
            <a:pPr algn="l">
              <a:spcBef>
                <a:spcPts val="0"/>
              </a:spcBef>
              <a:spcAft>
                <a:spcPts val="0"/>
              </a:spcAft>
            </a:pPr>
            <a:r>
              <a:rPr sz="1200" b="0" i="0">
                <a:solidFill>
                  <a:srgbClr val="475569"/>
                </a:solidFill>
                <a:latin typeface="Times New Roman"/>
              </a:rPr>
              <a:t>Chromium · Firefox · WebKit</a:t>
            </a:r>
          </a:p>
        </p:txBody>
      </p:sp>
      <p:graphicFrame>
        <p:nvGraphicFramePr>
          <p:cNvPr id="20" name="Chart 19"/>
          <p:cNvGraphicFramePr>
            <a:graphicFrameLocks noGrp="1"/>
          </p:cNvGraphicFramePr>
          <p:nvPr/>
        </p:nvGraphicFramePr>
        <p:xfrm>
          <a:off x="1783080" y="2743200"/>
          <a:ext cx="5577840" cy="3520440"/>
        </p:xfrm>
        <a:graphic>
          <a:graphicData uri="http://schemas.openxmlformats.org/drawingml/2006/chart">
            <c:chart xmlns:c="http://schemas.openxmlformats.org/drawingml/2006/chart" r:id="rId3"/>
          </a:graphicData>
        </a:graphic>
      </p:graphicFrame>
      <p:sp>
        <p:nvSpPr>
          <p:cNvPr id="21" name="Rounded Rectangle 20"/>
          <p:cNvSpPr/>
          <p:nvPr/>
        </p:nvSpPr>
        <p:spPr>
          <a:xfrm>
            <a:off x="7543800" y="2743200"/>
            <a:ext cx="4251959" cy="3520440"/>
          </a:xfrm>
          <a:prstGeom prst="roundRect">
            <a:avLst>
              <a:gd name="adj" fmla="val 3636"/>
            </a:avLst>
          </a:prstGeom>
          <a:solidFill>
            <a:srgbClr val="F1F5F9"/>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22" name="TextBox 21"/>
          <p:cNvSpPr txBox="1"/>
          <p:nvPr/>
        </p:nvSpPr>
        <p:spPr>
          <a:xfrm>
            <a:off x="7708392" y="2871216"/>
            <a:ext cx="3922775" cy="3300984"/>
          </a:xfrm>
          <a:prstGeom prst="rect">
            <a:avLst/>
          </a:prstGeom>
          <a:noFill/>
        </p:spPr>
        <p:txBody>
          <a:bodyPr wrap="square" lIns="0" rIns="0" tIns="0" bIns="0" anchor="t">
            <a:noAutofit/>
          </a:bodyPr>
          <a:lstStyle/>
          <a:p>
            <a:pPr algn="l">
              <a:spcBef>
                <a:spcPts val="0"/>
              </a:spcBef>
              <a:spcAft>
                <a:spcPts val="600"/>
              </a:spcAft>
            </a:pPr>
            <a:r>
              <a:rPr sz="1800" b="1" i="0">
                <a:solidFill>
                  <a:srgbClr val="111827"/>
                </a:solidFill>
                <a:latin typeface="Times New Roman"/>
              </a:rPr>
              <a:t>Also verified</a:t>
            </a:r>
          </a:p>
          <a:p>
            <a:pPr algn="l" marL="201168" indent="-201168">
              <a:spcBef>
                <a:spcPts val="0"/>
              </a:spcBef>
              <a:spcAft>
                <a:spcPts val="800"/>
              </a:spcAft>
              <a:buFont typeface="Arial"/>
              <a:buChar char="•"/>
            </a:pPr>
            <a:r>
              <a:rPr sz="1500" b="1" i="0">
                <a:solidFill>
                  <a:srgbClr val="111827"/>
                </a:solidFill>
                <a:latin typeface="Times New Roman"/>
              </a:rPr>
              <a:t>20 machines</a:t>
            </a:r>
            <a:r>
              <a:rPr sz="1500" b="0" i="0">
                <a:solidFill>
                  <a:srgbClr val="111827"/>
                </a:solidFill>
                <a:latin typeface="Times New Roman"/>
              </a:rPr>
              <a:t> run normally: p95 update 0.51 s</a:t>
            </a:r>
          </a:p>
          <a:p>
            <a:pPr algn="l" marL="201168" indent="-201168">
              <a:spcBef>
                <a:spcPts val="0"/>
              </a:spcBef>
              <a:spcAft>
                <a:spcPts val="800"/>
              </a:spcAft>
              <a:buFont typeface="Arial"/>
              <a:buChar char="•"/>
            </a:pPr>
            <a:r>
              <a:rPr sz="1500" b="1" i="0">
                <a:solidFill>
                  <a:srgbClr val="111827"/>
                </a:solidFill>
                <a:latin typeface="Times New Roman"/>
              </a:rPr>
              <a:t>Databases:</a:t>
            </a:r>
            <a:r>
              <a:rPr sz="1500" b="0" i="0">
                <a:solidFill>
                  <a:srgbClr val="111827"/>
                </a:solidFill>
                <a:latin typeface="Times New Roman"/>
              </a:rPr>
              <a:t> alerts, acknowledgements, feedback and maintenance survive a backend restart</a:t>
            </a:r>
          </a:p>
          <a:p>
            <a:pPr algn="l" marL="201168" indent="-201168">
              <a:spcBef>
                <a:spcPts val="0"/>
              </a:spcBef>
              <a:spcAft>
                <a:spcPts val="800"/>
              </a:spcAft>
              <a:buFont typeface="Arial"/>
              <a:buChar char="•"/>
            </a:pPr>
            <a:r>
              <a:rPr sz="1500" b="1" i="0">
                <a:solidFill>
                  <a:srgbClr val="111827"/>
                </a:solidFill>
                <a:latin typeface="Times New Roman"/>
              </a:rPr>
              <a:t>Broker kill test:</a:t>
            </a:r>
            <a:r>
              <a:rPr sz="1500" b="0" i="0">
                <a:solidFill>
                  <a:srgbClr val="111827"/>
                </a:solidFill>
                <a:latin typeface="Times New Roman"/>
              </a:rPr>
              <a:t> backend reconnects and data resumes in 1.9 s</a:t>
            </a:r>
          </a:p>
          <a:p>
            <a:pPr algn="l" marL="201168" indent="-201168">
              <a:spcBef>
                <a:spcPts val="0"/>
              </a:spcBef>
              <a:spcAft>
                <a:spcPts val="800"/>
              </a:spcAft>
              <a:buFont typeface="Arial"/>
              <a:buChar char="•"/>
            </a:pPr>
            <a:r>
              <a:rPr sz="1500" b="0" i="0">
                <a:solidFill>
                  <a:srgbClr val="111827"/>
                </a:solidFill>
                <a:latin typeface="Times New Roman"/>
              </a:rPr>
              <a:t>Fault injection needs a login (HTTP 401 without)</a:t>
            </a:r>
          </a:p>
          <a:p>
            <a:pPr algn="l" marL="201168" indent="-201168">
              <a:spcBef>
                <a:spcPts val="0"/>
              </a:spcBef>
              <a:spcAft>
                <a:spcPts val="800"/>
              </a:spcAft>
              <a:buFont typeface="Arial"/>
              <a:buChar char="•"/>
            </a:pPr>
            <a:r>
              <a:rPr sz="1500" b="0" i="0">
                <a:solidFill>
                  <a:srgbClr val="111827"/>
                </a:solidFill>
                <a:latin typeface="Times New Roman"/>
              </a:rPr>
              <a:t>Orange raised ≈ 28 s before Red at 85.3 °C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Requirement-to-Test Traceability (SRS §13.3)</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graphicFrame>
        <p:nvGraphicFramePr>
          <p:cNvPr id="4" name="Table 3"/>
          <p:cNvGraphicFramePr>
            <a:graphicFrameLocks noGrp="1"/>
          </p:cNvGraphicFramePr>
          <p:nvPr/>
        </p:nvGraphicFramePr>
        <p:xfrm>
          <a:off x="1783080" y="1005840"/>
          <a:ext cx="10012680" cy="4869180"/>
        </p:xfrm>
        <a:graphic>
          <a:graphicData uri="http://schemas.openxmlformats.org/drawingml/2006/table">
            <a:tbl>
              <a:tblPr firstRow="1" bandRow="1">
                <a:tableStyleId>{5C22544A-7EE6-4342-B048-85BDC9FD1C3A}</a:tableStyleId>
              </a:tblPr>
              <a:tblGrid>
                <a:gridCol w="1600200"/>
                <a:gridCol w="2514600"/>
                <a:gridCol w="4892040"/>
                <a:gridCol w="1005840"/>
              </a:tblGrid>
              <a:tr h="324612">
                <a:tc>
                  <a:txBody>
                    <a:bodyPr/>
                    <a:lstStyle/>
                    <a:p>
                      <a:pPr algn="l"/>
                      <a:r>
                        <a:rPr sz="1200" b="1">
                          <a:solidFill>
                            <a:srgbClr val="FFFFFF"/>
                          </a:solidFill>
                          <a:latin typeface="Times New Roman"/>
                        </a:rPr>
                        <a:t>ID</a:t>
                      </a:r>
                    </a:p>
                  </a:txBody>
                  <a:tcPr marL="73152" marR="73152" marT="18288" marB="18288" anchor="ctr">
                    <a:solidFill>
                      <a:srgbClr val="C00000"/>
                    </a:solidFill>
                  </a:tcPr>
                </a:tc>
                <a:tc>
                  <a:txBody>
                    <a:bodyPr/>
                    <a:lstStyle/>
                    <a:p>
                      <a:pPr algn="l"/>
                      <a:r>
                        <a:rPr sz="1200" b="1">
                          <a:solidFill>
                            <a:srgbClr val="FFFFFF"/>
                          </a:solidFill>
                          <a:latin typeface="Times New Roman"/>
                        </a:rPr>
                        <a:t>Requirement</a:t>
                      </a:r>
                    </a:p>
                  </a:txBody>
                  <a:tcPr marL="73152" marR="73152" marT="18288" marB="18288" anchor="ctr">
                    <a:solidFill>
                      <a:srgbClr val="C00000"/>
                    </a:solidFill>
                  </a:tcPr>
                </a:tc>
                <a:tc>
                  <a:txBody>
                    <a:bodyPr/>
                    <a:lstStyle/>
                    <a:p>
                      <a:pPr algn="l"/>
                      <a:r>
                        <a:rPr sz="1200" b="1">
                          <a:solidFill>
                            <a:srgbClr val="FFFFFF"/>
                          </a:solidFill>
                          <a:latin typeface="Times New Roman"/>
                        </a:rPr>
                        <a:t>Verified by</a:t>
                      </a:r>
                    </a:p>
                  </a:txBody>
                  <a:tcPr marL="73152" marR="73152" marT="18288" marB="18288" anchor="ctr">
                    <a:solidFill>
                      <a:srgbClr val="C00000"/>
                    </a:solidFill>
                  </a:tcPr>
                </a:tc>
                <a:tc>
                  <a:txBody>
                    <a:bodyPr/>
                    <a:lstStyle/>
                    <a:p>
                      <a:pPr algn="l"/>
                      <a:r>
                        <a:rPr sz="1200" b="1">
                          <a:solidFill>
                            <a:srgbClr val="FFFFFF"/>
                          </a:solidFill>
                          <a:latin typeface="Times New Roman"/>
                        </a:rPr>
                        <a:t>Result</a:t>
                      </a:r>
                    </a:p>
                  </a:txBody>
                  <a:tcPr marL="73152" marR="73152" marT="18288" marB="18288" anchor="ctr">
                    <a:solidFill>
                      <a:srgbClr val="C00000"/>
                    </a:solidFill>
                  </a:tcPr>
                </a:tc>
              </a:tr>
              <a:tr h="324612">
                <a:tc>
                  <a:txBody>
                    <a:bodyPr/>
                    <a:lstStyle/>
                    <a:p>
                      <a:pPr algn="l"/>
                      <a:r>
                        <a:rPr sz="1200" b="1">
                          <a:solidFill>
                            <a:srgbClr val="111827"/>
                          </a:solidFill>
                          <a:latin typeface="Times New Roman"/>
                        </a:rPr>
                        <a:t>FR-01</a:t>
                      </a:r>
                    </a:p>
                  </a:txBody>
                  <a:tcPr marL="73152" marR="73152" marT="18288" marB="18288" anchor="ctr">
                    <a:solidFill>
                      <a:srgbClr val="F1F5F9"/>
                    </a:solidFill>
                  </a:tcPr>
                </a:tc>
                <a:tc>
                  <a:txBody>
                    <a:bodyPr/>
                    <a:lstStyle/>
                    <a:p>
                      <a:pPr algn="l"/>
                      <a:r>
                        <a:rPr sz="1200" b="0">
                          <a:solidFill>
                            <a:srgbClr val="111827"/>
                          </a:solidFill>
                          <a:latin typeface="Times New Roman"/>
                        </a:rPr>
                        <a:t>Virtual factory simulation</a:t>
                      </a:r>
                    </a:p>
                  </a:txBody>
                  <a:tcPr marL="73152" marR="73152" marT="18288" marB="18288" anchor="ctr">
                    <a:solidFill>
                      <a:srgbClr val="F1F5F9"/>
                    </a:solidFill>
                  </a:tcPr>
                </a:tc>
                <a:tc>
                  <a:txBody>
                    <a:bodyPr/>
                    <a:lstStyle/>
                    <a:p>
                      <a:pPr algn="l"/>
                      <a:r>
                        <a:rPr sz="1200" b="0">
                          <a:solidFill>
                            <a:srgbClr val="111827"/>
                          </a:solidFill>
                          <a:latin typeface="Times New Roman"/>
                        </a:rPr>
                        <a:t>Smoke test: 5 machines streaming; MQTT test: telemetry flows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FR-02</a:t>
                      </a:r>
                    </a:p>
                  </a:txBody>
                  <a:tcPr marL="73152" marR="73152" marT="18288" marB="18288" anchor="ctr">
                    <a:solidFill>
                      <a:srgbClr val="FFFFFF"/>
                    </a:solidFill>
                  </a:tcPr>
                </a:tc>
                <a:tc>
                  <a:txBody>
                    <a:bodyPr/>
                    <a:lstStyle/>
                    <a:p>
                      <a:pPr algn="l"/>
                      <a:r>
                        <a:rPr sz="1200" b="0">
                          <a:solidFill>
                            <a:srgbClr val="111827"/>
                          </a:solidFill>
                          <a:latin typeface="Times New Roman"/>
                        </a:rPr>
                        <a:t>OEE calculation</a:t>
                      </a:r>
                    </a:p>
                  </a:txBody>
                  <a:tcPr marL="73152" marR="73152" marT="18288" marB="18288" anchor="ctr">
                    <a:solidFill>
                      <a:srgbClr val="FFFFFF"/>
                    </a:solidFill>
                  </a:tcPr>
                </a:tc>
                <a:tc>
                  <a:txBody>
                    <a:bodyPr/>
                    <a:lstStyle/>
                    <a:p>
                      <a:pPr algn="l"/>
                      <a:r>
                        <a:rPr sz="1200" b="0">
                          <a:solidFill>
                            <a:srgbClr val="111827"/>
                          </a:solidFill>
                          <a:latin typeface="Times New Roman"/>
                        </a:rPr>
                        <a:t>Unit tests: exact formula, window roll-off, counter reset</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FR-03</a:t>
                      </a:r>
                    </a:p>
                  </a:txBody>
                  <a:tcPr marL="73152" marR="73152" marT="18288" marB="18288" anchor="ctr">
                    <a:solidFill>
                      <a:srgbClr val="F1F5F9"/>
                    </a:solidFill>
                  </a:tcPr>
                </a:tc>
                <a:tc>
                  <a:txBody>
                    <a:bodyPr/>
                    <a:lstStyle/>
                    <a:p>
                      <a:pPr algn="l"/>
                      <a:r>
                        <a:rPr sz="1200" b="0">
                          <a:solidFill>
                            <a:srgbClr val="111827"/>
                          </a:solidFill>
                          <a:latin typeface="Times New Roman"/>
                        </a:rPr>
                        <a:t>Rule-based alerting</a:t>
                      </a:r>
                    </a:p>
                  </a:txBody>
                  <a:tcPr marL="73152" marR="73152" marT="18288" marB="18288" anchor="ctr">
                    <a:solidFill>
                      <a:srgbClr val="F1F5F9"/>
                    </a:solidFill>
                  </a:tcPr>
                </a:tc>
                <a:tc>
                  <a:txBody>
                    <a:bodyPr/>
                    <a:lstStyle/>
                    <a:p>
                      <a:pPr algn="l"/>
                      <a:r>
                        <a:rPr sz="1200" b="0">
                          <a:solidFill>
                            <a:srgbClr val="111827"/>
                          </a:solidFill>
                          <a:latin typeface="Times New Roman"/>
                        </a:rPr>
                        <a:t>Unit test on limits; smoke: Red when temperature &gt; 85 °C</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FR-04</a:t>
                      </a:r>
                    </a:p>
                  </a:txBody>
                  <a:tcPr marL="73152" marR="73152" marT="18288" marB="18288" anchor="ctr">
                    <a:solidFill>
                      <a:srgbClr val="FFFFFF"/>
                    </a:solidFill>
                  </a:tcPr>
                </a:tc>
                <a:tc>
                  <a:txBody>
                    <a:bodyPr/>
                    <a:lstStyle/>
                    <a:p>
                      <a:pPr algn="l"/>
                      <a:r>
                        <a:rPr sz="1200" b="0">
                          <a:solidFill>
                            <a:srgbClr val="111827"/>
                          </a:solidFill>
                          <a:latin typeface="Times New Roman"/>
                        </a:rPr>
                        <a:t>ML anomaly scoring</a:t>
                      </a:r>
                    </a:p>
                  </a:txBody>
                  <a:tcPr marL="73152" marR="73152" marT="18288" marB="18288" anchor="ctr">
                    <a:solidFill>
                      <a:srgbClr val="FFFFFF"/>
                    </a:solidFill>
                  </a:tcPr>
                </a:tc>
                <a:tc>
                  <a:txBody>
                    <a:bodyPr/>
                    <a:lstStyle/>
                    <a:p>
                      <a:pPr algn="l"/>
                      <a:r>
                        <a:rPr sz="1200" b="0">
                          <a:solidFill>
                            <a:srgbClr val="111827"/>
                          </a:solidFill>
                          <a:latin typeface="Times New Roman"/>
                        </a:rPr>
                        <a:t>Unit test: normal low, fault high, fast; smoke: Yellow</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FR-05</a:t>
                      </a:r>
                    </a:p>
                  </a:txBody>
                  <a:tcPr marL="73152" marR="73152" marT="18288" marB="18288" anchor="ctr">
                    <a:solidFill>
                      <a:srgbClr val="F1F5F9"/>
                    </a:solidFill>
                  </a:tcPr>
                </a:tc>
                <a:tc>
                  <a:txBody>
                    <a:bodyPr/>
                    <a:lstStyle/>
                    <a:p>
                      <a:pPr algn="l"/>
                      <a:r>
                        <a:rPr sz="1200" b="0">
                          <a:solidFill>
                            <a:srgbClr val="111827"/>
                          </a:solidFill>
                          <a:latin typeface="Times New Roman"/>
                        </a:rPr>
                        <a:t>Interactive dashboard</a:t>
                      </a:r>
                    </a:p>
                  </a:txBody>
                  <a:tcPr marL="73152" marR="73152" marT="18288" marB="18288" anchor="ctr">
                    <a:solidFill>
                      <a:srgbClr val="F1F5F9"/>
                    </a:solidFill>
                  </a:tcPr>
                </a:tc>
                <a:tc>
                  <a:txBody>
                    <a:bodyPr/>
                    <a:lstStyle/>
                    <a:p>
                      <a:pPr algn="l"/>
                      <a:r>
                        <a:rPr sz="1200" b="0">
                          <a:solidFill>
                            <a:srgbClr val="111827"/>
                          </a:solidFill>
                          <a:latin typeface="Times New Roman"/>
                        </a:rPr>
                        <a:t>3-browser check, axe audit, screenshots of every page</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FR-06</a:t>
                      </a:r>
                    </a:p>
                  </a:txBody>
                  <a:tcPr marL="73152" marR="73152" marT="18288" marB="18288" anchor="ctr">
                    <a:solidFill>
                      <a:srgbClr val="FFFFFF"/>
                    </a:solidFill>
                  </a:tcPr>
                </a:tc>
                <a:tc>
                  <a:txBody>
                    <a:bodyPr/>
                    <a:lstStyle/>
                    <a:p>
                      <a:pPr algn="l"/>
                      <a:r>
                        <a:rPr sz="1200" b="0">
                          <a:solidFill>
                            <a:srgbClr val="111827"/>
                          </a:solidFill>
                          <a:latin typeface="Times New Roman"/>
                        </a:rPr>
                        <a:t>Maintenance logging</a:t>
                      </a:r>
                    </a:p>
                  </a:txBody>
                  <a:tcPr marL="73152" marR="73152" marT="18288" marB="18288" anchor="ctr">
                    <a:solidFill>
                      <a:srgbClr val="FFFFFF"/>
                    </a:solidFill>
                  </a:tcPr>
                </a:tc>
                <a:tc>
                  <a:txBody>
                    <a:bodyPr/>
                    <a:lstStyle/>
                    <a:p>
                      <a:pPr algn="l"/>
                      <a:r>
                        <a:rPr sz="1200" b="0">
                          <a:solidFill>
                            <a:srgbClr val="111827"/>
                          </a:solidFill>
                          <a:latin typeface="Times New Roman"/>
                        </a:rPr>
                        <a:t>API tests (CRUD, acknowledge, feedback); live PostgreSQL round-trip</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FR-07</a:t>
                      </a:r>
                    </a:p>
                  </a:txBody>
                  <a:tcPr marL="73152" marR="73152" marT="18288" marB="18288" anchor="ctr">
                    <a:solidFill>
                      <a:srgbClr val="F1F5F9"/>
                    </a:solidFill>
                  </a:tcPr>
                </a:tc>
                <a:tc>
                  <a:txBody>
                    <a:bodyPr/>
                    <a:lstStyle/>
                    <a:p>
                      <a:pPr algn="l"/>
                      <a:r>
                        <a:rPr sz="1200" b="0">
                          <a:solidFill>
                            <a:srgbClr val="111827"/>
                          </a:solidFill>
                          <a:latin typeface="Times New Roman"/>
                        </a:rPr>
                        <a:t>What-If simulator</a:t>
                      </a:r>
                    </a:p>
                  </a:txBody>
                  <a:tcPr marL="73152" marR="73152" marT="18288" marB="18288" anchor="ctr">
                    <a:solidFill>
                      <a:srgbClr val="F1F5F9"/>
                    </a:solidFill>
                  </a:tcPr>
                </a:tc>
                <a:tc>
                  <a:txBody>
                    <a:bodyPr/>
                    <a:lstStyle/>
                    <a:p>
                      <a:pPr algn="l"/>
                      <a:r>
                        <a:rPr sz="1200" b="0">
                          <a:solidFill>
                            <a:srgbClr val="111827"/>
                          </a:solidFill>
                          <a:latin typeface="Times New Roman"/>
                        </a:rPr>
                        <a:t>Unit tests (slope, projection); smoke: Orange with ETA before Red</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FR-08</a:t>
                      </a:r>
                    </a:p>
                  </a:txBody>
                  <a:tcPr marL="73152" marR="73152" marT="18288" marB="18288" anchor="ctr">
                    <a:solidFill>
                      <a:srgbClr val="FFFFFF"/>
                    </a:solidFill>
                  </a:tcPr>
                </a:tc>
                <a:tc>
                  <a:txBody>
                    <a:bodyPr/>
                    <a:lstStyle/>
                    <a:p>
                      <a:pPr algn="l"/>
                      <a:r>
                        <a:rPr sz="1200" b="0">
                          <a:solidFill>
                            <a:srgbClr val="111827"/>
                          </a:solidFill>
                          <a:latin typeface="Times New Roman"/>
                        </a:rPr>
                        <a:t>Historical reporting</a:t>
                      </a:r>
                    </a:p>
                  </a:txBody>
                  <a:tcPr marL="73152" marR="73152" marT="18288" marB="18288" anchor="ctr">
                    <a:solidFill>
                      <a:srgbClr val="FFFFFF"/>
                    </a:solidFill>
                  </a:tcPr>
                </a:tc>
                <a:tc>
                  <a:txBody>
                    <a:bodyPr/>
                    <a:lstStyle/>
                    <a:p>
                      <a:pPr algn="l"/>
                      <a:r>
                        <a:rPr sz="1200" b="0">
                          <a:solidFill>
                            <a:srgbClr val="111827"/>
                          </a:solidFill>
                          <a:latin typeface="Times New Roman"/>
                        </a:rPr>
                        <a:t>API test: OEE trend, downtime and ML-accuracy reports</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FR-09</a:t>
                      </a:r>
                    </a:p>
                  </a:txBody>
                  <a:tcPr marL="73152" marR="73152" marT="18288" marB="18288" anchor="ctr">
                    <a:solidFill>
                      <a:srgbClr val="F1F5F9"/>
                    </a:solidFill>
                  </a:tcPr>
                </a:tc>
                <a:tc>
                  <a:txBody>
                    <a:bodyPr/>
                    <a:lstStyle/>
                    <a:p>
                      <a:pPr algn="l"/>
                      <a:r>
                        <a:rPr sz="1200" b="0">
                          <a:solidFill>
                            <a:srgbClr val="111827"/>
                          </a:solidFill>
                          <a:latin typeface="Times New Roman"/>
                        </a:rPr>
                        <a:t>Telemetry validation</a:t>
                      </a:r>
                    </a:p>
                  </a:txBody>
                  <a:tcPr marL="73152" marR="73152" marT="18288" marB="18288" anchor="ctr">
                    <a:solidFill>
                      <a:srgbClr val="F1F5F9"/>
                    </a:solidFill>
                  </a:tcPr>
                </a:tc>
                <a:tc>
                  <a:txBody>
                    <a:bodyPr/>
                    <a:lstStyle/>
                    <a:p>
                      <a:pPr algn="l"/>
                      <a:r>
                        <a:rPr sz="1200" b="0">
                          <a:solidFill>
                            <a:srgbClr val="111827"/>
                          </a:solidFill>
                          <a:latin typeface="Times New Roman"/>
                        </a:rPr>
                        <a:t>Unit and API tests reject bad payloads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FR-10</a:t>
                      </a:r>
                    </a:p>
                  </a:txBody>
                  <a:tcPr marL="73152" marR="73152" marT="18288" marB="18288" anchor="ctr">
                    <a:solidFill>
                      <a:srgbClr val="FFFFFF"/>
                    </a:solidFill>
                  </a:tcPr>
                </a:tc>
                <a:tc>
                  <a:txBody>
                    <a:bodyPr/>
                    <a:lstStyle/>
                    <a:p>
                      <a:pPr algn="l"/>
                      <a:r>
                        <a:rPr sz="1200" b="0">
                          <a:solidFill>
                            <a:srgbClr val="111827"/>
                          </a:solidFill>
                          <a:latin typeface="Times New Roman"/>
                        </a:rPr>
                        <a:t>Authentication</a:t>
                      </a:r>
                    </a:p>
                  </a:txBody>
                  <a:tcPr marL="73152" marR="73152" marT="18288" marB="18288" anchor="ctr">
                    <a:solidFill>
                      <a:srgbClr val="FFFFFF"/>
                    </a:solidFill>
                  </a:tcPr>
                </a:tc>
                <a:tc>
                  <a:txBody>
                    <a:bodyPr/>
                    <a:lstStyle/>
                    <a:p>
                      <a:pPr algn="l"/>
                      <a:r>
                        <a:rPr sz="1200" b="0">
                          <a:solidFill>
                            <a:srgbClr val="111827"/>
                          </a:solidFill>
                          <a:latin typeface="Times New Roman"/>
                        </a:rPr>
                        <a:t>Smoke: HTTP 401 without login; role and throttle tests</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FR-11</a:t>
                      </a:r>
                    </a:p>
                  </a:txBody>
                  <a:tcPr marL="73152" marR="73152" marT="18288" marB="18288" anchor="ctr">
                    <a:solidFill>
                      <a:srgbClr val="F1F5F9"/>
                    </a:solidFill>
                  </a:tcPr>
                </a:tc>
                <a:tc>
                  <a:txBody>
                    <a:bodyPr/>
                    <a:lstStyle/>
                    <a:p>
                      <a:pPr algn="l"/>
                      <a:r>
                        <a:rPr sz="1200" b="0">
                          <a:solidFill>
                            <a:srgbClr val="111827"/>
                          </a:solidFill>
                          <a:latin typeface="Times New Roman"/>
                        </a:rPr>
                        <a:t>Scalability 5 → 20</a:t>
                      </a:r>
                    </a:p>
                  </a:txBody>
                  <a:tcPr marL="73152" marR="73152" marT="18288" marB="18288" anchor="ctr">
                    <a:solidFill>
                      <a:srgbClr val="F1F5F9"/>
                    </a:solidFill>
                  </a:tcPr>
                </a:tc>
                <a:tc>
                  <a:txBody>
                    <a:bodyPr/>
                    <a:lstStyle/>
                    <a:p>
                      <a:pPr algn="l"/>
                      <a:r>
                        <a:rPr sz="1200" b="0">
                          <a:solidFill>
                            <a:srgbClr val="111827"/>
                          </a:solidFill>
                          <a:latin typeface="Times New Roman"/>
                        </a:rPr>
                        <a:t>Run with 20 machines: all live, p95 update 0.51 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FR-12</a:t>
                      </a:r>
                    </a:p>
                  </a:txBody>
                  <a:tcPr marL="73152" marR="73152" marT="18288" marB="18288" anchor="ctr">
                    <a:solidFill>
                      <a:srgbClr val="FFFFFF"/>
                    </a:solidFill>
                  </a:tcPr>
                </a:tc>
                <a:tc>
                  <a:txBody>
                    <a:bodyPr/>
                    <a:lstStyle/>
                    <a:p>
                      <a:pPr algn="l"/>
                      <a:r>
                        <a:rPr sz="1200" b="0">
                          <a:solidFill>
                            <a:srgbClr val="111827"/>
                          </a:solidFill>
                          <a:latin typeface="Times New Roman"/>
                        </a:rPr>
                        <a:t>Auto-documentation</a:t>
                      </a:r>
                    </a:p>
                  </a:txBody>
                  <a:tcPr marL="73152" marR="73152" marT="18288" marB="18288" anchor="ctr">
                    <a:solidFill>
                      <a:srgbClr val="FFFFFF"/>
                    </a:solidFill>
                  </a:tcPr>
                </a:tc>
                <a:tc>
                  <a:txBody>
                    <a:bodyPr/>
                    <a:lstStyle/>
                    <a:p>
                      <a:pPr algn="l"/>
                      <a:r>
                        <a:rPr sz="1200" b="0">
                          <a:solidFill>
                            <a:srgbClr val="111827"/>
                          </a:solidFill>
                          <a:latin typeface="Times New Roman"/>
                        </a:rPr>
                        <a:t>API test: /docs and OpenAPI schema served</a:t>
                      </a:r>
                    </a:p>
                  </a:txBody>
                  <a:tcPr marL="73152" marR="73152" marT="18288" marB="18288" anchor="ctr">
                    <a:solidFill>
                      <a:srgbClr val="FFFFFF"/>
                    </a:solidFill>
                  </a:tcPr>
                </a:tc>
                <a:tc>
                  <a:txBody>
                    <a:bodyPr/>
                    <a:lstStyle/>
                    <a:p>
                      <a:pPr algn="l"/>
                      <a:r>
                        <a:rPr sz="1200" b="1">
                          <a:solidFill>
                            <a:srgbClr val="375623"/>
                          </a:solidFill>
                          <a:latin typeface="Times New Roman"/>
                        </a:rPr>
                        <a:t>Pass</a:t>
                      </a:r>
                    </a:p>
                  </a:txBody>
                  <a:tcPr marL="73152" marR="73152" marT="18288" marB="18288" anchor="ctr">
                    <a:solidFill>
                      <a:srgbClr val="FFFFFF"/>
                    </a:solidFill>
                  </a:tcPr>
                </a:tc>
              </a:tr>
              <a:tr h="324612">
                <a:tc>
                  <a:txBody>
                    <a:bodyPr/>
                    <a:lstStyle/>
                    <a:p>
                      <a:pPr algn="l"/>
                      <a:r>
                        <a:rPr sz="1200" b="1">
                          <a:solidFill>
                            <a:srgbClr val="111827"/>
                          </a:solidFill>
                          <a:latin typeface="Times New Roman"/>
                        </a:rPr>
                        <a:t>NFR-P · R · SC</a:t>
                      </a:r>
                    </a:p>
                  </a:txBody>
                  <a:tcPr marL="73152" marR="73152" marT="18288" marB="18288" anchor="ctr">
                    <a:solidFill>
                      <a:srgbClr val="F1F5F9"/>
                    </a:solidFill>
                  </a:tcPr>
                </a:tc>
                <a:tc>
                  <a:txBody>
                    <a:bodyPr/>
                    <a:lstStyle/>
                    <a:p>
                      <a:pPr algn="l"/>
                      <a:r>
                        <a:rPr sz="1200" b="0">
                          <a:solidFill>
                            <a:srgbClr val="111827"/>
                          </a:solidFill>
                          <a:latin typeface="Times New Roman"/>
                        </a:rPr>
                        <a:t>Speed, resilience, scale</a:t>
                      </a:r>
                    </a:p>
                  </a:txBody>
                  <a:tcPr marL="73152" marR="73152" marT="18288" marB="18288" anchor="ctr">
                    <a:solidFill>
                      <a:srgbClr val="F1F5F9"/>
                    </a:solidFill>
                  </a:tcPr>
                </a:tc>
                <a:tc>
                  <a:txBody>
                    <a:bodyPr/>
                    <a:lstStyle/>
                    <a:p>
                      <a:pPr algn="l"/>
                      <a:r>
                        <a:rPr sz="1200" b="0">
                          <a:solidFill>
                            <a:srgbClr val="111827"/>
                          </a:solidFill>
                          <a:latin typeface="Times New Roman"/>
                        </a:rPr>
                        <a:t>p95 0.51 s · ML ≤ 25 ms · ML outage test · reconnect 1.9 s · 50 / 50 clients</a:t>
                      </a:r>
                    </a:p>
                  </a:txBody>
                  <a:tcPr marL="73152" marR="73152" marT="18288" marB="18288" anchor="ctr">
                    <a:solidFill>
                      <a:srgbClr val="F1F5F9"/>
                    </a:solidFill>
                  </a:tcPr>
                </a:tc>
                <a:tc>
                  <a:txBody>
                    <a:bodyPr/>
                    <a:lstStyle/>
                    <a:p>
                      <a:pPr algn="l"/>
                      <a:r>
                        <a:rPr sz="1200" b="1">
                          <a:solidFill>
                            <a:srgbClr val="375623"/>
                          </a:solidFill>
                          <a:latin typeface="Times New Roman"/>
                        </a:rPr>
                        <a:t>Pass</a:t>
                      </a:r>
                    </a:p>
                  </a:txBody>
                  <a:tcPr marL="73152" marR="73152" marT="18288" marB="18288" anchor="ctr">
                    <a:solidFill>
                      <a:srgbClr val="F1F5F9"/>
                    </a:solidFill>
                  </a:tcPr>
                </a:tc>
              </a:tr>
              <a:tr h="324612">
                <a:tc>
                  <a:txBody>
                    <a:bodyPr/>
                    <a:lstStyle/>
                    <a:p>
                      <a:pPr algn="l"/>
                      <a:r>
                        <a:rPr sz="1200" b="1">
                          <a:solidFill>
                            <a:srgbClr val="111827"/>
                          </a:solidFill>
                          <a:latin typeface="Times New Roman"/>
                        </a:rPr>
                        <a:t>NFR-M1, R3</a:t>
                      </a:r>
                    </a:p>
                  </a:txBody>
                  <a:tcPr marL="73152" marR="73152" marT="18288" marB="18288" anchor="ctr">
                    <a:solidFill>
                      <a:srgbClr val="FFFFFF"/>
                    </a:solidFill>
                  </a:tcPr>
                </a:tc>
                <a:tc>
                  <a:txBody>
                    <a:bodyPr/>
                    <a:lstStyle/>
                    <a:p>
                      <a:pPr algn="l"/>
                      <a:r>
                        <a:rPr sz="1200" b="0">
                          <a:solidFill>
                            <a:srgbClr val="111827"/>
                          </a:solidFill>
                          <a:latin typeface="Times New Roman"/>
                        </a:rPr>
                        <a:t>One command, persistent volumes</a:t>
                      </a:r>
                    </a:p>
                  </a:txBody>
                  <a:tcPr marL="73152" marR="73152" marT="18288" marB="18288" anchor="ctr">
                    <a:solidFill>
                      <a:srgbClr val="FFFFFF"/>
                    </a:solidFill>
                  </a:tcPr>
                </a:tc>
                <a:tc>
                  <a:txBody>
                    <a:bodyPr/>
                    <a:lstStyle/>
                    <a:p>
                      <a:pPr algn="l"/>
                      <a:r>
                        <a:rPr sz="1200" b="0">
                          <a:solidFill>
                            <a:srgbClr val="111827"/>
                          </a:solidFill>
                          <a:latin typeface="Times New Roman"/>
                        </a:rPr>
                        <a:t>Compose files and volumes written; full-stack run to be confirmed</a:t>
                      </a:r>
                    </a:p>
                  </a:txBody>
                  <a:tcPr marL="73152" marR="73152" marT="18288" marB="18288" anchor="ctr">
                    <a:solidFill>
                      <a:srgbClr val="FFFFFF"/>
                    </a:solidFill>
                  </a:tcPr>
                </a:tc>
                <a:tc>
                  <a:txBody>
                    <a:bodyPr/>
                    <a:lstStyle/>
                    <a:p>
                      <a:pPr algn="l"/>
                      <a:r>
                        <a:rPr sz="1200" b="1">
                          <a:solidFill>
                            <a:srgbClr val="C00000"/>
                          </a:solidFill>
                          <a:latin typeface="Times New Roman"/>
                        </a:rPr>
                        <a:t>To confirm</a:t>
                      </a:r>
                    </a:p>
                  </a:txBody>
                  <a:tcPr marL="73152" marR="73152" marT="18288" marB="18288"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Advantages, Limitations &amp; Applications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3185159" cy="4526280"/>
          </a:xfrm>
          <a:prstGeom prst="roundRect">
            <a:avLst>
              <a:gd name="adj" fmla="val 4019"/>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Advantages</a:t>
            </a:r>
          </a:p>
          <a:p>
            <a:pPr algn="l" marL="201168" indent="-201168">
              <a:spcBef>
                <a:spcPts val="0"/>
              </a:spcBef>
              <a:spcAft>
                <a:spcPts val="1600"/>
              </a:spcAft>
              <a:buFont typeface="Arial"/>
              <a:buChar char="•"/>
            </a:pPr>
            <a:r>
              <a:rPr sz="1800" b="0" i="0">
                <a:solidFill>
                  <a:srgbClr val="111827"/>
                </a:solidFill>
                <a:latin typeface="Times New Roman"/>
              </a:rPr>
              <a:t>Three detection layers: rules, ML and trend line</a:t>
            </a:r>
          </a:p>
          <a:p>
            <a:pPr algn="l" marL="201168" indent="-201168">
              <a:spcBef>
                <a:spcPts val="0"/>
              </a:spcBef>
              <a:spcAft>
                <a:spcPts val="1600"/>
              </a:spcAft>
              <a:buFont typeface="Arial"/>
              <a:buChar char="•"/>
            </a:pPr>
            <a:r>
              <a:rPr sz="1800" b="0" i="0">
                <a:solidFill>
                  <a:srgbClr val="111827"/>
                </a:solidFill>
                <a:latin typeface="Times New Roman"/>
              </a:rPr>
              <a:t>Explainable alerts with an ETA countdown</a:t>
            </a:r>
          </a:p>
          <a:p>
            <a:pPr algn="l" marL="201168" indent="-201168">
              <a:spcBef>
                <a:spcPts val="0"/>
              </a:spcBef>
              <a:spcAft>
                <a:spcPts val="1600"/>
              </a:spcAft>
              <a:buFont typeface="Arial"/>
              <a:buChar char="•"/>
            </a:pPr>
            <a:r>
              <a:rPr sz="1800" b="0" i="0">
                <a:solidFill>
                  <a:srgbClr val="111827"/>
                </a:solidFill>
                <a:latin typeface="Times New Roman"/>
              </a:rPr>
              <a:t>Runs with or without Docker and databases</a:t>
            </a:r>
          </a:p>
          <a:p>
            <a:pPr algn="l" marL="201168" indent="-201168">
              <a:spcBef>
                <a:spcPts val="0"/>
              </a:spcBef>
              <a:spcAft>
                <a:spcPts val="1600"/>
              </a:spcAft>
              <a:buFont typeface="Arial"/>
              <a:buChar char="•"/>
            </a:pPr>
            <a:r>
              <a:rPr sz="1800" b="0" i="0">
                <a:solidFill>
                  <a:srgbClr val="111827"/>
                </a:solidFill>
                <a:latin typeface="Times New Roman"/>
              </a:rPr>
              <a:t>Operator workflow with an audit trail</a:t>
            </a:r>
          </a:p>
          <a:p>
            <a:pPr algn="l" marL="201168" indent="-201168">
              <a:spcBef>
                <a:spcPts val="0"/>
              </a:spcBef>
              <a:spcAft>
                <a:spcPts val="1600"/>
              </a:spcAft>
              <a:buFont typeface="Arial"/>
              <a:buChar char="•"/>
            </a:pPr>
            <a:r>
              <a:rPr sz="1800" b="0" i="0">
                <a:solidFill>
                  <a:srgbClr val="111827"/>
                </a:solidFill>
                <a:latin typeface="Times New Roman"/>
              </a:rPr>
              <a:t>Tested, accessible, documented API</a:t>
            </a:r>
          </a:p>
        </p:txBody>
      </p:sp>
      <p:sp>
        <p:nvSpPr>
          <p:cNvPr id="6" name="Rounded Rectangle 5"/>
          <p:cNvSpPr/>
          <p:nvPr/>
        </p:nvSpPr>
        <p:spPr>
          <a:xfrm>
            <a:off x="5196839" y="1097280"/>
            <a:ext cx="3185159" cy="4526280"/>
          </a:xfrm>
          <a:prstGeom prst="roundRect">
            <a:avLst>
              <a:gd name="adj" fmla="val 4019"/>
            </a:avLst>
          </a:prstGeom>
          <a:solidFill>
            <a:srgbClr val="FFEDD5"/>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5361431"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Limitations</a:t>
            </a:r>
          </a:p>
          <a:p>
            <a:pPr algn="l" marL="201168" indent="-201168">
              <a:spcBef>
                <a:spcPts val="0"/>
              </a:spcBef>
              <a:spcAft>
                <a:spcPts val="1600"/>
              </a:spcAft>
              <a:buFont typeface="Arial"/>
              <a:buChar char="•"/>
            </a:pPr>
            <a:r>
              <a:rPr sz="1800" b="0" i="0">
                <a:solidFill>
                  <a:srgbClr val="111827"/>
                </a:solidFill>
                <a:latin typeface="Times New Roman"/>
              </a:rPr>
              <a:t>Simulated telemetry only (C-01)</a:t>
            </a:r>
          </a:p>
          <a:p>
            <a:pPr algn="l" marL="201168" indent="-201168">
              <a:spcBef>
                <a:spcPts val="0"/>
              </a:spcBef>
              <a:spcAft>
                <a:spcPts val="1600"/>
              </a:spcAft>
              <a:buFont typeface="Arial"/>
              <a:buChar char="•"/>
            </a:pPr>
            <a:r>
              <a:rPr sz="1800" b="0" i="0">
                <a:solidFill>
                  <a:srgbClr val="111827"/>
                </a:solidFill>
                <a:latin typeface="Times New Roman"/>
              </a:rPr>
              <a:t>Model trained once – no online learning (C-04)</a:t>
            </a:r>
          </a:p>
          <a:p>
            <a:pPr algn="l" marL="201168" indent="-201168">
              <a:spcBef>
                <a:spcPts val="0"/>
              </a:spcBef>
              <a:spcAft>
                <a:spcPts val="1600"/>
              </a:spcAft>
              <a:buFont typeface="Arial"/>
              <a:buChar char="•"/>
            </a:pPr>
            <a:r>
              <a:rPr sz="1800" b="0" i="0">
                <a:solidFill>
                  <a:srgbClr val="111827"/>
                </a:solidFill>
                <a:latin typeface="Times New Roman"/>
              </a:rPr>
              <a:t>Single-tenant basic authentication (C-05)</a:t>
            </a:r>
          </a:p>
          <a:p>
            <a:pPr algn="l" marL="201168" indent="-201168">
              <a:spcBef>
                <a:spcPts val="0"/>
              </a:spcBef>
              <a:spcAft>
                <a:spcPts val="1600"/>
              </a:spcAft>
              <a:buFont typeface="Arial"/>
              <a:buChar char="•"/>
            </a:pPr>
            <a:r>
              <a:rPr sz="1800" b="0" i="0">
                <a:solidFill>
                  <a:srgbClr val="111827"/>
                </a:solidFill>
                <a:latin typeface="Times New Roman"/>
              </a:rPr>
              <a:t>What-If assumes a linear rise</a:t>
            </a:r>
          </a:p>
          <a:p>
            <a:pPr algn="l" marL="201168" indent="-201168">
              <a:spcBef>
                <a:spcPts val="0"/>
              </a:spcBef>
              <a:spcAft>
                <a:spcPts val="1600"/>
              </a:spcAft>
              <a:buFont typeface="Arial"/>
              <a:buChar char="•"/>
            </a:pPr>
            <a:r>
              <a:rPr sz="1800" b="0" i="0">
                <a:solidFill>
                  <a:srgbClr val="111827"/>
                </a:solidFill>
                <a:latin typeface="Times New Roman"/>
              </a:rPr>
              <a:t>2D web app, no native mobile app (C-06)</a:t>
            </a:r>
          </a:p>
        </p:txBody>
      </p:sp>
      <p:sp>
        <p:nvSpPr>
          <p:cNvPr id="8" name="Rounded Rectangle 7"/>
          <p:cNvSpPr/>
          <p:nvPr/>
        </p:nvSpPr>
        <p:spPr>
          <a:xfrm>
            <a:off x="8610600" y="1097280"/>
            <a:ext cx="3185159" cy="4526280"/>
          </a:xfrm>
          <a:prstGeom prst="roundRect">
            <a:avLst>
              <a:gd name="adj" fmla="val 4019"/>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9" name="TextBox 8"/>
          <p:cNvSpPr txBox="1"/>
          <p:nvPr/>
        </p:nvSpPr>
        <p:spPr>
          <a:xfrm>
            <a:off x="8775192" y="1225295"/>
            <a:ext cx="2855975" cy="4306824"/>
          </a:xfrm>
          <a:prstGeom prst="rect">
            <a:avLst/>
          </a:prstGeom>
          <a:noFill/>
        </p:spPr>
        <p:txBody>
          <a:bodyPr wrap="square" lIns="0" rIns="0" tIns="0" bIns="0" anchor="t">
            <a:noAutofit/>
          </a:bodyPr>
          <a:lstStyle/>
          <a:p>
            <a:pPr algn="l">
              <a:spcBef>
                <a:spcPts val="0"/>
              </a:spcBef>
              <a:spcAft>
                <a:spcPts val="600"/>
              </a:spcAft>
            </a:pPr>
            <a:r>
              <a:rPr sz="2200" b="1" i="0">
                <a:solidFill>
                  <a:srgbClr val="111827"/>
                </a:solidFill>
                <a:latin typeface="Times New Roman"/>
              </a:rPr>
              <a:t>Applications</a:t>
            </a:r>
          </a:p>
          <a:p>
            <a:pPr algn="l" marL="201168" indent="-201168">
              <a:spcBef>
                <a:spcPts val="0"/>
              </a:spcBef>
              <a:spcAft>
                <a:spcPts val="1600"/>
              </a:spcAft>
              <a:buFont typeface="Arial"/>
              <a:buChar char="•"/>
            </a:pPr>
            <a:r>
              <a:rPr sz="1800" b="0" i="0">
                <a:solidFill>
                  <a:srgbClr val="111827"/>
                </a:solidFill>
                <a:latin typeface="Times New Roman"/>
              </a:rPr>
              <a:t>OEE and condition-monitoring pilots</a:t>
            </a:r>
          </a:p>
          <a:p>
            <a:pPr algn="l" marL="201168" indent="-201168">
              <a:spcBef>
                <a:spcPts val="0"/>
              </a:spcBef>
              <a:spcAft>
                <a:spcPts val="1600"/>
              </a:spcAft>
              <a:buFont typeface="Arial"/>
              <a:buChar char="•"/>
            </a:pPr>
            <a:r>
              <a:rPr sz="1800" b="0" i="0">
                <a:solidFill>
                  <a:srgbClr val="111827"/>
                </a:solidFill>
                <a:latin typeface="Times New Roman"/>
              </a:rPr>
              <a:t>Industry 4.0 teaching lab</a:t>
            </a:r>
          </a:p>
          <a:p>
            <a:pPr algn="l" marL="201168" indent="-201168">
              <a:spcBef>
                <a:spcPts val="0"/>
              </a:spcBef>
              <a:spcAft>
                <a:spcPts val="1600"/>
              </a:spcAft>
              <a:buFont typeface="Arial"/>
              <a:buChar char="•"/>
            </a:pPr>
            <a:r>
              <a:rPr sz="1800" b="0" i="0">
                <a:solidFill>
                  <a:srgbClr val="111827"/>
                </a:solidFill>
                <a:latin typeface="Times New Roman"/>
              </a:rPr>
              <a:t>Test bench for anomaly-detection models</a:t>
            </a:r>
          </a:p>
          <a:p>
            <a:pPr algn="l" marL="201168" indent="-201168">
              <a:spcBef>
                <a:spcPts val="0"/>
              </a:spcBef>
              <a:spcAft>
                <a:spcPts val="1600"/>
              </a:spcAft>
              <a:buFont typeface="Arial"/>
              <a:buChar char="•"/>
            </a:pPr>
            <a:r>
              <a:rPr sz="1800" b="0" i="0">
                <a:solidFill>
                  <a:srgbClr val="111827"/>
                </a:solidFill>
                <a:latin typeface="Times New Roman"/>
              </a:rPr>
              <a:t>Starting point for real PLC / OPC UA gateways</a:t>
            </a:r>
          </a:p>
        </p:txBody>
      </p:sp>
      <p:sp>
        <p:nvSpPr>
          <p:cNvPr id="10" name="Rounded Rectangle 9"/>
          <p:cNvSpPr/>
          <p:nvPr/>
        </p:nvSpPr>
        <p:spPr>
          <a:xfrm>
            <a:off x="1783080" y="5760720"/>
            <a:ext cx="10012680" cy="548640"/>
          </a:xfrm>
          <a:prstGeom prst="roundRect">
            <a:avLst>
              <a:gd name="adj" fmla="val 20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375623"/>
                </a:solidFill>
                <a:latin typeface="Times New Roman"/>
              </a:rPr>
              <a:t>The limitations are by design – they are the SRS constraints C-01 … C-07, not accidents.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Conclusion &amp; Future Scope</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4892040" cy="4526280"/>
          </a:xfrm>
          <a:prstGeom prst="roundRect">
            <a:avLst>
              <a:gd name="adj" fmla="val 2828"/>
            </a:avLst>
          </a:prstGeom>
          <a:solidFill>
            <a:srgbClr val="DCFCE7"/>
          </a:solidFill>
          <a:ln w="1905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1947672" y="1225295"/>
            <a:ext cx="4562855" cy="4306824"/>
          </a:xfrm>
          <a:prstGeom prst="rect">
            <a:avLst/>
          </a:prstGeom>
          <a:noFill/>
        </p:spPr>
        <p:txBody>
          <a:bodyPr wrap="square" lIns="0" rIns="0" tIns="0" bIns="0" anchor="t">
            <a:noAutofit/>
          </a:bodyPr>
          <a:lstStyle/>
          <a:p>
            <a:pPr algn="l">
              <a:spcBef>
                <a:spcPts val="0"/>
              </a:spcBef>
              <a:spcAft>
                <a:spcPts val="600"/>
              </a:spcAft>
            </a:pPr>
            <a:r>
              <a:rPr sz="2300" b="1" i="0">
                <a:solidFill>
                  <a:srgbClr val="111827"/>
                </a:solidFill>
                <a:latin typeface="Times New Roman"/>
              </a:rPr>
              <a:t>Conclusion</a:t>
            </a:r>
          </a:p>
          <a:p>
            <a:pPr algn="l" marL="201168" indent="-201168">
              <a:spcBef>
                <a:spcPts val="0"/>
              </a:spcBef>
              <a:spcAft>
                <a:spcPts val="1600"/>
              </a:spcAft>
              <a:buFont typeface="Arial"/>
              <a:buChar char="•"/>
            </a:pPr>
            <a:r>
              <a:rPr sz="1900" b="0" i="0">
                <a:solidFill>
                  <a:srgbClr val="111827"/>
                </a:solidFill>
                <a:latin typeface="Times New Roman"/>
              </a:rPr>
              <a:t>Live OEE and Red / Orange / Yellow alerts within about half a second</a:t>
            </a:r>
          </a:p>
          <a:p>
            <a:pPr algn="l" marL="201168" indent="-201168">
              <a:spcBef>
                <a:spcPts val="0"/>
              </a:spcBef>
              <a:spcAft>
                <a:spcPts val="1600"/>
              </a:spcAft>
              <a:buFont typeface="Arial"/>
              <a:buChar char="•"/>
            </a:pPr>
            <a:r>
              <a:rPr sz="1900" b="0" i="0">
                <a:solidFill>
                  <a:srgbClr val="111827"/>
                </a:solidFill>
                <a:latin typeface="Times New Roman"/>
              </a:rPr>
              <a:t>Every numeric SRS target met, with measured evidence</a:t>
            </a:r>
          </a:p>
          <a:p>
            <a:pPr algn="l" marL="201168" indent="-201168">
              <a:spcBef>
                <a:spcPts val="0"/>
              </a:spcBef>
              <a:spcAft>
                <a:spcPts val="1600"/>
              </a:spcAft>
              <a:buFont typeface="Arial"/>
              <a:buChar char="•"/>
            </a:pPr>
            <a:r>
              <a:rPr sz="1900" b="0" i="0">
                <a:solidFill>
                  <a:srgbClr val="111827"/>
                </a:solidFill>
                <a:latin typeface="Times New Roman"/>
              </a:rPr>
              <a:t>ML validated on injected faults: 6 / 6 detected, no false alarms</a:t>
            </a:r>
          </a:p>
          <a:p>
            <a:pPr algn="l" marL="201168" indent="-201168">
              <a:spcBef>
                <a:spcPts val="0"/>
              </a:spcBef>
              <a:spcAft>
                <a:spcPts val="1600"/>
              </a:spcAft>
              <a:buFont typeface="Arial"/>
              <a:buChar char="•"/>
            </a:pPr>
            <a:r>
              <a:rPr sz="1900" b="0" i="0">
                <a:solidFill>
                  <a:srgbClr val="111827"/>
                </a:solidFill>
                <a:latin typeface="Times New Roman"/>
              </a:rPr>
              <a:t>Complete, reproducible platform: one command, 45 tests, databases verified live</a:t>
            </a:r>
          </a:p>
        </p:txBody>
      </p:sp>
      <p:sp>
        <p:nvSpPr>
          <p:cNvPr id="6" name="Rounded Rectangle 5"/>
          <p:cNvSpPr/>
          <p:nvPr/>
        </p:nvSpPr>
        <p:spPr>
          <a:xfrm>
            <a:off x="6903720" y="1097280"/>
            <a:ext cx="4892040" cy="4526280"/>
          </a:xfrm>
          <a:prstGeom prst="roundRect">
            <a:avLst>
              <a:gd name="adj" fmla="val 2828"/>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7" name="TextBox 6"/>
          <p:cNvSpPr txBox="1"/>
          <p:nvPr/>
        </p:nvSpPr>
        <p:spPr>
          <a:xfrm>
            <a:off x="7068312" y="1225295"/>
            <a:ext cx="4562855" cy="4306824"/>
          </a:xfrm>
          <a:prstGeom prst="rect">
            <a:avLst/>
          </a:prstGeom>
          <a:noFill/>
        </p:spPr>
        <p:txBody>
          <a:bodyPr wrap="square" lIns="0" rIns="0" tIns="0" bIns="0" anchor="t">
            <a:noAutofit/>
          </a:bodyPr>
          <a:lstStyle/>
          <a:p>
            <a:pPr algn="l">
              <a:spcBef>
                <a:spcPts val="0"/>
              </a:spcBef>
              <a:spcAft>
                <a:spcPts val="600"/>
              </a:spcAft>
            </a:pPr>
            <a:r>
              <a:rPr sz="2300" b="1" i="0">
                <a:solidFill>
                  <a:srgbClr val="111827"/>
                </a:solidFill>
                <a:latin typeface="Times New Roman"/>
              </a:rPr>
              <a:t>Future scope</a:t>
            </a:r>
          </a:p>
          <a:p>
            <a:pPr algn="l" marL="201168" indent="-201168">
              <a:spcBef>
                <a:spcPts val="0"/>
              </a:spcBef>
              <a:spcAft>
                <a:spcPts val="1600"/>
              </a:spcAft>
              <a:buFont typeface="Arial"/>
              <a:buChar char="•"/>
            </a:pPr>
            <a:r>
              <a:rPr sz="1900" b="0" i="0">
                <a:solidFill>
                  <a:srgbClr val="111827"/>
                </a:solidFill>
                <a:latin typeface="Times New Roman"/>
              </a:rPr>
              <a:t>Real machines through OPC UA / Modbus → MQTT</a:t>
            </a:r>
          </a:p>
          <a:p>
            <a:pPr algn="l" marL="201168" indent="-201168">
              <a:spcBef>
                <a:spcPts val="0"/>
              </a:spcBef>
              <a:spcAft>
                <a:spcPts val="1600"/>
              </a:spcAft>
              <a:buFont typeface="Arial"/>
              <a:buChar char="•"/>
            </a:pPr>
            <a:r>
              <a:rPr sz="1900" b="0" i="0">
                <a:solidFill>
                  <a:srgbClr val="111827"/>
                </a:solidFill>
                <a:latin typeface="Times New Roman"/>
              </a:rPr>
              <a:t>Retrain the model from operator feedback</a:t>
            </a:r>
          </a:p>
          <a:p>
            <a:pPr algn="l" marL="201168" indent="-201168">
              <a:spcBef>
                <a:spcPts val="0"/>
              </a:spcBef>
              <a:spcAft>
                <a:spcPts val="1600"/>
              </a:spcAft>
              <a:buFont typeface="Arial"/>
              <a:buChar char="•"/>
            </a:pPr>
            <a:r>
              <a:rPr sz="1900" b="0" i="0">
                <a:solidFill>
                  <a:srgbClr val="111827"/>
                </a:solidFill>
                <a:latin typeface="Times New Roman"/>
              </a:rPr>
              <a:t>Notifications (email, SMS) and audit export</a:t>
            </a:r>
          </a:p>
          <a:p>
            <a:pPr algn="l" marL="201168" indent="-201168">
              <a:spcBef>
                <a:spcPts val="0"/>
              </a:spcBef>
              <a:spcAft>
                <a:spcPts val="1600"/>
              </a:spcAft>
              <a:buFont typeface="Arial"/>
              <a:buChar char="•"/>
            </a:pPr>
            <a:r>
              <a:rPr sz="1900" b="0" i="0">
                <a:solidFill>
                  <a:srgbClr val="111827"/>
                </a:solidFill>
                <a:latin typeface="Times New Roman"/>
              </a:rPr>
              <a:t>Remaining useful life with non-linear models</a:t>
            </a:r>
          </a:p>
          <a:p>
            <a:pPr algn="l" marL="201168" indent="-201168">
              <a:spcBef>
                <a:spcPts val="0"/>
              </a:spcBef>
              <a:spcAft>
                <a:spcPts val="1600"/>
              </a:spcAft>
              <a:buFont typeface="Arial"/>
              <a:buChar char="•"/>
            </a:pPr>
            <a:r>
              <a:rPr sz="1900" b="0" i="0">
                <a:solidFill>
                  <a:srgbClr val="111827"/>
                </a:solidFill>
                <a:latin typeface="Times New Roman"/>
              </a:rPr>
              <a:t>Multi-site deployment and Grafana dashboards</a:t>
            </a:r>
          </a:p>
        </p:txBody>
      </p:sp>
      <p:sp>
        <p:nvSpPr>
          <p:cNvPr id="8" name="Rounded Rectangle 7"/>
          <p:cNvSpPr/>
          <p:nvPr/>
        </p:nvSpPr>
        <p:spPr>
          <a:xfrm>
            <a:off x="1783080" y="5760720"/>
            <a:ext cx="10012680" cy="548640"/>
          </a:xfrm>
          <a:prstGeom prst="roundRect">
            <a:avLst>
              <a:gd name="adj" fmla="val 20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spcBef>
                <a:spcPts val="0"/>
              </a:spcBef>
              <a:spcAft>
                <a:spcPts val="0"/>
              </a:spcAft>
            </a:pPr>
            <a:r>
              <a:rPr sz="1700" b="1" i="0">
                <a:solidFill>
                  <a:srgbClr val="375623"/>
                </a:solidFill>
                <a:latin typeface="Times New Roman"/>
              </a:rPr>
              <a:t>Take-home: live OEE and a three-layer early warning – built to the SRS and verified by measurement.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966960" cy="502920"/>
          </a:xfrm>
          <a:prstGeom prst="rect">
            <a:avLst/>
          </a:prstGeom>
          <a:noFill/>
        </p:spPr>
        <p:txBody>
          <a:bodyPr wrap="square" lIns="0" rIns="0" tIns="0" bIns="0" anchor="ctr">
            <a:noAutofit/>
          </a:bodyPr>
          <a:lstStyle/>
          <a:p>
            <a:pPr algn="l">
              <a:spcBef>
                <a:spcPts val="0"/>
              </a:spcBef>
              <a:spcAft>
                <a:spcPts val="0"/>
              </a:spcAft>
            </a:pPr>
            <a:r>
              <a:rPr sz="2800" b="1" i="0">
                <a:solidFill>
                  <a:srgbClr val="FFFFFF"/>
                </a:solidFill>
                <a:latin typeface="Times New Roman"/>
              </a:rPr>
              <a:t>References</a:t>
            </a:r>
          </a:p>
        </p:txBody>
      </p:sp>
      <p:sp>
        <p:nvSpPr>
          <p:cNvPr id="3" name="TextBox 2"/>
          <p:cNvSpPr txBox="1"/>
          <p:nvPr/>
        </p:nvSpPr>
        <p:spPr>
          <a:xfrm>
            <a:off x="8074152" y="6373368"/>
            <a:ext cx="2130552" cy="365760"/>
          </a:xfrm>
          <a:prstGeom prst="rect">
            <a:avLst/>
          </a:prstGeom>
          <a:noFill/>
        </p:spPr>
        <p:txBody>
          <a:bodyPr wrap="none" lIns="0" rIns="0" tIns="0" bIns="0">
            <a:spAutoFit/>
          </a:bodyPr>
          <a:lstStyle/>
          <a:p>
            <a:pPr algn="r"/>
            <a:fld id="{B6F15528-21DE-4FAA-801E-634DDDAF4B2B}" type="slidenum">
              <a:rPr lang="en-US" sz="1200">
                <a:solidFill>
                  <a:srgbClr val="8C8C8C"/>
                </a:solidFill>
                <a:latin typeface="Times New Roman"/>
              </a:rPr>
              <a:t>‹#›</a:t>
            </a:fld>
          </a:p>
        </p:txBody>
      </p:sp>
      <p:sp>
        <p:nvSpPr>
          <p:cNvPr id="4" name="Rounded Rectangle 3"/>
          <p:cNvSpPr/>
          <p:nvPr/>
        </p:nvSpPr>
        <p:spPr>
          <a:xfrm>
            <a:off x="1783080" y="1097280"/>
            <a:ext cx="10012680" cy="5120640"/>
          </a:xfrm>
          <a:prstGeom prst="roundRect">
            <a:avLst>
              <a:gd name="adj" fmla="val 2142"/>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noAutofit/>
          </a:bodyPr>
          <a:lstStyle/>
          <a:p>
            <a:pPr algn="ctr"/>
          </a:p>
        </p:txBody>
      </p:sp>
      <p:sp>
        <p:nvSpPr>
          <p:cNvPr id="5" name="TextBox 4"/>
          <p:cNvSpPr txBox="1"/>
          <p:nvPr/>
        </p:nvSpPr>
        <p:spPr>
          <a:xfrm>
            <a:off x="2057400" y="1280160"/>
            <a:ext cx="9464040" cy="4754880"/>
          </a:xfrm>
          <a:prstGeom prst="rect">
            <a:avLst/>
          </a:prstGeom>
          <a:noFill/>
        </p:spPr>
        <p:txBody>
          <a:bodyPr wrap="square" lIns="0" rIns="0" tIns="0" bIns="0" anchor="t">
            <a:noAutofit/>
          </a:bodyPr>
          <a:lstStyle/>
          <a:p>
            <a:pPr algn="l">
              <a:spcBef>
                <a:spcPts val="0"/>
              </a:spcBef>
              <a:spcAft>
                <a:spcPts val="1000"/>
              </a:spcAft>
            </a:pPr>
            <a:r>
              <a:rPr sz="1600" b="0" i="0">
                <a:solidFill>
                  <a:srgbClr val="111827"/>
                </a:solidFill>
                <a:latin typeface="Times New Roman"/>
              </a:rPr>
              <a:t>[1]  S. Nakajima, Introduction to TPM: Total Productive Maintenance, Productivity Press, 1988.</a:t>
            </a:r>
          </a:p>
          <a:p>
            <a:pPr algn="l">
              <a:spcBef>
                <a:spcPts val="0"/>
              </a:spcBef>
              <a:spcAft>
                <a:spcPts val="1000"/>
              </a:spcAft>
            </a:pPr>
            <a:r>
              <a:rPr sz="1600" b="0" i="0">
                <a:solidFill>
                  <a:srgbClr val="111827"/>
                </a:solidFill>
                <a:latin typeface="Times New Roman"/>
              </a:rPr>
              <a:t>[2]  ISO 22400-2:2014, Automation systems and integration – Key performance indicators for manufacturing operations management.</a:t>
            </a:r>
          </a:p>
          <a:p>
            <a:pPr algn="l">
              <a:spcBef>
                <a:spcPts val="0"/>
              </a:spcBef>
              <a:spcAft>
                <a:spcPts val="1000"/>
              </a:spcAft>
            </a:pPr>
            <a:r>
              <a:rPr sz="1600" b="0" i="0">
                <a:solidFill>
                  <a:srgbClr val="111827"/>
                </a:solidFill>
                <a:latin typeface="Times New Roman"/>
              </a:rPr>
              <a:t>[3]  P. Muchiri and L. Pintelon, “Performance measurement using overall equipment effectiveness (OEE)”, Int. J. Production Research, 46(13), 2008.</a:t>
            </a:r>
          </a:p>
          <a:p>
            <a:pPr algn="l">
              <a:spcBef>
                <a:spcPts val="0"/>
              </a:spcBef>
              <a:spcAft>
                <a:spcPts val="1000"/>
              </a:spcAft>
            </a:pPr>
            <a:r>
              <a:rPr sz="1600" b="0" i="0">
                <a:solidFill>
                  <a:srgbClr val="111827"/>
                </a:solidFill>
                <a:latin typeface="Times New Roman"/>
              </a:rPr>
              <a:t>[4]  F. T. Liu, K. M. Ting and Z.-H. Zhou, “Isolation Forest”, IEEE International Conference on Data Mining (ICDM), 2008.</a:t>
            </a:r>
          </a:p>
          <a:p>
            <a:pPr algn="l">
              <a:spcBef>
                <a:spcPts val="0"/>
              </a:spcBef>
              <a:spcAft>
                <a:spcPts val="1000"/>
              </a:spcAft>
            </a:pPr>
            <a:r>
              <a:rPr sz="1600" b="0" i="0">
                <a:solidFill>
                  <a:srgbClr val="111827"/>
                </a:solidFill>
                <a:latin typeface="Times New Roman"/>
              </a:rPr>
              <a:t>[5]  V. Chandola, A. Banerjee and V. Kumar, “Anomaly detection: a survey”, ACM Computing Surveys, 2009.</a:t>
            </a:r>
          </a:p>
          <a:p>
            <a:pPr algn="l">
              <a:spcBef>
                <a:spcPts val="0"/>
              </a:spcBef>
              <a:spcAft>
                <a:spcPts val="1000"/>
              </a:spcAft>
            </a:pPr>
            <a:r>
              <a:rPr sz="1600" b="0" i="0">
                <a:solidFill>
                  <a:srgbClr val="111827"/>
                </a:solidFill>
                <a:latin typeface="Times New Roman"/>
              </a:rPr>
              <a:t>[6]  F. Pedregosa et al., “Scikit-learn: Machine learning in Python”, Journal of Machine Learning Research, 12, 2011.</a:t>
            </a:r>
          </a:p>
          <a:p>
            <a:pPr algn="l">
              <a:spcBef>
                <a:spcPts val="0"/>
              </a:spcBef>
              <a:spcAft>
                <a:spcPts val="1000"/>
              </a:spcAft>
            </a:pPr>
            <a:r>
              <a:rPr sz="1600" b="0" i="0">
                <a:solidFill>
                  <a:srgbClr val="111827"/>
                </a:solidFill>
                <a:latin typeface="Times New Roman"/>
              </a:rPr>
              <a:t>[7]  OASIS, MQTT Version 3.1.1, 2014.</a:t>
            </a:r>
          </a:p>
          <a:p>
            <a:pPr algn="l">
              <a:spcBef>
                <a:spcPts val="0"/>
              </a:spcBef>
              <a:spcAft>
                <a:spcPts val="1000"/>
              </a:spcAft>
            </a:pPr>
            <a:r>
              <a:rPr sz="1600" b="0" i="0">
                <a:solidFill>
                  <a:srgbClr val="111827"/>
                </a:solidFill>
                <a:latin typeface="Times New Roman"/>
              </a:rPr>
              <a:t>[8]  J. Lee, B. Bagheri and H.-A. Kao, “A cyber-physical systems architecture for Industry 4.0-based manufacturing systems”, Manufacturing Letters, 3, 2015.</a:t>
            </a:r>
          </a:p>
          <a:p>
            <a:pPr algn="l">
              <a:spcBef>
                <a:spcPts val="0"/>
              </a:spcBef>
              <a:spcAft>
                <a:spcPts val="1000"/>
              </a:spcAft>
            </a:pPr>
            <a:r>
              <a:rPr sz="1600" b="0" i="0">
                <a:solidFill>
                  <a:srgbClr val="111827"/>
                </a:solidFill>
                <a:latin typeface="Times New Roman"/>
              </a:rPr>
              <a:t>[9]  S. Jamadar, Software Requirements Specification: Real-Time OEE and Anomaly Dashboard for a Smart Factory System, 12/09/2026.</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96812894AF27C4B9BEA242A5F6FBAEB" ma:contentTypeVersion="9" ma:contentTypeDescription="Create a new document." ma:contentTypeScope="" ma:versionID="fe7e8ca8f5bc98bc55ce144b2ab84caa">
  <xsd:schema xmlns:xsd="http://www.w3.org/2001/XMLSchema" xmlns:xs="http://www.w3.org/2001/XMLSchema" xmlns:p="http://schemas.microsoft.com/office/2006/metadata/properties" xmlns:ns2="7bca1dba-6ac6-41dc-89fe-ef4b674b2d91" xmlns:ns3="0e4db8ff-121a-41d3-920b-5da9b93e742e" targetNamespace="http://schemas.microsoft.com/office/2006/metadata/properties" ma:root="true" ma:fieldsID="b61c7a6b43afd4f1849f52e764489931" ns2:_="" ns3:_="">
    <xsd:import namespace="7bca1dba-6ac6-41dc-89fe-ef4b674b2d91"/>
    <xsd:import namespace="0e4db8ff-121a-41d3-920b-5da9b93e742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ca1dba-6ac6-41dc-89fe-ef4b674b2d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765a431-9415-4219-9cd0-5363948861b2"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e4db8ff-121a-41d3-920b-5da9b93e742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0f7a2de-0acc-4c5a-996d-a92c6eb64016}" ma:internalName="TaxCatchAll" ma:showField="CatchAllData" ma:web="0e4db8ff-121a-41d3-920b-5da9b93e74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0e4db8ff-121a-41d3-920b-5da9b93e742e" xsi:nil="true"/>
    <lcf76f155ced4ddcb4097134ff3c332f xmlns="7bca1dba-6ac6-41dc-89fe-ef4b674b2d9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5D7223F-B7D1-484C-BF79-EE510B738CEA}"/>
</file>

<file path=customXml/itemProps2.xml><?xml version="1.0" encoding="utf-8"?>
<ds:datastoreItem xmlns:ds="http://schemas.openxmlformats.org/officeDocument/2006/customXml" ds:itemID="{8B5E7A0C-C3D8-4E3D-B722-6AC077FBB61B}"/>
</file>

<file path=customXml/itemProps3.xml><?xml version="1.0" encoding="utf-8"?>
<ds:datastoreItem xmlns:ds="http://schemas.openxmlformats.org/officeDocument/2006/customXml" ds:itemID="{A7A88748-F08C-44FE-836C-B5AED848663B}"/>
</file>

<file path=docProps/app.xml><?xml version="1.0" encoding="utf-8"?>
<Properties xmlns="http://schemas.openxmlformats.org/officeDocument/2006/extended-properties" xmlns:vt="http://schemas.openxmlformats.org/officeDocument/2006/docPropsVTypes">
  <Template>Office Theme</Template>
  <TotalTime>0</TotalTime>
  <Words>73</Words>
  <Application>Microsoft Office PowerPoint</Application>
  <PresentationFormat>Widescreen</PresentationFormat>
  <Paragraphs>23</Paragraphs>
  <Slides>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vt:i4>
      </vt:variant>
    </vt:vector>
  </HeadingPairs>
  <TitlesOfParts>
    <vt:vector size="10" baseType="lpstr">
      <vt:lpstr>Aller</vt:lpstr>
      <vt:lpstr>Arial</vt:lpstr>
      <vt:lpstr>Book Antiqua</vt:lpstr>
      <vt:lpstr>Calibri</vt:lpstr>
      <vt:lpstr>Calibri Light</vt:lpstr>
      <vt:lpstr>Times New Roman</vt:lpstr>
      <vt:lpstr>Theme1</vt:lpstr>
      <vt:lpstr>A  Presentation on “TITLE OF PROJECT”  By Name of Students    Under the Guidance of Name of Guide </vt:lpstr>
      <vt:lpstr>PowerPoint Presentation</vt:lpstr>
      <vt:lpstr>Thank You !!!</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Discipline in the School</dc:title>
  <dc:creator>Amit Page</dc:creator>
  <cp:lastModifiedBy>Naziya Hussain</cp:lastModifiedBy>
  <cp:revision>3</cp:revision>
  <dcterms:created xsi:type="dcterms:W3CDTF">2018-06-30T10:51:01Z</dcterms:created>
  <dcterms:modified xsi:type="dcterms:W3CDTF">2026-10-08T08:05:44Z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0x010100896812894AF27C4B9BEA242A5F6FBAEB</vt:lpwstr>
  </property>
</Properties>
</file>